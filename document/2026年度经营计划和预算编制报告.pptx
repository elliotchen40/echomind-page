
<file path=[Content_Types].xml><?xml version="1.0" encoding="utf-8"?>
<Types xmlns="http://schemas.openxmlformats.org/package/2006/content-types">
  <Default Extension="vml" ContentType="application/vnd.openxmlformats-officedocument.vmlDrawing"/>
  <Default Extension="xlsx" ContentType="application/vnd.openxmlformats-officedocument.spreadsheetml.sheet"/>
  <Default Extension="png" ContentType="image/png"/>
  <Default Extension="wmf" ContentType="image/x-wmf"/>
  <Default Extension="wdp" ContentType="image/vnd.ms-photo"/>
  <Default Extension="jpeg" ContentType="image/jpeg"/>
  <Default Extension="JPG" ContentType="image/.jpg"/>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1.xml" ContentType="application/vnd.openxmlformats-officedocument.theme+xml"/>
  <Override PartName="/ppt/theme/theme10.xml" ContentType="application/vnd.openxmlformats-officedocument.theme+xml"/>
  <Override PartName="/ppt/theme/theme11.xml" ContentType="application/vnd.openxmlformats-officedocument.theme+xml"/>
  <Override PartName="/ppt/theme/theme12.xml" ContentType="application/vnd.openxmlformats-officedocument.theme+xml"/>
  <Override PartName="/ppt/theme/theme13.xml" ContentType="application/vnd.openxmlformats-officedocument.theme+xml"/>
  <Override PartName="/ppt/theme/theme14.xml" ContentType="application/vnd.openxmlformats-officedocument.theme+xml"/>
  <Override PartName="/ppt/theme/theme15.xml" ContentType="application/vnd.openxmlformats-officedocument.theme+xml"/>
  <Override PartName="/ppt/theme/theme16.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4" r:id="rId3"/>
    <p:sldMasterId id="2147483659" r:id="rId4"/>
    <p:sldMasterId id="2147483663" r:id="rId5"/>
    <p:sldMasterId id="2147483675" r:id="rId6"/>
    <p:sldMasterId id="2147483679" r:id="rId7"/>
    <p:sldMasterId id="2147483682" r:id="rId8"/>
    <p:sldMasterId id="2147483688" r:id="rId9"/>
    <p:sldMasterId id="2147483693" r:id="rId10"/>
    <p:sldMasterId id="2147483699" r:id="rId11"/>
    <p:sldMasterId id="2147483703" r:id="rId12"/>
    <p:sldMasterId id="2147483707" r:id="rId13"/>
    <p:sldMasterId id="2147483713" r:id="rId14"/>
    <p:sldMasterId id="2147483718" r:id="rId15"/>
  </p:sldMasterIdLst>
  <p:notesMasterIdLst>
    <p:notesMasterId r:id="rId17"/>
  </p:notesMasterIdLst>
  <p:handoutMasterIdLst>
    <p:handoutMasterId r:id="rId76"/>
  </p:handoutMasterIdLst>
  <p:sldIdLst>
    <p:sldId id="352" r:id="rId16"/>
    <p:sldId id="7471" r:id="rId18"/>
    <p:sldId id="6573" r:id="rId19"/>
    <p:sldId id="7473" r:id="rId20"/>
    <p:sldId id="7474" r:id="rId21"/>
    <p:sldId id="7525" r:id="rId22"/>
    <p:sldId id="7476" r:id="rId23"/>
    <p:sldId id="7432" r:id="rId24"/>
    <p:sldId id="7477" r:id="rId25"/>
    <p:sldId id="7436" r:id="rId26"/>
    <p:sldId id="7478" r:id="rId27"/>
    <p:sldId id="7479" r:id="rId28"/>
    <p:sldId id="7480" r:id="rId29"/>
    <p:sldId id="7481" r:id="rId30"/>
    <p:sldId id="7482" r:id="rId31"/>
    <p:sldId id="7483" r:id="rId32"/>
    <p:sldId id="7486" r:id="rId33"/>
    <p:sldId id="7484" r:id="rId34"/>
    <p:sldId id="7485" r:id="rId35"/>
    <p:sldId id="7487" r:id="rId36"/>
    <p:sldId id="7442" r:id="rId37"/>
    <p:sldId id="7445" r:id="rId38"/>
    <p:sldId id="7497" r:id="rId39"/>
    <p:sldId id="7390" r:id="rId40"/>
    <p:sldId id="7492" r:id="rId41"/>
    <p:sldId id="7500" r:id="rId42"/>
    <p:sldId id="7501" r:id="rId43"/>
    <p:sldId id="7502" r:id="rId44"/>
    <p:sldId id="7350" r:id="rId45"/>
    <p:sldId id="7380" r:id="rId46"/>
    <p:sldId id="7377" r:id="rId47"/>
    <p:sldId id="7351" r:id="rId48"/>
    <p:sldId id="7392" r:id="rId49"/>
    <p:sldId id="7353" r:id="rId50"/>
    <p:sldId id="7382" r:id="rId51"/>
    <p:sldId id="7517" r:id="rId52"/>
    <p:sldId id="7518" r:id="rId53"/>
    <p:sldId id="7354" r:id="rId54"/>
    <p:sldId id="7355" r:id="rId55"/>
    <p:sldId id="7393" r:id="rId56"/>
    <p:sldId id="7356" r:id="rId57"/>
    <p:sldId id="7394" r:id="rId58"/>
    <p:sldId id="7352" r:id="rId59"/>
    <p:sldId id="7361" r:id="rId60"/>
    <p:sldId id="7362" r:id="rId61"/>
    <p:sldId id="7363" r:id="rId62"/>
    <p:sldId id="7365" r:id="rId63"/>
    <p:sldId id="7366" r:id="rId64"/>
    <p:sldId id="7520" r:id="rId65"/>
    <p:sldId id="7367" r:id="rId66"/>
    <p:sldId id="7368" r:id="rId67"/>
    <p:sldId id="7369" r:id="rId68"/>
    <p:sldId id="7370" r:id="rId69"/>
    <p:sldId id="7371" r:id="rId70"/>
    <p:sldId id="7372" r:id="rId71"/>
    <p:sldId id="7374" r:id="rId72"/>
    <p:sldId id="7375" r:id="rId73"/>
    <p:sldId id="7519" r:id="rId74"/>
    <p:sldId id="7397" r:id="rId75"/>
  </p:sldIdLst>
  <p:sldSz cx="10058400" cy="5659120"/>
  <p:notesSz cx="6797675" cy="9926320"/>
  <p:custDataLst>
    <p:tags r:id="rId81"/>
  </p:custDataLst>
  <p:defaultTextStyle>
    <a:defPPr>
      <a:defRPr lang="zh-CN"/>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092" userDrawn="1">
          <p15:clr>
            <a:srgbClr val="A4A3A4"/>
          </p15:clr>
        </p15:guide>
        <p15:guide id="2" pos="3011"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xuqiuzhan" initials="x" lastIdx="6" clrIdx="0"/>
  <p:cmAuthor id="7" name="1206988966@qq.com" initials="1" lastIdx="1" clrIdx="2"/>
  <p:cmAuthor id="1" name="EADB04.刘婷" initials="E" lastIdx="1" clrIdx="0"/>
  <p:cmAuthor id="8" name="姜伟光" initials="姜" lastIdx="1" clrIdx="0"/>
  <p:cmAuthor id="2" name="EAEA07.张倩" initials="E" lastIdx="2" clrIdx="1"/>
  <p:cmAuthor id="9" name="pengliting" initials="p" lastIdx="1" clrIdx="8"/>
  <p:cmAuthor id="3" name="Administrator" initials="A" lastIdx="3" clrIdx="2"/>
  <p:cmAuthor id="5" name="谢 宝洁" initials="谢" lastIdx="1" clrIdx="3"/>
  <p:cmAuthor id="6" name="ming qiu" initials="m" lastIdx="17" clrIdx="1"/>
  <p:cmAuthor id="10" name="AH13.林琳" initials="" lastIdx="0" clrIdx="9"/>
  <p:cmAuthor id="11" name="未知用户2" initials="未知用户2" lastIdx="0" clrIdx="10"/>
  <p:cmAuthor id="12" name="ThinkPad" initials="T" lastIdx="0" clrIdx="11"/>
  <p:cmAuthor id="13" name="FCA01.徐国瑞" initials="F" lastIdx="0" clrIdx="12"/>
  <p:cmAuthor id="14" name="FCA03.吴美欣" initials="F" lastIdx="0" clrIdx="13"/>
  <p:cmAuthor id="15" name="CCE04.柯兴宇" initials="C" lastIdx="0" clrIdx="14"/>
  <p:cmAuthor id="16" name="shenjunxin" initials="s" lastIdx="0" clrIdx="15"/>
  <p:cmAuthor id="17" name="黄健强" initials="黄" lastIdx="0" clrIdx="16"/>
  <p:cmAuthor id="18" name="未知用户3" initials="未知用户3" lastIdx="0" clrIdx="17"/>
  <p:cmAuthor id="19" name="DELL" initials="D" lastIdx="0" clrIdx="18"/>
  <p:cmAuthor id="20" name="未知用户4" initials="未知用户4" lastIdx="0" clrIdx="19"/>
  <p:cmAuthor id="21" name="未知用户5" initials="未知用户5" lastIdx="0" clrIdx="20"/>
  <p:cmAuthor id="22" name="未知用户6" initials="未知用户6" lastIdx="0" clrIdx="21"/>
  <p:cmAuthor id="23" name="未知用户7" initials="未知用户7" lastIdx="0" clrIdx="22"/>
  <p:cmAuthor id="24" name="38907149@qq.com" initials="3" lastIdx="0" clrIdx="23"/>
  <p:cmAuthor id="25" name="A" initials="A" lastIdx="0" clrIdx="24"/>
  <p:cmAuthor id="26" name="孙阳" initials="S" lastIdx="0" clrIdx="25"/>
  <p:cmAuthor id="27" name="梁 启华" initials="梁" lastIdx="0" clrIdx="26"/>
  <p:cmAuthor id="28" name="李俊英" initials="李" lastIdx="0" clrIdx="27"/>
  <p:cmAuthor id="29" name="lu zhu" initials="l" lastIdx="0" clrIdx="28"/>
  <p:cmAuthor id="30" name="zhang he" initials="z" lastIdx="0" clrIdx="29"/>
  <p:cmAuthor id="31" name="0049628" initials="0" lastIdx="0" clrIdx="30"/>
  <p:cmAuthor id="32" name="User" initials="U" lastIdx="0" clrIdx="31"/>
  <p:cmAuthor id="33" name="806840651@qq.com" initials="8" lastIdx="0" clrIdx="32"/>
  <p:cmAuthor id="34" name="wentao xu" initials="w" lastIdx="0" clrIdx="33"/>
  <p:cmAuthor id="35" name="m13827419520@outlook.com" initials="m" lastIdx="0" clrIdx="34"/>
  <p:cmAuthor id="36" name="china" initials="c" lastIdx="0" clrIdx="35"/>
  <p:cmAuthor id="37" name="姜先森" initials="姜" lastIdx="0" clrIdx="36"/>
  <p:cmAuthor id="38" name="wjswli" initials="w" lastIdx="0" clrIdx="37"/>
  <p:cmAuthor id="39" name="朝伟 冯" initials="朝伟" lastIdx="0" clrIdx="38"/>
  <p:cmAuthor id="40" name="希曼 郝" initials="希" lastIdx="0" clrIdx="39"/>
  <p:cmAuthor id="41" name="lanmin@nsdc.com.cn" initials="l" lastIdx="0" clrIdx="40"/>
  <p:cmAuthor id="42" name="xiewei" initials="x" lastIdx="0" clrIdx="41"/>
  <p:cmAuthor id="43" name="朱 政" initials="朱" lastIdx="0" clrIdx="42"/>
  <p:cmAuthor id="44" name="张露豪,zhangluhao" initials="zhangluhao" lastIdx="0" clrIdx="43"/>
  <p:cmAuthor id="45" name="GUANGZHU" initials="G" lastIdx="0" clrIdx="44"/>
  <p:cmAuthor id="46" name="李 莎" initials="李" lastIdx="0" clrIdx="45"/>
  <p:cmAuthor id="47" name="孙 镜贸" initials="孙" lastIdx="0" clrIdx="46"/>
  <p:cmAuthor id="48" name="lixiaoting" initials="l" lastIdx="0" clrIdx="47"/>
  <p:cmAuthor id="49" name="徐枫" initials="A" lastIdx="0" clrIdx="48"/>
  <p:cmAuthor id="50" name="9636" initials="9" lastIdx="0" clrIdx="49"/>
  <p:cmAuthor id="51" name="qixin" initials="q" lastIdx="0" clrIdx="50"/>
  <p:cmAuthor id="52" name="FBAC04.张舒敏" initials="F" lastIdx="0" clrIdx="51"/>
  <p:cmAuthor id="53" name="刘 恩囡" initials="刘" lastIdx="0" clrIdx="52"/>
  <p:cmAuthor id="54" name="BAG07.张璐" initials="B" lastIdx="0" clrIdx="53"/>
  <p:cmAuthor id="55" name="作者" initials="A" lastIdx="0" clrIdx="54"/>
  <p:cmAuthor id="56" name="NTKO" initials="N" lastIdx="0" clrIdx="55"/>
  <p:cmAuthor id="57" name="程最" initials="程" lastIdx="0" clrIdx="56"/>
  <p:cmAuthor id="58" name="杨艳琦" initials="杨" lastIdx="0" clrIdx="57"/>
  <p:cmAuthor id="59" name="王佳栋" initials="王" lastIdx="0" clrIdx="58"/>
  <p:cmAuthor id="60" name="shijianfeng" initials="s" lastIdx="0" clrIdx="59"/>
  <p:cmAuthor id="61" name="金海连" initials="金" lastIdx="0" clrIdx="60"/>
  <p:cmAuthor id="62" name="aa" initials="a" lastIdx="0" clrIdx="61"/>
  <p:cmAuthor id="63" name="jy8230142@outlook.com" initials="j" lastIdx="0" clrIdx="62"/>
  <p:cmAuthor id="64" name="john" initials="j" lastIdx="0" clrIdx="63"/>
  <p:cmAuthor id="65" name="锦 程" initials="锦" lastIdx="0" clrIdx="64"/>
  <p:cmAuthor id="66" name="董伟晨" initials="董" lastIdx="0" clrIdx="65"/>
  <p:cmAuthor id="67" name="丁 燕飞" initials="丁" lastIdx="0" clrIdx="66"/>
  <p:cmAuthor id="68" name="未知用户12" initials="未" lastIdx="0" clrIdx="67"/>
  <p:cmAuthor id="69" name="lhb33" initials="l" lastIdx="0" clrIdx="68"/>
  <p:cmAuthor id="70" name="70427" initials="7" lastIdx="0" clrIdx="69"/>
  <p:cmAuthor id="71" name="B15AB08.王豫淼" initials="B" lastIdx="0" clrIdx="70"/>
  <p:cmAuthor id="72" name="杨尚阳" initials="杨" lastIdx="0" clrIdx="71"/>
  <p:cmAuthor id="73" name="ymm" initials="y" lastIdx="0" clrIdx="72"/>
  <p:cmAuthor id="74" name="Happy" initials="H" lastIdx="0" clrIdx="73"/>
  <p:cmAuthor id="75" name="王二狗" initials="王" lastIdx="0" clrIdx="74"/>
  <p:cmAuthor id="76" name="Zting Y" initials="ZY" lastIdx="0" clrIdx="75"/>
  <p:cmAuthor id="77" name="yang" initials="y" lastIdx="0" clrIdx="76"/>
  <p:cmAuthor id="78" name="未知用户17" initials="未" lastIdx="0" clrIdx="77"/>
  <p:cmAuthor id="79" name="lenovo" initials="l" lastIdx="0" clrIdx="78"/>
  <p:cmAuthor id="80" name="程 建国" initials="程" lastIdx="0" clrIdx="79"/>
  <p:cmAuthor id="81" name="1" initials="1" lastIdx="0" clrIdx="80"/>
  <p:cmAuthor id="82" name="小 鑫" initials="小" lastIdx="0" clrIdx="81"/>
  <p:cmAuthor id="83" name="未知用户25" initials="未" lastIdx="0" clrIdx="82"/>
  <p:cmAuthor id="84" name="刘东竞" initials="刘" lastIdx="0" clrIdx="83"/>
  <p:cmAuthor id="85" name="宇 郭" initials="宇" lastIdx="0" clrIdx="84"/>
  <p:cmAuthor id="86" name="樊 忠明" initials="樊" lastIdx="0" clrIdx="85"/>
  <p:cmAuthor id="87" name="DJ" initials="D" lastIdx="0" clrIdx="86"/>
  <p:cmAuthor id="88" name="未知用户14" initials="未" lastIdx="0" clrIdx="87"/>
  <p:cmAuthor id="89" name="未知用户15" initials="未" lastIdx="0" clrIdx="88"/>
  <p:cmAuthor id="90" name="未知用户16" initials="未" lastIdx="0" clrIdx="89"/>
  <p:cmAuthor id="91" name="未知用户8" initials="未" lastIdx="0" clrIdx="90"/>
  <p:cmAuthor id="92" name="未知用户9" initials="未" lastIdx="0" clrIdx="91"/>
  <p:cmAuthor id="93" name="ECG04.周杰" initials="E" lastIdx="0" clrIdx="92"/>
  <p:cmAuthor id="94" name="3430" initials="3" lastIdx="0" clrIdx="93"/>
  <p:cmAuthor id="95" name="weifuyun1" initials="w" lastIdx="0" clrIdx="94"/>
  <p:cmAuthor id="96" name="FAFC01.庄子彤" initials="F" lastIdx="0" clrIdx="95"/>
  <p:cmAuthor id="97" name="li yang" initials="ly" lastIdx="0" clrIdx="96"/>
  <p:cmAuthor id="98" name="geyue1" initials="g" lastIdx="0" clrIdx="97"/>
</p:cm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showPr>
  <p:clrMru>
    <a:srgbClr val="FDE9D9"/>
    <a:srgbClr val="B27D49"/>
    <a:srgbClr val="A5300F"/>
    <a:srgbClr val="F88E86"/>
    <a:srgbClr val="DAEEF3"/>
    <a:srgbClr val="FD877B"/>
    <a:srgbClr val="F2DCDB"/>
    <a:srgbClr val="9BBB59"/>
    <a:srgbClr val="FFC000"/>
    <a:srgbClr val="53180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浅色样式 2 - 强调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9976" autoAdjust="0"/>
    <p:restoredTop sz="92407" autoAdjust="0"/>
  </p:normalViewPr>
  <p:slideViewPr>
    <p:cSldViewPr showGuides="1">
      <p:cViewPr varScale="1">
        <p:scale>
          <a:sx n="108" d="100"/>
          <a:sy n="108" d="100"/>
        </p:scale>
        <p:origin x="62" y="302"/>
      </p:cViewPr>
      <p:guideLst>
        <p:guide orient="horz" pos="2092"/>
        <p:guide pos="3011"/>
      </p:guideLst>
    </p:cSldViewPr>
  </p:slideViewPr>
  <p:outlineViewPr>
    <p:cViewPr>
      <p:scale>
        <a:sx n="33" d="100"/>
        <a:sy n="33" d="100"/>
      </p:scale>
      <p:origin x="0" y="-1656"/>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Master" Target="slideMasters/slideMaster8.xml"/><Relationship Id="rId81" Type="http://schemas.openxmlformats.org/officeDocument/2006/relationships/tags" Target="tags/tag58.xml"/><Relationship Id="rId80" Type="http://schemas.openxmlformats.org/officeDocument/2006/relationships/commentAuthors" Target="commentAuthors.xml"/><Relationship Id="rId8" Type="http://schemas.openxmlformats.org/officeDocument/2006/relationships/slideMaster" Target="slideMasters/slideMaster7.xml"/><Relationship Id="rId79" Type="http://schemas.openxmlformats.org/officeDocument/2006/relationships/tableStyles" Target="tableStyles.xml"/><Relationship Id="rId78" Type="http://schemas.openxmlformats.org/officeDocument/2006/relationships/viewProps" Target="viewProps.xml"/><Relationship Id="rId77" Type="http://schemas.openxmlformats.org/officeDocument/2006/relationships/presProps" Target="presProps.xml"/><Relationship Id="rId76" Type="http://schemas.openxmlformats.org/officeDocument/2006/relationships/handoutMaster" Target="handoutMasters/handoutMaster1.xml"/><Relationship Id="rId75" Type="http://schemas.openxmlformats.org/officeDocument/2006/relationships/slide" Target="slides/slide59.xml"/><Relationship Id="rId74" Type="http://schemas.openxmlformats.org/officeDocument/2006/relationships/slide" Target="slides/slide58.xml"/><Relationship Id="rId73" Type="http://schemas.openxmlformats.org/officeDocument/2006/relationships/slide" Target="slides/slide57.xml"/><Relationship Id="rId72" Type="http://schemas.openxmlformats.org/officeDocument/2006/relationships/slide" Target="slides/slide56.xml"/><Relationship Id="rId71" Type="http://schemas.openxmlformats.org/officeDocument/2006/relationships/slide" Target="slides/slide55.xml"/><Relationship Id="rId70" Type="http://schemas.openxmlformats.org/officeDocument/2006/relationships/slide" Target="slides/slide54.xml"/><Relationship Id="rId7" Type="http://schemas.openxmlformats.org/officeDocument/2006/relationships/slideMaster" Target="slideMasters/slideMaster6.xml"/><Relationship Id="rId69" Type="http://schemas.openxmlformats.org/officeDocument/2006/relationships/slide" Target="slides/slide53.xml"/><Relationship Id="rId68" Type="http://schemas.openxmlformats.org/officeDocument/2006/relationships/slide" Target="slides/slide52.xml"/><Relationship Id="rId67" Type="http://schemas.openxmlformats.org/officeDocument/2006/relationships/slide" Target="slides/slide51.xml"/><Relationship Id="rId66" Type="http://schemas.openxmlformats.org/officeDocument/2006/relationships/slide" Target="slides/slide50.xml"/><Relationship Id="rId65" Type="http://schemas.openxmlformats.org/officeDocument/2006/relationships/slide" Target="slides/slide49.xml"/><Relationship Id="rId64" Type="http://schemas.openxmlformats.org/officeDocument/2006/relationships/slide" Target="slides/slide48.xml"/><Relationship Id="rId63" Type="http://schemas.openxmlformats.org/officeDocument/2006/relationships/slide" Target="slides/slide47.xml"/><Relationship Id="rId62" Type="http://schemas.openxmlformats.org/officeDocument/2006/relationships/slide" Target="slides/slide46.xml"/><Relationship Id="rId61" Type="http://schemas.openxmlformats.org/officeDocument/2006/relationships/slide" Target="slides/slide45.xml"/><Relationship Id="rId60" Type="http://schemas.openxmlformats.org/officeDocument/2006/relationships/slide" Target="slides/slide44.xml"/><Relationship Id="rId6" Type="http://schemas.openxmlformats.org/officeDocument/2006/relationships/slideMaster" Target="slideMasters/slideMaster5.xml"/><Relationship Id="rId59" Type="http://schemas.openxmlformats.org/officeDocument/2006/relationships/slide" Target="slides/slide43.xml"/><Relationship Id="rId58" Type="http://schemas.openxmlformats.org/officeDocument/2006/relationships/slide" Target="slides/slide42.xml"/><Relationship Id="rId57" Type="http://schemas.openxmlformats.org/officeDocument/2006/relationships/slide" Target="slides/slide41.xml"/><Relationship Id="rId56" Type="http://schemas.openxmlformats.org/officeDocument/2006/relationships/slide" Target="slides/slide40.xml"/><Relationship Id="rId55" Type="http://schemas.openxmlformats.org/officeDocument/2006/relationships/slide" Target="slides/slide39.xml"/><Relationship Id="rId54" Type="http://schemas.openxmlformats.org/officeDocument/2006/relationships/slide" Target="slides/slide38.xml"/><Relationship Id="rId53" Type="http://schemas.openxmlformats.org/officeDocument/2006/relationships/slide" Target="slides/slide37.xml"/><Relationship Id="rId52" Type="http://schemas.openxmlformats.org/officeDocument/2006/relationships/slide" Target="slides/slide36.xml"/><Relationship Id="rId51" Type="http://schemas.openxmlformats.org/officeDocument/2006/relationships/slide" Target="slides/slide35.xml"/><Relationship Id="rId50" Type="http://schemas.openxmlformats.org/officeDocument/2006/relationships/slide" Target="slides/slide34.xml"/><Relationship Id="rId5" Type="http://schemas.openxmlformats.org/officeDocument/2006/relationships/slideMaster" Target="slideMasters/slideMaster4.xml"/><Relationship Id="rId49" Type="http://schemas.openxmlformats.org/officeDocument/2006/relationships/slide" Target="slides/slide33.xml"/><Relationship Id="rId48" Type="http://schemas.openxmlformats.org/officeDocument/2006/relationships/slide" Target="slides/slide32.xml"/><Relationship Id="rId47" Type="http://schemas.openxmlformats.org/officeDocument/2006/relationships/slide" Target="slides/slide31.xml"/><Relationship Id="rId46" Type="http://schemas.openxmlformats.org/officeDocument/2006/relationships/slide" Target="slides/slide30.xml"/><Relationship Id="rId45" Type="http://schemas.openxmlformats.org/officeDocument/2006/relationships/slide" Target="slides/slide29.xml"/><Relationship Id="rId44" Type="http://schemas.openxmlformats.org/officeDocument/2006/relationships/slide" Target="slides/slide28.xml"/><Relationship Id="rId43" Type="http://schemas.openxmlformats.org/officeDocument/2006/relationships/slide" Target="slides/slide27.xml"/><Relationship Id="rId42" Type="http://schemas.openxmlformats.org/officeDocument/2006/relationships/slide" Target="slides/slide26.xml"/><Relationship Id="rId41" Type="http://schemas.openxmlformats.org/officeDocument/2006/relationships/slide" Target="slides/slide25.xml"/><Relationship Id="rId40" Type="http://schemas.openxmlformats.org/officeDocument/2006/relationships/slide" Target="slides/slide24.xml"/><Relationship Id="rId4" Type="http://schemas.openxmlformats.org/officeDocument/2006/relationships/slideMaster" Target="slideMasters/slideMaster3.xml"/><Relationship Id="rId39" Type="http://schemas.openxmlformats.org/officeDocument/2006/relationships/slide" Target="slides/slide23.xml"/><Relationship Id="rId38" Type="http://schemas.openxmlformats.org/officeDocument/2006/relationships/slide" Target="slides/slide22.xml"/><Relationship Id="rId37" Type="http://schemas.openxmlformats.org/officeDocument/2006/relationships/slide" Target="slides/slide21.xml"/><Relationship Id="rId36" Type="http://schemas.openxmlformats.org/officeDocument/2006/relationships/slide" Target="slides/slide20.xml"/><Relationship Id="rId35" Type="http://schemas.openxmlformats.org/officeDocument/2006/relationships/slide" Target="slides/slide19.xml"/><Relationship Id="rId34" Type="http://schemas.openxmlformats.org/officeDocument/2006/relationships/slide" Target="slides/slide18.xml"/><Relationship Id="rId33" Type="http://schemas.openxmlformats.org/officeDocument/2006/relationships/slide" Target="slides/slide17.xml"/><Relationship Id="rId32" Type="http://schemas.openxmlformats.org/officeDocument/2006/relationships/slide" Target="slides/slide16.xml"/><Relationship Id="rId31" Type="http://schemas.openxmlformats.org/officeDocument/2006/relationships/slide" Target="slides/slide15.xml"/><Relationship Id="rId30" Type="http://schemas.openxmlformats.org/officeDocument/2006/relationships/slide" Target="slides/slide14.xml"/><Relationship Id="rId3" Type="http://schemas.openxmlformats.org/officeDocument/2006/relationships/slideMaster" Target="slideMasters/slideMaster2.xml"/><Relationship Id="rId29" Type="http://schemas.openxmlformats.org/officeDocument/2006/relationships/slide" Target="slides/slide13.xml"/><Relationship Id="rId28" Type="http://schemas.openxmlformats.org/officeDocument/2006/relationships/slide" Target="slides/slide12.xml"/><Relationship Id="rId27" Type="http://schemas.openxmlformats.org/officeDocument/2006/relationships/slide" Target="slides/slide11.xml"/><Relationship Id="rId26" Type="http://schemas.openxmlformats.org/officeDocument/2006/relationships/slide" Target="slides/slide10.xml"/><Relationship Id="rId25" Type="http://schemas.openxmlformats.org/officeDocument/2006/relationships/slide" Target="slides/slide9.xml"/><Relationship Id="rId24" Type="http://schemas.openxmlformats.org/officeDocument/2006/relationships/slide" Target="slides/slide8.xml"/><Relationship Id="rId23" Type="http://schemas.openxmlformats.org/officeDocument/2006/relationships/slide" Target="slides/slide7.xml"/><Relationship Id="rId22" Type="http://schemas.openxmlformats.org/officeDocument/2006/relationships/slide" Target="slides/slide6.xml"/><Relationship Id="rId21" Type="http://schemas.openxmlformats.org/officeDocument/2006/relationships/slide" Target="slides/slide5.xml"/><Relationship Id="rId20" Type="http://schemas.openxmlformats.org/officeDocument/2006/relationships/slide" Target="slides/slide4.xml"/><Relationship Id="rId2" Type="http://schemas.openxmlformats.org/officeDocument/2006/relationships/theme" Target="theme/theme1.xml"/><Relationship Id="rId19" Type="http://schemas.openxmlformats.org/officeDocument/2006/relationships/slide" Target="slides/slide3.xml"/><Relationship Id="rId18" Type="http://schemas.openxmlformats.org/officeDocument/2006/relationships/slide" Target="slides/slide2.xml"/><Relationship Id="rId17" Type="http://schemas.openxmlformats.org/officeDocument/2006/relationships/notesMaster" Target="notesMasters/notesMaster1.xml"/><Relationship Id="rId16" Type="http://schemas.openxmlformats.org/officeDocument/2006/relationships/slide" Target="slides/slide1.xml"/><Relationship Id="rId15" Type="http://schemas.openxmlformats.org/officeDocument/2006/relationships/slideMaster" Target="slideMasters/slideMaster14.xml"/><Relationship Id="rId14" Type="http://schemas.openxmlformats.org/officeDocument/2006/relationships/slideMaster" Target="slideMasters/slideMaster13.xml"/><Relationship Id="rId13" Type="http://schemas.openxmlformats.org/officeDocument/2006/relationships/slideMaster" Target="slideMasters/slideMaster12.xml"/><Relationship Id="rId12" Type="http://schemas.openxmlformats.org/officeDocument/2006/relationships/slideMaster" Target="slideMasters/slideMaster11.xml"/><Relationship Id="rId11" Type="http://schemas.openxmlformats.org/officeDocument/2006/relationships/slideMaster" Target="slideMasters/slideMaster10.xml"/><Relationship Id="rId10" Type="http://schemas.openxmlformats.org/officeDocument/2006/relationships/slideMaster" Target="slideMasters/slideMaster9.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056"/>
          </a:xfrm>
          <a:prstGeom prst="rect">
            <a:avLst/>
          </a:prstGeom>
        </p:spPr>
        <p:txBody>
          <a:bodyPr vert="horz" lIns="91440" tIns="45720" rIns="91440" bIns="45720" rtlCol="0"/>
          <a:lstStyle>
            <a:lvl1pPr algn="l" eaLnBrk="1" hangingPunct="1">
              <a:buFont typeface="Arial" panose="020B0604020202020204" pitchFamily="34" charset="0"/>
              <a:buNone/>
              <a:defRPr sz="1200" noProof="1"/>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3" name="日期占位符 2"/>
          <p:cNvSpPr>
            <a:spLocks noGrp="1"/>
          </p:cNvSpPr>
          <p:nvPr>
            <p:ph type="dt" sz="quarter" idx="1"/>
          </p:nvPr>
        </p:nvSpPr>
        <p:spPr>
          <a:xfrm>
            <a:off x="3850443" y="0"/>
            <a:ext cx="2945659" cy="498056"/>
          </a:xfrm>
          <a:prstGeom prst="rect">
            <a:avLst/>
          </a:prstGeom>
        </p:spPr>
        <p:txBody>
          <a:bodyPr vert="horz" lIns="91440" tIns="45720" rIns="91440" bIns="45720" rtlCol="0"/>
          <a:lstStyle>
            <a:lvl1pPr algn="r" eaLnBrk="1" hangingPunct="1">
              <a:buFont typeface="Arial" panose="020B0604020202020204" pitchFamily="34" charset="0"/>
              <a:buNone/>
              <a:defRPr sz="1200" noProof="1">
                <a:latin typeface="Arial" panose="020B0604020202020204" pitchFamily="34" charset="0"/>
                <a:ea typeface="宋体" panose="02010600030101010101" pitchFamily="2" charset="-122"/>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4" name="页脚占位符 3"/>
          <p:cNvSpPr>
            <a:spLocks noGrp="1"/>
          </p:cNvSpPr>
          <p:nvPr>
            <p:ph type="ftr" sz="quarter" idx="2"/>
          </p:nvPr>
        </p:nvSpPr>
        <p:spPr>
          <a:xfrm>
            <a:off x="0" y="9428583"/>
            <a:ext cx="2945659" cy="498056"/>
          </a:xfrm>
          <a:prstGeom prst="rect">
            <a:avLst/>
          </a:prstGeom>
        </p:spPr>
        <p:txBody>
          <a:bodyPr vert="horz" lIns="91440" tIns="45720" rIns="91440" bIns="45720" rtlCol="0" anchor="b"/>
          <a:lstStyle>
            <a:lvl1pPr algn="l" eaLnBrk="1" hangingPunct="1">
              <a:buFont typeface="Arial" panose="020B0604020202020204" pitchFamily="34" charset="0"/>
              <a:buNone/>
              <a:defRPr sz="1200" noProof="1"/>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5" name="灯片编号占位符 4"/>
          <p:cNvSpPr>
            <a:spLocks noGrp="1"/>
          </p:cNvSpPr>
          <p:nvPr>
            <p:ph type="sldNum" sz="quarter" idx="3"/>
          </p:nvPr>
        </p:nvSpPr>
        <p:spPr>
          <a:xfrm>
            <a:off x="3850443" y="9428583"/>
            <a:ext cx="2945659" cy="498056"/>
          </a:xfrm>
          <a:prstGeom prst="rect">
            <a:avLst/>
          </a:prstGeom>
        </p:spPr>
        <p:txBody>
          <a:bodyPr vert="horz" wrap="square" lIns="91440" tIns="45720" rIns="91440" bIns="45720" numCol="1" anchor="b" anchorCtr="0" compatLnSpc="1"/>
          <a:lstStyle>
            <a:lvl1pPr algn="r" eaLnBrk="1" hangingPunct="1">
              <a:buFont typeface="Arial" panose="020B0604020202020204" pitchFamily="34" charset="0"/>
              <a:buNone/>
              <a:defRPr sz="1200" noProof="1"/>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FB612F83-EA05-4AEE-8901-E4A14E05E67C}" type="slidenum">
              <a:rPr kumimoji="0"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rPr>
            </a:fld>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056"/>
          </a:xfrm>
          <a:prstGeom prst="rect">
            <a:avLst/>
          </a:prstGeom>
        </p:spPr>
        <p:txBody>
          <a:bodyPr vert="horz" lIns="91440" tIns="45720" rIns="91440" bIns="45720" rtlCol="0"/>
          <a:lstStyle>
            <a:lvl1pPr algn="l" eaLnBrk="1" hangingPunct="1">
              <a:buFont typeface="Arial" panose="020B0604020202020204" pitchFamily="34" charset="0"/>
              <a:buNone/>
              <a:defRPr sz="1200" noProof="1"/>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3" name="日期占位符 2"/>
          <p:cNvSpPr>
            <a:spLocks noGrp="1"/>
          </p:cNvSpPr>
          <p:nvPr>
            <p:ph type="dt" idx="1"/>
          </p:nvPr>
        </p:nvSpPr>
        <p:spPr>
          <a:xfrm>
            <a:off x="3850443" y="0"/>
            <a:ext cx="2945659" cy="498056"/>
          </a:xfrm>
          <a:prstGeom prst="rect">
            <a:avLst/>
          </a:prstGeom>
        </p:spPr>
        <p:txBody>
          <a:bodyPr vert="horz" lIns="91440" tIns="45720" rIns="91440" bIns="45720" rtlCol="0"/>
          <a:lstStyle>
            <a:lvl1pPr algn="r" eaLnBrk="1" hangingPunct="1">
              <a:buFont typeface="Arial" panose="020B0604020202020204" pitchFamily="34" charset="0"/>
              <a:buNone/>
              <a:defRPr sz="1200" noProof="1">
                <a:latin typeface="Arial" panose="020B0604020202020204" pitchFamily="34" charset="0"/>
                <a:ea typeface="宋体" panose="02010600030101010101" pitchFamily="2" charset="-122"/>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6148" name="幻灯片图像占位符 3"/>
          <p:cNvSpPr>
            <a:spLocks noGrp="1" noRot="1" noChangeAspect="1"/>
          </p:cNvSpPr>
          <p:nvPr>
            <p:ph type="sldImg"/>
          </p:nvPr>
        </p:nvSpPr>
        <p:spPr>
          <a:xfrm>
            <a:off x="422275" y="1241425"/>
            <a:ext cx="5953125" cy="3349625"/>
          </a:xfrm>
          <a:prstGeom prst="rect">
            <a:avLst/>
          </a:prstGeom>
          <a:noFill/>
          <a:ln w="12700" cap="flat" cmpd="sng">
            <a:solidFill>
              <a:srgbClr val="000000"/>
            </a:solidFill>
            <a:prstDash val="solid"/>
            <a:round/>
            <a:headEnd type="none" w="med" len="med"/>
            <a:tailEnd type="none" w="med" len="med"/>
          </a:ln>
        </p:spPr>
      </p:sp>
      <p:sp>
        <p:nvSpPr>
          <p:cNvPr id="3077" name="备注占位符 4"/>
          <p:cNvSpPr>
            <a:spLocks noGrp="1" noChangeArrowheads="1"/>
          </p:cNvSpPr>
          <p:nvPr>
            <p:ph type="body" sz="quarter" idx="4294967295"/>
          </p:nvPr>
        </p:nvSpPr>
        <p:spPr bwMode="auto">
          <a:xfrm>
            <a:off x="679768" y="4777194"/>
            <a:ext cx="5438140" cy="3908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t>单击此处编辑母版文本样式</a:t>
            </a: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a:p>
            <a:pPr marL="457200" marR="0" lvl="1" indent="0" algn="l" defTabSz="914400" rtl="0" eaLnBrk="0" fontAlgn="base" latinLnBrk="0" hangingPunct="0">
              <a:lnSpc>
                <a:spcPct val="100000"/>
              </a:lnSpc>
              <a:spcBef>
                <a:spcPct val="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t>第二级</a:t>
            </a: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a:p>
            <a:pPr marL="914400" marR="0" lvl="2" indent="0" algn="l" defTabSz="914400" rtl="0" eaLnBrk="0" fontAlgn="base" latinLnBrk="0" hangingPunct="0">
              <a:lnSpc>
                <a:spcPct val="100000"/>
              </a:lnSpc>
              <a:spcBef>
                <a:spcPct val="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t>第三级</a:t>
            </a: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a:p>
            <a:pPr marL="1371600" marR="0" lvl="3" indent="0" algn="l" defTabSz="914400" rtl="0" eaLnBrk="0" fontAlgn="base" latinLnBrk="0" hangingPunct="0">
              <a:lnSpc>
                <a:spcPct val="100000"/>
              </a:lnSpc>
              <a:spcBef>
                <a:spcPct val="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t>第四级</a:t>
            </a: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a:p>
            <a:pPr marL="1828800" marR="0" lvl="4" indent="0" algn="l" defTabSz="914400" rtl="0" eaLnBrk="0" fontAlgn="base" latinLnBrk="0" hangingPunct="0">
              <a:lnSpc>
                <a:spcPct val="100000"/>
              </a:lnSpc>
              <a:spcBef>
                <a:spcPct val="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t>第五级</a:t>
            </a: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6" name="页脚占位符 5"/>
          <p:cNvSpPr>
            <a:spLocks noGrp="1"/>
          </p:cNvSpPr>
          <p:nvPr>
            <p:ph type="ftr" sz="quarter" idx="4"/>
          </p:nvPr>
        </p:nvSpPr>
        <p:spPr>
          <a:xfrm>
            <a:off x="0" y="9428583"/>
            <a:ext cx="2945659" cy="498056"/>
          </a:xfrm>
          <a:prstGeom prst="rect">
            <a:avLst/>
          </a:prstGeom>
        </p:spPr>
        <p:txBody>
          <a:bodyPr vert="horz" lIns="91440" tIns="45720" rIns="91440" bIns="45720" rtlCol="0" anchor="b"/>
          <a:lstStyle>
            <a:lvl1pPr algn="l" eaLnBrk="1" hangingPunct="1">
              <a:buFont typeface="Arial" panose="020B0604020202020204" pitchFamily="34" charset="0"/>
              <a:buNone/>
              <a:defRPr sz="1200" noProof="1"/>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7" name="灯片编号占位符 6"/>
          <p:cNvSpPr>
            <a:spLocks noGrp="1"/>
          </p:cNvSpPr>
          <p:nvPr>
            <p:ph type="sldNum" sz="quarter" idx="5"/>
          </p:nvPr>
        </p:nvSpPr>
        <p:spPr>
          <a:xfrm>
            <a:off x="3850443" y="9428583"/>
            <a:ext cx="2945659" cy="498056"/>
          </a:xfrm>
          <a:prstGeom prst="rect">
            <a:avLst/>
          </a:prstGeom>
        </p:spPr>
        <p:txBody>
          <a:bodyPr vert="horz" wrap="square" lIns="91440" tIns="45720" rIns="91440" bIns="45720" numCol="1" anchor="b" anchorCtr="0" compatLnSpc="1"/>
          <a:lstStyle>
            <a:lvl1pPr algn="r" eaLnBrk="1" hangingPunct="1">
              <a:buFont typeface="Arial" panose="020B0604020202020204" pitchFamily="34" charset="0"/>
              <a:buNone/>
              <a:defRPr sz="1200" noProof="1"/>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B13B21CB-26C6-4130-9037-FDA2327D2ADE}" type="slidenum">
              <a:rPr kumimoji="0"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rPr>
            </a:fld>
            <a:endParaRPr kumimoji="0" lang="zh-CN" altLang="en-US" sz="1200" b="0" i="0" u="none" strike="noStrike" kern="1200" cap="none" spc="0" normalizeH="0" baseline="0" noProof="1">
              <a:ln>
                <a:noFill/>
              </a:ln>
              <a:solidFill>
                <a:schemeClr val="tx1"/>
              </a:solidFill>
              <a:effectLst/>
              <a:uLnTx/>
              <a:uFillTx/>
              <a:latin typeface="Arial" panose="020B0604020202020204" pitchFamily="34" charset="0"/>
              <a:ea typeface="宋体" panose="02010600030101010101" pitchFamily="2" charset="-122"/>
              <a:cs typeface="+mn-cs"/>
            </a:endParaRPr>
          </a:p>
        </p:txBody>
      </p:sp>
    </p:spTree>
  </p:cSld>
  <p:clrMap bg1="lt1" tx1="dk1" bg2="lt2" tx2="dk2" accent1="accent1" accent2="accent2" accent3="accent3" accent4="accent4" accent5="accent5" accent6="accent6" hlink="hlink" folHlink="folHlink"/>
  <p:hf sldNum="0" hdr="0" ftr="0" dt="0"/>
  <p:notesStyle>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幻灯片图像占位符 1"/>
          <p:cNvSpPr>
            <a:spLocks noGrp="1" noRot="1" noChangeAspect="1" noTextEdit="1"/>
          </p:cNvSpPr>
          <p:nvPr>
            <p:ph type="sldImg"/>
          </p:nvPr>
        </p:nvSpPr>
        <p:spPr>
          <a:ln>
            <a:miter lim="800000"/>
          </a:ln>
        </p:spPr>
      </p:sp>
      <p:sp>
        <p:nvSpPr>
          <p:cNvPr id="9219"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幻灯片图像占位符 1"/>
          <p:cNvSpPr>
            <a:spLocks noGrp="1" noRot="1" noChangeAspect="1" noTextEdit="1"/>
          </p:cNvSpPr>
          <p:nvPr>
            <p:ph type="sldImg"/>
          </p:nvPr>
        </p:nvSpPr>
        <p:spPr>
          <a:ln>
            <a:miter lim="800000"/>
          </a:ln>
        </p:spPr>
      </p:sp>
      <p:sp>
        <p:nvSpPr>
          <p:cNvPr id="28675" name="备注占位符 2"/>
          <p:cNvSpPr>
            <a:spLocks noGrp="1"/>
          </p:cNvSpPr>
          <p:nvPr>
            <p:ph type="body"/>
          </p:nvPr>
        </p:nvSpPr>
        <p:spPr/>
        <p:txBody>
          <a:bodyPr wrap="square" lIns="91440" tIns="45720" rIns="91440" bIns="45720" anchor="t" anchorCtr="0"/>
          <a:lstStyle/>
          <a:p>
            <a:pPr lvl="0"/>
            <a:endParaRPr lang="zh-CN" altLang="en-US"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latin typeface="微软雅黑" panose="020B0503020204020204" pitchFamily="34" charset="-122"/>
              <a:ea typeface="微软雅黑" panose="020B0503020204020204" pitchFamily="34" charset="-122"/>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p:cNvSpPr>
            <a:spLocks noGrp="1" noRot="1" noChangeAspect="1" noTextEdit="1"/>
          </p:cNvSpPr>
          <p:nvPr>
            <p:ph type="sldImg"/>
          </p:nvPr>
        </p:nvSpPr>
        <p:spPr>
          <a:ln>
            <a:miter lim="800000"/>
          </a:ln>
        </p:spPr>
      </p:sp>
      <p:sp>
        <p:nvSpPr>
          <p:cNvPr id="25603" name="备注占位符 2"/>
          <p:cNvSpPr>
            <a:spLocks noGrp="1"/>
          </p:cNvSpPr>
          <p:nvPr>
            <p:ph type="body"/>
          </p:nvPr>
        </p:nvSpPr>
        <p:spPr/>
        <p:txBody>
          <a:bodyPr wrap="square" lIns="91440" tIns="45720" rIns="91440" bIns="45720" anchor="t"/>
          <a:lstStyle/>
          <a:p>
            <a:pPr lvl="0"/>
            <a:endParaRPr lang="zh-CN" altLang="en-US" dirty="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3D12ACD-A3A6-49A5-9CE3-30CB774CBD9D}"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microsoft.com/office/2007/relationships/hdphoto" Target="../media/image2.wdp"/><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xml.rels><?xml version="1.0" encoding="UTF-8" standalone="yes"?>
<Relationships xmlns="http://schemas.openxmlformats.org/package/2006/relationships"><Relationship Id="rId3" Type="http://schemas.microsoft.com/office/2007/relationships/hdphoto" Target="../media/image2.wdp"/><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xml.rels><?xml version="1.0" encoding="UTF-8" standalone="yes"?>
<Relationships xmlns="http://schemas.openxmlformats.org/package/2006/relationships"><Relationship Id="rId3" Type="http://schemas.microsoft.com/office/2007/relationships/hdphoto" Target="../media/image2.wdp"/><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xml.rels><?xml version="1.0" encoding="UTF-8" standalone="yes"?>
<Relationships xmlns="http://schemas.openxmlformats.org/package/2006/relationships"><Relationship Id="rId3" Type="http://schemas.microsoft.com/office/2007/relationships/hdphoto" Target="../media/image2.wdp"/><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2.xml"/></Relationships>
</file>

<file path=ppt/slideLayouts/_rels/slideLayout53.xml.rels><?xml version="1.0" encoding="UTF-8" standalone="yes"?>
<Relationships xmlns="http://schemas.openxmlformats.org/package/2006/relationships"><Relationship Id="rId4" Type="http://schemas.openxmlformats.org/officeDocument/2006/relationships/tags" Target="../tags/tag3.xml"/><Relationship Id="rId3" Type="http://schemas.openxmlformats.org/officeDocument/2006/relationships/tags" Target="../tags/tag2.xml"/><Relationship Id="rId2" Type="http://schemas.openxmlformats.org/officeDocument/2006/relationships/tags" Target="../tags/tag1.xml"/><Relationship Id="rId1" Type="http://schemas.openxmlformats.org/officeDocument/2006/relationships/slideMaster" Target="../slideMasters/slideMaster1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xml.rels><?xml version="1.0" encoding="UTF-8" standalone="yes"?>
<Relationships xmlns="http://schemas.openxmlformats.org/package/2006/relationships"><Relationship Id="rId3" Type="http://schemas.microsoft.com/office/2007/relationships/hdphoto" Target="../media/image2.wdp"/><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E0B5645F-71D5-4D5A-B0F4-CF70D9D6C741}" type="slidenum">
              <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3" y="2"/>
            <a:ext cx="10026635" cy="5649822"/>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1038"/>
            <a:ext cx="10058400" cy="2688082"/>
          </a:xfrm>
          <a:prstGeom prst="rect">
            <a:avLst/>
          </a:prstGeom>
          <a:blipFill>
            <a:blip r:embed="rId2" cstate="print">
              <a:extLst>
                <a:ext uri="{BEBA8EAE-BF5A-486C-A8C5-ECC9F3942E4B}">
                  <a14:imgProps xmlns:a14="http://schemas.microsoft.com/office/drawing/2010/main">
                    <a14:imgLayer r:embed="rId3">
                      <a14:imgEffect>
                        <a14:brightnessContrast contrast="40000"/>
                      </a14:imgEffect>
                    </a14:imgLayer>
                  </a14:imgProps>
                </a:ext>
              </a:extLst>
            </a:blip>
            <a:stretch>
              <a:fillRect/>
            </a:stretch>
          </a:blipFill>
        </p:spPr>
        <p:txBody>
          <a:bodyPr wrap="square" lIns="0" tIns="0" rIns="0" bIns="0" rtlCol="0"/>
          <a:lstStyle/>
          <a:p>
            <a:endParaRPr sz="100"/>
          </a:p>
        </p:txBody>
      </p:sp>
      <p:sp>
        <p:nvSpPr>
          <p:cNvPr id="3" name="灯片编号占位符 2"/>
          <p:cNvSpPr>
            <a:spLocks noGrp="1"/>
          </p:cNvSpPr>
          <p:nvPr>
            <p:ph type="sldNum" sz="quarter" idx="10"/>
          </p:nvPr>
        </p:nvSpPr>
        <p:spPr>
          <a:xfrm>
            <a:off x="9621408" y="5357824"/>
            <a:ext cx="471455" cy="301296"/>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目录页">
    <p:bg>
      <p:bgPr>
        <a:solidFill>
          <a:schemeClr val="bg1"/>
        </a:solidFill>
        <a:effectLst/>
      </p:bgPr>
    </p:bg>
    <p:spTree>
      <p:nvGrpSpPr>
        <p:cNvPr id="1" name=""/>
        <p:cNvGrpSpPr/>
        <p:nvPr/>
      </p:nvGrpSpPr>
      <p:grpSpPr>
        <a:xfrm>
          <a:off x="0" y="0"/>
          <a:ext cx="0" cy="0"/>
          <a:chOff x="0" y="0"/>
          <a:chExt cx="0" cy="0"/>
        </a:xfrm>
      </p:grpSpPr>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algn="ctr">
              <a:defRPr/>
            </a:pPr>
            <a:endParaRPr lang="zh-CN" altLang="en-US" sz="100" kern="0">
              <a:solidFill>
                <a:srgbClr val="FFFFFF"/>
              </a:solidFill>
            </a:endParaRPr>
          </a:p>
        </p:txBody>
      </p:sp>
      <p:grpSp>
        <p:nvGrpSpPr>
          <p:cNvPr id="7" name="组合 6"/>
          <p:cNvGrpSpPr/>
          <p:nvPr userDrawn="1"/>
        </p:nvGrpSpPr>
        <p:grpSpPr>
          <a:xfrm>
            <a:off x="217265" y="0"/>
            <a:ext cx="297033" cy="749862"/>
            <a:chOff x="263352" y="0"/>
            <a:chExt cx="360040" cy="908720"/>
          </a:xfrm>
        </p:grpSpPr>
        <p:sp>
          <p:nvSpPr>
            <p:cNvPr id="8" name="矩形 7"/>
            <p:cNvSpPr/>
            <p:nvPr userDrawn="1"/>
          </p:nvSpPr>
          <p:spPr>
            <a:xfrm>
              <a:off x="263352" y="382352"/>
              <a:ext cx="360040" cy="526368"/>
            </a:xfrm>
            <a:prstGeom prst="rect">
              <a:avLst/>
            </a:prstGeom>
            <a:solidFill>
              <a:schemeClr val="accent1">
                <a:lumMod val="40000"/>
                <a:lumOff val="60000"/>
              </a:schemeClr>
            </a:solidFill>
            <a:ln w="12700" cap="flat" cmpd="sng" algn="ctr">
              <a:noFill/>
              <a:prstDash val="solid"/>
              <a:miter lim="800000"/>
            </a:ln>
            <a:effectLst/>
          </p:spPr>
          <p:txBody>
            <a:bodyPr rtlCol="0" anchor="ctr"/>
            <a:lstStyle/>
            <a:p>
              <a:pPr marL="0" marR="0" lvl="0" indent="0" algn="ctr" defTabSz="913765" eaLnBrk="1" fontAlgn="auto" latinLnBrk="0" hangingPunct="1">
                <a:lnSpc>
                  <a:spcPct val="100000"/>
                </a:lnSpc>
                <a:spcBef>
                  <a:spcPts val="0"/>
                </a:spcBef>
                <a:spcAft>
                  <a:spcPts val="0"/>
                </a:spcAft>
                <a:buClrTx/>
                <a:buSzTx/>
                <a:buFontTx/>
                <a:buNone/>
                <a:defRPr/>
              </a:pPr>
              <a:endParaRPr kumimoji="0" lang="zh-CN" altLang="en-US" sz="1540" b="0" i="0" u="none" strike="noStrike" kern="0" cap="none" spc="0" normalizeH="0" baseline="0" noProof="0">
                <a:ln>
                  <a:noFill/>
                </a:ln>
                <a:solidFill>
                  <a:srgbClr val="FFFFFF"/>
                </a:solidFill>
                <a:effectLst/>
                <a:uLnTx/>
                <a:uFillTx/>
                <a:latin typeface="Arial" panose="020B0604020202020204"/>
                <a:ea typeface="微软雅黑" panose="020B0503020204020204" pitchFamily="34" charset="-122"/>
                <a:cs typeface="+mn-cs"/>
              </a:endParaRPr>
            </a:p>
          </p:txBody>
        </p:sp>
        <p:sp>
          <p:nvSpPr>
            <p:cNvPr id="9" name="矩形 8"/>
            <p:cNvSpPr/>
            <p:nvPr userDrawn="1"/>
          </p:nvSpPr>
          <p:spPr>
            <a:xfrm>
              <a:off x="263352" y="0"/>
              <a:ext cx="360040" cy="764704"/>
            </a:xfrm>
            <a:prstGeom prst="rect">
              <a:avLst/>
            </a:prstGeom>
            <a:solidFill>
              <a:srgbClr val="CB1D23"/>
            </a:solidFill>
            <a:ln w="12700" cap="flat" cmpd="sng" algn="ctr">
              <a:noFill/>
              <a:prstDash val="solid"/>
              <a:miter lim="800000"/>
            </a:ln>
            <a:effectLst/>
          </p:spPr>
          <p:txBody>
            <a:bodyPr rtlCol="0" anchor="ctr"/>
            <a:lstStyle/>
            <a:p>
              <a:pPr marL="0" marR="0" lvl="0" indent="0" algn="ctr" defTabSz="913765" eaLnBrk="1" fontAlgn="auto" latinLnBrk="0" hangingPunct="1">
                <a:lnSpc>
                  <a:spcPct val="100000"/>
                </a:lnSpc>
                <a:spcBef>
                  <a:spcPts val="0"/>
                </a:spcBef>
                <a:spcAft>
                  <a:spcPts val="0"/>
                </a:spcAft>
                <a:buClrTx/>
                <a:buSzTx/>
                <a:buFontTx/>
                <a:buNone/>
                <a:defRPr/>
              </a:pPr>
              <a:endParaRPr kumimoji="0" lang="zh-CN" altLang="en-US" sz="1540" b="0" i="0" u="none" strike="noStrike" kern="0" cap="none" spc="0" normalizeH="0" baseline="0" noProof="0">
                <a:ln>
                  <a:noFill/>
                </a:ln>
                <a:solidFill>
                  <a:srgbClr val="FFFFFF"/>
                </a:solidFill>
                <a:effectLst/>
                <a:uLnTx/>
                <a:uFillTx/>
                <a:latin typeface="Arial" panose="020B0604020202020204"/>
                <a:ea typeface="微软雅黑" panose="020B0503020204020204" pitchFamily="34" charset="-122"/>
                <a:cs typeface="+mn-cs"/>
              </a:endParaRPr>
            </a:p>
          </p:txBody>
        </p:sp>
      </p:grpSp>
      <p:sp>
        <p:nvSpPr>
          <p:cNvPr id="11" name="标题 1"/>
          <p:cNvSpPr>
            <a:spLocks noGrp="1"/>
          </p:cNvSpPr>
          <p:nvPr>
            <p:ph type="title"/>
          </p:nvPr>
        </p:nvSpPr>
        <p:spPr>
          <a:xfrm>
            <a:off x="599274" y="200462"/>
            <a:ext cx="9136406" cy="440551"/>
          </a:xfrm>
          <a:prstGeom prst="rect">
            <a:avLst/>
          </a:prstGeom>
        </p:spPr>
        <p:txBody>
          <a:bodyPr anchor="ctr">
            <a:noAutofit/>
          </a:bodyPr>
          <a:lstStyle>
            <a:lvl1pPr>
              <a:defRPr sz="2310" b="1">
                <a:solidFill>
                  <a:srgbClr val="DA251D"/>
                </a:solidFill>
                <a:latin typeface="+mj-ea"/>
                <a:ea typeface="+mj-ea"/>
              </a:defRPr>
            </a:lvl1pPr>
          </a:lstStyle>
          <a:p>
            <a:r>
              <a:rPr lang="zh-CN" altLang="en-US"/>
              <a:t>单击此处编辑母版标题样式</a:t>
            </a:r>
            <a:endParaRPr lang="zh-CN" altLang="en-US" dirty="0"/>
          </a:p>
        </p:txBody>
      </p:sp>
      <p:sp>
        <p:nvSpPr>
          <p:cNvPr id="10" name="TextBox 9"/>
          <p:cNvSpPr txBox="1">
            <a:spLocks noChangeArrowheads="1"/>
          </p:cNvSpPr>
          <p:nvPr userDrawn="1"/>
        </p:nvSpPr>
        <p:spPr bwMode="auto">
          <a:xfrm>
            <a:off x="9644784" y="5388030"/>
            <a:ext cx="283977" cy="175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48575" tIns="24287" rIns="48575" bIns="24287">
            <a:spAutoFit/>
          </a:bodyPr>
          <a:lstStyle>
            <a:lvl1pPr eaLnBrk="0" hangingPunct="0">
              <a:defRPr>
                <a:solidFill>
                  <a:schemeClr val="tx1"/>
                </a:solidFill>
                <a:latin typeface="Franklin Gothic Book" panose="020B0503020102020204" pitchFamily="34" charset="0"/>
                <a:ea typeface="宋体" panose="02010600030101010101" pitchFamily="2" charset="-122"/>
              </a:defRPr>
            </a:lvl1pPr>
            <a:lvl2pPr marL="742950" indent="-285750" eaLnBrk="0" hangingPunct="0">
              <a:defRPr>
                <a:solidFill>
                  <a:schemeClr val="tx1"/>
                </a:solidFill>
                <a:latin typeface="Franklin Gothic Book" panose="020B0503020102020204" pitchFamily="34" charset="0"/>
                <a:ea typeface="宋体" panose="02010600030101010101" pitchFamily="2" charset="-122"/>
              </a:defRPr>
            </a:lvl2pPr>
            <a:lvl3pPr marL="1143000" indent="-228600" eaLnBrk="0" hangingPunct="0">
              <a:defRPr>
                <a:solidFill>
                  <a:schemeClr val="tx1"/>
                </a:solidFill>
                <a:latin typeface="Franklin Gothic Book" panose="020B0503020102020204" pitchFamily="34" charset="0"/>
                <a:ea typeface="宋体" panose="02010600030101010101" pitchFamily="2" charset="-122"/>
              </a:defRPr>
            </a:lvl3pPr>
            <a:lvl4pPr marL="1600200" indent="-228600" eaLnBrk="0" hangingPunct="0">
              <a:defRPr>
                <a:solidFill>
                  <a:schemeClr val="tx1"/>
                </a:solidFill>
                <a:latin typeface="Franklin Gothic Book" panose="020B0503020102020204" pitchFamily="34" charset="0"/>
                <a:ea typeface="宋体" panose="02010600030101010101" pitchFamily="2" charset="-122"/>
              </a:defRPr>
            </a:lvl4pPr>
            <a:lvl5pPr marL="2057400" indent="-228600" eaLnBrk="0" hangingPunct="0">
              <a:defRPr>
                <a:solidFill>
                  <a:schemeClr val="tx1"/>
                </a:solidFill>
                <a:latin typeface="Franklin Gothic Book" panose="020B05030201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9pPr>
          </a:lstStyle>
          <a:p>
            <a:pPr algn="r" eaLnBrk="1" hangingPunct="1"/>
            <a:fld id="{1A5D4496-7636-4FA1-8168-39E97B70E802}" type="slidenum">
              <a:rPr lang="en-US" altLang="zh-CN" sz="825" smtClean="0">
                <a:solidFill>
                  <a:srgbClr val="595959"/>
                </a:solidFill>
                <a:latin typeface="微软雅黑" panose="020B0503020204020204" pitchFamily="34" charset="-122"/>
                <a:ea typeface="微软雅黑" panose="020B0503020204020204" pitchFamily="34" charset="-122"/>
                <a:cs typeface="Tahoma" panose="020B0604030504040204" pitchFamily="34" charset="0"/>
              </a:rPr>
            </a:fld>
            <a:endParaRPr lang="zh-CN" altLang="en-US" sz="330" dirty="0">
              <a:solidFill>
                <a:srgbClr val="595959"/>
              </a:solidFill>
              <a:latin typeface="微软雅黑" panose="020B0503020204020204" pitchFamily="34" charset="-122"/>
              <a:ea typeface="微软雅黑" panose="020B0503020204020204" pitchFamily="34" charset="-122"/>
              <a:cs typeface="Tahoma" panose="020B0604030504040204" pitchFamily="34" charset="0"/>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03F5A5F9-63C7-49E2-AA33-30D063811623}" type="slidenum">
              <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prstClr val="black">
                    <a:lumMod val="65000"/>
                    <a:lumOff val="35000"/>
                  </a:prst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4C5077C2-D0AB-48A1-A239-9B4DD2A06284}" type="slidenum">
              <a:rPr kumimoji="0" lang="zh-CN" altLang="en-US" sz="1000" b="0" i="0" u="none" strike="noStrike" kern="1200" cap="none" spc="0" normalizeH="0" baseline="0" noProof="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dirty="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ABC9529F-4B29-4888-B08D-96527121C4D8}"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3ABB42F0-D429-4FD9-BFD8-F3DB54FF1A7A}" type="slidenum">
              <a:rPr lang="zh-CN" altLang="en-US" smtClean="0"/>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4" y="3"/>
            <a:ext cx="10026635" cy="5650139"/>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8"/>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754380"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1205"/>
            <a:ext cx="10058400" cy="2688233"/>
          </a:xfrm>
          <a:prstGeom prst="rect">
            <a:avLst/>
          </a:prstGeom>
          <a:blipFill>
            <a:blip r:embed="rId2" cstate="print"/>
            <a:stretch>
              <a:fillRect/>
            </a:stretch>
          </a:blipFill>
        </p:spPr>
        <p:txBody>
          <a:bodyPr wrap="square" lIns="0" tIns="0" rIns="0" bIns="0" rtlCol="0"/>
          <a:lstStyle/>
          <a:p/>
        </p:txBody>
      </p:sp>
      <p:sp>
        <p:nvSpPr>
          <p:cNvPr id="3" name="灯片编号占位符 2"/>
          <p:cNvSpPr>
            <a:spLocks noGrp="1"/>
          </p:cNvSpPr>
          <p:nvPr>
            <p:ph type="sldNum" sz="quarter" idx="10"/>
          </p:nvPr>
        </p:nvSpPr>
        <p:spPr>
          <a:xfrm>
            <a:off x="9621409" y="5358126"/>
            <a:ext cx="471455" cy="301313"/>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defTabSz="914400">
              <a:defRPr/>
            </a:pPr>
            <a:fld id="{E0B5645F-71D5-4D5A-B0F4-CF70D9D6C741}" type="slidenum">
              <a:rPr lang="zh-CN" altLang="en-US" smtClean="0"/>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257300" y="926209"/>
            <a:ext cx="7543800" cy="1970323"/>
          </a:xfrm>
        </p:spPr>
        <p:txBody>
          <a:bodyPr anchor="b"/>
          <a:lstStyle>
            <a:lvl1pPr algn="ctr">
              <a:defRPr sz="495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257300" y="2972515"/>
            <a:ext cx="7543800" cy="1366387"/>
          </a:xfrm>
        </p:spPr>
        <p:txBody>
          <a:bodyPr/>
          <a:lstStyle>
            <a:lvl1pPr marL="0" indent="0" algn="ctr">
              <a:buNone/>
              <a:defRPr sz="1980"/>
            </a:lvl1pPr>
            <a:lvl2pPr marL="377190" indent="0" algn="ctr">
              <a:buNone/>
              <a:defRPr sz="1650"/>
            </a:lvl2pPr>
            <a:lvl3pPr marL="754380" indent="0" algn="ctr">
              <a:buNone/>
              <a:defRPr sz="1485"/>
            </a:lvl3pPr>
            <a:lvl4pPr marL="1131570" indent="0" algn="ctr">
              <a:buNone/>
              <a:defRPr sz="1320"/>
            </a:lvl4pPr>
            <a:lvl5pPr marL="1508125" indent="0" algn="ctr">
              <a:buNone/>
              <a:defRPr sz="1320"/>
            </a:lvl5pPr>
            <a:lvl6pPr marL="1885315" indent="0" algn="ctr">
              <a:buNone/>
              <a:defRPr sz="1320"/>
            </a:lvl6pPr>
            <a:lvl7pPr marL="2262505" indent="0" algn="ctr">
              <a:buNone/>
              <a:defRPr sz="1320"/>
            </a:lvl7pPr>
            <a:lvl8pPr marL="2639695" indent="0" algn="ctr">
              <a:buNone/>
              <a:defRPr sz="1320"/>
            </a:lvl8pPr>
            <a:lvl9pPr marL="3016885" indent="0" algn="ctr">
              <a:buNone/>
              <a:defRPr sz="132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86276" y="1410931"/>
            <a:ext cx="8675370" cy="2354169"/>
          </a:xfrm>
        </p:spPr>
        <p:txBody>
          <a:bodyPr anchor="b"/>
          <a:lstStyle>
            <a:lvl1pPr>
              <a:defRPr sz="495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86276" y="3787371"/>
            <a:ext cx="8675370" cy="1238002"/>
          </a:xfrm>
        </p:spPr>
        <p:txBody>
          <a:bodyPr/>
          <a:lstStyle>
            <a:lvl1pPr marL="0" indent="0">
              <a:buNone/>
              <a:defRPr sz="1980">
                <a:solidFill>
                  <a:schemeClr val="tx1">
                    <a:tint val="75000"/>
                  </a:schemeClr>
                </a:solidFill>
              </a:defRPr>
            </a:lvl1pPr>
            <a:lvl2pPr marL="377190" indent="0">
              <a:buNone/>
              <a:defRPr sz="1650">
                <a:solidFill>
                  <a:schemeClr val="tx1">
                    <a:tint val="75000"/>
                  </a:schemeClr>
                </a:solidFill>
              </a:defRPr>
            </a:lvl2pPr>
            <a:lvl3pPr marL="754380" indent="0">
              <a:buNone/>
              <a:defRPr sz="1485">
                <a:solidFill>
                  <a:schemeClr val="tx1">
                    <a:tint val="75000"/>
                  </a:schemeClr>
                </a:solidFill>
              </a:defRPr>
            </a:lvl3pPr>
            <a:lvl4pPr marL="1131570" indent="0">
              <a:buNone/>
              <a:defRPr sz="1320">
                <a:solidFill>
                  <a:schemeClr val="tx1">
                    <a:tint val="75000"/>
                  </a:schemeClr>
                </a:solidFill>
              </a:defRPr>
            </a:lvl4pPr>
            <a:lvl5pPr marL="1508125" indent="0">
              <a:buNone/>
              <a:defRPr sz="1320">
                <a:solidFill>
                  <a:schemeClr val="tx1">
                    <a:tint val="75000"/>
                  </a:schemeClr>
                </a:solidFill>
              </a:defRPr>
            </a:lvl5pPr>
            <a:lvl6pPr marL="1885315" indent="0">
              <a:buNone/>
              <a:defRPr sz="1320">
                <a:solidFill>
                  <a:schemeClr val="tx1">
                    <a:tint val="75000"/>
                  </a:schemeClr>
                </a:solidFill>
              </a:defRPr>
            </a:lvl6pPr>
            <a:lvl7pPr marL="2262505" indent="0">
              <a:buNone/>
              <a:defRPr sz="1320">
                <a:solidFill>
                  <a:schemeClr val="tx1">
                    <a:tint val="75000"/>
                  </a:schemeClr>
                </a:solidFill>
              </a:defRPr>
            </a:lvl7pPr>
            <a:lvl8pPr marL="2639695" indent="0">
              <a:buNone/>
              <a:defRPr sz="1320">
                <a:solidFill>
                  <a:schemeClr val="tx1">
                    <a:tint val="75000"/>
                  </a:schemeClr>
                </a:solidFill>
              </a:defRPr>
            </a:lvl8pPr>
            <a:lvl9pPr marL="3016885" indent="0">
              <a:buNone/>
              <a:defRPr sz="132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691515" y="1506565"/>
            <a:ext cx="4274820" cy="3590861"/>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5092065" y="1506565"/>
            <a:ext cx="4274820" cy="3590861"/>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92825" y="301313"/>
            <a:ext cx="8675370" cy="1093896"/>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92826" y="1387349"/>
            <a:ext cx="4255174" cy="679918"/>
          </a:xfrm>
        </p:spPr>
        <p:txBody>
          <a:bodyPr anchor="b"/>
          <a:lstStyle>
            <a:lvl1pPr marL="0" indent="0">
              <a:buNone/>
              <a:defRPr sz="1980" b="1"/>
            </a:lvl1pPr>
            <a:lvl2pPr marL="377190" indent="0">
              <a:buNone/>
              <a:defRPr sz="1650" b="1"/>
            </a:lvl2pPr>
            <a:lvl3pPr marL="754380" indent="0">
              <a:buNone/>
              <a:defRPr sz="1485" b="1"/>
            </a:lvl3pPr>
            <a:lvl4pPr marL="1131570" indent="0">
              <a:buNone/>
              <a:defRPr sz="1320" b="1"/>
            </a:lvl4pPr>
            <a:lvl5pPr marL="1508125" indent="0">
              <a:buNone/>
              <a:defRPr sz="1320" b="1"/>
            </a:lvl5pPr>
            <a:lvl6pPr marL="1885315" indent="0">
              <a:buNone/>
              <a:defRPr sz="1320" b="1"/>
            </a:lvl6pPr>
            <a:lvl7pPr marL="2262505" indent="0">
              <a:buNone/>
              <a:defRPr sz="1320" b="1"/>
            </a:lvl7pPr>
            <a:lvl8pPr marL="2639695" indent="0">
              <a:buNone/>
              <a:defRPr sz="1320" b="1"/>
            </a:lvl8pPr>
            <a:lvl9pPr marL="3016885" indent="0">
              <a:buNone/>
              <a:defRPr sz="132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692826" y="2067267"/>
            <a:ext cx="4255174" cy="30406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5092065" y="1387349"/>
            <a:ext cx="4276130" cy="679918"/>
          </a:xfrm>
        </p:spPr>
        <p:txBody>
          <a:bodyPr anchor="b"/>
          <a:lstStyle>
            <a:lvl1pPr marL="0" indent="0">
              <a:buNone/>
              <a:defRPr sz="1980" b="1"/>
            </a:lvl1pPr>
            <a:lvl2pPr marL="377190" indent="0">
              <a:buNone/>
              <a:defRPr sz="1650" b="1"/>
            </a:lvl2pPr>
            <a:lvl3pPr marL="754380" indent="0">
              <a:buNone/>
              <a:defRPr sz="1485" b="1"/>
            </a:lvl3pPr>
            <a:lvl4pPr marL="1131570" indent="0">
              <a:buNone/>
              <a:defRPr sz="1320" b="1"/>
            </a:lvl4pPr>
            <a:lvl5pPr marL="1508125" indent="0">
              <a:buNone/>
              <a:defRPr sz="1320" b="1"/>
            </a:lvl5pPr>
            <a:lvl6pPr marL="1885315" indent="0">
              <a:buNone/>
              <a:defRPr sz="1320" b="1"/>
            </a:lvl6pPr>
            <a:lvl7pPr marL="2262505" indent="0">
              <a:buNone/>
              <a:defRPr sz="1320" b="1"/>
            </a:lvl7pPr>
            <a:lvl8pPr marL="2639695" indent="0">
              <a:buNone/>
              <a:defRPr sz="1320" b="1"/>
            </a:lvl8pPr>
            <a:lvl9pPr marL="3016885" indent="0">
              <a:buNone/>
              <a:defRPr sz="132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5092065" y="2067267"/>
            <a:ext cx="4276130" cy="30406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92825" y="377296"/>
            <a:ext cx="3244096" cy="1320536"/>
          </a:xfrm>
        </p:spPr>
        <p:txBody>
          <a:bodyPr anchor="b"/>
          <a:lstStyle>
            <a:lvl1pPr>
              <a:defRPr sz="264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4276130" y="814856"/>
            <a:ext cx="5092065" cy="4021869"/>
          </a:xfrm>
        </p:spPr>
        <p:txBody>
          <a:bodyPr/>
          <a:lstStyle>
            <a:lvl1pPr>
              <a:defRPr sz="2640"/>
            </a:lvl1pPr>
            <a:lvl2pPr>
              <a:defRPr sz="2310"/>
            </a:lvl2pPr>
            <a:lvl3pPr>
              <a:defRPr sz="1980"/>
            </a:lvl3pPr>
            <a:lvl4pPr>
              <a:defRPr sz="1650"/>
            </a:lvl4pPr>
            <a:lvl5pPr>
              <a:defRPr sz="1650"/>
            </a:lvl5pPr>
            <a:lvl6pPr>
              <a:defRPr sz="1650"/>
            </a:lvl6pPr>
            <a:lvl7pPr>
              <a:defRPr sz="1650"/>
            </a:lvl7pPr>
            <a:lvl8pPr>
              <a:defRPr sz="1650"/>
            </a:lvl8pPr>
            <a:lvl9pPr>
              <a:defRPr sz="165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692825" y="1697831"/>
            <a:ext cx="3244096" cy="3145443"/>
          </a:xfrm>
        </p:spPr>
        <p:txBody>
          <a:bodyPr/>
          <a:lstStyle>
            <a:lvl1pPr marL="0" indent="0">
              <a:buNone/>
              <a:defRPr sz="1320"/>
            </a:lvl1pPr>
            <a:lvl2pPr marL="377190" indent="0">
              <a:buNone/>
              <a:defRPr sz="1155"/>
            </a:lvl2pPr>
            <a:lvl3pPr marL="754380" indent="0">
              <a:buNone/>
              <a:defRPr sz="990"/>
            </a:lvl3pPr>
            <a:lvl4pPr marL="1131570" indent="0">
              <a:buNone/>
              <a:defRPr sz="825"/>
            </a:lvl4pPr>
            <a:lvl5pPr marL="1508125" indent="0">
              <a:buNone/>
              <a:defRPr sz="825"/>
            </a:lvl5pPr>
            <a:lvl6pPr marL="1885315" indent="0">
              <a:buNone/>
              <a:defRPr sz="825"/>
            </a:lvl6pPr>
            <a:lvl7pPr marL="2262505" indent="0">
              <a:buNone/>
              <a:defRPr sz="825"/>
            </a:lvl7pPr>
            <a:lvl8pPr marL="2639695" indent="0">
              <a:buNone/>
              <a:defRPr sz="825"/>
            </a:lvl8pPr>
            <a:lvl9pPr marL="3016885" indent="0">
              <a:buNone/>
              <a:defRPr sz="825"/>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92825" y="377296"/>
            <a:ext cx="3244096" cy="1320536"/>
          </a:xfrm>
        </p:spPr>
        <p:txBody>
          <a:bodyPr anchor="b"/>
          <a:lstStyle>
            <a:lvl1pPr>
              <a:defRPr sz="264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4276130" y="814856"/>
            <a:ext cx="5092065" cy="4021869"/>
          </a:xfrm>
        </p:spPr>
        <p:txBody>
          <a:bodyPr/>
          <a:lstStyle>
            <a:lvl1pPr marL="0" indent="0">
              <a:buNone/>
              <a:defRPr sz="2640"/>
            </a:lvl1pPr>
            <a:lvl2pPr marL="377190" indent="0">
              <a:buNone/>
              <a:defRPr sz="2310"/>
            </a:lvl2pPr>
            <a:lvl3pPr marL="754380" indent="0">
              <a:buNone/>
              <a:defRPr sz="1980"/>
            </a:lvl3pPr>
            <a:lvl4pPr marL="1131570" indent="0">
              <a:buNone/>
              <a:defRPr sz="1650"/>
            </a:lvl4pPr>
            <a:lvl5pPr marL="1508125" indent="0">
              <a:buNone/>
              <a:defRPr sz="1650"/>
            </a:lvl5pPr>
            <a:lvl6pPr marL="1885315" indent="0">
              <a:buNone/>
              <a:defRPr sz="1650"/>
            </a:lvl6pPr>
            <a:lvl7pPr marL="2262505" indent="0">
              <a:buNone/>
              <a:defRPr sz="1650"/>
            </a:lvl7pPr>
            <a:lvl8pPr marL="2639695" indent="0">
              <a:buNone/>
              <a:defRPr sz="1650"/>
            </a:lvl8pPr>
            <a:lvl9pPr marL="3016885" indent="0">
              <a:buNone/>
              <a:defRPr sz="1650"/>
            </a:lvl9pPr>
          </a:lstStyle>
          <a:p>
            <a:endParaRPr lang="zh-CN" altLang="en-US"/>
          </a:p>
        </p:txBody>
      </p:sp>
      <p:sp>
        <p:nvSpPr>
          <p:cNvPr id="4" name="文本占位符 3"/>
          <p:cNvSpPr>
            <a:spLocks noGrp="1"/>
          </p:cNvSpPr>
          <p:nvPr>
            <p:ph type="body" sz="half" idx="2"/>
          </p:nvPr>
        </p:nvSpPr>
        <p:spPr>
          <a:xfrm>
            <a:off x="692825" y="1697831"/>
            <a:ext cx="3244096" cy="3145443"/>
          </a:xfrm>
        </p:spPr>
        <p:txBody>
          <a:bodyPr/>
          <a:lstStyle>
            <a:lvl1pPr marL="0" indent="0">
              <a:buNone/>
              <a:defRPr sz="1320"/>
            </a:lvl1pPr>
            <a:lvl2pPr marL="377190" indent="0">
              <a:buNone/>
              <a:defRPr sz="1155"/>
            </a:lvl2pPr>
            <a:lvl3pPr marL="754380" indent="0">
              <a:buNone/>
              <a:defRPr sz="990"/>
            </a:lvl3pPr>
            <a:lvl4pPr marL="1131570" indent="0">
              <a:buNone/>
              <a:defRPr sz="825"/>
            </a:lvl4pPr>
            <a:lvl5pPr marL="1508125" indent="0">
              <a:buNone/>
              <a:defRPr sz="825"/>
            </a:lvl5pPr>
            <a:lvl6pPr marL="1885315" indent="0">
              <a:buNone/>
              <a:defRPr sz="825"/>
            </a:lvl6pPr>
            <a:lvl7pPr marL="2262505" indent="0">
              <a:buNone/>
              <a:defRPr sz="825"/>
            </a:lvl7pPr>
            <a:lvl8pPr marL="2639695" indent="0">
              <a:buNone/>
              <a:defRPr sz="825"/>
            </a:lvl8pPr>
            <a:lvl9pPr marL="3016885" indent="0">
              <a:buNone/>
              <a:defRPr sz="825"/>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198043" y="301313"/>
            <a:ext cx="2168843" cy="4796112"/>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691516" y="301313"/>
            <a:ext cx="6380798" cy="4796112"/>
          </a:xfr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fld>
            <a:endParaRPr lang="zh-CN" altLang="en-US"/>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17"/>
            <a:ext cx="7560840" cy="936051"/>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553"/>
            <a:ext cx="820738" cy="242874"/>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defTabSz="1108075">
              <a:defRPr/>
            </a:pPr>
            <a:fld id="{E0B5645F-71D5-4D5A-B0F4-CF70D9D6C741}" type="slidenum">
              <a:rPr lang="zh-CN" altLang="en-US" smtClean="0"/>
            </a:fld>
            <a:endParaRPr lang="zh-CN" altLang="en-US"/>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4871"/>
            <a:ext cx="2263140" cy="301279"/>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4871"/>
            <a:ext cx="3394710" cy="301279"/>
          </a:xfrm>
        </p:spPr>
        <p:txBody>
          <a:bodyPr/>
          <a:lstStyle/>
          <a:p>
            <a:endParaRPr lang="zh-CN" altLang="en-US"/>
          </a:p>
        </p:txBody>
      </p:sp>
      <p:sp>
        <p:nvSpPr>
          <p:cNvPr id="4" name="灯片编号占位符 3"/>
          <p:cNvSpPr>
            <a:spLocks noGrp="1"/>
          </p:cNvSpPr>
          <p:nvPr>
            <p:ph type="sldNum" sz="quarter" idx="12"/>
          </p:nvPr>
        </p:nvSpPr>
        <p:spPr>
          <a:xfrm>
            <a:off x="7103745" y="5244871"/>
            <a:ext cx="2263140" cy="301279"/>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3" y="2"/>
            <a:ext cx="10026635" cy="5649822"/>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1038"/>
            <a:ext cx="10058400" cy="2688082"/>
          </a:xfrm>
          <a:prstGeom prst="rect">
            <a:avLst/>
          </a:prstGeom>
          <a:blipFill>
            <a:blip r:embed="rId2" cstate="print">
              <a:extLst>
                <a:ext uri="{BEBA8EAE-BF5A-486C-A8C5-ECC9F3942E4B}">
                  <a14:imgProps xmlns:a14="http://schemas.microsoft.com/office/drawing/2010/main">
                    <a14:imgLayer r:embed="rId3">
                      <a14:imgEffect>
                        <a14:brightnessContrast contrast="40000"/>
                      </a14:imgEffect>
                    </a14:imgLayer>
                  </a14:imgProps>
                </a:ext>
              </a:extLst>
            </a:blip>
            <a:stretch>
              <a:fillRect/>
            </a:stretch>
          </a:blipFill>
        </p:spPr>
        <p:txBody>
          <a:bodyPr wrap="square" lIns="0" tIns="0" rIns="0" bIns="0" rtlCol="0"/>
          <a:lstStyle/>
          <a:p>
            <a:endParaRPr sz="1485"/>
          </a:p>
        </p:txBody>
      </p:sp>
      <p:sp>
        <p:nvSpPr>
          <p:cNvPr id="3" name="灯片编号占位符 2"/>
          <p:cNvSpPr>
            <a:spLocks noGrp="1"/>
          </p:cNvSpPr>
          <p:nvPr>
            <p:ph type="sldNum" sz="quarter" idx="10"/>
          </p:nvPr>
        </p:nvSpPr>
        <p:spPr>
          <a:xfrm>
            <a:off x="9621408" y="5357824"/>
            <a:ext cx="471455" cy="301296"/>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6" name="Picture Placeholder 2"/>
          <p:cNvSpPr>
            <a:spLocks noGrp="1"/>
          </p:cNvSpPr>
          <p:nvPr>
            <p:ph type="pic" sz="quarter" idx="10" hasCustomPrompt="1"/>
          </p:nvPr>
        </p:nvSpPr>
        <p:spPr>
          <a:xfrm>
            <a:off x="0" y="0"/>
            <a:ext cx="10058400" cy="5659120"/>
          </a:xfrm>
          <a:prstGeom prst="rect">
            <a:avLst/>
          </a:prstGeom>
          <a:pattFill prst="lgCheck">
            <a:fgClr>
              <a:schemeClr val="bg2">
                <a:lumMod val="90000"/>
              </a:schemeClr>
            </a:fgClr>
            <a:bgClr>
              <a:schemeClr val="bg1"/>
            </a:bgClr>
          </a:pattFill>
        </p:spPr>
        <p:txBody>
          <a:bodyPr anchor="ctr"/>
          <a:lstStyle>
            <a:lvl1pPr marL="0" indent="0" algn="ctr">
              <a:buNone/>
              <a:defRPr sz="1320" b="1" i="0" baseline="0">
                <a:latin typeface="Source Sans Pro" charset="0"/>
                <a:ea typeface="Source Sans Pro" charset="0"/>
                <a:cs typeface="Source Sans Pro" charset="0"/>
              </a:defRPr>
            </a:lvl1pPr>
          </a:lstStyle>
          <a:p>
            <a:r>
              <a:rPr lang="en-US" dirty="0"/>
              <a:t>Drag &amp; Drop picture</a:t>
            </a:r>
            <a:endParaRPr lang="en-US" dirty="0"/>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E0B5645F-71D5-4D5A-B0F4-CF70D9D6C741}" type="slidenum">
              <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3" y="2"/>
            <a:ext cx="10026635" cy="5649822"/>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1038"/>
            <a:ext cx="10058400" cy="2688082"/>
          </a:xfrm>
          <a:prstGeom prst="rect">
            <a:avLst/>
          </a:prstGeom>
          <a:blipFill>
            <a:blip r:embed="rId2" cstate="print">
              <a:extLst>
                <a:ext uri="{BEBA8EAE-BF5A-486C-A8C5-ECC9F3942E4B}">
                  <a14:imgProps xmlns:a14="http://schemas.microsoft.com/office/drawing/2010/main">
                    <a14:imgLayer r:embed="rId3">
                      <a14:imgEffect>
                        <a14:brightnessContrast contrast="40000"/>
                      </a14:imgEffect>
                    </a14:imgLayer>
                  </a14:imgProps>
                </a:ext>
              </a:extLst>
            </a:blip>
            <a:stretch>
              <a:fillRect/>
            </a:stretch>
          </a:blipFill>
        </p:spPr>
        <p:txBody>
          <a:bodyPr wrap="square" lIns="0" tIns="0" rIns="0" bIns="0" rtlCol="0"/>
          <a:lstStyle/>
          <a:p>
            <a:endParaRPr sz="100"/>
          </a:p>
        </p:txBody>
      </p:sp>
      <p:sp>
        <p:nvSpPr>
          <p:cNvPr id="3" name="灯片编号占位符 2"/>
          <p:cNvSpPr>
            <a:spLocks noGrp="1"/>
          </p:cNvSpPr>
          <p:nvPr>
            <p:ph type="sldNum" sz="quarter" idx="10"/>
          </p:nvPr>
        </p:nvSpPr>
        <p:spPr>
          <a:xfrm>
            <a:off x="9621408" y="5357824"/>
            <a:ext cx="471455" cy="301296"/>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目录页">
    <p:bg>
      <p:bgPr>
        <a:solidFill>
          <a:schemeClr val="bg1"/>
        </a:solidFill>
        <a:effectLst/>
      </p:bgPr>
    </p:bg>
    <p:spTree>
      <p:nvGrpSpPr>
        <p:cNvPr id="1" name=""/>
        <p:cNvGrpSpPr/>
        <p:nvPr/>
      </p:nvGrpSpPr>
      <p:grpSpPr>
        <a:xfrm>
          <a:off x="0" y="0"/>
          <a:ext cx="0" cy="0"/>
          <a:chOff x="0" y="0"/>
          <a:chExt cx="0" cy="0"/>
        </a:xfrm>
      </p:grpSpPr>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algn="ctr">
              <a:defRPr/>
            </a:pPr>
            <a:endParaRPr lang="zh-CN" altLang="en-US" sz="100" kern="0">
              <a:solidFill>
                <a:srgbClr val="FFFFFF"/>
              </a:solidFill>
            </a:endParaRPr>
          </a:p>
        </p:txBody>
      </p:sp>
      <p:grpSp>
        <p:nvGrpSpPr>
          <p:cNvPr id="7" name="组合 6"/>
          <p:cNvGrpSpPr/>
          <p:nvPr userDrawn="1"/>
        </p:nvGrpSpPr>
        <p:grpSpPr>
          <a:xfrm>
            <a:off x="217265" y="0"/>
            <a:ext cx="297033" cy="749862"/>
            <a:chOff x="263352" y="0"/>
            <a:chExt cx="360040" cy="908720"/>
          </a:xfrm>
        </p:grpSpPr>
        <p:sp>
          <p:nvSpPr>
            <p:cNvPr id="8" name="矩形 7"/>
            <p:cNvSpPr/>
            <p:nvPr userDrawn="1"/>
          </p:nvSpPr>
          <p:spPr>
            <a:xfrm>
              <a:off x="263352" y="382352"/>
              <a:ext cx="360040" cy="526368"/>
            </a:xfrm>
            <a:prstGeom prst="rect">
              <a:avLst/>
            </a:prstGeom>
            <a:solidFill>
              <a:schemeClr val="accent1">
                <a:lumMod val="40000"/>
                <a:lumOff val="60000"/>
              </a:schemeClr>
            </a:solidFill>
            <a:ln w="12700" cap="flat" cmpd="sng" algn="ctr">
              <a:noFill/>
              <a:prstDash val="solid"/>
              <a:miter lim="800000"/>
            </a:ln>
            <a:effectLst/>
          </p:spPr>
          <p:txBody>
            <a:bodyPr rtlCol="0" anchor="ctr"/>
            <a:lstStyle/>
            <a:p>
              <a:pPr marL="0" marR="0" lvl="0" indent="0" algn="ctr" defTabSz="913765" eaLnBrk="1" fontAlgn="auto" latinLnBrk="0" hangingPunct="1">
                <a:lnSpc>
                  <a:spcPct val="100000"/>
                </a:lnSpc>
                <a:spcBef>
                  <a:spcPts val="0"/>
                </a:spcBef>
                <a:spcAft>
                  <a:spcPts val="0"/>
                </a:spcAft>
                <a:buClrTx/>
                <a:buSzTx/>
                <a:buFontTx/>
                <a:buNone/>
                <a:defRPr/>
              </a:pPr>
              <a:endParaRPr kumimoji="0" lang="zh-CN" altLang="en-US" sz="1540" b="0" i="0" u="none" strike="noStrike" kern="0" cap="none" spc="0" normalizeH="0" baseline="0" noProof="0">
                <a:ln>
                  <a:noFill/>
                </a:ln>
                <a:solidFill>
                  <a:srgbClr val="FFFFFF"/>
                </a:solidFill>
                <a:effectLst/>
                <a:uLnTx/>
                <a:uFillTx/>
                <a:latin typeface="Arial" panose="020B0604020202020204"/>
                <a:ea typeface="微软雅黑" panose="020B0503020204020204" pitchFamily="34" charset="-122"/>
                <a:cs typeface="+mn-cs"/>
              </a:endParaRPr>
            </a:p>
          </p:txBody>
        </p:sp>
        <p:sp>
          <p:nvSpPr>
            <p:cNvPr id="9" name="矩形 8"/>
            <p:cNvSpPr/>
            <p:nvPr userDrawn="1"/>
          </p:nvSpPr>
          <p:spPr>
            <a:xfrm>
              <a:off x="263352" y="0"/>
              <a:ext cx="360040" cy="764704"/>
            </a:xfrm>
            <a:prstGeom prst="rect">
              <a:avLst/>
            </a:prstGeom>
            <a:solidFill>
              <a:srgbClr val="CB1D23"/>
            </a:solidFill>
            <a:ln w="12700" cap="flat" cmpd="sng" algn="ctr">
              <a:noFill/>
              <a:prstDash val="solid"/>
              <a:miter lim="800000"/>
            </a:ln>
            <a:effectLst/>
          </p:spPr>
          <p:txBody>
            <a:bodyPr rtlCol="0" anchor="ctr"/>
            <a:lstStyle/>
            <a:p>
              <a:pPr marL="0" marR="0" lvl="0" indent="0" algn="ctr" defTabSz="913765" eaLnBrk="1" fontAlgn="auto" latinLnBrk="0" hangingPunct="1">
                <a:lnSpc>
                  <a:spcPct val="100000"/>
                </a:lnSpc>
                <a:spcBef>
                  <a:spcPts val="0"/>
                </a:spcBef>
                <a:spcAft>
                  <a:spcPts val="0"/>
                </a:spcAft>
                <a:buClrTx/>
                <a:buSzTx/>
                <a:buFontTx/>
                <a:buNone/>
                <a:defRPr/>
              </a:pPr>
              <a:endParaRPr kumimoji="0" lang="zh-CN" altLang="en-US" sz="1540" b="0" i="0" u="none" strike="noStrike" kern="0" cap="none" spc="0" normalizeH="0" baseline="0" noProof="0">
                <a:ln>
                  <a:noFill/>
                </a:ln>
                <a:solidFill>
                  <a:srgbClr val="FFFFFF"/>
                </a:solidFill>
                <a:effectLst/>
                <a:uLnTx/>
                <a:uFillTx/>
                <a:latin typeface="Arial" panose="020B0604020202020204"/>
                <a:ea typeface="微软雅黑" panose="020B0503020204020204" pitchFamily="34" charset="-122"/>
                <a:cs typeface="+mn-cs"/>
              </a:endParaRPr>
            </a:p>
          </p:txBody>
        </p:sp>
      </p:grpSp>
      <p:sp>
        <p:nvSpPr>
          <p:cNvPr id="11" name="标题 1"/>
          <p:cNvSpPr>
            <a:spLocks noGrp="1"/>
          </p:cNvSpPr>
          <p:nvPr>
            <p:ph type="title"/>
          </p:nvPr>
        </p:nvSpPr>
        <p:spPr>
          <a:xfrm>
            <a:off x="599274" y="200462"/>
            <a:ext cx="9136406" cy="440551"/>
          </a:xfrm>
          <a:prstGeom prst="rect">
            <a:avLst/>
          </a:prstGeom>
        </p:spPr>
        <p:txBody>
          <a:bodyPr anchor="ctr">
            <a:noAutofit/>
          </a:bodyPr>
          <a:lstStyle>
            <a:lvl1pPr>
              <a:defRPr sz="2310" b="1">
                <a:solidFill>
                  <a:srgbClr val="DA251D"/>
                </a:solidFill>
                <a:latin typeface="+mj-ea"/>
                <a:ea typeface="+mj-ea"/>
              </a:defRPr>
            </a:lvl1pPr>
          </a:lstStyle>
          <a:p>
            <a:r>
              <a:rPr lang="zh-CN" altLang="en-US"/>
              <a:t>单击此处编辑母版标题样式</a:t>
            </a:r>
            <a:endParaRPr lang="zh-CN" altLang="en-US" dirty="0"/>
          </a:p>
        </p:txBody>
      </p:sp>
      <p:sp>
        <p:nvSpPr>
          <p:cNvPr id="10" name="TextBox 9"/>
          <p:cNvSpPr txBox="1">
            <a:spLocks noChangeArrowheads="1"/>
          </p:cNvSpPr>
          <p:nvPr userDrawn="1"/>
        </p:nvSpPr>
        <p:spPr bwMode="auto">
          <a:xfrm>
            <a:off x="9644784" y="5388030"/>
            <a:ext cx="283977" cy="175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48575" tIns="24287" rIns="48575" bIns="24287">
            <a:spAutoFit/>
          </a:bodyPr>
          <a:lstStyle>
            <a:lvl1pPr eaLnBrk="0" hangingPunct="0">
              <a:defRPr>
                <a:solidFill>
                  <a:schemeClr val="tx1"/>
                </a:solidFill>
                <a:latin typeface="Franklin Gothic Book" panose="020B0503020102020204" pitchFamily="34" charset="0"/>
                <a:ea typeface="宋体" panose="02010600030101010101" pitchFamily="2" charset="-122"/>
              </a:defRPr>
            </a:lvl1pPr>
            <a:lvl2pPr marL="742950" indent="-285750" eaLnBrk="0" hangingPunct="0">
              <a:defRPr>
                <a:solidFill>
                  <a:schemeClr val="tx1"/>
                </a:solidFill>
                <a:latin typeface="Franklin Gothic Book" panose="020B0503020102020204" pitchFamily="34" charset="0"/>
                <a:ea typeface="宋体" panose="02010600030101010101" pitchFamily="2" charset="-122"/>
              </a:defRPr>
            </a:lvl2pPr>
            <a:lvl3pPr marL="1143000" indent="-228600" eaLnBrk="0" hangingPunct="0">
              <a:defRPr>
                <a:solidFill>
                  <a:schemeClr val="tx1"/>
                </a:solidFill>
                <a:latin typeface="Franklin Gothic Book" panose="020B0503020102020204" pitchFamily="34" charset="0"/>
                <a:ea typeface="宋体" panose="02010600030101010101" pitchFamily="2" charset="-122"/>
              </a:defRPr>
            </a:lvl3pPr>
            <a:lvl4pPr marL="1600200" indent="-228600" eaLnBrk="0" hangingPunct="0">
              <a:defRPr>
                <a:solidFill>
                  <a:schemeClr val="tx1"/>
                </a:solidFill>
                <a:latin typeface="Franklin Gothic Book" panose="020B0503020102020204" pitchFamily="34" charset="0"/>
                <a:ea typeface="宋体" panose="02010600030101010101" pitchFamily="2" charset="-122"/>
              </a:defRPr>
            </a:lvl4pPr>
            <a:lvl5pPr marL="2057400" indent="-228600" eaLnBrk="0" hangingPunct="0">
              <a:defRPr>
                <a:solidFill>
                  <a:schemeClr val="tx1"/>
                </a:solidFill>
                <a:latin typeface="Franklin Gothic Book" panose="020B05030201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9pPr>
          </a:lstStyle>
          <a:p>
            <a:pPr algn="r" eaLnBrk="1" hangingPunct="1"/>
            <a:fld id="{1A5D4496-7636-4FA1-8168-39E97B70E802}" type="slidenum">
              <a:rPr lang="en-US" altLang="zh-CN" sz="825" smtClean="0">
                <a:solidFill>
                  <a:srgbClr val="595959"/>
                </a:solidFill>
                <a:latin typeface="微软雅黑" panose="020B0503020204020204" pitchFamily="34" charset="-122"/>
                <a:ea typeface="微软雅黑" panose="020B0503020204020204" pitchFamily="34" charset="-122"/>
                <a:cs typeface="Tahoma" panose="020B0604030504040204" pitchFamily="34" charset="0"/>
              </a:rPr>
            </a:fld>
            <a:endParaRPr lang="zh-CN" altLang="en-US" sz="330" dirty="0">
              <a:solidFill>
                <a:srgbClr val="595959"/>
              </a:solidFill>
              <a:latin typeface="微软雅黑" panose="020B0503020204020204" pitchFamily="34" charset="-122"/>
              <a:ea typeface="微软雅黑" panose="020B0503020204020204" pitchFamily="34" charset="-122"/>
              <a:cs typeface="Tahoma" panose="020B0604030504040204" pitchFamily="34" charset="0"/>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03F5A5F9-63C7-49E2-AA33-30D063811623}" type="slidenum">
              <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prstClr val="black">
                    <a:lumMod val="65000"/>
                    <a:lumOff val="35000"/>
                  </a:prst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4C5077C2-D0AB-48A1-A239-9B4DD2A06284}" type="slidenum">
              <a:rPr kumimoji="0" lang="zh-CN" altLang="en-US" sz="1000" b="0" i="0" u="none" strike="noStrike" kern="1200" cap="none" spc="0" normalizeH="0" baseline="0" noProof="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dirty="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ABC9529F-4B29-4888-B08D-96527121C4D8}"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3ABB42F0-D429-4FD9-BFD8-F3DB54FF1A7A}" type="slidenum">
              <a:rPr lang="zh-CN" altLang="en-US" smtClean="0"/>
            </a:fld>
            <a:endParaRPr lang="zh-CN" altLang="en-US"/>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4" y="3"/>
            <a:ext cx="10026635" cy="5650139"/>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8"/>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754380"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1205"/>
            <a:ext cx="10058400" cy="2688233"/>
          </a:xfrm>
          <a:prstGeom prst="rect">
            <a:avLst/>
          </a:prstGeom>
          <a:blipFill>
            <a:blip r:embed="rId2" cstate="print"/>
            <a:stretch>
              <a:fillRect/>
            </a:stretch>
          </a:blipFill>
        </p:spPr>
        <p:txBody>
          <a:bodyPr wrap="square" lIns="0" tIns="0" rIns="0" bIns="0" rtlCol="0"/>
          <a:lstStyle/>
          <a:p/>
        </p:txBody>
      </p:sp>
      <p:sp>
        <p:nvSpPr>
          <p:cNvPr id="3" name="灯片编号占位符 2"/>
          <p:cNvSpPr>
            <a:spLocks noGrp="1"/>
          </p:cNvSpPr>
          <p:nvPr>
            <p:ph type="sldNum" sz="quarter" idx="10"/>
          </p:nvPr>
        </p:nvSpPr>
        <p:spPr>
          <a:xfrm>
            <a:off x="9621409" y="5358126"/>
            <a:ext cx="471455" cy="301313"/>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marL="0" marR="0" lvl="0" indent="0" algn="r" defTabSz="914400" rtl="0" eaLnBrk="0" fontAlgn="base" latinLnBrk="0" hangingPunct="0">
              <a:lnSpc>
                <a:spcPct val="100000"/>
              </a:lnSpc>
              <a:spcBef>
                <a:spcPct val="0"/>
              </a:spcBef>
              <a:spcAft>
                <a:spcPct val="0"/>
              </a:spcAft>
              <a:buClrTx/>
              <a:buSzTx/>
              <a:buFontTx/>
              <a:buNone/>
              <a:defRPr/>
            </a:pPr>
            <a:fld id="{E0B5645F-71D5-4D5A-B0F4-CF70D9D6C741}" type="slidenum">
              <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3" y="2"/>
            <a:ext cx="10026635" cy="5649822"/>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1038"/>
            <a:ext cx="10058400" cy="2688082"/>
          </a:xfrm>
          <a:prstGeom prst="rect">
            <a:avLst/>
          </a:prstGeom>
          <a:blipFill>
            <a:blip r:embed="rId2" cstate="print">
              <a:extLst>
                <a:ext uri="{BEBA8EAE-BF5A-486C-A8C5-ECC9F3942E4B}">
                  <a14:imgProps xmlns:a14="http://schemas.microsoft.com/office/drawing/2010/main">
                    <a14:imgLayer r:embed="rId3">
                      <a14:imgEffect>
                        <a14:brightnessContrast contrast="40000"/>
                      </a14:imgEffect>
                    </a14:imgLayer>
                  </a14:imgProps>
                </a:ext>
              </a:extLst>
            </a:blip>
            <a:stretch>
              <a:fillRect/>
            </a:stretch>
          </a:blipFill>
        </p:spPr>
        <p:txBody>
          <a:bodyPr wrap="square" lIns="0" tIns="0" rIns="0" bIns="0" rtlCol="0"/>
          <a:lstStyle/>
          <a:p>
            <a:endParaRPr sz="100"/>
          </a:p>
        </p:txBody>
      </p:sp>
      <p:sp>
        <p:nvSpPr>
          <p:cNvPr id="3" name="灯片编号占位符 2"/>
          <p:cNvSpPr>
            <a:spLocks noGrp="1"/>
          </p:cNvSpPr>
          <p:nvPr>
            <p:ph type="sldNum" sz="quarter" idx="10"/>
          </p:nvPr>
        </p:nvSpPr>
        <p:spPr>
          <a:xfrm>
            <a:off x="9621408" y="5357824"/>
            <a:ext cx="471455" cy="301296"/>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目录页">
    <p:bg>
      <p:bgPr>
        <a:solidFill>
          <a:schemeClr val="bg1"/>
        </a:solidFill>
        <a:effectLst/>
      </p:bgPr>
    </p:bg>
    <p:spTree>
      <p:nvGrpSpPr>
        <p:cNvPr id="1" name=""/>
        <p:cNvGrpSpPr/>
        <p:nvPr/>
      </p:nvGrpSpPr>
      <p:grpSpPr>
        <a:xfrm>
          <a:off x="0" y="0"/>
          <a:ext cx="0" cy="0"/>
          <a:chOff x="0" y="0"/>
          <a:chExt cx="0" cy="0"/>
        </a:xfrm>
      </p:grpSpPr>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algn="ctr">
              <a:defRPr/>
            </a:pPr>
            <a:endParaRPr lang="zh-CN" altLang="en-US" sz="100" kern="0">
              <a:solidFill>
                <a:srgbClr val="FFFFFF"/>
              </a:solidFill>
            </a:endParaRPr>
          </a:p>
        </p:txBody>
      </p:sp>
      <p:grpSp>
        <p:nvGrpSpPr>
          <p:cNvPr id="7" name="组合 6"/>
          <p:cNvGrpSpPr/>
          <p:nvPr userDrawn="1"/>
        </p:nvGrpSpPr>
        <p:grpSpPr>
          <a:xfrm>
            <a:off x="217265" y="0"/>
            <a:ext cx="297033" cy="749862"/>
            <a:chOff x="263352" y="0"/>
            <a:chExt cx="360040" cy="908720"/>
          </a:xfrm>
        </p:grpSpPr>
        <p:sp>
          <p:nvSpPr>
            <p:cNvPr id="8" name="矩形 7"/>
            <p:cNvSpPr/>
            <p:nvPr userDrawn="1"/>
          </p:nvSpPr>
          <p:spPr>
            <a:xfrm>
              <a:off x="263352" y="382352"/>
              <a:ext cx="360040" cy="526368"/>
            </a:xfrm>
            <a:prstGeom prst="rect">
              <a:avLst/>
            </a:prstGeom>
            <a:solidFill>
              <a:schemeClr val="accent1">
                <a:lumMod val="40000"/>
                <a:lumOff val="60000"/>
              </a:schemeClr>
            </a:solidFill>
            <a:ln w="12700" cap="flat" cmpd="sng" algn="ctr">
              <a:noFill/>
              <a:prstDash val="solid"/>
              <a:miter lim="800000"/>
            </a:ln>
            <a:effectLst/>
          </p:spPr>
          <p:txBody>
            <a:bodyPr rtlCol="0" anchor="ctr"/>
            <a:lstStyle/>
            <a:p>
              <a:pPr marL="0" marR="0" lvl="0" indent="0" algn="ctr" defTabSz="913765" eaLnBrk="1" fontAlgn="auto" latinLnBrk="0" hangingPunct="1">
                <a:lnSpc>
                  <a:spcPct val="100000"/>
                </a:lnSpc>
                <a:spcBef>
                  <a:spcPts val="0"/>
                </a:spcBef>
                <a:spcAft>
                  <a:spcPts val="0"/>
                </a:spcAft>
                <a:buClrTx/>
                <a:buSzTx/>
                <a:buFontTx/>
                <a:buNone/>
                <a:defRPr/>
              </a:pPr>
              <a:endParaRPr kumimoji="0" lang="zh-CN" altLang="en-US" sz="1540" b="0" i="0" u="none" strike="noStrike" kern="0" cap="none" spc="0" normalizeH="0" baseline="0" noProof="0">
                <a:ln>
                  <a:noFill/>
                </a:ln>
                <a:solidFill>
                  <a:srgbClr val="FFFFFF"/>
                </a:solidFill>
                <a:effectLst/>
                <a:uLnTx/>
                <a:uFillTx/>
                <a:latin typeface="Arial" panose="020B0604020202020204"/>
                <a:ea typeface="微软雅黑" panose="020B0503020204020204" pitchFamily="34" charset="-122"/>
                <a:cs typeface="+mn-cs"/>
              </a:endParaRPr>
            </a:p>
          </p:txBody>
        </p:sp>
        <p:sp>
          <p:nvSpPr>
            <p:cNvPr id="9" name="矩形 8"/>
            <p:cNvSpPr/>
            <p:nvPr userDrawn="1"/>
          </p:nvSpPr>
          <p:spPr>
            <a:xfrm>
              <a:off x="263352" y="0"/>
              <a:ext cx="360040" cy="764704"/>
            </a:xfrm>
            <a:prstGeom prst="rect">
              <a:avLst/>
            </a:prstGeom>
            <a:solidFill>
              <a:srgbClr val="CB1D23"/>
            </a:solidFill>
            <a:ln w="12700" cap="flat" cmpd="sng" algn="ctr">
              <a:noFill/>
              <a:prstDash val="solid"/>
              <a:miter lim="800000"/>
            </a:ln>
            <a:effectLst/>
          </p:spPr>
          <p:txBody>
            <a:bodyPr rtlCol="0" anchor="ctr"/>
            <a:lstStyle/>
            <a:p>
              <a:pPr marL="0" marR="0" lvl="0" indent="0" algn="ctr" defTabSz="913765" eaLnBrk="1" fontAlgn="auto" latinLnBrk="0" hangingPunct="1">
                <a:lnSpc>
                  <a:spcPct val="100000"/>
                </a:lnSpc>
                <a:spcBef>
                  <a:spcPts val="0"/>
                </a:spcBef>
                <a:spcAft>
                  <a:spcPts val="0"/>
                </a:spcAft>
                <a:buClrTx/>
                <a:buSzTx/>
                <a:buFontTx/>
                <a:buNone/>
                <a:defRPr/>
              </a:pPr>
              <a:endParaRPr kumimoji="0" lang="zh-CN" altLang="en-US" sz="1540" b="0" i="0" u="none" strike="noStrike" kern="0" cap="none" spc="0" normalizeH="0" baseline="0" noProof="0">
                <a:ln>
                  <a:noFill/>
                </a:ln>
                <a:solidFill>
                  <a:srgbClr val="FFFFFF"/>
                </a:solidFill>
                <a:effectLst/>
                <a:uLnTx/>
                <a:uFillTx/>
                <a:latin typeface="Arial" panose="020B0604020202020204"/>
                <a:ea typeface="微软雅黑" panose="020B0503020204020204" pitchFamily="34" charset="-122"/>
                <a:cs typeface="+mn-cs"/>
              </a:endParaRPr>
            </a:p>
          </p:txBody>
        </p:sp>
      </p:grpSp>
      <p:sp>
        <p:nvSpPr>
          <p:cNvPr id="11" name="标题 1"/>
          <p:cNvSpPr>
            <a:spLocks noGrp="1"/>
          </p:cNvSpPr>
          <p:nvPr>
            <p:ph type="title"/>
          </p:nvPr>
        </p:nvSpPr>
        <p:spPr>
          <a:xfrm>
            <a:off x="599274" y="200462"/>
            <a:ext cx="9136406" cy="440551"/>
          </a:xfrm>
          <a:prstGeom prst="rect">
            <a:avLst/>
          </a:prstGeom>
        </p:spPr>
        <p:txBody>
          <a:bodyPr anchor="ctr">
            <a:noAutofit/>
          </a:bodyPr>
          <a:lstStyle>
            <a:lvl1pPr>
              <a:defRPr sz="2310" b="1">
                <a:solidFill>
                  <a:srgbClr val="DA251D"/>
                </a:solidFill>
                <a:latin typeface="+mj-ea"/>
                <a:ea typeface="+mj-ea"/>
              </a:defRPr>
            </a:lvl1pPr>
          </a:lstStyle>
          <a:p>
            <a:r>
              <a:rPr lang="zh-CN" altLang="en-US"/>
              <a:t>单击此处编辑母版标题样式</a:t>
            </a:r>
            <a:endParaRPr lang="zh-CN" altLang="en-US" dirty="0"/>
          </a:p>
        </p:txBody>
      </p:sp>
      <p:sp>
        <p:nvSpPr>
          <p:cNvPr id="10" name="TextBox 9"/>
          <p:cNvSpPr txBox="1">
            <a:spLocks noChangeArrowheads="1"/>
          </p:cNvSpPr>
          <p:nvPr userDrawn="1"/>
        </p:nvSpPr>
        <p:spPr bwMode="auto">
          <a:xfrm>
            <a:off x="9644784" y="5388030"/>
            <a:ext cx="283977" cy="175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48575" tIns="24287" rIns="48575" bIns="24287">
            <a:spAutoFit/>
          </a:bodyPr>
          <a:lstStyle>
            <a:lvl1pPr eaLnBrk="0" hangingPunct="0">
              <a:defRPr>
                <a:solidFill>
                  <a:schemeClr val="tx1"/>
                </a:solidFill>
                <a:latin typeface="Franklin Gothic Book" panose="020B0503020102020204" pitchFamily="34" charset="0"/>
                <a:ea typeface="宋体" panose="02010600030101010101" pitchFamily="2" charset="-122"/>
              </a:defRPr>
            </a:lvl1pPr>
            <a:lvl2pPr marL="742950" indent="-285750" eaLnBrk="0" hangingPunct="0">
              <a:defRPr>
                <a:solidFill>
                  <a:schemeClr val="tx1"/>
                </a:solidFill>
                <a:latin typeface="Franklin Gothic Book" panose="020B0503020102020204" pitchFamily="34" charset="0"/>
                <a:ea typeface="宋体" panose="02010600030101010101" pitchFamily="2" charset="-122"/>
              </a:defRPr>
            </a:lvl2pPr>
            <a:lvl3pPr marL="1143000" indent="-228600" eaLnBrk="0" hangingPunct="0">
              <a:defRPr>
                <a:solidFill>
                  <a:schemeClr val="tx1"/>
                </a:solidFill>
                <a:latin typeface="Franklin Gothic Book" panose="020B0503020102020204" pitchFamily="34" charset="0"/>
                <a:ea typeface="宋体" panose="02010600030101010101" pitchFamily="2" charset="-122"/>
              </a:defRPr>
            </a:lvl3pPr>
            <a:lvl4pPr marL="1600200" indent="-228600" eaLnBrk="0" hangingPunct="0">
              <a:defRPr>
                <a:solidFill>
                  <a:schemeClr val="tx1"/>
                </a:solidFill>
                <a:latin typeface="Franklin Gothic Book" panose="020B0503020102020204" pitchFamily="34" charset="0"/>
                <a:ea typeface="宋体" panose="02010600030101010101" pitchFamily="2" charset="-122"/>
              </a:defRPr>
            </a:lvl4pPr>
            <a:lvl5pPr marL="2057400" indent="-228600" eaLnBrk="0" hangingPunct="0">
              <a:defRPr>
                <a:solidFill>
                  <a:schemeClr val="tx1"/>
                </a:solidFill>
                <a:latin typeface="Franklin Gothic Book" panose="020B05030201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Franklin Gothic Book" panose="020B0503020102020204" pitchFamily="34" charset="0"/>
                <a:ea typeface="宋体" panose="02010600030101010101" pitchFamily="2" charset="-122"/>
              </a:defRPr>
            </a:lvl9pPr>
          </a:lstStyle>
          <a:p>
            <a:pPr algn="r" eaLnBrk="1" hangingPunct="1"/>
            <a:fld id="{1A5D4496-7636-4FA1-8168-39E97B70E802}" type="slidenum">
              <a:rPr lang="en-US" altLang="zh-CN" sz="825" smtClean="0">
                <a:solidFill>
                  <a:srgbClr val="595959"/>
                </a:solidFill>
                <a:latin typeface="微软雅黑" panose="020B0503020204020204" pitchFamily="34" charset="-122"/>
                <a:ea typeface="微软雅黑" panose="020B0503020204020204" pitchFamily="34" charset="-122"/>
                <a:cs typeface="Tahoma" panose="020B0604030504040204" pitchFamily="34" charset="0"/>
              </a:rPr>
            </a:fld>
            <a:endParaRPr lang="zh-CN" altLang="en-US" sz="330" dirty="0">
              <a:solidFill>
                <a:srgbClr val="595959"/>
              </a:solidFill>
              <a:latin typeface="微软雅黑" panose="020B0503020204020204" pitchFamily="34" charset="-122"/>
              <a:ea typeface="微软雅黑" panose="020B0503020204020204" pitchFamily="34" charset="-122"/>
              <a:cs typeface="Tahoma" panose="020B0604030504040204" pitchFamily="34" charset="0"/>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defTabSz="914400">
              <a:defRPr/>
            </a:pPr>
            <a:fld id="{E0B5645F-71D5-4D5A-B0F4-CF70D9D6C741}" type="slidenum">
              <a:rPr lang="zh-CN" altLang="en-US" smtClean="0"/>
            </a:fld>
            <a:endParaRPr lang="zh-CN" altLang="en-US"/>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31"/>
            <a:ext cx="7560840" cy="936104"/>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850"/>
            <a:ext cx="820738" cy="242888"/>
          </a:xfrm>
          <a:prstGeom prst="rect">
            <a:avLst/>
          </a:prstGeom>
        </p:spPr>
        <p:txBody>
          <a:bodyPr vert="horz" lIns="91440" tIns="45720" rIns="91440" bIns="45720" rtlCol="0" anchor="ctr"/>
          <a:lstStyle>
            <a:lvl1pPr algn="r" eaLnBrk="0" hangingPunct="0">
              <a:defRPr sz="995">
                <a:solidFill>
                  <a:schemeClr val="tx1">
                    <a:lumMod val="65000"/>
                    <a:lumOff val="35000"/>
                  </a:schemeClr>
                </a:solidFill>
                <a:latin typeface="微软雅黑" panose="020B0503020204020204" pitchFamily="34" charset="-122"/>
                <a:ea typeface="微软雅黑" panose="020B0503020204020204" pitchFamily="34" charset="-122"/>
              </a:defRPr>
            </a:lvl1pPr>
          </a:lstStyle>
          <a:p>
            <a:pPr defTabSz="913765">
              <a:defRPr/>
            </a:pPr>
            <a:fld id="{E0B5645F-71D5-4D5A-B0F4-CF70D9D6C741}" type="slidenum">
              <a:rPr lang="zh-CN" altLang="en-US" smtClean="0"/>
            </a:fld>
            <a:endParaRPr lang="zh-CN" altLang="en-US"/>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5166"/>
            <a:ext cx="2263140" cy="301296"/>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5166"/>
            <a:ext cx="3394710" cy="301296"/>
          </a:xfrm>
        </p:spPr>
        <p:txBody>
          <a:bodyPr/>
          <a:lstStyle/>
          <a:p>
            <a:endParaRPr lang="zh-CN" altLang="en-US"/>
          </a:p>
        </p:txBody>
      </p:sp>
      <p:sp>
        <p:nvSpPr>
          <p:cNvPr id="4" name="灯片编号占位符 3"/>
          <p:cNvSpPr>
            <a:spLocks noGrp="1"/>
          </p:cNvSpPr>
          <p:nvPr>
            <p:ph type="sldNum" sz="quarter" idx="12"/>
          </p:nvPr>
        </p:nvSpPr>
        <p:spPr>
          <a:xfrm>
            <a:off x="7103745" y="5245166"/>
            <a:ext cx="2263140" cy="301296"/>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3" name="矩形 2"/>
          <p:cNvSpPr/>
          <p:nvPr/>
        </p:nvSpPr>
        <p:spPr>
          <a:xfrm>
            <a:off x="349251" y="5278141"/>
            <a:ext cx="9359900" cy="21588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zh-CN" altLang="en-US" sz="1800">
              <a:solidFill>
                <a:prstClr val="white"/>
              </a:solidFill>
            </a:endParaRPr>
          </a:p>
        </p:txBody>
      </p:sp>
      <p:sp>
        <p:nvSpPr>
          <p:cNvPr id="8" name="标题 1"/>
          <p:cNvSpPr>
            <a:spLocks noGrp="1"/>
          </p:cNvSpPr>
          <p:nvPr>
            <p:ph type="title"/>
          </p:nvPr>
        </p:nvSpPr>
        <p:spPr>
          <a:xfrm>
            <a:off x="348680" y="237417"/>
            <a:ext cx="7560840" cy="936051"/>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pPr fontAlgn="base"/>
            <a:r>
              <a:rPr lang="zh-CN" altLang="en-US" strike="noStrike" noProof="1"/>
              <a:t>单击此处编辑母版标题样式</a:t>
            </a:r>
            <a:endParaRPr lang="zh-CN" altLang="en-US" strike="noStrike" noProof="1"/>
          </a:p>
        </p:txBody>
      </p:sp>
      <p:sp>
        <p:nvSpPr>
          <p:cNvPr id="4" name="灯片编号占位符 5"/>
          <p:cNvSpPr>
            <a:spLocks noGrp="1"/>
          </p:cNvSpPr>
          <p:nvPr>
            <p:ph type="sldNum" sz="quarter" idx="4"/>
          </p:nvPr>
        </p:nvSpPr>
        <p:spPr>
          <a:xfrm>
            <a:off x="8774113" y="5276553"/>
            <a:ext cx="820738" cy="242874"/>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fontAlgn="base">
              <a:spcBef>
                <a:spcPct val="0"/>
              </a:spcBef>
              <a:spcAft>
                <a:spcPct val="0"/>
              </a:spcAft>
              <a:defRPr/>
            </a:pPr>
            <a:fld id="{F37864CE-7DE5-423B-B9D6-1E03734AAD9F}" type="slidenum">
              <a:rPr lang="zh-CN" altLang="en-US">
                <a:solidFill>
                  <a:prstClr val="black">
                    <a:lumMod val="65000"/>
                    <a:lumOff val="35000"/>
                  </a:prstClr>
                </a:solidFill>
              </a:rPr>
            </a:fld>
            <a:endParaRPr lang="zh-CN" altLang="en-US">
              <a:solidFill>
                <a:prstClr val="black">
                  <a:lumMod val="65000"/>
                  <a:lumOff val="35000"/>
                </a:prstClr>
              </a:solidFill>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cSld name="1_标题和内容">
    <p:spTree>
      <p:nvGrpSpPr>
        <p:cNvPr id="1" name=""/>
        <p:cNvGrpSpPr/>
        <p:nvPr/>
      </p:nvGrpSpPr>
      <p:grpSpPr>
        <a:xfrm>
          <a:off x="0" y="0"/>
          <a:ext cx="0" cy="0"/>
          <a:chOff x="0" y="0"/>
          <a:chExt cx="0" cy="0"/>
        </a:xfrm>
      </p:grpSpPr>
      <p:sp>
        <p:nvSpPr>
          <p:cNvPr id="4" name="矩形 3"/>
          <p:cNvSpPr/>
          <p:nvPr/>
        </p:nvSpPr>
        <p:spPr>
          <a:xfrm>
            <a:off x="-11113" y="5106701"/>
            <a:ext cx="10115551" cy="60321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buFont typeface="Arial" panose="020B0604020202020204" pitchFamily="34" charset="0"/>
              <a:buNone/>
              <a:defRPr/>
            </a:pPr>
            <a:endParaRPr lang="zh-CN" altLang="en-US" sz="1800" dirty="0">
              <a:solidFill>
                <a:prstClr val="white"/>
              </a:solidFill>
            </a:endParaRPr>
          </a:p>
        </p:txBody>
      </p:sp>
      <p:cxnSp>
        <p:nvCxnSpPr>
          <p:cNvPr id="5" name="直接连接符 4"/>
          <p:cNvCxnSpPr/>
          <p:nvPr/>
        </p:nvCxnSpPr>
        <p:spPr>
          <a:xfrm>
            <a:off x="1" y="578612"/>
            <a:ext cx="8485583" cy="0"/>
          </a:xfrm>
          <a:prstGeom prst="line">
            <a:avLst/>
          </a:prstGeom>
          <a:ln w="38100">
            <a:gradFill flip="none" rotWithShape="1">
              <a:gsLst>
                <a:gs pos="0">
                  <a:srgbClr val="C00000"/>
                </a:gs>
                <a:gs pos="45000">
                  <a:srgbClr val="FFA19F"/>
                </a:gs>
                <a:gs pos="20000">
                  <a:srgbClr val="FF0000"/>
                </a:gs>
                <a:gs pos="73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marL="0">
              <a:defRPr/>
            </a:lvl1pPr>
          </a:lstStyle>
          <a:p>
            <a:r>
              <a:rPr lang="zh-CN" altLang="en-US" noProof="1"/>
              <a:t>单击此处编辑母版标题样式</a:t>
            </a:r>
            <a:endParaRPr lang="en-US" noProof="1"/>
          </a:p>
        </p:txBody>
      </p:sp>
      <p:sp>
        <p:nvSpPr>
          <p:cNvPr id="3" name="Content Placeholder 2"/>
          <p:cNvSpPr>
            <a:spLocks noGrp="1"/>
          </p:cNvSpPr>
          <p:nvPr>
            <p:ph idx="1"/>
          </p:nvPr>
        </p:nvSpPr>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en-US" noProof="1"/>
          </a:p>
        </p:txBody>
      </p:sp>
      <p:sp>
        <p:nvSpPr>
          <p:cNvPr id="6" name="Date Placeholder 3"/>
          <p:cNvSpPr>
            <a:spLocks noGrp="1"/>
          </p:cNvSpPr>
          <p:nvPr>
            <p:ph type="dt" sz="half" idx="10"/>
          </p:nvPr>
        </p:nvSpPr>
        <p:spPr/>
        <p:txBody>
          <a:bodyPr/>
          <a:lstStyle>
            <a:lvl1pPr>
              <a:defRPr/>
            </a:lvl1pPr>
          </a:lstStyle>
          <a:p>
            <a:pPr fontAlgn="base">
              <a:spcBef>
                <a:spcPct val="0"/>
              </a:spcBef>
              <a:spcAft>
                <a:spcPct val="0"/>
              </a:spcAft>
              <a:defRPr/>
            </a:pPr>
            <a:endParaRPr lang="zh-CN" altLang="en-US">
              <a:solidFill>
                <a:prstClr val="black"/>
              </a:solidFill>
              <a:latin typeface="Arial" panose="020B0604020202020204" pitchFamily="34" charset="0"/>
            </a:endParaRPr>
          </a:p>
        </p:txBody>
      </p:sp>
      <p:sp>
        <p:nvSpPr>
          <p:cNvPr id="7" name="Footer Placeholder 4"/>
          <p:cNvSpPr>
            <a:spLocks noGrp="1"/>
          </p:cNvSpPr>
          <p:nvPr>
            <p:ph type="ftr" sz="quarter" idx="11"/>
          </p:nvPr>
        </p:nvSpPr>
        <p:spPr/>
        <p:txBody>
          <a:bodyPr/>
          <a:lstStyle>
            <a:lvl1pPr>
              <a:defRPr/>
            </a:lvl1pPr>
          </a:lstStyle>
          <a:p>
            <a:pPr fontAlgn="base">
              <a:spcBef>
                <a:spcPct val="0"/>
              </a:spcBef>
              <a:spcAft>
                <a:spcPct val="0"/>
              </a:spcAft>
              <a:defRPr/>
            </a:pPr>
            <a:endParaRPr lang="zh-CN" altLang="en-US">
              <a:solidFill>
                <a:prstClr val="black"/>
              </a:solidFill>
              <a:latin typeface="Arial" panose="020B0604020202020204" pitchFamily="34" charset="0"/>
            </a:endParaRPr>
          </a:p>
        </p:txBody>
      </p:sp>
      <p:sp>
        <p:nvSpPr>
          <p:cNvPr id="8"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5268A51F-E8D2-4E4B-810C-8225AE781EA8}" type="slidenum">
              <a:rPr lang="en-US" altLang="zh-CN">
                <a:solidFill>
                  <a:prstClr val="black"/>
                </a:solidFill>
                <a:latin typeface="Arial" panose="020B0604020202020204" pitchFamily="34" charset="0"/>
              </a:rPr>
            </a:fld>
            <a:endParaRPr lang="en-US" altLang="zh-CN">
              <a:solidFill>
                <a:prstClr val="black"/>
              </a:solidFill>
              <a:latin typeface="Arial" panose="020B0604020202020204" pitchFamily="34" charset="0"/>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6" y="3"/>
            <a:ext cx="10026635" cy="5649822"/>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1"/>
            <a:ext cx="10058400" cy="29707"/>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algn="ctr" fontAlgn="base">
              <a:spcBef>
                <a:spcPct val="0"/>
              </a:spcBef>
              <a:spcAft>
                <a:spcPct val="0"/>
              </a:spcAft>
              <a:defRPr/>
            </a:pPr>
            <a:endParaRPr lang="zh-CN" altLang="en-US" sz="1800" kern="0">
              <a:solidFill>
                <a:srgbClr val="FFFFFF"/>
              </a:solidFill>
              <a:latin typeface="Arial" panose="020B0604020202020204" pitchFamily="34" charset="0"/>
            </a:endParaRPr>
          </a:p>
        </p:txBody>
      </p:sp>
      <p:sp>
        <p:nvSpPr>
          <p:cNvPr id="3" name="灯片编号占位符 2"/>
          <p:cNvSpPr>
            <a:spLocks noGrp="1"/>
          </p:cNvSpPr>
          <p:nvPr>
            <p:ph type="sldNum" sz="quarter" idx="10"/>
          </p:nvPr>
        </p:nvSpPr>
        <p:spPr>
          <a:xfrm>
            <a:off x="9621411" y="5357827"/>
            <a:ext cx="471455" cy="301296"/>
          </a:xfrm>
        </p:spPr>
        <p:txBody>
          <a:bodyPr/>
          <a:lstStyle/>
          <a:p>
            <a:pPr fontAlgn="base">
              <a:spcBef>
                <a:spcPct val="0"/>
              </a:spcBef>
              <a:spcAft>
                <a:spcPct val="0"/>
              </a:spcAft>
            </a:pPr>
            <a:fld id="{99173E90-95F0-E34D-B0FF-F9193FBE2D36}" type="slidenum">
              <a:rPr kumimoji="1" lang="zh-CN" altLang="en-US">
                <a:solidFill>
                  <a:srgbClr val="242331">
                    <a:tint val="75000"/>
                  </a:srgbClr>
                </a:solidFill>
                <a:latin typeface="Arial" panose="020B0604020202020204" pitchFamily="34" charset="0"/>
              </a:rPr>
            </a:fld>
            <a:endParaRPr kumimoji="1" lang="zh-CN" altLang="en-US" dirty="0">
              <a:solidFill>
                <a:srgbClr val="242331">
                  <a:tint val="75000"/>
                </a:srgbClr>
              </a:solidFill>
              <a:latin typeface="Arial" panose="020B0604020202020204" pitchFamily="34" charset="0"/>
            </a:endParaRPr>
          </a:p>
        </p:txBody>
      </p:sp>
      <p:pic>
        <p:nvPicPr>
          <p:cNvPr id="4" name="图片 3" descr="双子塔线稿"/>
          <p:cNvPicPr>
            <a:picLocks noChangeAspect="1"/>
          </p:cNvPicPr>
          <p:nvPr userDrawn="1"/>
        </p:nvPicPr>
        <p:blipFill>
          <a:blip r:embed="rId2" cstate="print">
            <a:alphaModFix amt="50000"/>
          </a:blip>
          <a:stretch>
            <a:fillRect/>
          </a:stretch>
        </p:blipFill>
        <p:spPr>
          <a:xfrm>
            <a:off x="0" y="4021644"/>
            <a:ext cx="10058400" cy="1676777"/>
          </a:xfrm>
          <a:prstGeom prst="rect">
            <a:avLst/>
          </a:prstGeom>
        </p:spPr>
      </p:pic>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a:xfrm>
            <a:off x="559059" y="6734751"/>
            <a:ext cx="2466436" cy="289378"/>
          </a:xfrm>
        </p:spPr>
        <p:txBody>
          <a:bodyPr/>
          <a:lstStyle/>
          <a:p>
            <a:pPr fontAlgn="base">
              <a:spcBef>
                <a:spcPct val="0"/>
              </a:spcBef>
              <a:spcAft>
                <a:spcPct val="0"/>
              </a:spcAft>
            </a:pPr>
            <a:fld id="{760FBDFE-C587-4B4C-A407-44438C67B59E}" type="datetimeFigureOut">
              <a:rPr lang="zh-CN" altLang="en-US">
                <a:solidFill>
                  <a:prstClr val="black"/>
                </a:solidFill>
                <a:latin typeface="Arial" panose="020B0604020202020204" pitchFamily="34" charset="0"/>
              </a:rPr>
            </a:fld>
            <a:endParaRPr lang="zh-CN" altLang="en-US">
              <a:solidFill>
                <a:prstClr val="black"/>
              </a:solidFill>
              <a:latin typeface="Arial" panose="020B0604020202020204" pitchFamily="34" charset="0"/>
            </a:endParaRPr>
          </a:p>
        </p:txBody>
      </p:sp>
      <p:sp>
        <p:nvSpPr>
          <p:cNvPr id="3" name="页脚占位符 2"/>
          <p:cNvSpPr>
            <a:spLocks noGrp="1"/>
          </p:cNvSpPr>
          <p:nvPr>
            <p:ph type="ftr" sz="quarter" idx="11"/>
            <p:custDataLst>
              <p:tags r:id="rId3"/>
            </p:custDataLst>
          </p:nvPr>
        </p:nvSpPr>
        <p:spPr>
          <a:xfrm>
            <a:off x="3759945" y="6734751"/>
            <a:ext cx="3617439" cy="289378"/>
          </a:xfrm>
        </p:spPr>
        <p:txBody>
          <a:bodyPr/>
          <a:lstStyle/>
          <a:p>
            <a:pPr fontAlgn="base">
              <a:spcBef>
                <a:spcPct val="0"/>
              </a:spcBef>
              <a:spcAft>
                <a:spcPct val="0"/>
              </a:spcAft>
            </a:pPr>
            <a:endParaRPr lang="zh-CN" altLang="en-US">
              <a:solidFill>
                <a:prstClr val="black"/>
              </a:solidFill>
              <a:latin typeface="Arial" panose="020B0604020202020204" pitchFamily="34" charset="0"/>
            </a:endParaRPr>
          </a:p>
        </p:txBody>
      </p:sp>
      <p:sp>
        <p:nvSpPr>
          <p:cNvPr id="4" name="灯片编号占位符 3"/>
          <p:cNvSpPr>
            <a:spLocks noGrp="1"/>
          </p:cNvSpPr>
          <p:nvPr>
            <p:ph type="sldNum" sz="quarter" idx="12"/>
            <p:custDataLst>
              <p:tags r:id="rId4"/>
            </p:custDataLst>
          </p:nvPr>
        </p:nvSpPr>
        <p:spPr>
          <a:xfrm>
            <a:off x="8109642" y="6734751"/>
            <a:ext cx="2466436" cy="289378"/>
          </a:xfrm>
        </p:spPr>
        <p:txBody>
          <a:bodyPr/>
          <a:lstStyle/>
          <a:p>
            <a:pPr fontAlgn="base">
              <a:spcBef>
                <a:spcPct val="0"/>
              </a:spcBef>
              <a:spcAft>
                <a:spcPct val="0"/>
              </a:spcAft>
            </a:pPr>
            <a:fld id="{49AE70B2-8BF9-45C0-BB95-33D1B9D3A854}" type="slidenum">
              <a:rPr lang="zh-CN" altLang="en-US">
                <a:solidFill>
                  <a:prstClr val="black"/>
                </a:solidFill>
                <a:latin typeface="Arial" panose="020B0604020202020204" pitchFamily="34" charset="0"/>
              </a:rPr>
            </a:fld>
            <a:endParaRPr lang="zh-CN" altLang="en-US">
              <a:solidFill>
                <a:prstClr val="black"/>
              </a:solidFill>
              <a:latin typeface="Arial" panose="020B0604020202020204" pitchFamily="34" charset="0"/>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showMasterSp="0" userDrawn="1">
  <p:cSld name="标题幻灯片">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标题和内容">
    <p:bg>
      <p:bgPr>
        <a:solidFill>
          <a:schemeClr val="bg1"/>
        </a:solidFill>
        <a:effectLst/>
      </p:bgPr>
    </p:bg>
    <p:spTree>
      <p:nvGrpSpPr>
        <p:cNvPr id="1" name=""/>
        <p:cNvGrpSpPr/>
        <p:nvPr/>
      </p:nvGrpSpPr>
      <p:grpSpPr>
        <a:xfrm>
          <a:off x="0" y="0"/>
          <a:ext cx="0" cy="0"/>
          <a:chOff x="0" y="0"/>
          <a:chExt cx="0" cy="0"/>
        </a:xfrm>
      </p:grpSpPr>
      <p:sp>
        <p:nvSpPr>
          <p:cNvPr id="8" name="标题 1"/>
          <p:cNvSpPr>
            <a:spLocks noGrp="1"/>
          </p:cNvSpPr>
          <p:nvPr>
            <p:ph type="title"/>
          </p:nvPr>
        </p:nvSpPr>
        <p:spPr>
          <a:xfrm>
            <a:off x="348680" y="237417"/>
            <a:ext cx="7560840" cy="936051"/>
          </a:xfrm>
          <a:prstGeom prst="rect">
            <a:avLst/>
          </a:prstGeom>
        </p:spPr>
        <p:txBody>
          <a:bodyPr/>
          <a:lstStyle>
            <a:lvl1pPr>
              <a:lnSpc>
                <a:spcPct val="100000"/>
              </a:lnSpc>
              <a:defRPr sz="1800">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zh-CN" altLang="en-US" noProof="1"/>
              <a:t>单击此处编辑母版标题样式</a:t>
            </a:r>
            <a:endParaRPr lang="zh-CN" altLang="en-US" noProof="1"/>
          </a:p>
        </p:txBody>
      </p:sp>
      <p:sp>
        <p:nvSpPr>
          <p:cNvPr id="3" name="灯片编号占位符 5"/>
          <p:cNvSpPr>
            <a:spLocks noGrp="1"/>
          </p:cNvSpPr>
          <p:nvPr>
            <p:ph type="sldNum" sz="quarter" idx="4"/>
          </p:nvPr>
        </p:nvSpPr>
        <p:spPr>
          <a:xfrm>
            <a:off x="8774113" y="5276553"/>
            <a:ext cx="820738" cy="242874"/>
          </a:xfrm>
          <a:prstGeom prst="rect">
            <a:avLst/>
          </a:prstGeom>
        </p:spPr>
        <p:txBody>
          <a:bodyPr vert="horz" lIns="91440" tIns="45720" rIns="91440" bIns="45720" rtlCol="0" anchor="ctr"/>
          <a:lstStyle>
            <a:lvl1pPr algn="r" eaLnBrk="0" hangingPunct="0">
              <a:defRPr sz="1000">
                <a:solidFill>
                  <a:schemeClr val="tx1">
                    <a:lumMod val="65000"/>
                    <a:lumOff val="35000"/>
                  </a:schemeClr>
                </a:solidFill>
                <a:latin typeface="微软雅黑" panose="020B0503020204020204" pitchFamily="34" charset="-122"/>
                <a:ea typeface="微软雅黑" panose="020B0503020204020204" pitchFamily="34" charset="-122"/>
              </a:defRPr>
            </a:lvl1pPr>
          </a:lstStyle>
          <a:p>
            <a:pPr defTabSz="1108075" fontAlgn="base">
              <a:spcBef>
                <a:spcPct val="0"/>
              </a:spcBef>
              <a:spcAft>
                <a:spcPct val="0"/>
              </a:spcAft>
              <a:defRPr/>
            </a:pPr>
            <a:fld id="{E0B5645F-71D5-4D5A-B0F4-CF70D9D6C741}" type="slidenum">
              <a:rPr lang="zh-CN" altLang="en-US" smtClean="0"/>
            </a:fld>
            <a:endParaRPr lang="zh-CN" altLang="en-US"/>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91515" y="5244871"/>
            <a:ext cx="2263140" cy="301279"/>
          </a:xfrm>
        </p:spPr>
        <p:txBody>
          <a:bodyPr/>
          <a:lstStyle/>
          <a:p>
            <a:fld id="{674A2C0D-0442-4DAC-929B-A613AE35FBEF}" type="datetimeFigureOut">
              <a:rPr lang="zh-CN" altLang="en-US" smtClean="0"/>
            </a:fld>
            <a:endParaRPr lang="zh-CN" altLang="en-US"/>
          </a:p>
        </p:txBody>
      </p:sp>
      <p:sp>
        <p:nvSpPr>
          <p:cNvPr id="3" name="页脚占位符 2"/>
          <p:cNvSpPr>
            <a:spLocks noGrp="1"/>
          </p:cNvSpPr>
          <p:nvPr>
            <p:ph type="ftr" sz="quarter" idx="11"/>
          </p:nvPr>
        </p:nvSpPr>
        <p:spPr>
          <a:xfrm>
            <a:off x="3331845" y="5244871"/>
            <a:ext cx="3394710" cy="301279"/>
          </a:xfrm>
        </p:spPr>
        <p:txBody>
          <a:bodyPr/>
          <a:lstStyle/>
          <a:p>
            <a:endParaRPr lang="zh-CN" altLang="en-US"/>
          </a:p>
        </p:txBody>
      </p:sp>
      <p:sp>
        <p:nvSpPr>
          <p:cNvPr id="4" name="灯片编号占位符 3"/>
          <p:cNvSpPr>
            <a:spLocks noGrp="1"/>
          </p:cNvSpPr>
          <p:nvPr>
            <p:ph type="sldNum" sz="quarter" idx="12"/>
          </p:nvPr>
        </p:nvSpPr>
        <p:spPr>
          <a:xfrm>
            <a:off x="7103745" y="5244871"/>
            <a:ext cx="2263140" cy="301279"/>
          </a:xfrm>
        </p:spPr>
        <p:txBody>
          <a:bodyPr/>
          <a:lstStyle/>
          <a:p>
            <a:fld id="{2026685C-4CD1-49A7-94E9-A21A17150DA7}" type="slidenum">
              <a:rPr lang="zh-CN" altLang="en-US" smtClean="0"/>
            </a:fld>
            <a:endParaRPr lang="zh-CN" altLang="en-US"/>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目录版式1">
    <p:spTree>
      <p:nvGrpSpPr>
        <p:cNvPr id="1" name=""/>
        <p:cNvGrpSpPr/>
        <p:nvPr/>
      </p:nvGrpSpPr>
      <p:grpSpPr>
        <a:xfrm>
          <a:off x="0" y="0"/>
          <a:ext cx="0" cy="0"/>
          <a:chOff x="0" y="0"/>
          <a:chExt cx="0" cy="0"/>
        </a:xfrm>
      </p:grpSpPr>
      <p:grpSp>
        <p:nvGrpSpPr>
          <p:cNvPr id="5" name="组合 1"/>
          <p:cNvGrpSpPr/>
          <p:nvPr userDrawn="1"/>
        </p:nvGrpSpPr>
        <p:grpSpPr>
          <a:xfrm>
            <a:off x="3" y="2"/>
            <a:ext cx="10026635" cy="5649505"/>
            <a:chOff x="1" y="-10422"/>
            <a:chExt cx="12192000" cy="6868422"/>
          </a:xfrm>
        </p:grpSpPr>
        <p:grpSp>
          <p:nvGrpSpPr>
            <p:cNvPr id="7" name="组合 2"/>
            <p:cNvGrpSpPr/>
            <p:nvPr/>
          </p:nvGrpSpPr>
          <p:grpSpPr>
            <a:xfrm>
              <a:off x="80527" y="-10422"/>
              <a:ext cx="11978735" cy="6868422"/>
              <a:chOff x="466719" y="0"/>
              <a:chExt cx="11231795" cy="6858000"/>
            </a:xfrm>
          </p:grpSpPr>
          <p:cxnSp>
            <p:nvCxnSpPr>
              <p:cNvPr id="34" name="直接连接符 29"/>
              <p:cNvCxnSpPr/>
              <p:nvPr/>
            </p:nvCxnSpPr>
            <p:spPr>
              <a:xfrm>
                <a:off x="1169851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0"/>
              <p:cNvCxnSpPr/>
              <p:nvPr/>
            </p:nvCxnSpPr>
            <p:spPr>
              <a:xfrm>
                <a:off x="1143725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1"/>
              <p:cNvCxnSpPr/>
              <p:nvPr/>
            </p:nvCxnSpPr>
            <p:spPr>
              <a:xfrm>
                <a:off x="1117600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32"/>
              <p:cNvCxnSpPr/>
              <p:nvPr/>
            </p:nvCxnSpPr>
            <p:spPr>
              <a:xfrm>
                <a:off x="1091474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3"/>
              <p:cNvCxnSpPr/>
              <p:nvPr/>
            </p:nvCxnSpPr>
            <p:spPr>
              <a:xfrm>
                <a:off x="1065348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34"/>
              <p:cNvCxnSpPr/>
              <p:nvPr/>
            </p:nvCxnSpPr>
            <p:spPr>
              <a:xfrm>
                <a:off x="1039222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35"/>
              <p:cNvCxnSpPr/>
              <p:nvPr/>
            </p:nvCxnSpPr>
            <p:spPr>
              <a:xfrm>
                <a:off x="1013097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36"/>
              <p:cNvCxnSpPr/>
              <p:nvPr/>
            </p:nvCxnSpPr>
            <p:spPr>
              <a:xfrm>
                <a:off x="986971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37"/>
              <p:cNvCxnSpPr/>
              <p:nvPr/>
            </p:nvCxnSpPr>
            <p:spPr>
              <a:xfrm>
                <a:off x="960845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38"/>
              <p:cNvCxnSpPr/>
              <p:nvPr/>
            </p:nvCxnSpPr>
            <p:spPr>
              <a:xfrm>
                <a:off x="934720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39"/>
              <p:cNvCxnSpPr/>
              <p:nvPr/>
            </p:nvCxnSpPr>
            <p:spPr>
              <a:xfrm>
                <a:off x="908594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40"/>
              <p:cNvCxnSpPr/>
              <p:nvPr/>
            </p:nvCxnSpPr>
            <p:spPr>
              <a:xfrm>
                <a:off x="882468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41"/>
              <p:cNvCxnSpPr/>
              <p:nvPr/>
            </p:nvCxnSpPr>
            <p:spPr>
              <a:xfrm>
                <a:off x="856343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2"/>
              <p:cNvCxnSpPr/>
              <p:nvPr/>
            </p:nvCxnSpPr>
            <p:spPr>
              <a:xfrm>
                <a:off x="830217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3"/>
              <p:cNvCxnSpPr/>
              <p:nvPr/>
            </p:nvCxnSpPr>
            <p:spPr>
              <a:xfrm>
                <a:off x="804091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4"/>
              <p:cNvCxnSpPr/>
              <p:nvPr/>
            </p:nvCxnSpPr>
            <p:spPr>
              <a:xfrm>
                <a:off x="777965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45"/>
              <p:cNvCxnSpPr/>
              <p:nvPr/>
            </p:nvCxnSpPr>
            <p:spPr>
              <a:xfrm>
                <a:off x="751840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46"/>
              <p:cNvCxnSpPr/>
              <p:nvPr/>
            </p:nvCxnSpPr>
            <p:spPr>
              <a:xfrm>
                <a:off x="725714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47"/>
              <p:cNvCxnSpPr/>
              <p:nvPr/>
            </p:nvCxnSpPr>
            <p:spPr>
              <a:xfrm>
                <a:off x="699588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48"/>
              <p:cNvCxnSpPr/>
              <p:nvPr/>
            </p:nvCxnSpPr>
            <p:spPr>
              <a:xfrm>
                <a:off x="673463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49"/>
              <p:cNvCxnSpPr/>
              <p:nvPr/>
            </p:nvCxnSpPr>
            <p:spPr>
              <a:xfrm>
                <a:off x="647337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50"/>
              <p:cNvCxnSpPr/>
              <p:nvPr/>
            </p:nvCxnSpPr>
            <p:spPr>
              <a:xfrm>
                <a:off x="621211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6" name="直接连接符 51"/>
              <p:cNvCxnSpPr/>
              <p:nvPr/>
            </p:nvCxnSpPr>
            <p:spPr>
              <a:xfrm>
                <a:off x="595086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52"/>
              <p:cNvCxnSpPr/>
              <p:nvPr/>
            </p:nvCxnSpPr>
            <p:spPr>
              <a:xfrm>
                <a:off x="568960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53"/>
              <p:cNvCxnSpPr/>
              <p:nvPr/>
            </p:nvCxnSpPr>
            <p:spPr>
              <a:xfrm>
                <a:off x="542834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54"/>
              <p:cNvCxnSpPr/>
              <p:nvPr/>
            </p:nvCxnSpPr>
            <p:spPr>
              <a:xfrm>
                <a:off x="516708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55"/>
              <p:cNvCxnSpPr/>
              <p:nvPr/>
            </p:nvCxnSpPr>
            <p:spPr>
              <a:xfrm>
                <a:off x="490583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56"/>
              <p:cNvCxnSpPr/>
              <p:nvPr/>
            </p:nvCxnSpPr>
            <p:spPr>
              <a:xfrm>
                <a:off x="464457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57"/>
              <p:cNvCxnSpPr/>
              <p:nvPr/>
            </p:nvCxnSpPr>
            <p:spPr>
              <a:xfrm>
                <a:off x="438331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58"/>
              <p:cNvCxnSpPr/>
              <p:nvPr/>
            </p:nvCxnSpPr>
            <p:spPr>
              <a:xfrm>
                <a:off x="412206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59"/>
              <p:cNvCxnSpPr/>
              <p:nvPr/>
            </p:nvCxnSpPr>
            <p:spPr>
              <a:xfrm>
                <a:off x="386080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0"/>
              <p:cNvCxnSpPr/>
              <p:nvPr/>
            </p:nvCxnSpPr>
            <p:spPr>
              <a:xfrm>
                <a:off x="359954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1"/>
              <p:cNvCxnSpPr/>
              <p:nvPr/>
            </p:nvCxnSpPr>
            <p:spPr>
              <a:xfrm>
                <a:off x="333829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62"/>
              <p:cNvCxnSpPr/>
              <p:nvPr/>
            </p:nvCxnSpPr>
            <p:spPr>
              <a:xfrm>
                <a:off x="3077033"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3"/>
              <p:cNvCxnSpPr/>
              <p:nvPr/>
            </p:nvCxnSpPr>
            <p:spPr>
              <a:xfrm>
                <a:off x="2815776"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4"/>
              <p:cNvCxnSpPr/>
              <p:nvPr/>
            </p:nvCxnSpPr>
            <p:spPr>
              <a:xfrm>
                <a:off x="25545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65"/>
              <p:cNvCxnSpPr/>
              <p:nvPr/>
            </p:nvCxnSpPr>
            <p:spPr>
              <a:xfrm>
                <a:off x="2293262"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66"/>
              <p:cNvCxnSpPr/>
              <p:nvPr/>
            </p:nvCxnSpPr>
            <p:spPr>
              <a:xfrm>
                <a:off x="2032005"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67"/>
              <p:cNvCxnSpPr/>
              <p:nvPr/>
            </p:nvCxnSpPr>
            <p:spPr>
              <a:xfrm>
                <a:off x="1770748"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68"/>
              <p:cNvCxnSpPr/>
              <p:nvPr/>
            </p:nvCxnSpPr>
            <p:spPr>
              <a:xfrm>
                <a:off x="1509491"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69"/>
              <p:cNvCxnSpPr/>
              <p:nvPr/>
            </p:nvCxnSpPr>
            <p:spPr>
              <a:xfrm>
                <a:off x="1248234"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0"/>
              <p:cNvCxnSpPr/>
              <p:nvPr/>
            </p:nvCxnSpPr>
            <p:spPr>
              <a:xfrm>
                <a:off x="986977"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1"/>
              <p:cNvCxnSpPr/>
              <p:nvPr/>
            </p:nvCxnSpPr>
            <p:spPr>
              <a:xfrm>
                <a:off x="725720"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72"/>
              <p:cNvCxnSpPr/>
              <p:nvPr/>
            </p:nvCxnSpPr>
            <p:spPr>
              <a:xfrm>
                <a:off x="466719" y="0"/>
                <a:ext cx="0" cy="6858000"/>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nvGrpSpPr>
            <p:cNvPr id="8" name="组合 3"/>
            <p:cNvGrpSpPr/>
            <p:nvPr/>
          </p:nvGrpSpPr>
          <p:grpSpPr>
            <a:xfrm>
              <a:off x="1" y="-10422"/>
              <a:ext cx="12192000" cy="6687148"/>
              <a:chOff x="-717549" y="-10422"/>
              <a:chExt cx="13002796" cy="6687148"/>
            </a:xfrm>
          </p:grpSpPr>
          <p:cxnSp>
            <p:nvCxnSpPr>
              <p:cNvPr id="9" name="直接连接符 4"/>
              <p:cNvCxnSpPr/>
              <p:nvPr/>
            </p:nvCxnSpPr>
            <p:spPr>
              <a:xfrm rot="5400000">
                <a:off x="5783849" y="1753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0" name="直接连接符 5"/>
              <p:cNvCxnSpPr/>
              <p:nvPr/>
            </p:nvCxnSpPr>
            <p:spPr>
              <a:xfrm rot="5400000">
                <a:off x="5783849" y="-10330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1" name="直接连接符 6"/>
              <p:cNvCxnSpPr/>
              <p:nvPr/>
            </p:nvCxnSpPr>
            <p:spPr>
              <a:xfrm rot="5400000">
                <a:off x="5783849" y="-38193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2" name="直接连接符 7"/>
              <p:cNvCxnSpPr/>
              <p:nvPr/>
            </p:nvCxnSpPr>
            <p:spPr>
              <a:xfrm rot="5400000">
                <a:off x="5783849" y="-66056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3" name="直接连接符 8"/>
              <p:cNvCxnSpPr/>
              <p:nvPr/>
            </p:nvCxnSpPr>
            <p:spPr>
              <a:xfrm rot="5400000">
                <a:off x="5783849" y="-93919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4" name="直接连接符 9"/>
              <p:cNvCxnSpPr/>
              <p:nvPr/>
            </p:nvCxnSpPr>
            <p:spPr>
              <a:xfrm rot="5400000">
                <a:off x="5783849" y="-121782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0"/>
              <p:cNvCxnSpPr/>
              <p:nvPr/>
            </p:nvCxnSpPr>
            <p:spPr>
              <a:xfrm rot="5400000">
                <a:off x="5783849" y="-149645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1"/>
              <p:cNvCxnSpPr/>
              <p:nvPr/>
            </p:nvCxnSpPr>
            <p:spPr>
              <a:xfrm rot="5400000">
                <a:off x="5783849" y="-177509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7" name="直接连接符 12"/>
              <p:cNvCxnSpPr/>
              <p:nvPr/>
            </p:nvCxnSpPr>
            <p:spPr>
              <a:xfrm rot="5400000">
                <a:off x="5783849" y="-2053721"/>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8" name="直接连接符 13"/>
              <p:cNvCxnSpPr/>
              <p:nvPr/>
            </p:nvCxnSpPr>
            <p:spPr>
              <a:xfrm rot="5400000">
                <a:off x="5783849" y="-233235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19" name="直接连接符 14"/>
              <p:cNvCxnSpPr/>
              <p:nvPr/>
            </p:nvCxnSpPr>
            <p:spPr>
              <a:xfrm rot="5400000">
                <a:off x="5783849" y="-261098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5"/>
              <p:cNvCxnSpPr/>
              <p:nvPr/>
            </p:nvCxnSpPr>
            <p:spPr>
              <a:xfrm rot="5400000">
                <a:off x="5783849" y="-288961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1" name="直接连接符 16"/>
              <p:cNvCxnSpPr/>
              <p:nvPr/>
            </p:nvCxnSpPr>
            <p:spPr>
              <a:xfrm rot="5400000">
                <a:off x="5783849" y="-316824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17"/>
              <p:cNvCxnSpPr/>
              <p:nvPr/>
            </p:nvCxnSpPr>
            <p:spPr>
              <a:xfrm rot="5400000">
                <a:off x="5783849" y="-3446877"/>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3" name="直接连接符 18"/>
              <p:cNvCxnSpPr/>
              <p:nvPr/>
            </p:nvCxnSpPr>
            <p:spPr>
              <a:xfrm rot="5400000">
                <a:off x="5783849" y="-372550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4" name="直接连接符 19"/>
              <p:cNvCxnSpPr/>
              <p:nvPr/>
            </p:nvCxnSpPr>
            <p:spPr>
              <a:xfrm rot="5400000">
                <a:off x="5783849" y="-400413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0"/>
              <p:cNvCxnSpPr/>
              <p:nvPr/>
            </p:nvCxnSpPr>
            <p:spPr>
              <a:xfrm rot="5400000">
                <a:off x="5783849" y="-428277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21"/>
              <p:cNvCxnSpPr/>
              <p:nvPr/>
            </p:nvCxnSpPr>
            <p:spPr>
              <a:xfrm rot="5400000">
                <a:off x="5783849" y="-4561402"/>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22"/>
              <p:cNvCxnSpPr/>
              <p:nvPr/>
            </p:nvCxnSpPr>
            <p:spPr>
              <a:xfrm rot="5400000">
                <a:off x="5783849" y="-4840033"/>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23"/>
              <p:cNvCxnSpPr/>
              <p:nvPr/>
            </p:nvCxnSpPr>
            <p:spPr>
              <a:xfrm rot="5400000">
                <a:off x="5783849" y="-5118664"/>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24"/>
              <p:cNvCxnSpPr/>
              <p:nvPr/>
            </p:nvCxnSpPr>
            <p:spPr>
              <a:xfrm rot="5400000">
                <a:off x="5783849" y="-5397295"/>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5"/>
              <p:cNvCxnSpPr/>
              <p:nvPr/>
            </p:nvCxnSpPr>
            <p:spPr>
              <a:xfrm rot="5400000">
                <a:off x="5783849" y="-5675926"/>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26"/>
              <p:cNvCxnSpPr/>
              <p:nvPr/>
            </p:nvCxnSpPr>
            <p:spPr>
              <a:xfrm rot="5400000">
                <a:off x="5783849" y="-5954558"/>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27"/>
              <p:cNvCxnSpPr/>
              <p:nvPr/>
            </p:nvCxnSpPr>
            <p:spPr>
              <a:xfrm rot="5400000">
                <a:off x="5783849" y="-6233189"/>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28"/>
              <p:cNvCxnSpPr/>
              <p:nvPr/>
            </p:nvCxnSpPr>
            <p:spPr>
              <a:xfrm rot="5400000">
                <a:off x="5783849" y="-6511820"/>
                <a:ext cx="0" cy="13002796"/>
              </a:xfrm>
              <a:prstGeom prst="line">
                <a:avLst/>
              </a:prstGeom>
              <a:ln w="6350">
                <a:solidFill>
                  <a:schemeClr val="tx1">
                    <a:lumMod val="50000"/>
                    <a:lumOff val="50000"/>
                    <a:alpha val="5000"/>
                  </a:schemeClr>
                </a:solidFill>
              </a:ln>
            </p:spPr>
            <p:style>
              <a:lnRef idx="1">
                <a:schemeClr val="accent1"/>
              </a:lnRef>
              <a:fillRef idx="0">
                <a:schemeClr val="accent1"/>
              </a:fillRef>
              <a:effectRef idx="0">
                <a:schemeClr val="accent1"/>
              </a:effectRef>
              <a:fontRef idx="minor">
                <a:schemeClr val="tx1"/>
              </a:fontRef>
            </p:style>
          </p:cxnSp>
        </p:grpSp>
      </p:grpSp>
      <p:sp>
        <p:nvSpPr>
          <p:cNvPr id="6" name="矩形 5"/>
          <p:cNvSpPr/>
          <p:nvPr userDrawn="1"/>
        </p:nvSpPr>
        <p:spPr bwMode="auto">
          <a:xfrm>
            <a:off x="0" y="0"/>
            <a:ext cx="10058400" cy="29705"/>
          </a:xfrm>
          <a:prstGeom prst="rect">
            <a:avLst/>
          </a:prstGeom>
          <a:solidFill>
            <a:schemeClr val="accent1"/>
          </a:solidFill>
          <a:ln>
            <a:noFill/>
          </a:ln>
        </p:spPr>
        <p:txBody>
          <a:bodyPr rtlCol="0" anchor="ctr">
            <a:scene3d>
              <a:camera prst="orthographicFront"/>
              <a:lightRig rig="threePt" dir="t"/>
            </a:scene3d>
            <a:sp3d>
              <a:contourClr>
                <a:srgbClr val="FFFFFF"/>
              </a:contourClr>
            </a:sp3d>
          </a:bodyPr>
          <a:lstStyle/>
          <a:p>
            <a:pPr marL="0" marR="0" lvl="0" indent="0" algn="ctr" defTabSz="1108075" eaLnBrk="1" fontAlgn="auto" latinLnBrk="0" hangingPunct="1">
              <a:lnSpc>
                <a:spcPct val="100000"/>
              </a:lnSpc>
              <a:spcBef>
                <a:spcPts val="0"/>
              </a:spcBef>
              <a:spcAft>
                <a:spcPts val="0"/>
              </a:spcAft>
              <a:buClrTx/>
              <a:buSzTx/>
              <a:buFontTx/>
              <a:buNone/>
              <a:defRPr/>
            </a:pPr>
            <a:endParaRPr kumimoji="0" lang="zh-CN" altLang="en-US" sz="1485" b="0" i="0" u="none" strike="noStrike" kern="0" cap="none" spc="0" normalizeH="0" baseline="0" noProof="0">
              <a:ln>
                <a:noFill/>
              </a:ln>
              <a:solidFill>
                <a:srgbClr val="FFFFFF"/>
              </a:solidFill>
              <a:effectLst/>
              <a:uLnTx/>
              <a:uFillTx/>
            </a:endParaRPr>
          </a:p>
        </p:txBody>
      </p:sp>
      <p:sp>
        <p:nvSpPr>
          <p:cNvPr id="78" name="object 4"/>
          <p:cNvSpPr/>
          <p:nvPr userDrawn="1"/>
        </p:nvSpPr>
        <p:spPr>
          <a:xfrm>
            <a:off x="0" y="2970871"/>
            <a:ext cx="10058400" cy="2687931"/>
          </a:xfrm>
          <a:prstGeom prst="rect">
            <a:avLst/>
          </a:prstGeom>
          <a:blipFill>
            <a:blip r:embed="rId2" cstate="print">
              <a:extLst>
                <a:ext uri="{BEBA8EAE-BF5A-486C-A8C5-ECC9F3942E4B}">
                  <a14:imgProps xmlns:a14="http://schemas.microsoft.com/office/drawing/2010/main">
                    <a14:imgLayer r:embed="rId3">
                      <a14:imgEffect>
                        <a14:brightnessContrast contrast="40000"/>
                      </a14:imgEffect>
                    </a14:imgLayer>
                  </a14:imgProps>
                </a:ext>
              </a:extLst>
            </a:blip>
            <a:stretch>
              <a:fillRect/>
            </a:stretch>
          </a:blipFill>
        </p:spPr>
        <p:txBody>
          <a:bodyPr wrap="square" lIns="0" tIns="0" rIns="0" bIns="0" rtlCol="0"/>
          <a:lstStyle/>
          <a:p>
            <a:endParaRPr sz="100"/>
          </a:p>
        </p:txBody>
      </p:sp>
      <p:sp>
        <p:nvSpPr>
          <p:cNvPr id="3" name="灯片编号占位符 2"/>
          <p:cNvSpPr>
            <a:spLocks noGrp="1"/>
          </p:cNvSpPr>
          <p:nvPr>
            <p:ph type="sldNum" sz="quarter" idx="10"/>
          </p:nvPr>
        </p:nvSpPr>
        <p:spPr>
          <a:xfrm>
            <a:off x="9621408" y="5357523"/>
            <a:ext cx="471455" cy="301279"/>
          </a:xfrm>
        </p:spPr>
        <p:txBody>
          <a:bodyPr/>
          <a:lstStyle/>
          <a:p>
            <a:fld id="{99173E90-95F0-E34D-B0FF-F9193FBE2D36}" type="slidenum">
              <a:rPr kumimoji="1" lang="zh-CN" altLang="en-US" smtClean="0"/>
            </a:fld>
            <a:endParaRPr kumimoji="1" lang="zh-CN" altLang="en-US" dirty="0"/>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itle" preserve="1" showMasterSp="0">
  <p:cSld name="标题幻灯片">
    <p:spTree>
      <p:nvGrpSpPr>
        <p:cNvPr id="1" name=""/>
        <p:cNvGrpSpPr/>
        <p:nvPr/>
      </p:nvGrpSpPr>
      <p:grpSpPr>
        <a:xfrm>
          <a:off x="0" y="0"/>
          <a:ext cx="0" cy="0"/>
          <a:chOff x="0" y="0"/>
          <a:chExt cx="0" cy="0"/>
        </a:xfrm>
      </p:grpSpPr>
      <p:cxnSp>
        <p:nvCxnSpPr>
          <p:cNvPr id="6" name="Straight Connector 8"/>
          <p:cNvCxnSpPr/>
          <p:nvPr/>
        </p:nvCxnSpPr>
        <p:spPr>
          <a:xfrm>
            <a:off x="996950" y="3584373"/>
            <a:ext cx="814705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ctrTitle"/>
          </p:nvPr>
        </p:nvSpPr>
        <p:spPr>
          <a:xfrm>
            <a:off x="905256" y="626276"/>
            <a:ext cx="8298180" cy="2942742"/>
          </a:xfrm>
        </p:spPr>
        <p:txBody>
          <a:bodyPr/>
          <a:lstStyle>
            <a:lvl1pPr algn="l">
              <a:lnSpc>
                <a:spcPct val="85000"/>
              </a:lnSpc>
              <a:defRPr sz="6600" spc="-50" baseline="0">
                <a:solidFill>
                  <a:schemeClr val="tx1">
                    <a:lumMod val="85000"/>
                    <a:lumOff val="15000"/>
                  </a:schemeClr>
                </a:solidFill>
              </a:defRPr>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907542" y="3676712"/>
            <a:ext cx="8298180" cy="943187"/>
          </a:xfrm>
        </p:spPr>
        <p:txBody>
          <a:bodyPr lIns="91440" rIns="91440"/>
          <a:lstStyle>
            <a:lvl1pPr marL="0" indent="0" algn="l">
              <a:buNone/>
              <a:defRPr sz="1980" cap="all" spc="200" baseline="0">
                <a:solidFill>
                  <a:schemeClr val="tx2"/>
                </a:solidFill>
                <a:latin typeface="+mj-lt"/>
              </a:defRPr>
            </a:lvl1pPr>
            <a:lvl2pPr marL="377190" indent="0" algn="ctr">
              <a:buNone/>
              <a:defRPr sz="1980"/>
            </a:lvl2pPr>
            <a:lvl3pPr marL="754380" indent="0" algn="ctr">
              <a:buNone/>
              <a:defRPr sz="1980"/>
            </a:lvl3pPr>
            <a:lvl4pPr marL="1130935" indent="0" algn="ctr">
              <a:buNone/>
              <a:defRPr sz="1650"/>
            </a:lvl4pPr>
            <a:lvl5pPr marL="1508125" indent="0" algn="ctr">
              <a:buNone/>
              <a:defRPr sz="1650"/>
            </a:lvl5pPr>
            <a:lvl6pPr marL="1885315" indent="0" algn="ctr">
              <a:buNone/>
              <a:defRPr sz="1650"/>
            </a:lvl6pPr>
            <a:lvl7pPr marL="2262505" indent="0" algn="ctr">
              <a:buNone/>
              <a:defRPr sz="1650"/>
            </a:lvl7pPr>
            <a:lvl8pPr marL="2639695" indent="0" algn="ctr">
              <a:buNone/>
              <a:defRPr sz="1650"/>
            </a:lvl8pPr>
            <a:lvl9pPr marL="3016250" indent="0" algn="ctr">
              <a:buNone/>
              <a:defRPr sz="1650"/>
            </a:lvl9pPr>
          </a:lstStyle>
          <a:p>
            <a:r>
              <a:rPr lang="zh-CN" altLang="en-US" smtClean="0"/>
              <a:t>单击此处编辑母版副标题样式</a:t>
            </a:r>
            <a:endParaRPr lang="en-US" dirty="0"/>
          </a:p>
        </p:txBody>
      </p:sp>
      <p:sp>
        <p:nvSpPr>
          <p:cNvPr id="5" name="Rectangle 7"/>
          <p:cNvSpPr/>
          <p:nvPr/>
        </p:nvSpPr>
        <p:spPr>
          <a:xfrm>
            <a:off x="0" y="5227344"/>
            <a:ext cx="10055225" cy="523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Tree>
  </p:cSld>
  <p:clrMapOvr>
    <a:masterClrMapping/>
  </p:clrMapOvr>
  <p:transition spd="slow">
    <p:push dir="u"/>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4" name="矩形 3"/>
          <p:cNvSpPr/>
          <p:nvPr userDrawn="1"/>
        </p:nvSpPr>
        <p:spPr>
          <a:xfrm>
            <a:off x="-11113" y="5106701"/>
            <a:ext cx="10115551" cy="60321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panose="020B0604020202020204" pitchFamily="34" charset="0"/>
              <a:buNone/>
              <a:defRPr/>
            </a:pPr>
            <a:endParaRPr lang="zh-CN" altLang="en-US" sz="1800" dirty="0">
              <a:ea typeface="华文中宋" panose="02010600040101010101" pitchFamily="2" charset="-122"/>
            </a:endParaRPr>
          </a:p>
        </p:txBody>
      </p:sp>
      <p:cxnSp>
        <p:nvCxnSpPr>
          <p:cNvPr id="5" name="直接连接符 4"/>
          <p:cNvCxnSpPr/>
          <p:nvPr userDrawn="1"/>
        </p:nvCxnSpPr>
        <p:spPr>
          <a:xfrm>
            <a:off x="0" y="701636"/>
            <a:ext cx="8485584" cy="0"/>
          </a:xfrm>
          <a:prstGeom prst="line">
            <a:avLst/>
          </a:prstGeom>
          <a:ln w="38100">
            <a:gradFill flip="none" rotWithShape="1">
              <a:gsLst>
                <a:gs pos="0">
                  <a:srgbClr val="C00000"/>
                </a:gs>
                <a:gs pos="45000">
                  <a:srgbClr val="FFA19F"/>
                </a:gs>
                <a:gs pos="20000">
                  <a:srgbClr val="FF0000"/>
                </a:gs>
                <a:gs pos="73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marL="0">
              <a:defRPr/>
            </a:lvl1p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6" name="Date Placeholder 3"/>
          <p:cNvSpPr>
            <a:spLocks noGrp="1"/>
          </p:cNvSpPr>
          <p:nvPr>
            <p:ph type="dt" sz="half" idx="10"/>
          </p:nvPr>
        </p:nvSpPr>
        <p:spPr/>
        <p:txBody>
          <a:bodyPr/>
          <a:lstStyle>
            <a:lvl1pPr>
              <a:defRPr/>
            </a:lvl1pPr>
          </a:lstStyle>
          <a:p>
            <a:pPr>
              <a:defRPr/>
            </a:pPr>
            <a:endParaRPr lang="zh-CN" altLang="en-US"/>
          </a:p>
        </p:txBody>
      </p:sp>
      <p:sp>
        <p:nvSpPr>
          <p:cNvPr id="7" name="Footer Placeholder 4"/>
          <p:cNvSpPr>
            <a:spLocks noGrp="1"/>
          </p:cNvSpPr>
          <p:nvPr>
            <p:ph type="ftr" sz="quarter" idx="11"/>
          </p:nvPr>
        </p:nvSpPr>
        <p:spPr/>
        <p:txBody>
          <a:bodyPr/>
          <a:lstStyle>
            <a:lvl1pPr>
              <a:defRPr/>
            </a:lvl1pPr>
          </a:lstStyle>
          <a:p>
            <a:pPr>
              <a:defRPr/>
            </a:pPr>
            <a:endParaRPr lang="zh-CN"/>
          </a:p>
        </p:txBody>
      </p:sp>
      <p:sp>
        <p:nvSpPr>
          <p:cNvPr id="8" name="Slide Number Placeholder 5"/>
          <p:cNvSpPr>
            <a:spLocks noGrp="1"/>
          </p:cNvSpPr>
          <p:nvPr>
            <p:ph type="sldNum" sz="quarter" idx="12"/>
          </p:nvPr>
        </p:nvSpPr>
        <p:spPr/>
        <p:txBody>
          <a:bodyPr/>
          <a:lstStyle>
            <a:lvl1pPr>
              <a:defRPr/>
            </a:lvl1pPr>
          </a:lstStyle>
          <a:p>
            <a:pPr>
              <a:defRPr/>
            </a:pPr>
            <a:fld id="{D0D06375-F1D6-4B4A-8CAC-3E242A100B51}" type="slidenum">
              <a:rPr lang="en-US" altLang="zh-CN"/>
            </a:fld>
            <a:endParaRPr lang="zh-CN" altLang="zh-CN"/>
          </a:p>
        </p:txBody>
      </p:sp>
    </p:spTree>
  </p:cSld>
  <p:clrMapOvr>
    <a:masterClrMapping/>
  </p:clrMapOvr>
  <p:transition spd="slow">
    <p:push dir="u"/>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secHead" preserve="1" showMasterSp="0">
  <p:cSld name="节标题">
    <p:bg>
      <p:bgPr>
        <a:solidFill>
          <a:schemeClr val="bg1"/>
        </a:solidFill>
        <a:effectLst/>
      </p:bgPr>
    </p:bg>
    <p:spTree>
      <p:nvGrpSpPr>
        <p:cNvPr id="1" name=""/>
        <p:cNvGrpSpPr/>
        <p:nvPr/>
      </p:nvGrpSpPr>
      <p:grpSpPr>
        <a:xfrm>
          <a:off x="0" y="0"/>
          <a:ext cx="0" cy="0"/>
          <a:chOff x="0" y="0"/>
          <a:chExt cx="0" cy="0"/>
        </a:xfrm>
      </p:grpSpPr>
      <p:sp>
        <p:nvSpPr>
          <p:cNvPr id="4" name="Rectangle 6"/>
          <p:cNvSpPr/>
          <p:nvPr/>
        </p:nvSpPr>
        <p:spPr>
          <a:xfrm>
            <a:off x="3175" y="5281317"/>
            <a:ext cx="10055225" cy="3778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7"/>
          <p:cNvSpPr/>
          <p:nvPr/>
        </p:nvSpPr>
        <p:spPr>
          <a:xfrm>
            <a:off x="0" y="5227344"/>
            <a:ext cx="10055225" cy="523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cxnSp>
        <p:nvCxnSpPr>
          <p:cNvPr id="6" name="Straight Connector 8"/>
          <p:cNvCxnSpPr/>
          <p:nvPr/>
        </p:nvCxnSpPr>
        <p:spPr>
          <a:xfrm>
            <a:off x="996950" y="3584373"/>
            <a:ext cx="814705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905256" y="626276"/>
            <a:ext cx="8298180" cy="2942742"/>
          </a:xfrm>
        </p:spPr>
        <p:txBody>
          <a:bodyPr anchorCtr="0"/>
          <a:lstStyle>
            <a:lvl1pPr>
              <a:lnSpc>
                <a:spcPct val="85000"/>
              </a:lnSpc>
              <a:defRPr sz="6600" b="0">
                <a:solidFill>
                  <a:schemeClr val="tx1">
                    <a:lumMod val="85000"/>
                    <a:lumOff val="15000"/>
                  </a:schemeClr>
                </a:solidFill>
              </a:defRPr>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905256" y="3674656"/>
            <a:ext cx="8298180" cy="943187"/>
          </a:xfrm>
        </p:spPr>
        <p:txBody>
          <a:bodyPr lIns="91440" rIns="91440"/>
          <a:lstStyle>
            <a:lvl1pPr marL="0" indent="0">
              <a:buNone/>
              <a:defRPr sz="1980" cap="all" spc="200" baseline="0">
                <a:solidFill>
                  <a:schemeClr val="tx2"/>
                </a:solidFill>
                <a:latin typeface="+mj-lt"/>
              </a:defRPr>
            </a:lvl1pPr>
            <a:lvl2pPr marL="377190" indent="0">
              <a:buNone/>
              <a:defRPr sz="1485">
                <a:solidFill>
                  <a:schemeClr val="tx1">
                    <a:tint val="75000"/>
                  </a:schemeClr>
                </a:solidFill>
              </a:defRPr>
            </a:lvl2pPr>
            <a:lvl3pPr marL="754380" indent="0">
              <a:buNone/>
              <a:defRPr sz="1320">
                <a:solidFill>
                  <a:schemeClr val="tx1">
                    <a:tint val="75000"/>
                  </a:schemeClr>
                </a:solidFill>
              </a:defRPr>
            </a:lvl3pPr>
            <a:lvl4pPr marL="1130935" indent="0">
              <a:buNone/>
              <a:defRPr sz="1155">
                <a:solidFill>
                  <a:schemeClr val="tx1">
                    <a:tint val="75000"/>
                  </a:schemeClr>
                </a:solidFill>
              </a:defRPr>
            </a:lvl4pPr>
            <a:lvl5pPr marL="1508125" indent="0">
              <a:buNone/>
              <a:defRPr sz="1155">
                <a:solidFill>
                  <a:schemeClr val="tx1">
                    <a:tint val="75000"/>
                  </a:schemeClr>
                </a:solidFill>
              </a:defRPr>
            </a:lvl5pPr>
            <a:lvl6pPr marL="1885315" indent="0">
              <a:buNone/>
              <a:defRPr sz="1155">
                <a:solidFill>
                  <a:schemeClr val="tx1">
                    <a:tint val="75000"/>
                  </a:schemeClr>
                </a:solidFill>
              </a:defRPr>
            </a:lvl6pPr>
            <a:lvl7pPr marL="2262505" indent="0">
              <a:buNone/>
              <a:defRPr sz="1155">
                <a:solidFill>
                  <a:schemeClr val="tx1">
                    <a:tint val="75000"/>
                  </a:schemeClr>
                </a:solidFill>
              </a:defRPr>
            </a:lvl7pPr>
            <a:lvl8pPr marL="2639695" indent="0">
              <a:buNone/>
              <a:defRPr sz="1155">
                <a:solidFill>
                  <a:schemeClr val="tx1">
                    <a:tint val="75000"/>
                  </a:schemeClr>
                </a:solidFill>
              </a:defRPr>
            </a:lvl8pPr>
            <a:lvl9pPr marL="3016250" indent="0">
              <a:buNone/>
              <a:defRPr sz="1155">
                <a:solidFill>
                  <a:schemeClr val="tx1">
                    <a:tint val="75000"/>
                  </a:schemeClr>
                </a:solidFill>
              </a:defRPr>
            </a:lvl9pPr>
          </a:lstStyle>
          <a:p>
            <a:pPr lvl="0"/>
            <a:r>
              <a:rPr lang="zh-CN" altLang="en-US" smtClean="0"/>
              <a:t>单击此处编辑母版文本样式</a:t>
            </a:r>
            <a:endParaRPr lang="zh-CN" altLang="en-US" smtClean="0"/>
          </a:p>
        </p:txBody>
      </p:sp>
      <p:sp>
        <p:nvSpPr>
          <p:cNvPr id="7" name="Date Placeholder 3"/>
          <p:cNvSpPr>
            <a:spLocks noGrp="1"/>
          </p:cNvSpPr>
          <p:nvPr>
            <p:ph type="dt" sz="half" idx="10"/>
          </p:nvPr>
        </p:nvSpPr>
        <p:spPr/>
        <p:txBody>
          <a:bodyPr/>
          <a:lstStyle>
            <a:lvl1pPr>
              <a:defRPr/>
            </a:lvl1pPr>
          </a:lstStyle>
          <a:p>
            <a:pPr>
              <a:defRPr/>
            </a:pPr>
            <a:endParaRPr lang="zh-CN" altLang="en-US"/>
          </a:p>
        </p:txBody>
      </p:sp>
      <p:sp>
        <p:nvSpPr>
          <p:cNvPr id="8" name="Footer Placeholder 4"/>
          <p:cNvSpPr>
            <a:spLocks noGrp="1"/>
          </p:cNvSpPr>
          <p:nvPr>
            <p:ph type="ftr" sz="quarter" idx="11"/>
          </p:nvPr>
        </p:nvSpPr>
        <p:spPr/>
        <p:txBody>
          <a:bodyPr/>
          <a:lstStyle>
            <a:lvl1pPr>
              <a:defRPr/>
            </a:lvl1pPr>
          </a:lstStyle>
          <a:p>
            <a:pPr>
              <a:defRPr/>
            </a:pPr>
            <a:endParaRPr lang="zh-CN"/>
          </a:p>
        </p:txBody>
      </p:sp>
      <p:sp>
        <p:nvSpPr>
          <p:cNvPr id="9" name="Slide Number Placeholder 5"/>
          <p:cNvSpPr>
            <a:spLocks noGrp="1"/>
          </p:cNvSpPr>
          <p:nvPr>
            <p:ph type="sldNum" sz="quarter" idx="12"/>
          </p:nvPr>
        </p:nvSpPr>
        <p:spPr/>
        <p:txBody>
          <a:bodyPr/>
          <a:lstStyle>
            <a:lvl1pPr>
              <a:defRPr/>
            </a:lvl1pPr>
          </a:lstStyle>
          <a:p>
            <a:pPr>
              <a:defRPr/>
            </a:pPr>
            <a:fld id="{02492CEC-408C-422E-8684-298B1B34997D}" type="slidenum">
              <a:rPr lang="en-US" altLang="zh-CN"/>
            </a:fld>
            <a:endParaRPr lang="zh-CN" altLang="zh-CN"/>
          </a:p>
        </p:txBody>
      </p:sp>
    </p:spTree>
  </p:cSld>
  <p:clrMapOvr>
    <a:masterClrMapping/>
  </p:clrMapOvr>
  <p:transition spd="slow">
    <p:push dir="u"/>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8" name="Title 7"/>
          <p:cNvSpPr>
            <a:spLocks noGrp="1"/>
          </p:cNvSpPr>
          <p:nvPr>
            <p:ph type="title"/>
          </p:nvPr>
        </p:nvSpPr>
        <p:spPr>
          <a:xfrm>
            <a:off x="905256" y="236501"/>
            <a:ext cx="8298180" cy="1197142"/>
          </a:xfrm>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905255" y="1523072"/>
            <a:ext cx="4073652" cy="3320017"/>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Content Placeholder 3"/>
          <p:cNvSpPr>
            <a:spLocks noGrp="1"/>
          </p:cNvSpPr>
          <p:nvPr>
            <p:ph sz="half" idx="2"/>
          </p:nvPr>
        </p:nvSpPr>
        <p:spPr>
          <a:xfrm>
            <a:off x="5129784" y="1523074"/>
            <a:ext cx="4073652" cy="3320017"/>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5" name="Date Placeholder 3"/>
          <p:cNvSpPr>
            <a:spLocks noGrp="1"/>
          </p:cNvSpPr>
          <p:nvPr>
            <p:ph type="dt" sz="half" idx="10"/>
          </p:nvPr>
        </p:nvSpPr>
        <p:spPr/>
        <p:txBody>
          <a:bodyPr/>
          <a:lstStyle>
            <a:lvl1pPr>
              <a:defRPr/>
            </a:lvl1pPr>
          </a:lstStyle>
          <a:p>
            <a:pPr>
              <a:defRPr/>
            </a:pPr>
            <a:endParaRPr lang="zh-CN" altLang="en-US"/>
          </a:p>
        </p:txBody>
      </p:sp>
      <p:sp>
        <p:nvSpPr>
          <p:cNvPr id="6" name="Footer Placeholder 4"/>
          <p:cNvSpPr>
            <a:spLocks noGrp="1"/>
          </p:cNvSpPr>
          <p:nvPr>
            <p:ph type="ftr" sz="quarter" idx="11"/>
          </p:nvPr>
        </p:nvSpPr>
        <p:spPr/>
        <p:txBody>
          <a:bodyPr/>
          <a:lstStyle>
            <a:lvl1pPr>
              <a:defRPr/>
            </a:lvl1pPr>
          </a:lstStyle>
          <a:p>
            <a:pPr>
              <a:defRPr/>
            </a:pPr>
            <a:endParaRPr lang="zh-CN"/>
          </a:p>
        </p:txBody>
      </p:sp>
      <p:sp>
        <p:nvSpPr>
          <p:cNvPr id="7" name="Slide Number Placeholder 5"/>
          <p:cNvSpPr>
            <a:spLocks noGrp="1"/>
          </p:cNvSpPr>
          <p:nvPr>
            <p:ph type="sldNum" sz="quarter" idx="12"/>
          </p:nvPr>
        </p:nvSpPr>
        <p:spPr/>
        <p:txBody>
          <a:bodyPr/>
          <a:lstStyle>
            <a:lvl1pPr>
              <a:defRPr/>
            </a:lvl1pPr>
          </a:lstStyle>
          <a:p>
            <a:pPr>
              <a:defRPr/>
            </a:pPr>
            <a:fld id="{DA51039D-9C6F-4EF6-BBE8-AFAED6BB9BD5}" type="slidenum">
              <a:rPr lang="en-US" altLang="zh-CN"/>
            </a:fld>
            <a:endParaRPr lang="zh-CN" altLang="zh-CN"/>
          </a:p>
        </p:txBody>
      </p:sp>
    </p:spTree>
  </p:cSld>
  <p:clrMapOvr>
    <a:masterClrMapping/>
  </p:clrMapOvr>
  <p:transition spd="slow">
    <p:push dir="u"/>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10" name="Title 9"/>
          <p:cNvSpPr>
            <a:spLocks noGrp="1"/>
          </p:cNvSpPr>
          <p:nvPr>
            <p:ph type="title"/>
          </p:nvPr>
        </p:nvSpPr>
        <p:spPr>
          <a:xfrm>
            <a:off x="905256" y="236501"/>
            <a:ext cx="8298180" cy="1197142"/>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905256" y="1523335"/>
            <a:ext cx="4073652" cy="607569"/>
          </a:xfrm>
        </p:spPr>
        <p:txBody>
          <a:bodyPr lIns="91440" rIns="91440" anchor="ctr"/>
          <a:lstStyle>
            <a:lvl1pPr marL="0" indent="0">
              <a:buNone/>
              <a:defRPr sz="1650" b="0" cap="all" baseline="0">
                <a:solidFill>
                  <a:schemeClr val="tx2"/>
                </a:solidFill>
              </a:defRPr>
            </a:lvl1pPr>
            <a:lvl2pPr marL="377190" indent="0">
              <a:buNone/>
              <a:defRPr sz="1650" b="1"/>
            </a:lvl2pPr>
            <a:lvl3pPr marL="754380" indent="0">
              <a:buNone/>
              <a:defRPr sz="1485" b="1"/>
            </a:lvl3pPr>
            <a:lvl4pPr marL="1130935" indent="0">
              <a:buNone/>
              <a:defRPr sz="1320" b="1"/>
            </a:lvl4pPr>
            <a:lvl5pPr marL="1508125" indent="0">
              <a:buNone/>
              <a:defRPr sz="1320" b="1"/>
            </a:lvl5pPr>
            <a:lvl6pPr marL="1885315" indent="0">
              <a:buNone/>
              <a:defRPr sz="1320" b="1"/>
            </a:lvl6pPr>
            <a:lvl7pPr marL="2262505" indent="0">
              <a:buNone/>
              <a:defRPr sz="1320" b="1"/>
            </a:lvl7pPr>
            <a:lvl8pPr marL="2639695" indent="0">
              <a:buNone/>
              <a:defRPr sz="1320" b="1"/>
            </a:lvl8pPr>
            <a:lvl9pPr marL="3016250" indent="0">
              <a:buNone/>
              <a:defRPr sz="1320" b="1"/>
            </a:lvl9pPr>
          </a:lstStyle>
          <a:p>
            <a:pPr lvl="0"/>
            <a:r>
              <a:rPr lang="zh-CN" altLang="en-US" smtClean="0"/>
              <a:t>单击此处编辑母版文本样式</a:t>
            </a:r>
            <a:endParaRPr lang="zh-CN" altLang="en-US" smtClean="0"/>
          </a:p>
        </p:txBody>
      </p:sp>
      <p:sp>
        <p:nvSpPr>
          <p:cNvPr id="4" name="Content Placeholder 3"/>
          <p:cNvSpPr>
            <a:spLocks noGrp="1"/>
          </p:cNvSpPr>
          <p:nvPr>
            <p:ph sz="half" idx="2"/>
          </p:nvPr>
        </p:nvSpPr>
        <p:spPr>
          <a:xfrm>
            <a:off x="905256" y="2130905"/>
            <a:ext cx="4073652" cy="2787641"/>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5" name="Text Placeholder 4"/>
          <p:cNvSpPr>
            <a:spLocks noGrp="1"/>
          </p:cNvSpPr>
          <p:nvPr>
            <p:ph type="body" sz="quarter" idx="3"/>
          </p:nvPr>
        </p:nvSpPr>
        <p:spPr>
          <a:xfrm>
            <a:off x="5129784" y="1523335"/>
            <a:ext cx="4073652" cy="607569"/>
          </a:xfrm>
        </p:spPr>
        <p:txBody>
          <a:bodyPr lIns="91440" rIns="91440" anchor="ctr"/>
          <a:lstStyle>
            <a:lvl1pPr marL="0" indent="0">
              <a:buNone/>
              <a:defRPr sz="1650" b="0" cap="all" baseline="0">
                <a:solidFill>
                  <a:schemeClr val="tx2"/>
                </a:solidFill>
              </a:defRPr>
            </a:lvl1pPr>
            <a:lvl2pPr marL="377190" indent="0">
              <a:buNone/>
              <a:defRPr sz="1650" b="1"/>
            </a:lvl2pPr>
            <a:lvl3pPr marL="754380" indent="0">
              <a:buNone/>
              <a:defRPr sz="1485" b="1"/>
            </a:lvl3pPr>
            <a:lvl4pPr marL="1130935" indent="0">
              <a:buNone/>
              <a:defRPr sz="1320" b="1"/>
            </a:lvl4pPr>
            <a:lvl5pPr marL="1508125" indent="0">
              <a:buNone/>
              <a:defRPr sz="1320" b="1"/>
            </a:lvl5pPr>
            <a:lvl6pPr marL="1885315" indent="0">
              <a:buNone/>
              <a:defRPr sz="1320" b="1"/>
            </a:lvl6pPr>
            <a:lvl7pPr marL="2262505" indent="0">
              <a:buNone/>
              <a:defRPr sz="1320" b="1"/>
            </a:lvl7pPr>
            <a:lvl8pPr marL="2639695" indent="0">
              <a:buNone/>
              <a:defRPr sz="1320" b="1"/>
            </a:lvl8pPr>
            <a:lvl9pPr marL="3016250" indent="0">
              <a:buNone/>
              <a:defRPr sz="1320" b="1"/>
            </a:lvl9pPr>
          </a:lstStyle>
          <a:p>
            <a:pPr lvl="0"/>
            <a:r>
              <a:rPr lang="zh-CN" altLang="en-US" smtClean="0"/>
              <a:t>单击此处编辑母版文本样式</a:t>
            </a:r>
            <a:endParaRPr lang="zh-CN" altLang="en-US" smtClean="0"/>
          </a:p>
        </p:txBody>
      </p:sp>
      <p:sp>
        <p:nvSpPr>
          <p:cNvPr id="6" name="Content Placeholder 5"/>
          <p:cNvSpPr>
            <a:spLocks noGrp="1"/>
          </p:cNvSpPr>
          <p:nvPr>
            <p:ph sz="quarter" idx="4"/>
          </p:nvPr>
        </p:nvSpPr>
        <p:spPr>
          <a:xfrm>
            <a:off x="5129784" y="2130905"/>
            <a:ext cx="4073652" cy="2787641"/>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7" name="Date Placeholder 3"/>
          <p:cNvSpPr>
            <a:spLocks noGrp="1"/>
          </p:cNvSpPr>
          <p:nvPr>
            <p:ph type="dt" sz="half" idx="10"/>
          </p:nvPr>
        </p:nvSpPr>
        <p:spPr/>
        <p:txBody>
          <a:bodyPr/>
          <a:lstStyle>
            <a:lvl1pPr>
              <a:defRPr/>
            </a:lvl1pPr>
          </a:lstStyle>
          <a:p>
            <a:pPr>
              <a:defRPr/>
            </a:pPr>
            <a:endParaRPr lang="zh-CN" altLang="en-US"/>
          </a:p>
        </p:txBody>
      </p:sp>
      <p:sp>
        <p:nvSpPr>
          <p:cNvPr id="8" name="Footer Placeholder 4"/>
          <p:cNvSpPr>
            <a:spLocks noGrp="1"/>
          </p:cNvSpPr>
          <p:nvPr>
            <p:ph type="ftr" sz="quarter" idx="11"/>
          </p:nvPr>
        </p:nvSpPr>
        <p:spPr/>
        <p:txBody>
          <a:bodyPr/>
          <a:lstStyle>
            <a:lvl1pPr>
              <a:defRPr/>
            </a:lvl1pPr>
          </a:lstStyle>
          <a:p>
            <a:pPr>
              <a:defRPr/>
            </a:pPr>
            <a:endParaRPr lang="zh-CN"/>
          </a:p>
        </p:txBody>
      </p:sp>
      <p:sp>
        <p:nvSpPr>
          <p:cNvPr id="9" name="Slide Number Placeholder 5"/>
          <p:cNvSpPr>
            <a:spLocks noGrp="1"/>
          </p:cNvSpPr>
          <p:nvPr>
            <p:ph type="sldNum" sz="quarter" idx="12"/>
          </p:nvPr>
        </p:nvSpPr>
        <p:spPr/>
        <p:txBody>
          <a:bodyPr/>
          <a:lstStyle>
            <a:lvl1pPr>
              <a:defRPr/>
            </a:lvl1pPr>
          </a:lstStyle>
          <a:p>
            <a:pPr>
              <a:defRPr/>
            </a:pPr>
            <a:fld id="{CC410290-E065-4A09-A70C-67C0A8BDA19B}" type="slidenum">
              <a:rPr lang="en-US" altLang="zh-CN"/>
            </a:fld>
            <a:endParaRPr lang="zh-CN" altLang="zh-CN"/>
          </a:p>
        </p:txBody>
      </p:sp>
    </p:spTree>
  </p:cSld>
  <p:clrMapOvr>
    <a:masterClrMapping/>
  </p:clrMapOvr>
  <p:transition spd="slow">
    <p:push dir="u"/>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3"/>
          <p:cNvSpPr>
            <a:spLocks noGrp="1"/>
          </p:cNvSpPr>
          <p:nvPr>
            <p:ph type="dt" sz="half" idx="10"/>
          </p:nvPr>
        </p:nvSpPr>
        <p:spPr/>
        <p:txBody>
          <a:bodyPr/>
          <a:lstStyle>
            <a:lvl1pPr>
              <a:defRPr/>
            </a:lvl1pPr>
          </a:lstStyle>
          <a:p>
            <a:pPr>
              <a:defRPr/>
            </a:pPr>
            <a:endParaRPr lang="zh-CN" altLang="en-US"/>
          </a:p>
        </p:txBody>
      </p:sp>
      <p:sp>
        <p:nvSpPr>
          <p:cNvPr id="4" name="Footer Placeholder 4"/>
          <p:cNvSpPr>
            <a:spLocks noGrp="1"/>
          </p:cNvSpPr>
          <p:nvPr>
            <p:ph type="ftr" sz="quarter" idx="11"/>
          </p:nvPr>
        </p:nvSpPr>
        <p:spPr/>
        <p:txBody>
          <a:bodyPr/>
          <a:lstStyle>
            <a:lvl1pPr>
              <a:defRPr/>
            </a:lvl1pPr>
          </a:lstStyle>
          <a:p>
            <a:pPr>
              <a:defRPr/>
            </a:pPr>
            <a:endParaRPr lang="zh-CN"/>
          </a:p>
        </p:txBody>
      </p:sp>
      <p:sp>
        <p:nvSpPr>
          <p:cNvPr id="5" name="Slide Number Placeholder 5"/>
          <p:cNvSpPr>
            <a:spLocks noGrp="1"/>
          </p:cNvSpPr>
          <p:nvPr>
            <p:ph type="sldNum" sz="quarter" idx="12"/>
          </p:nvPr>
        </p:nvSpPr>
        <p:spPr/>
        <p:txBody>
          <a:bodyPr/>
          <a:lstStyle>
            <a:lvl1pPr>
              <a:defRPr/>
            </a:lvl1pPr>
          </a:lstStyle>
          <a:p>
            <a:pPr>
              <a:defRPr/>
            </a:pPr>
            <a:fld id="{AE9DBB2E-1FC9-43E1-B8D5-A843EDE3ADC3}" type="slidenum">
              <a:rPr lang="en-US" altLang="zh-CN"/>
            </a:fld>
            <a:endParaRPr lang="zh-CN" altLang="zh-CN"/>
          </a:p>
        </p:txBody>
      </p:sp>
    </p:spTree>
  </p:cSld>
  <p:clrMapOvr>
    <a:masterClrMapping/>
  </p:clrMapOvr>
  <p:transition spd="slow">
    <p:push dir="u"/>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reserve="1" showMasterSp="0">
  <p:cSld name="空白">
    <p:spTree>
      <p:nvGrpSpPr>
        <p:cNvPr id="1" name=""/>
        <p:cNvGrpSpPr/>
        <p:nvPr/>
      </p:nvGrpSpPr>
      <p:grpSpPr>
        <a:xfrm>
          <a:off x="0" y="0"/>
          <a:ext cx="0" cy="0"/>
          <a:chOff x="0" y="0"/>
          <a:chExt cx="0" cy="0"/>
        </a:xfrm>
      </p:grpSpPr>
      <p:sp>
        <p:nvSpPr>
          <p:cNvPr id="2" name="Rectangle 4"/>
          <p:cNvSpPr/>
          <p:nvPr/>
        </p:nvSpPr>
        <p:spPr>
          <a:xfrm>
            <a:off x="3175" y="5281317"/>
            <a:ext cx="10055225" cy="3778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 name="Rectangle 5"/>
          <p:cNvSpPr/>
          <p:nvPr/>
        </p:nvSpPr>
        <p:spPr>
          <a:xfrm>
            <a:off x="0" y="5227344"/>
            <a:ext cx="10055225" cy="523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4" name="Date Placeholder 6"/>
          <p:cNvSpPr>
            <a:spLocks noGrp="1"/>
          </p:cNvSpPr>
          <p:nvPr>
            <p:ph type="dt" sz="half" idx="10"/>
          </p:nvPr>
        </p:nvSpPr>
        <p:spPr/>
        <p:txBody>
          <a:bodyPr/>
          <a:lstStyle>
            <a:lvl1pPr>
              <a:defRPr/>
            </a:lvl1pPr>
          </a:lstStyle>
          <a:p>
            <a:pPr>
              <a:defRPr/>
            </a:pPr>
            <a:endParaRPr lang="zh-CN" altLang="en-US"/>
          </a:p>
        </p:txBody>
      </p:sp>
      <p:sp>
        <p:nvSpPr>
          <p:cNvPr id="5" name="Footer Placeholder 7"/>
          <p:cNvSpPr>
            <a:spLocks noGrp="1"/>
          </p:cNvSpPr>
          <p:nvPr>
            <p:ph type="ftr" sz="quarter" idx="11"/>
          </p:nvPr>
        </p:nvSpPr>
        <p:spPr/>
        <p:txBody>
          <a:bodyPr/>
          <a:lstStyle>
            <a:lvl1pPr>
              <a:defRPr>
                <a:solidFill>
                  <a:srgbClr val="FFFFFF"/>
                </a:solidFill>
              </a:defRPr>
            </a:lvl1pPr>
          </a:lstStyle>
          <a:p>
            <a:pPr>
              <a:defRPr/>
            </a:pPr>
            <a:endParaRPr lang="zh-CN"/>
          </a:p>
        </p:txBody>
      </p:sp>
      <p:sp>
        <p:nvSpPr>
          <p:cNvPr id="6" name="Slide Number Placeholder 8"/>
          <p:cNvSpPr>
            <a:spLocks noGrp="1"/>
          </p:cNvSpPr>
          <p:nvPr>
            <p:ph type="sldNum" sz="quarter" idx="12"/>
          </p:nvPr>
        </p:nvSpPr>
        <p:spPr/>
        <p:txBody>
          <a:bodyPr/>
          <a:lstStyle>
            <a:lvl1pPr>
              <a:defRPr/>
            </a:lvl1pPr>
          </a:lstStyle>
          <a:p>
            <a:pPr>
              <a:defRPr/>
            </a:pPr>
            <a:fld id="{C02485F6-5526-4DF7-99A8-5EB8DC585A25}" type="slidenum">
              <a:rPr lang="en-US" altLang="zh-CN"/>
            </a:fld>
            <a:endParaRPr lang="zh-CN" altLang="zh-CN"/>
          </a:p>
        </p:txBody>
      </p:sp>
    </p:spTree>
  </p:cSld>
  <p:clrMapOvr>
    <a:masterClrMapping/>
  </p:clrMapOvr>
  <p:transition spd="slow">
    <p:push dir="u"/>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objTx" preserve="1" showMasterSp="0">
  <p:cSld name="内容与标题">
    <p:spTree>
      <p:nvGrpSpPr>
        <p:cNvPr id="1" name=""/>
        <p:cNvGrpSpPr/>
        <p:nvPr/>
      </p:nvGrpSpPr>
      <p:grpSpPr>
        <a:xfrm>
          <a:off x="0" y="0"/>
          <a:ext cx="0" cy="0"/>
          <a:chOff x="0" y="0"/>
          <a:chExt cx="0" cy="0"/>
        </a:xfrm>
      </p:grpSpPr>
      <p:sp>
        <p:nvSpPr>
          <p:cNvPr id="5" name="Rectangle 7"/>
          <p:cNvSpPr/>
          <p:nvPr/>
        </p:nvSpPr>
        <p:spPr>
          <a:xfrm>
            <a:off x="0" y="0"/>
            <a:ext cx="3341688" cy="565912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8"/>
          <p:cNvSpPr/>
          <p:nvPr/>
        </p:nvSpPr>
        <p:spPr>
          <a:xfrm>
            <a:off x="3333750" y="0"/>
            <a:ext cx="52388" cy="56591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377190" y="490457"/>
            <a:ext cx="2640330" cy="1886373"/>
          </a:xfrm>
        </p:spPr>
        <p:txBody>
          <a:bodyPr/>
          <a:lstStyle>
            <a:lvl1pPr>
              <a:defRPr sz="2970" b="0">
                <a:solidFill>
                  <a:srgbClr val="FFFFFF"/>
                </a:solidFill>
              </a:defRPr>
            </a:lvl1pPr>
          </a:lstStyle>
          <a:p>
            <a:r>
              <a:rPr lang="zh-CN" altLang="en-US" smtClean="0"/>
              <a:t>单击此处编辑母版标题样式</a:t>
            </a:r>
            <a:endParaRPr lang="en-US" dirty="0"/>
          </a:p>
        </p:txBody>
      </p:sp>
      <p:sp>
        <p:nvSpPr>
          <p:cNvPr id="3" name="Content Placeholder 2"/>
          <p:cNvSpPr>
            <a:spLocks noGrp="1"/>
          </p:cNvSpPr>
          <p:nvPr>
            <p:ph idx="1"/>
          </p:nvPr>
        </p:nvSpPr>
        <p:spPr>
          <a:xfrm>
            <a:off x="3960495" y="603640"/>
            <a:ext cx="5356098" cy="433865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Text Placeholder 3"/>
          <p:cNvSpPr>
            <a:spLocks noGrp="1"/>
          </p:cNvSpPr>
          <p:nvPr>
            <p:ph type="body" sz="half" idx="2"/>
          </p:nvPr>
        </p:nvSpPr>
        <p:spPr>
          <a:xfrm>
            <a:off x="377190" y="2414557"/>
            <a:ext cx="2640330" cy="2788403"/>
          </a:xfrm>
        </p:spPr>
        <p:txBody>
          <a:bodyPr lIns="91440" rIns="91440"/>
          <a:lstStyle>
            <a:lvl1pPr marL="0" indent="0">
              <a:buNone/>
              <a:defRPr sz="1240">
                <a:solidFill>
                  <a:srgbClr val="FFFFFF"/>
                </a:solidFill>
              </a:defRPr>
            </a:lvl1pPr>
            <a:lvl2pPr marL="377190" indent="0">
              <a:buNone/>
              <a:defRPr sz="990"/>
            </a:lvl2pPr>
            <a:lvl3pPr marL="754380" indent="0">
              <a:buNone/>
              <a:defRPr sz="825"/>
            </a:lvl3pPr>
            <a:lvl4pPr marL="1130935" indent="0">
              <a:buNone/>
              <a:defRPr sz="745"/>
            </a:lvl4pPr>
            <a:lvl5pPr marL="1508125" indent="0">
              <a:buNone/>
              <a:defRPr sz="745"/>
            </a:lvl5pPr>
            <a:lvl6pPr marL="1885315" indent="0">
              <a:buNone/>
              <a:defRPr sz="745"/>
            </a:lvl6pPr>
            <a:lvl7pPr marL="2262505" indent="0">
              <a:buNone/>
              <a:defRPr sz="745"/>
            </a:lvl7pPr>
            <a:lvl8pPr marL="2639695" indent="0">
              <a:buNone/>
              <a:defRPr sz="745"/>
            </a:lvl8pPr>
            <a:lvl9pPr marL="3016250" indent="0">
              <a:buNone/>
              <a:defRPr sz="745"/>
            </a:lvl9pPr>
          </a:lstStyle>
          <a:p>
            <a:pPr lvl="0"/>
            <a:r>
              <a:rPr lang="zh-CN" altLang="en-US" smtClean="0"/>
              <a:t>单击此处编辑母版文本样式</a:t>
            </a:r>
            <a:endParaRPr lang="zh-CN" altLang="en-US" smtClean="0"/>
          </a:p>
        </p:txBody>
      </p:sp>
      <p:sp>
        <p:nvSpPr>
          <p:cNvPr id="7" name="Date Placeholder 4"/>
          <p:cNvSpPr>
            <a:spLocks noGrp="1"/>
          </p:cNvSpPr>
          <p:nvPr>
            <p:ph type="dt" sz="half" idx="10"/>
          </p:nvPr>
        </p:nvSpPr>
        <p:spPr>
          <a:xfrm>
            <a:off x="384174" y="5330526"/>
            <a:ext cx="2160588" cy="301608"/>
          </a:xfrm>
        </p:spPr>
        <p:txBody>
          <a:bodyPr/>
          <a:lstStyle>
            <a:lvl1pPr algn="l">
              <a:defRPr/>
            </a:lvl1pPr>
          </a:lstStyle>
          <a:p>
            <a:pPr>
              <a:defRPr/>
            </a:pPr>
            <a:endParaRPr lang="zh-CN" altLang="en-US"/>
          </a:p>
        </p:txBody>
      </p:sp>
      <p:sp>
        <p:nvSpPr>
          <p:cNvPr id="8" name="Footer Placeholder 5"/>
          <p:cNvSpPr>
            <a:spLocks noGrp="1"/>
          </p:cNvSpPr>
          <p:nvPr>
            <p:ph type="ftr" sz="quarter" idx="11"/>
          </p:nvPr>
        </p:nvSpPr>
        <p:spPr>
          <a:xfrm>
            <a:off x="3960813" y="5330526"/>
            <a:ext cx="3833812" cy="301608"/>
          </a:xfrm>
        </p:spPr>
        <p:txBody>
          <a:bodyPr/>
          <a:lstStyle>
            <a:lvl1pPr algn="l">
              <a:defRPr>
                <a:solidFill>
                  <a:schemeClr val="tx2"/>
                </a:solidFill>
              </a:defRPr>
            </a:lvl1pPr>
          </a:lstStyle>
          <a:p>
            <a:pPr>
              <a:defRPr/>
            </a:pPr>
            <a:endParaRPr lang="zh-CN"/>
          </a:p>
        </p:txBody>
      </p:sp>
      <p:sp>
        <p:nvSpPr>
          <p:cNvPr id="9" name="Slide Number Placeholder 6"/>
          <p:cNvSpPr>
            <a:spLocks noGrp="1"/>
          </p:cNvSpPr>
          <p:nvPr>
            <p:ph type="sldNum" sz="quarter" idx="12"/>
          </p:nvPr>
        </p:nvSpPr>
        <p:spPr/>
        <p:txBody>
          <a:bodyPr/>
          <a:lstStyle>
            <a:lvl1pPr>
              <a:defRPr>
                <a:solidFill>
                  <a:schemeClr val="tx2"/>
                </a:solidFill>
              </a:defRPr>
            </a:lvl1pPr>
          </a:lstStyle>
          <a:p>
            <a:pPr>
              <a:defRPr/>
            </a:pPr>
            <a:fld id="{313F07A1-6F5A-4002-B04F-321F9C5E2BA3}" type="slidenum">
              <a:rPr lang="en-US" altLang="zh-CN"/>
            </a:fld>
            <a:endParaRPr lang="zh-CN" altLang="zh-CN"/>
          </a:p>
        </p:txBody>
      </p:sp>
    </p:spTree>
  </p:cSld>
  <p:clrMapOvr>
    <a:masterClrMapping/>
  </p:clrMapOvr>
  <p:transition spd="slow">
    <p:push dir="u"/>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picTx" preserve="1" showMasterSp="0">
  <p:cSld name="图片与标题">
    <p:spTree>
      <p:nvGrpSpPr>
        <p:cNvPr id="1" name=""/>
        <p:cNvGrpSpPr/>
        <p:nvPr/>
      </p:nvGrpSpPr>
      <p:grpSpPr>
        <a:xfrm>
          <a:off x="0" y="0"/>
          <a:ext cx="0" cy="0"/>
          <a:chOff x="0" y="0"/>
          <a:chExt cx="0" cy="0"/>
        </a:xfrm>
      </p:grpSpPr>
      <p:sp>
        <p:nvSpPr>
          <p:cNvPr id="5" name="Rectangle 7"/>
          <p:cNvSpPr/>
          <p:nvPr/>
        </p:nvSpPr>
        <p:spPr>
          <a:xfrm>
            <a:off x="0" y="4087584"/>
            <a:ext cx="10055225" cy="15715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8"/>
          <p:cNvSpPr/>
          <p:nvPr/>
        </p:nvSpPr>
        <p:spPr>
          <a:xfrm>
            <a:off x="0" y="4055836"/>
            <a:ext cx="10055225" cy="523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905257" y="4187749"/>
            <a:ext cx="8343443" cy="679095"/>
          </a:xfrm>
        </p:spPr>
        <p:txBody>
          <a:bodyPr tIns="0" bIns="0">
            <a:noAutofit/>
          </a:bodyPr>
          <a:lstStyle>
            <a:lvl1pPr>
              <a:defRPr sz="2970" b="0">
                <a:solidFill>
                  <a:srgbClr val="FFFFFF"/>
                </a:solidFill>
              </a:defRPr>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13" y="0"/>
            <a:ext cx="10058388" cy="4055848"/>
          </a:xfrm>
          <a:blipFill>
            <a:blip r:embed="rId2"/>
            <a:stretch>
              <a:fillRect/>
            </a:stretch>
          </a:blipFill>
        </p:spPr>
        <p:txBody>
          <a:bodyPr lIns="457200" tIns="457200" rtlCol="0">
            <a:normAutofit/>
          </a:bodyPr>
          <a:lstStyle>
            <a:lvl1pPr marL="0" indent="0">
              <a:buNone/>
              <a:defRPr sz="2640">
                <a:solidFill>
                  <a:schemeClr val="bg1"/>
                </a:solidFill>
              </a:defRPr>
            </a:lvl1pPr>
            <a:lvl2pPr marL="377190" indent="0">
              <a:buNone/>
              <a:defRPr sz="2310"/>
            </a:lvl2pPr>
            <a:lvl3pPr marL="754380" indent="0">
              <a:buNone/>
              <a:defRPr sz="1980"/>
            </a:lvl3pPr>
            <a:lvl4pPr marL="1130935" indent="0">
              <a:buNone/>
              <a:defRPr sz="1650"/>
            </a:lvl4pPr>
            <a:lvl5pPr marL="1508125" indent="0">
              <a:buNone/>
              <a:defRPr sz="1650"/>
            </a:lvl5pPr>
            <a:lvl6pPr marL="1885315" indent="0">
              <a:buNone/>
              <a:defRPr sz="1650"/>
            </a:lvl6pPr>
            <a:lvl7pPr marL="2262505" indent="0">
              <a:buNone/>
              <a:defRPr sz="1650"/>
            </a:lvl7pPr>
            <a:lvl8pPr marL="2639695" indent="0">
              <a:buNone/>
              <a:defRPr sz="1650"/>
            </a:lvl8pPr>
            <a:lvl9pPr marL="3016250" indent="0">
              <a:buNone/>
              <a:defRPr sz="1650"/>
            </a:lvl9pPr>
          </a:lstStyle>
          <a:p>
            <a:pPr lvl="0"/>
            <a:r>
              <a:rPr lang="zh-CN" altLang="en-US" noProof="0" smtClean="0"/>
              <a:t>单击图标添加图片</a:t>
            </a:r>
            <a:endParaRPr lang="en-US" noProof="0" dirty="0"/>
          </a:p>
        </p:txBody>
      </p:sp>
      <p:sp>
        <p:nvSpPr>
          <p:cNvPr id="4" name="Text Placeholder 3"/>
          <p:cNvSpPr>
            <a:spLocks noGrp="1"/>
          </p:cNvSpPr>
          <p:nvPr>
            <p:ph type="body" sz="half" idx="2"/>
          </p:nvPr>
        </p:nvSpPr>
        <p:spPr>
          <a:xfrm>
            <a:off x="905257" y="4874389"/>
            <a:ext cx="8343443" cy="490457"/>
          </a:xfrm>
        </p:spPr>
        <p:txBody>
          <a:bodyPr lIns="91440" tIns="0" rIns="91440" bIns="0"/>
          <a:lstStyle>
            <a:lvl1pPr marL="0" indent="0">
              <a:spcBef>
                <a:spcPts val="0"/>
              </a:spcBef>
              <a:spcAft>
                <a:spcPts val="600"/>
              </a:spcAft>
              <a:buNone/>
              <a:defRPr sz="1240">
                <a:solidFill>
                  <a:srgbClr val="FFFFFF"/>
                </a:solidFill>
              </a:defRPr>
            </a:lvl1pPr>
            <a:lvl2pPr marL="377190" indent="0">
              <a:buNone/>
              <a:defRPr sz="990"/>
            </a:lvl2pPr>
            <a:lvl3pPr marL="754380" indent="0">
              <a:buNone/>
              <a:defRPr sz="825"/>
            </a:lvl3pPr>
            <a:lvl4pPr marL="1130935" indent="0">
              <a:buNone/>
              <a:defRPr sz="745"/>
            </a:lvl4pPr>
            <a:lvl5pPr marL="1508125" indent="0">
              <a:buNone/>
              <a:defRPr sz="745"/>
            </a:lvl5pPr>
            <a:lvl6pPr marL="1885315" indent="0">
              <a:buNone/>
              <a:defRPr sz="745"/>
            </a:lvl6pPr>
            <a:lvl7pPr marL="2262505" indent="0">
              <a:buNone/>
              <a:defRPr sz="745"/>
            </a:lvl7pPr>
            <a:lvl8pPr marL="2639695" indent="0">
              <a:buNone/>
              <a:defRPr sz="745"/>
            </a:lvl8pPr>
            <a:lvl9pPr marL="3016250" indent="0">
              <a:buNone/>
              <a:defRPr sz="745"/>
            </a:lvl9pPr>
          </a:lstStyle>
          <a:p>
            <a:pPr lvl="0"/>
            <a:r>
              <a:rPr lang="zh-CN" altLang="en-US" smtClean="0"/>
              <a:t>单击此处编辑母版文本样式</a:t>
            </a:r>
            <a:endParaRPr lang="zh-CN" altLang="en-US" smtClean="0"/>
          </a:p>
        </p:txBody>
      </p:sp>
      <p:sp>
        <p:nvSpPr>
          <p:cNvPr id="7" name="Date Placeholder 4"/>
          <p:cNvSpPr>
            <a:spLocks noGrp="1"/>
          </p:cNvSpPr>
          <p:nvPr>
            <p:ph type="dt" sz="half" idx="10"/>
          </p:nvPr>
        </p:nvSpPr>
        <p:spPr/>
        <p:txBody>
          <a:bodyPr/>
          <a:lstStyle>
            <a:lvl1pPr>
              <a:defRPr/>
            </a:lvl1pPr>
          </a:lstStyle>
          <a:p>
            <a:pPr>
              <a:defRPr/>
            </a:pPr>
            <a:endParaRPr lang="zh-CN" altLang="en-US"/>
          </a:p>
        </p:txBody>
      </p:sp>
      <p:sp>
        <p:nvSpPr>
          <p:cNvPr id="8" name="Footer Placeholder 5"/>
          <p:cNvSpPr>
            <a:spLocks noGrp="1"/>
          </p:cNvSpPr>
          <p:nvPr>
            <p:ph type="ftr" sz="quarter" idx="11"/>
          </p:nvPr>
        </p:nvSpPr>
        <p:spPr/>
        <p:txBody>
          <a:bodyPr/>
          <a:lstStyle>
            <a:lvl1pPr>
              <a:defRPr/>
            </a:lvl1pPr>
          </a:lstStyle>
          <a:p>
            <a:pPr>
              <a:defRPr/>
            </a:pPr>
            <a:endParaRPr lang="zh-CN"/>
          </a:p>
        </p:txBody>
      </p:sp>
      <p:sp>
        <p:nvSpPr>
          <p:cNvPr id="9" name="Slide Number Placeholder 6"/>
          <p:cNvSpPr>
            <a:spLocks noGrp="1"/>
          </p:cNvSpPr>
          <p:nvPr>
            <p:ph type="sldNum" sz="quarter" idx="12"/>
          </p:nvPr>
        </p:nvSpPr>
        <p:spPr/>
        <p:txBody>
          <a:bodyPr/>
          <a:lstStyle>
            <a:lvl1pPr>
              <a:defRPr/>
            </a:lvl1pPr>
          </a:lstStyle>
          <a:p>
            <a:pPr>
              <a:defRPr/>
            </a:pPr>
            <a:fld id="{5BEC63B6-1C84-471F-A13E-9AF164E8EC53}" type="slidenum">
              <a:rPr lang="en-US" altLang="zh-CN"/>
            </a:fld>
            <a:endParaRPr lang="zh-CN" altLang="zh-CN"/>
          </a:p>
        </p:txBody>
      </p:sp>
    </p:spTree>
  </p:cSld>
  <p:clrMapOvr>
    <a:masterClrMapping/>
  </p:clrMapOvr>
  <p:transition spd="slow">
    <p:push dir="u"/>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Date Placeholder 3"/>
          <p:cNvSpPr>
            <a:spLocks noGrp="1"/>
          </p:cNvSpPr>
          <p:nvPr>
            <p:ph type="dt" sz="half" idx="10"/>
          </p:nvPr>
        </p:nvSpPr>
        <p:spPr/>
        <p:txBody>
          <a:bodyPr/>
          <a:lstStyle>
            <a:lvl1pPr>
              <a:defRPr/>
            </a:lvl1pPr>
          </a:lstStyle>
          <a:p>
            <a:pPr>
              <a:defRPr/>
            </a:pPr>
            <a:endParaRPr lang="zh-CN" altLang="en-US"/>
          </a:p>
        </p:txBody>
      </p:sp>
      <p:sp>
        <p:nvSpPr>
          <p:cNvPr id="5" name="Footer Placeholder 4"/>
          <p:cNvSpPr>
            <a:spLocks noGrp="1"/>
          </p:cNvSpPr>
          <p:nvPr>
            <p:ph type="ftr" sz="quarter" idx="11"/>
          </p:nvPr>
        </p:nvSpPr>
        <p:spPr/>
        <p:txBody>
          <a:bodyPr/>
          <a:lstStyle>
            <a:lvl1pPr>
              <a:defRPr/>
            </a:lvl1pPr>
          </a:lstStyle>
          <a:p>
            <a:pPr>
              <a:defRPr/>
            </a:pPr>
            <a:endParaRPr lang="zh-CN"/>
          </a:p>
        </p:txBody>
      </p:sp>
      <p:sp>
        <p:nvSpPr>
          <p:cNvPr id="6" name="Slide Number Placeholder 5"/>
          <p:cNvSpPr>
            <a:spLocks noGrp="1"/>
          </p:cNvSpPr>
          <p:nvPr>
            <p:ph type="sldNum" sz="quarter" idx="12"/>
          </p:nvPr>
        </p:nvSpPr>
        <p:spPr/>
        <p:txBody>
          <a:bodyPr/>
          <a:lstStyle>
            <a:lvl1pPr>
              <a:defRPr/>
            </a:lvl1pPr>
          </a:lstStyle>
          <a:p>
            <a:pPr>
              <a:defRPr/>
            </a:pPr>
            <a:fld id="{F158979F-BEA7-4B86-A0F8-6DD8ECEEDBDD}" type="slidenum">
              <a:rPr lang="en-US" altLang="zh-CN"/>
            </a:fld>
            <a:endParaRPr lang="zh-CN" altLang="zh-CN"/>
          </a:p>
        </p:txBody>
      </p:sp>
    </p:spTree>
  </p:cSld>
  <p:clrMapOvr>
    <a:masterClrMapping/>
  </p:clrMapOvr>
  <p:transition spd="slow">
    <p:push dir="u"/>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vertTitleAndTx" preserve="1" showMasterSp="0">
  <p:cSld name="垂直排列标题与&#10;文本">
    <p:spTree>
      <p:nvGrpSpPr>
        <p:cNvPr id="1" name=""/>
        <p:cNvGrpSpPr/>
        <p:nvPr/>
      </p:nvGrpSpPr>
      <p:grpSpPr>
        <a:xfrm>
          <a:off x="0" y="0"/>
          <a:ext cx="0" cy="0"/>
          <a:chOff x="0" y="0"/>
          <a:chExt cx="0" cy="0"/>
        </a:xfrm>
      </p:grpSpPr>
      <p:sp>
        <p:nvSpPr>
          <p:cNvPr id="4" name="Rectangle 6"/>
          <p:cNvSpPr/>
          <p:nvPr/>
        </p:nvSpPr>
        <p:spPr>
          <a:xfrm>
            <a:off x="3175" y="5281317"/>
            <a:ext cx="10055225" cy="3778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7"/>
          <p:cNvSpPr/>
          <p:nvPr/>
        </p:nvSpPr>
        <p:spPr>
          <a:xfrm>
            <a:off x="0" y="5227344"/>
            <a:ext cx="10055225" cy="523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7198043" y="342270"/>
            <a:ext cx="2168843" cy="4750938"/>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691515" y="342269"/>
            <a:ext cx="6380798" cy="4750939"/>
          </a:xfrm>
        </p:spPr>
        <p:txBody>
          <a:bodyPr vert="eaVert" lIns="45720" tIns="0" rIns="45720" bIns="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6" name="Date Placeholder 3"/>
          <p:cNvSpPr>
            <a:spLocks noGrp="1"/>
          </p:cNvSpPr>
          <p:nvPr>
            <p:ph type="dt" sz="half" idx="10"/>
          </p:nvPr>
        </p:nvSpPr>
        <p:spPr/>
        <p:txBody>
          <a:bodyPr/>
          <a:lstStyle>
            <a:lvl1pPr>
              <a:defRPr/>
            </a:lvl1pPr>
          </a:lstStyle>
          <a:p>
            <a:pPr>
              <a:defRPr/>
            </a:pPr>
            <a:endParaRPr lang="zh-CN" altLang="en-US"/>
          </a:p>
        </p:txBody>
      </p:sp>
      <p:sp>
        <p:nvSpPr>
          <p:cNvPr id="7" name="Footer Placeholder 4"/>
          <p:cNvSpPr>
            <a:spLocks noGrp="1"/>
          </p:cNvSpPr>
          <p:nvPr>
            <p:ph type="ftr" sz="quarter" idx="11"/>
          </p:nvPr>
        </p:nvSpPr>
        <p:spPr/>
        <p:txBody>
          <a:bodyPr/>
          <a:lstStyle>
            <a:lvl1pPr>
              <a:defRPr/>
            </a:lvl1pPr>
          </a:lstStyle>
          <a:p>
            <a:pPr>
              <a:defRPr/>
            </a:pPr>
            <a:endParaRPr lang="zh-CN"/>
          </a:p>
        </p:txBody>
      </p:sp>
      <p:sp>
        <p:nvSpPr>
          <p:cNvPr id="8" name="Slide Number Placeholder 5"/>
          <p:cNvSpPr>
            <a:spLocks noGrp="1"/>
          </p:cNvSpPr>
          <p:nvPr>
            <p:ph type="sldNum" sz="quarter" idx="12"/>
          </p:nvPr>
        </p:nvSpPr>
        <p:spPr/>
        <p:txBody>
          <a:bodyPr/>
          <a:lstStyle>
            <a:lvl1pPr>
              <a:defRPr/>
            </a:lvl1pPr>
          </a:lstStyle>
          <a:p>
            <a:pPr>
              <a:defRPr/>
            </a:pPr>
            <a:fld id="{1D01A368-A401-403D-986C-0C9000A7AA22}" type="slidenum">
              <a:rPr lang="en-US" altLang="zh-CN"/>
            </a:fld>
            <a:endParaRPr lang="zh-CN" altLang="zh-CN"/>
          </a:p>
        </p:txBody>
      </p:sp>
    </p:spTree>
  </p:cSld>
  <p:clrMapOvr>
    <a:masterClrMapping/>
  </p:clrMapOvr>
  <p:transition spd="slow">
    <p:push dir="u"/>
  </p:transition>
</p:sldLayout>
</file>

<file path=ppt/slideMasters/_rels/slideMaster1.xml.rels><?xml version="1.0" encoding="UTF-8" standalone="yes"?>
<Relationships xmlns="http://schemas.openxmlformats.org/package/2006/relationships"><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5" Type="http://schemas.openxmlformats.org/officeDocument/2006/relationships/theme" Target="../theme/theme2.xml"/><Relationship Id="rId4" Type="http://schemas.openxmlformats.org/officeDocument/2006/relationships/slideLayout" Target="../slideLayouts/slideLayout9.xml"/><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s>
</file>

<file path=ppt/slideMasters/_rels/slideMaster3.xml.rels><?xml version="1.0" encoding="UTF-8" standalone="yes"?>
<Relationships xmlns="http://schemas.openxmlformats.org/package/2006/relationships"><Relationship Id="rId4" Type="http://schemas.openxmlformats.org/officeDocument/2006/relationships/theme" Target="../theme/theme3.xml"/><Relationship Id="rId3" Type="http://schemas.openxmlformats.org/officeDocument/2006/relationships/slideLayout" Target="../slideLayouts/slideLayout12.xml"/><Relationship Id="rId2" Type="http://schemas.openxmlformats.org/officeDocument/2006/relationships/slideLayout" Target="../slideLayouts/slideLayout11.xml"/><Relationship Id="rId1" Type="http://schemas.openxmlformats.org/officeDocument/2006/relationships/slideLayout" Target="../slideLayouts/slideLayout10.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21.xml"/><Relationship Id="rId8" Type="http://schemas.openxmlformats.org/officeDocument/2006/relationships/slideLayout" Target="../slideLayouts/slideLayout20.xml"/><Relationship Id="rId7" Type="http://schemas.openxmlformats.org/officeDocument/2006/relationships/slideLayout" Target="../slideLayouts/slideLayout19.xml"/><Relationship Id="rId6" Type="http://schemas.openxmlformats.org/officeDocument/2006/relationships/slideLayout" Target="../slideLayouts/slideLayout18.xml"/><Relationship Id="rId5" Type="http://schemas.openxmlformats.org/officeDocument/2006/relationships/slideLayout" Target="../slideLayouts/slideLayout17.xml"/><Relationship Id="rId4" Type="http://schemas.openxmlformats.org/officeDocument/2006/relationships/slideLayout" Target="../slideLayouts/slideLayout16.xml"/><Relationship Id="rId3" Type="http://schemas.openxmlformats.org/officeDocument/2006/relationships/slideLayout" Target="../slideLayouts/slideLayout15.xml"/><Relationship Id="rId2" Type="http://schemas.openxmlformats.org/officeDocument/2006/relationships/slideLayout" Target="../slideLayouts/slideLayout14.xml"/><Relationship Id="rId12" Type="http://schemas.openxmlformats.org/officeDocument/2006/relationships/theme" Target="../theme/theme4.xml"/><Relationship Id="rId11" Type="http://schemas.openxmlformats.org/officeDocument/2006/relationships/slideLayout" Target="../slideLayouts/slideLayout23.xml"/><Relationship Id="rId10" Type="http://schemas.openxmlformats.org/officeDocument/2006/relationships/slideLayout" Target="../slideLayouts/slideLayout22.xml"/><Relationship Id="rId1" Type="http://schemas.openxmlformats.org/officeDocument/2006/relationships/slideLayout" Target="../slideLayouts/slideLayout13.xml"/></Relationships>
</file>

<file path=ppt/slideMasters/_rels/slideMaster5.xml.rels><?xml version="1.0" encoding="UTF-8" standalone="yes"?>
<Relationships xmlns="http://schemas.openxmlformats.org/package/2006/relationships"><Relationship Id="rId5" Type="http://schemas.openxmlformats.org/officeDocument/2006/relationships/theme" Target="../theme/theme5.xml"/><Relationship Id="rId4" Type="http://schemas.openxmlformats.org/officeDocument/2006/relationships/image" Target="../media/image3.png"/><Relationship Id="rId3" Type="http://schemas.openxmlformats.org/officeDocument/2006/relationships/slideLayout" Target="../slideLayouts/slideLayout26.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_rels/slideMaster6.xml.rels><?xml version="1.0" encoding="UTF-8" standalone="yes"?>
<Relationships xmlns="http://schemas.openxmlformats.org/package/2006/relationships"><Relationship Id="rId4" Type="http://schemas.openxmlformats.org/officeDocument/2006/relationships/theme" Target="../theme/theme6.xml"/><Relationship Id="rId3" Type="http://schemas.openxmlformats.org/officeDocument/2006/relationships/image" Target="../media/image4.png"/><Relationship Id="rId2" Type="http://schemas.openxmlformats.org/officeDocument/2006/relationships/slideLayout" Target="../slideLayouts/slideLayout28.xml"/><Relationship Id="rId1" Type="http://schemas.openxmlformats.org/officeDocument/2006/relationships/slideLayout" Target="../slideLayouts/slideLayout27.xml"/></Relationships>
</file>

<file path=ppt/slideMasters/_rels/slideMaster7.xml.rels><?xml version="1.0" encoding="UTF-8" standalone="yes"?>
<Relationships xmlns="http://schemas.openxmlformats.org/package/2006/relationships"><Relationship Id="rId6" Type="http://schemas.openxmlformats.org/officeDocument/2006/relationships/theme" Target="../theme/theme7.xml"/><Relationship Id="rId5" Type="http://schemas.openxmlformats.org/officeDocument/2006/relationships/slideLayout" Target="../slideLayouts/slideLayout33.xml"/><Relationship Id="rId4" Type="http://schemas.openxmlformats.org/officeDocument/2006/relationships/slideLayout" Target="../slideLayouts/slideLayout32.xml"/><Relationship Id="rId3" Type="http://schemas.openxmlformats.org/officeDocument/2006/relationships/slideLayout" Target="../slideLayouts/slideLayout31.xml"/><Relationship Id="rId2" Type="http://schemas.openxmlformats.org/officeDocument/2006/relationships/slideLayout" Target="../slideLayouts/slideLayout30.xml"/><Relationship Id="rId1" Type="http://schemas.openxmlformats.org/officeDocument/2006/relationships/slideLayout" Target="../slideLayouts/slideLayout29.xml"/></Relationships>
</file>

<file path=ppt/slideMasters/_rels/slideMaster8.xml.rels><?xml version="1.0" encoding="UTF-8" standalone="yes"?>
<Relationships xmlns="http://schemas.openxmlformats.org/package/2006/relationships"><Relationship Id="rId5" Type="http://schemas.openxmlformats.org/officeDocument/2006/relationships/theme" Target="../theme/theme8.xml"/><Relationship Id="rId4" Type="http://schemas.openxmlformats.org/officeDocument/2006/relationships/slideLayout" Target="../slideLayouts/slideLayout37.xml"/><Relationship Id="rId3" Type="http://schemas.openxmlformats.org/officeDocument/2006/relationships/slideLayout" Target="../slideLayouts/slideLayout36.xml"/><Relationship Id="rId2" Type="http://schemas.openxmlformats.org/officeDocument/2006/relationships/slideLayout" Target="../slideLayouts/slideLayout35.xml"/><Relationship Id="rId1" Type="http://schemas.openxmlformats.org/officeDocument/2006/relationships/slideLayout" Target="../slideLayouts/slideLayout34.xml"/></Relationships>
</file>

<file path=ppt/slideMasters/_rels/slideMaster9.xml.rels><?xml version="1.0" encoding="UTF-8" standalone="yes"?>
<Relationships xmlns="http://schemas.openxmlformats.org/package/2006/relationships"><Relationship Id="rId6" Type="http://schemas.openxmlformats.org/officeDocument/2006/relationships/theme" Target="../theme/theme9.xml"/><Relationship Id="rId5" Type="http://schemas.openxmlformats.org/officeDocument/2006/relationships/slideLayout" Target="../slideLayouts/slideLayout42.xml"/><Relationship Id="rId4" Type="http://schemas.openxmlformats.org/officeDocument/2006/relationships/slideLayout" Target="../slideLayouts/slideLayout41.xml"/><Relationship Id="rId3" Type="http://schemas.openxmlformats.org/officeDocument/2006/relationships/slideLayout" Target="../slideLayouts/slideLayout40.xml"/><Relationship Id="rId2" Type="http://schemas.openxmlformats.org/officeDocument/2006/relationships/slideLayout" Target="../slideLayouts/slideLayout39.xml"/><Relationship Id="rId1" Type="http://schemas.openxmlformats.org/officeDocument/2006/relationships/slideLayout" Target="../slideLayouts/slideLayout38.xml"/></Relationships>
</file>

<file path=ppt/slideMasters/_rels/slideMaster10.xml.rels><?xml version="1.0" encoding="UTF-8" standalone="yes"?>
<Relationships xmlns="http://schemas.openxmlformats.org/package/2006/relationships"><Relationship Id="rId4" Type="http://schemas.openxmlformats.org/officeDocument/2006/relationships/theme" Target="../theme/theme10.xml"/><Relationship Id="rId3" Type="http://schemas.openxmlformats.org/officeDocument/2006/relationships/slideLayout" Target="../slideLayouts/slideLayout45.xml"/><Relationship Id="rId2" Type="http://schemas.openxmlformats.org/officeDocument/2006/relationships/slideLayout" Target="../slideLayouts/slideLayout44.xml"/><Relationship Id="rId1" Type="http://schemas.openxmlformats.org/officeDocument/2006/relationships/slideLayout" Target="../slideLayouts/slideLayout43.xml"/></Relationships>
</file>

<file path=ppt/slideMasters/_rels/slideMaster11.xml.rels><?xml version="1.0" encoding="UTF-8" standalone="yes"?>
<Relationships xmlns="http://schemas.openxmlformats.org/package/2006/relationships"><Relationship Id="rId4" Type="http://schemas.openxmlformats.org/officeDocument/2006/relationships/theme" Target="../theme/theme11.xml"/><Relationship Id="rId3" Type="http://schemas.openxmlformats.org/officeDocument/2006/relationships/slideLayout" Target="../slideLayouts/slideLayout48.xml"/><Relationship Id="rId2" Type="http://schemas.openxmlformats.org/officeDocument/2006/relationships/slideLayout" Target="../slideLayouts/slideLayout47.xml"/><Relationship Id="rId1" Type="http://schemas.openxmlformats.org/officeDocument/2006/relationships/slideLayout" Target="../slideLayouts/slideLayout46.xml"/></Relationships>
</file>

<file path=ppt/slideMasters/_rels/slideMaster12.xml.rels><?xml version="1.0" encoding="UTF-8" standalone="yes"?>
<Relationships xmlns="http://schemas.openxmlformats.org/package/2006/relationships"><Relationship Id="rId6" Type="http://schemas.openxmlformats.org/officeDocument/2006/relationships/theme" Target="../theme/theme12.xml"/><Relationship Id="rId5" Type="http://schemas.openxmlformats.org/officeDocument/2006/relationships/slideLayout" Target="../slideLayouts/slideLayout53.xml"/><Relationship Id="rId4" Type="http://schemas.openxmlformats.org/officeDocument/2006/relationships/slideLayout" Target="../slideLayouts/slideLayout52.xml"/><Relationship Id="rId3" Type="http://schemas.openxmlformats.org/officeDocument/2006/relationships/slideLayout" Target="../slideLayouts/slideLayout51.xml"/><Relationship Id="rId2" Type="http://schemas.openxmlformats.org/officeDocument/2006/relationships/slideLayout" Target="../slideLayouts/slideLayout50.xml"/><Relationship Id="rId1" Type="http://schemas.openxmlformats.org/officeDocument/2006/relationships/slideLayout" Target="../slideLayouts/slideLayout49.xml"/></Relationships>
</file>

<file path=ppt/slideMasters/_rels/slideMaster13.xml.rels><?xml version="1.0" encoding="UTF-8" standalone="yes"?>
<Relationships xmlns="http://schemas.openxmlformats.org/package/2006/relationships"><Relationship Id="rId5" Type="http://schemas.openxmlformats.org/officeDocument/2006/relationships/theme" Target="../theme/theme13.xml"/><Relationship Id="rId4" Type="http://schemas.openxmlformats.org/officeDocument/2006/relationships/slideLayout" Target="../slideLayouts/slideLayout57.xml"/><Relationship Id="rId3" Type="http://schemas.openxmlformats.org/officeDocument/2006/relationships/slideLayout" Target="../slideLayouts/slideLayout56.xml"/><Relationship Id="rId2" Type="http://schemas.openxmlformats.org/officeDocument/2006/relationships/slideLayout" Target="../slideLayouts/slideLayout55.xml"/><Relationship Id="rId1" Type="http://schemas.openxmlformats.org/officeDocument/2006/relationships/slideLayout" Target="../slideLayouts/slideLayout54.xml"/></Relationships>
</file>

<file path=ppt/slideMasters/_rels/slideMaster14.xml.rels><?xml version="1.0" encoding="UTF-8" standalone="yes"?>
<Relationships xmlns="http://schemas.openxmlformats.org/package/2006/relationships"><Relationship Id="rId9" Type="http://schemas.openxmlformats.org/officeDocument/2006/relationships/slideLayout" Target="../slideLayouts/slideLayout66.xml"/><Relationship Id="rId8" Type="http://schemas.openxmlformats.org/officeDocument/2006/relationships/slideLayout" Target="../slideLayouts/slideLayout65.xml"/><Relationship Id="rId7" Type="http://schemas.openxmlformats.org/officeDocument/2006/relationships/slideLayout" Target="../slideLayouts/slideLayout64.xml"/><Relationship Id="rId6" Type="http://schemas.openxmlformats.org/officeDocument/2006/relationships/slideLayout" Target="../slideLayouts/slideLayout63.xml"/><Relationship Id="rId5" Type="http://schemas.openxmlformats.org/officeDocument/2006/relationships/slideLayout" Target="../slideLayouts/slideLayout62.xml"/><Relationship Id="rId4" Type="http://schemas.openxmlformats.org/officeDocument/2006/relationships/slideLayout" Target="../slideLayouts/slideLayout61.xml"/><Relationship Id="rId3" Type="http://schemas.openxmlformats.org/officeDocument/2006/relationships/slideLayout" Target="../slideLayouts/slideLayout60.xml"/><Relationship Id="rId2" Type="http://schemas.openxmlformats.org/officeDocument/2006/relationships/slideLayout" Target="../slideLayouts/slideLayout59.xml"/><Relationship Id="rId12" Type="http://schemas.openxmlformats.org/officeDocument/2006/relationships/theme" Target="../theme/theme14.xml"/><Relationship Id="rId11" Type="http://schemas.openxmlformats.org/officeDocument/2006/relationships/slideLayout" Target="../slideLayouts/slideLayout68.xml"/><Relationship Id="rId10" Type="http://schemas.openxmlformats.org/officeDocument/2006/relationships/slideLayout" Target="../slideLayouts/slideLayout67.xml"/><Relationship Id="rId1" Type="http://schemas.openxmlformats.org/officeDocument/2006/relationships/slideLayout" Target="../slideLayouts/slideLayout5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623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835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760" algn="l" defTabSz="754380" rtl="0" eaLnBrk="1" latinLnBrk="0" hangingPunct="1">
        <a:defRPr sz="1485" kern="1200">
          <a:solidFill>
            <a:schemeClr val="tx1"/>
          </a:solidFill>
          <a:latin typeface="+mn-lt"/>
          <a:ea typeface="+mn-ea"/>
          <a:cs typeface="+mn-cs"/>
        </a:defRPr>
      </a:lvl5pPr>
      <a:lvl6pPr marL="1885950" algn="l" defTabSz="754380" rtl="0" eaLnBrk="1" latinLnBrk="0" hangingPunct="1">
        <a:defRPr sz="1485" kern="1200">
          <a:solidFill>
            <a:schemeClr val="tx1"/>
          </a:solidFill>
          <a:latin typeface="+mn-lt"/>
          <a:ea typeface="+mn-ea"/>
          <a:cs typeface="+mn-cs"/>
        </a:defRPr>
      </a:lvl6pPr>
      <a:lvl7pPr marL="2263140" algn="l" defTabSz="754380" rtl="0" eaLnBrk="1" latinLnBrk="0" hangingPunct="1">
        <a:defRPr sz="1485" kern="1200">
          <a:solidFill>
            <a:schemeClr val="tx1"/>
          </a:solidFill>
          <a:latin typeface="+mn-lt"/>
          <a:ea typeface="+mn-ea"/>
          <a:cs typeface="+mn-cs"/>
        </a:defRPr>
      </a:lvl7pPr>
      <a:lvl8pPr marL="2640330" algn="l" defTabSz="754380" rtl="0" eaLnBrk="1" latinLnBrk="0" hangingPunct="1">
        <a:defRPr sz="1485" kern="1200">
          <a:solidFill>
            <a:schemeClr val="tx1"/>
          </a:solidFill>
          <a:latin typeface="+mn-lt"/>
          <a:ea typeface="+mn-ea"/>
          <a:cs typeface="+mn-cs"/>
        </a:defRPr>
      </a:lvl8pPr>
      <a:lvl9pPr marL="3017520" algn="l" defTabSz="754380" rtl="0" eaLnBrk="1" latinLnBrk="0" hangingPunct="1">
        <a:defRPr sz="1485"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55" r:id="rId1"/>
    <p:sldLayoutId id="2147483656" r:id="rId2"/>
    <p:sldLayoutId id="2147483657" r:id="rId3"/>
    <p:sldLayoutId id="2147483658" r:id="rId4"/>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623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835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760" algn="l" defTabSz="754380" rtl="0" eaLnBrk="1" latinLnBrk="0" hangingPunct="1">
        <a:defRPr sz="1485" kern="1200">
          <a:solidFill>
            <a:schemeClr val="tx1"/>
          </a:solidFill>
          <a:latin typeface="+mn-lt"/>
          <a:ea typeface="+mn-ea"/>
          <a:cs typeface="+mn-cs"/>
        </a:defRPr>
      </a:lvl5pPr>
      <a:lvl6pPr marL="1885950" algn="l" defTabSz="754380" rtl="0" eaLnBrk="1" latinLnBrk="0" hangingPunct="1">
        <a:defRPr sz="1485" kern="1200">
          <a:solidFill>
            <a:schemeClr val="tx1"/>
          </a:solidFill>
          <a:latin typeface="+mn-lt"/>
          <a:ea typeface="+mn-ea"/>
          <a:cs typeface="+mn-cs"/>
        </a:defRPr>
      </a:lvl6pPr>
      <a:lvl7pPr marL="2263140" algn="l" defTabSz="754380" rtl="0" eaLnBrk="1" latinLnBrk="0" hangingPunct="1">
        <a:defRPr sz="1485" kern="1200">
          <a:solidFill>
            <a:schemeClr val="tx1"/>
          </a:solidFill>
          <a:latin typeface="+mn-lt"/>
          <a:ea typeface="+mn-ea"/>
          <a:cs typeface="+mn-cs"/>
        </a:defRPr>
      </a:lvl7pPr>
      <a:lvl8pPr marL="2640330" algn="l" defTabSz="754380" rtl="0" eaLnBrk="1" latinLnBrk="0" hangingPunct="1">
        <a:defRPr sz="1485" kern="1200">
          <a:solidFill>
            <a:schemeClr val="tx1"/>
          </a:solidFill>
          <a:latin typeface="+mn-lt"/>
          <a:ea typeface="+mn-ea"/>
          <a:cs typeface="+mn-cs"/>
        </a:defRPr>
      </a:lvl8pPr>
      <a:lvl9pPr marL="3017520" algn="l" defTabSz="754380" rtl="0" eaLnBrk="1" latinLnBrk="0" hangingPunct="1">
        <a:defRPr sz="1485"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60" r:id="rId1"/>
    <p:sldLayoutId id="2147483661" r:id="rId2"/>
    <p:sldLayoutId id="2147483662" r:id="rId3"/>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6565" algn="l" defTabSz="753110"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110"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0965" algn="l" defTabSz="753110"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165" algn="l" defTabSz="753110"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559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771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0935"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250" algn="l" defTabSz="754380" rtl="0" eaLnBrk="1" latinLnBrk="0" hangingPunct="1">
        <a:defRPr sz="1485"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691515" y="301313"/>
            <a:ext cx="8675370" cy="1093896"/>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91515" y="1506565"/>
            <a:ext cx="8675370" cy="3590861"/>
          </a:xfrm>
          <a:prstGeom prst="rect">
            <a:avLst/>
          </a:prstGeom>
        </p:spPr>
        <p:txBody>
          <a:bodyPr vert="horz" lIns="91440" tIns="45720" rIns="91440" bIns="45720" rtlCol="0">
            <a:normAutofit/>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2"/>
          </p:nvPr>
        </p:nvSpPr>
        <p:spPr>
          <a:xfrm>
            <a:off x="691515" y="5245462"/>
            <a:ext cx="2263140" cy="301313"/>
          </a:xfrm>
          <a:prstGeom prst="rect">
            <a:avLst/>
          </a:prstGeom>
        </p:spPr>
        <p:txBody>
          <a:bodyPr vert="horz" lIns="91440" tIns="45720" rIns="91440" bIns="45720" rtlCol="0" anchor="ctr"/>
          <a:lstStyle>
            <a:lvl1pPr algn="l">
              <a:defRPr sz="990">
                <a:solidFill>
                  <a:schemeClr val="tx1">
                    <a:tint val="75000"/>
                  </a:schemeClr>
                </a:solidFill>
              </a:defRPr>
            </a:lvl1pPr>
          </a:lstStyle>
          <a:p>
            <a:fld id="{D997B5FA-0921-464F-AAE1-844C04324D75}" type="datetimeFigureOut">
              <a:rPr lang="zh-CN" altLang="en-US" smtClean="0"/>
            </a:fld>
            <a:endParaRPr lang="zh-CN" altLang="en-US"/>
          </a:p>
        </p:txBody>
      </p:sp>
      <p:sp>
        <p:nvSpPr>
          <p:cNvPr id="5" name="页脚占位符 4"/>
          <p:cNvSpPr>
            <a:spLocks noGrp="1"/>
          </p:cNvSpPr>
          <p:nvPr>
            <p:ph type="ftr" sz="quarter" idx="3"/>
          </p:nvPr>
        </p:nvSpPr>
        <p:spPr>
          <a:xfrm>
            <a:off x="3331845" y="5245462"/>
            <a:ext cx="3394710" cy="301313"/>
          </a:xfrm>
          <a:prstGeom prst="rect">
            <a:avLst/>
          </a:prstGeom>
        </p:spPr>
        <p:txBody>
          <a:bodyPr vert="horz" lIns="91440" tIns="45720" rIns="91440" bIns="45720" rtlCol="0" anchor="ctr"/>
          <a:lstStyle>
            <a:lvl1pPr algn="ctr">
              <a:defRPr sz="99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7103745" y="5245462"/>
            <a:ext cx="2263140" cy="301313"/>
          </a:xfrm>
          <a:prstGeom prst="rect">
            <a:avLst/>
          </a:prstGeom>
        </p:spPr>
        <p:txBody>
          <a:bodyPr vert="horz" lIns="91440" tIns="45720" rIns="91440" bIns="45720" rtlCol="0" anchor="ctr"/>
          <a:lstStyle>
            <a:lvl1pPr algn="r">
              <a:defRPr sz="990">
                <a:solidFill>
                  <a:schemeClr val="tx1">
                    <a:tint val="75000"/>
                  </a:schemeClr>
                </a:solidFill>
              </a:defRPr>
            </a:lvl1pPr>
          </a:lstStyle>
          <a:p>
            <a:fld id="{565CE74E-AB26-4998-AD42-012C4C1AD076}"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64" r:id="rId1"/>
    <p:sldLayoutId id="2147483665" r:id="rId2"/>
    <p:sldLayoutId id="2147483666" r:id="rId3"/>
    <p:sldLayoutId id="2147483667" r:id="rId4"/>
    <p:sldLayoutId id="2147483668" r:id="rId5"/>
    <p:sldLayoutId id="2147483669" r:id="rId6"/>
    <p:sldLayoutId id="2147483670" r:id="rId7"/>
    <p:sldLayoutId id="2147483671" r:id="rId8"/>
    <p:sldLayoutId id="2147483672" r:id="rId9"/>
    <p:sldLayoutId id="2147483673" r:id="rId10"/>
    <p:sldLayoutId id="2147483674" r:id="rId11"/>
  </p:sldLayoutIdLst>
  <p:txStyles>
    <p:titleStyle>
      <a:lvl1pPr algn="l" defTabSz="754380" rtl="0" eaLnBrk="1" latinLnBrk="0" hangingPunct="1">
        <a:lnSpc>
          <a:spcPct val="90000"/>
        </a:lnSpc>
        <a:spcBef>
          <a:spcPct val="0"/>
        </a:spcBef>
        <a:buNone/>
        <a:defRPr sz="3630" kern="1200">
          <a:solidFill>
            <a:schemeClr val="tx1"/>
          </a:solidFill>
          <a:latin typeface="+mj-lt"/>
          <a:ea typeface="+mj-ea"/>
          <a:cs typeface="+mj-cs"/>
        </a:defRPr>
      </a:lvl1pPr>
    </p:titleStyle>
    <p:bodyStyle>
      <a:lvl1pPr marL="188595" indent="-188595" algn="l" defTabSz="754380" rtl="0" eaLnBrk="1" latinLnBrk="0" hangingPunct="1">
        <a:lnSpc>
          <a:spcPct val="90000"/>
        </a:lnSpc>
        <a:spcBef>
          <a:spcPts val="825"/>
        </a:spcBef>
        <a:buFont typeface="Arial" panose="020B0604020202020204" pitchFamily="34" charset="0"/>
        <a:buChar char="•"/>
        <a:defRPr sz="2310" kern="1200">
          <a:solidFill>
            <a:schemeClr val="tx1"/>
          </a:solidFill>
          <a:latin typeface="+mn-lt"/>
          <a:ea typeface="+mn-ea"/>
          <a:cs typeface="+mn-cs"/>
        </a:defRPr>
      </a:lvl1pPr>
      <a:lvl2pPr marL="565785" indent="-188595" algn="l" defTabSz="754380" rtl="0" eaLnBrk="1" latinLnBrk="0" hangingPunct="1">
        <a:lnSpc>
          <a:spcPct val="90000"/>
        </a:lnSpc>
        <a:spcBef>
          <a:spcPts val="415"/>
        </a:spcBef>
        <a:buFont typeface="Arial" panose="020B0604020202020204" pitchFamily="34" charset="0"/>
        <a:buChar char="•"/>
        <a:defRPr sz="1980" kern="1200">
          <a:solidFill>
            <a:schemeClr val="tx1"/>
          </a:solidFill>
          <a:latin typeface="+mn-lt"/>
          <a:ea typeface="+mn-ea"/>
          <a:cs typeface="+mn-cs"/>
        </a:defRPr>
      </a:lvl2pPr>
      <a:lvl3pPr marL="942975" indent="-188595" algn="l" defTabSz="754380" rtl="0" eaLnBrk="1" latinLnBrk="0" hangingPunct="1">
        <a:lnSpc>
          <a:spcPct val="90000"/>
        </a:lnSpc>
        <a:spcBef>
          <a:spcPts val="415"/>
        </a:spcBef>
        <a:buFont typeface="Arial" panose="020B0604020202020204" pitchFamily="34" charset="0"/>
        <a:buChar char="•"/>
        <a:defRPr sz="1650" kern="1200">
          <a:solidFill>
            <a:schemeClr val="tx1"/>
          </a:solidFill>
          <a:latin typeface="+mn-lt"/>
          <a:ea typeface="+mn-ea"/>
          <a:cs typeface="+mn-cs"/>
        </a:defRPr>
      </a:lvl3pPr>
      <a:lvl4pPr marL="131953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4pPr>
      <a:lvl5pPr marL="169672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5pPr>
      <a:lvl6pPr marL="207391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6pPr>
      <a:lvl7pPr marL="245110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7pPr>
      <a:lvl8pPr marL="282829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8pPr>
      <a:lvl9pPr marL="320548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9pPr>
    </p:bodyStyle>
    <p:otherStyle>
      <a:defPPr>
        <a:defRPr lang="zh-CN"/>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图片 7" descr="d15"/>
          <p:cNvPicPr>
            <a:picLocks noChangeAspect="1"/>
          </p:cNvPicPr>
          <p:nvPr userDrawn="1"/>
        </p:nvPicPr>
        <p:blipFill>
          <a:blip r:embed="rId4"/>
          <a:stretch>
            <a:fillRect/>
          </a:stretch>
        </p:blipFill>
        <p:spPr>
          <a:xfrm>
            <a:off x="7981952" y="295259"/>
            <a:ext cx="1751013" cy="374629"/>
          </a:xfrm>
          <a:prstGeom prst="rect">
            <a:avLst/>
          </a:prstGeom>
          <a:noFill/>
          <a:ln w="9525">
            <a:noFill/>
          </a:ln>
        </p:spPr>
      </p:pic>
    </p:spTree>
  </p:cSld>
  <p:clrMap bg1="lt1" tx1="dk1" bg2="lt2" tx2="dk2" accent1="accent1" accent2="accent2" accent3="accent3" accent4="accent4" accent5="accent5" accent6="accent6" hlink="hlink" folHlink="folHlink"/>
  <p:sldLayoutIdLst>
    <p:sldLayoutId id="2147483676" r:id="rId1"/>
    <p:sldLayoutId id="2147483677" r:id="rId2"/>
    <p:sldLayoutId id="2147483678" r:id="rId3"/>
  </p:sldLayoutIdLst>
  <p:hf sldNum="0" hdr="0" ftr="0" dt="0"/>
  <p:txStyles>
    <p:titleStyle>
      <a:lvl1pPr algn="l" defTabSz="754380" rtl="0" eaLnBrk="0" fontAlgn="base" hangingPunct="0">
        <a:lnSpc>
          <a:spcPct val="85000"/>
        </a:lnSpc>
        <a:spcBef>
          <a:spcPct val="0"/>
        </a:spcBef>
        <a:spcAft>
          <a:spcPct val="0"/>
        </a:spcAft>
        <a:defRPr sz="3900" kern="1200" spc="-50">
          <a:solidFill>
            <a:srgbClr val="404040"/>
          </a:solidFill>
          <a:latin typeface="+mj-lt"/>
          <a:ea typeface="+mj-ea"/>
          <a:cs typeface="+mj-cs"/>
        </a:defRPr>
      </a:lvl1pPr>
      <a:lvl2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2pPr>
      <a:lvl3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3pPr>
      <a:lvl4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4pPr>
      <a:lvl5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5pPr>
      <a:lvl6pPr marL="553085" algn="l" defTabSz="912495"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6pPr>
      <a:lvl7pPr marL="1108075" algn="l" defTabSz="912495"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7pPr>
      <a:lvl8pPr marL="1661160" algn="l" defTabSz="912495"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8pPr>
      <a:lvl9pPr marL="2215515" algn="l" defTabSz="912495"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200"/>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559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771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0300" algn="l" defTabSz="754380" rtl="0" eaLnBrk="1" latinLnBrk="0" hangingPunct="1">
        <a:defRPr sz="1485" kern="1200">
          <a:solidFill>
            <a:schemeClr val="tx1"/>
          </a:solidFill>
          <a:latin typeface="+mn-lt"/>
          <a:ea typeface="+mn-ea"/>
          <a:cs typeface="+mn-cs"/>
        </a:defRPr>
      </a:lvl4pPr>
      <a:lvl5pPr marL="1507490" algn="l" defTabSz="754380" rtl="0" eaLnBrk="1" latinLnBrk="0" hangingPunct="1">
        <a:defRPr sz="1485" kern="1200">
          <a:solidFill>
            <a:schemeClr val="tx1"/>
          </a:solidFill>
          <a:latin typeface="+mn-lt"/>
          <a:ea typeface="+mn-ea"/>
          <a:cs typeface="+mn-cs"/>
        </a:defRPr>
      </a:lvl5pPr>
      <a:lvl6pPr marL="1884680" algn="l" defTabSz="754380" rtl="0" eaLnBrk="1" latinLnBrk="0" hangingPunct="1">
        <a:defRPr sz="1485" kern="1200">
          <a:solidFill>
            <a:schemeClr val="tx1"/>
          </a:solidFill>
          <a:latin typeface="+mn-lt"/>
          <a:ea typeface="+mn-ea"/>
          <a:cs typeface="+mn-cs"/>
        </a:defRPr>
      </a:lvl6pPr>
      <a:lvl7pPr marL="2261870" algn="l" defTabSz="754380" rtl="0" eaLnBrk="1" latinLnBrk="0" hangingPunct="1">
        <a:defRPr sz="1485" kern="1200">
          <a:solidFill>
            <a:schemeClr val="tx1"/>
          </a:solidFill>
          <a:latin typeface="+mn-lt"/>
          <a:ea typeface="+mn-ea"/>
          <a:cs typeface="+mn-cs"/>
        </a:defRPr>
      </a:lvl7pPr>
      <a:lvl8pPr marL="2639060" algn="l" defTabSz="754380" rtl="0" eaLnBrk="1" latinLnBrk="0" hangingPunct="1">
        <a:defRPr sz="1485" kern="1200">
          <a:solidFill>
            <a:schemeClr val="tx1"/>
          </a:solidFill>
          <a:latin typeface="+mn-lt"/>
          <a:ea typeface="+mn-ea"/>
          <a:cs typeface="+mn-cs"/>
        </a:defRPr>
      </a:lvl8pPr>
      <a:lvl9pPr marL="3015615" algn="l" defTabSz="754380" rtl="0" eaLnBrk="1" latinLnBrk="0" hangingPunct="1">
        <a:defRPr sz="1485"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rgbClr val="F5F5F5"/>
        </a:solidFill>
        <a:effectLst/>
      </p:bgPr>
    </p:bg>
    <p:spTree>
      <p:nvGrpSpPr>
        <p:cNvPr id="1" name=""/>
        <p:cNvGrpSpPr/>
        <p:nvPr/>
      </p:nvGrpSpPr>
      <p:grpSpPr>
        <a:xfrm>
          <a:off x="0" y="0"/>
          <a:ext cx="0" cy="0"/>
          <a:chOff x="0" y="0"/>
          <a:chExt cx="0" cy="0"/>
        </a:xfrm>
      </p:grpSpPr>
      <p:sp>
        <p:nvSpPr>
          <p:cNvPr id="6" name="幻灯片编号占位符 5"/>
          <p:cNvSpPr>
            <a:spLocks noGrp="1"/>
          </p:cNvSpPr>
          <p:nvPr>
            <p:ph type="sldNum" sz="quarter" idx="4"/>
          </p:nvPr>
        </p:nvSpPr>
        <p:spPr>
          <a:xfrm>
            <a:off x="379924" y="4981007"/>
            <a:ext cx="2263140" cy="301296"/>
          </a:xfrm>
          <a:prstGeom prst="rect">
            <a:avLst/>
          </a:prstGeom>
        </p:spPr>
        <p:txBody>
          <a:bodyPr vert="horz" lIns="91440" tIns="45720" rIns="91440" bIns="45720" rtlCol="0" anchor="ctr"/>
          <a:lstStyle>
            <a:lvl1pPr algn="l">
              <a:defRPr sz="1155">
                <a:solidFill>
                  <a:schemeClr val="tx1">
                    <a:tint val="75000"/>
                  </a:schemeClr>
                </a:solidFill>
              </a:defRPr>
            </a:lvl1pPr>
          </a:lstStyle>
          <a:p>
            <a:fld id="{99173E90-95F0-E34D-B0FF-F9193FBE2D36}" type="slidenum">
              <a:rPr kumimoji="1" lang="zh-CN" altLang="en-US" smtClean="0"/>
            </a:fld>
            <a:endParaRPr kumimoji="1" lang="zh-CN" altLang="en-US"/>
          </a:p>
        </p:txBody>
      </p:sp>
      <p:pic>
        <p:nvPicPr>
          <p:cNvPr id="3" name="图片 2" descr="d15"/>
          <p:cNvPicPr>
            <a:picLocks noChangeAspect="1"/>
          </p:cNvPicPr>
          <p:nvPr userDrawn="1"/>
        </p:nvPicPr>
        <p:blipFill>
          <a:blip r:embed="rId3"/>
          <a:stretch>
            <a:fillRect/>
          </a:stretch>
        </p:blipFill>
        <p:spPr>
          <a:xfrm>
            <a:off x="8170728" y="342542"/>
            <a:ext cx="1445371" cy="309156"/>
          </a:xfrm>
          <a:prstGeom prst="rect">
            <a:avLst/>
          </a:prstGeom>
        </p:spPr>
      </p:pic>
    </p:spTree>
  </p:cSld>
  <p:clrMap bg1="lt1" tx1="dk1" bg2="lt2" tx2="dk2" accent1="accent1" accent2="accent2" accent3="accent3" accent4="accent4" accent5="accent5" accent6="accent6" hlink="hlink" folHlink="folHlink"/>
  <p:sldLayoutIdLst>
    <p:sldLayoutId id="2147483680" r:id="rId1"/>
    <p:sldLayoutId id="2147483681" r:id="rId2"/>
  </p:sldLayoutIdLst>
  <p:hf hdr="0" ftr="0" dt="0"/>
  <p:txStyles>
    <p:titleStyle>
      <a:lvl1pPr algn="l" defTabSz="754380" rtl="0" eaLnBrk="1" latinLnBrk="0" hangingPunct="1">
        <a:lnSpc>
          <a:spcPct val="90000"/>
        </a:lnSpc>
        <a:spcBef>
          <a:spcPct val="0"/>
        </a:spcBef>
        <a:buNone/>
        <a:defRPr sz="3630" kern="1200">
          <a:solidFill>
            <a:schemeClr val="tx1"/>
          </a:solidFill>
          <a:latin typeface="+mj-lt"/>
          <a:ea typeface="+mj-ea"/>
          <a:cs typeface="+mj-cs"/>
        </a:defRPr>
      </a:lvl1pPr>
    </p:titleStyle>
    <p:bodyStyle>
      <a:lvl1pPr marL="188595" indent="-188595" algn="l" defTabSz="754380" rtl="0" eaLnBrk="1" latinLnBrk="0" hangingPunct="1">
        <a:lnSpc>
          <a:spcPct val="90000"/>
        </a:lnSpc>
        <a:spcBef>
          <a:spcPts val="825"/>
        </a:spcBef>
        <a:buFont typeface="Arial" panose="020B0604020202020204"/>
        <a:buChar char="•"/>
        <a:defRPr sz="2310" kern="1200">
          <a:solidFill>
            <a:schemeClr val="tx1"/>
          </a:solidFill>
          <a:latin typeface="+mn-lt"/>
          <a:ea typeface="+mn-ea"/>
          <a:cs typeface="+mn-cs"/>
        </a:defRPr>
      </a:lvl1pPr>
      <a:lvl2pPr marL="565785" indent="-188595" algn="l" defTabSz="754380" rtl="0" eaLnBrk="1" latinLnBrk="0" hangingPunct="1">
        <a:lnSpc>
          <a:spcPct val="90000"/>
        </a:lnSpc>
        <a:spcBef>
          <a:spcPct val="83000"/>
        </a:spcBef>
        <a:buFont typeface="Arial" panose="020B0604020202020204"/>
        <a:buChar char="•"/>
        <a:defRPr sz="1980" kern="1200">
          <a:solidFill>
            <a:schemeClr val="tx1"/>
          </a:solidFill>
          <a:latin typeface="+mn-lt"/>
          <a:ea typeface="+mn-ea"/>
          <a:cs typeface="+mn-cs"/>
        </a:defRPr>
      </a:lvl2pPr>
      <a:lvl3pPr marL="942975" indent="-188595" algn="l" defTabSz="754380" rtl="0" eaLnBrk="1" latinLnBrk="0" hangingPunct="1">
        <a:lnSpc>
          <a:spcPct val="90000"/>
        </a:lnSpc>
        <a:spcBef>
          <a:spcPct val="83000"/>
        </a:spcBef>
        <a:buFont typeface="Arial" panose="020B0604020202020204"/>
        <a:buChar char="•"/>
        <a:defRPr sz="1650" kern="1200">
          <a:solidFill>
            <a:schemeClr val="tx1"/>
          </a:solidFill>
          <a:latin typeface="+mn-lt"/>
          <a:ea typeface="+mn-ea"/>
          <a:cs typeface="+mn-cs"/>
        </a:defRPr>
      </a:lvl3pPr>
      <a:lvl4pPr marL="1320165" indent="-188595" algn="l" defTabSz="754380" rtl="0" eaLnBrk="1" latinLnBrk="0" hangingPunct="1">
        <a:lnSpc>
          <a:spcPct val="90000"/>
        </a:lnSpc>
        <a:spcBef>
          <a:spcPct val="83000"/>
        </a:spcBef>
        <a:buFont typeface="Arial" panose="020B0604020202020204"/>
        <a:buChar char="•"/>
        <a:defRPr sz="1485" kern="1200">
          <a:solidFill>
            <a:schemeClr val="tx1"/>
          </a:solidFill>
          <a:latin typeface="+mn-lt"/>
          <a:ea typeface="+mn-ea"/>
          <a:cs typeface="+mn-cs"/>
        </a:defRPr>
      </a:lvl4pPr>
      <a:lvl5pPr marL="1697355" indent="-188595" algn="l" defTabSz="754380" rtl="0" eaLnBrk="1" latinLnBrk="0" hangingPunct="1">
        <a:lnSpc>
          <a:spcPct val="90000"/>
        </a:lnSpc>
        <a:spcBef>
          <a:spcPct val="83000"/>
        </a:spcBef>
        <a:buFont typeface="Arial" panose="020B0604020202020204"/>
        <a:buChar char="•"/>
        <a:defRPr sz="1485" kern="1200">
          <a:solidFill>
            <a:schemeClr val="tx1"/>
          </a:solidFill>
          <a:latin typeface="+mn-lt"/>
          <a:ea typeface="+mn-ea"/>
          <a:cs typeface="+mn-cs"/>
        </a:defRPr>
      </a:lvl5pPr>
      <a:lvl6pPr marL="2074545" indent="-188595" algn="l" defTabSz="754380" rtl="0" eaLnBrk="1" latinLnBrk="0" hangingPunct="1">
        <a:lnSpc>
          <a:spcPct val="90000"/>
        </a:lnSpc>
        <a:spcBef>
          <a:spcPct val="83000"/>
        </a:spcBef>
        <a:buFont typeface="Arial" panose="020B0604020202020204"/>
        <a:buChar char="•"/>
        <a:defRPr sz="1485" kern="1200">
          <a:solidFill>
            <a:schemeClr val="tx1"/>
          </a:solidFill>
          <a:latin typeface="+mn-lt"/>
          <a:ea typeface="+mn-ea"/>
          <a:cs typeface="+mn-cs"/>
        </a:defRPr>
      </a:lvl6pPr>
      <a:lvl7pPr marL="2451735" indent="-188595" algn="l" defTabSz="754380" rtl="0" eaLnBrk="1" latinLnBrk="0" hangingPunct="1">
        <a:lnSpc>
          <a:spcPct val="90000"/>
        </a:lnSpc>
        <a:spcBef>
          <a:spcPct val="83000"/>
        </a:spcBef>
        <a:buFont typeface="Arial" panose="020B0604020202020204"/>
        <a:buChar char="•"/>
        <a:defRPr sz="1485" kern="1200">
          <a:solidFill>
            <a:schemeClr val="tx1"/>
          </a:solidFill>
          <a:latin typeface="+mn-lt"/>
          <a:ea typeface="+mn-ea"/>
          <a:cs typeface="+mn-cs"/>
        </a:defRPr>
      </a:lvl7pPr>
      <a:lvl8pPr marL="2828925" indent="-188595" algn="l" defTabSz="754380" rtl="0" eaLnBrk="1" latinLnBrk="0" hangingPunct="1">
        <a:lnSpc>
          <a:spcPct val="90000"/>
        </a:lnSpc>
        <a:spcBef>
          <a:spcPct val="83000"/>
        </a:spcBef>
        <a:buFont typeface="Arial" panose="020B0604020202020204"/>
        <a:buChar char="•"/>
        <a:defRPr sz="1485" kern="1200">
          <a:solidFill>
            <a:schemeClr val="tx1"/>
          </a:solidFill>
          <a:latin typeface="+mn-lt"/>
          <a:ea typeface="+mn-ea"/>
          <a:cs typeface="+mn-cs"/>
        </a:defRPr>
      </a:lvl8pPr>
      <a:lvl9pPr marL="3206115" indent="-188595" algn="l" defTabSz="754380" rtl="0" eaLnBrk="1" latinLnBrk="0" hangingPunct="1">
        <a:lnSpc>
          <a:spcPct val="90000"/>
        </a:lnSpc>
        <a:spcBef>
          <a:spcPct val="83000"/>
        </a:spcBef>
        <a:buFont typeface="Arial" panose="020B0604020202020204"/>
        <a:buChar char="•"/>
        <a:defRPr sz="1485" kern="1200">
          <a:solidFill>
            <a:schemeClr val="tx1"/>
          </a:solidFill>
          <a:latin typeface="+mn-lt"/>
          <a:ea typeface="+mn-ea"/>
          <a:cs typeface="+mn-cs"/>
        </a:defRPr>
      </a:lvl9pPr>
    </p:bodyStyle>
    <p:otherStyle>
      <a:defPPr>
        <a:defRPr lang="zh-CN"/>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760" algn="l" defTabSz="754380" rtl="0" eaLnBrk="1" latinLnBrk="0" hangingPunct="1">
        <a:defRPr sz="1485" kern="1200">
          <a:solidFill>
            <a:schemeClr val="tx1"/>
          </a:solidFill>
          <a:latin typeface="+mn-lt"/>
          <a:ea typeface="+mn-ea"/>
          <a:cs typeface="+mn-cs"/>
        </a:defRPr>
      </a:lvl5pPr>
      <a:lvl6pPr marL="1885950" algn="l" defTabSz="754380" rtl="0" eaLnBrk="1" latinLnBrk="0" hangingPunct="1">
        <a:defRPr sz="1485" kern="1200">
          <a:solidFill>
            <a:schemeClr val="tx1"/>
          </a:solidFill>
          <a:latin typeface="+mn-lt"/>
          <a:ea typeface="+mn-ea"/>
          <a:cs typeface="+mn-cs"/>
        </a:defRPr>
      </a:lvl6pPr>
      <a:lvl7pPr marL="2263140" algn="l" defTabSz="754380" rtl="0" eaLnBrk="1" latinLnBrk="0" hangingPunct="1">
        <a:defRPr sz="1485" kern="1200">
          <a:solidFill>
            <a:schemeClr val="tx1"/>
          </a:solidFill>
          <a:latin typeface="+mn-lt"/>
          <a:ea typeface="+mn-ea"/>
          <a:cs typeface="+mn-cs"/>
        </a:defRPr>
      </a:lvl7pPr>
      <a:lvl8pPr marL="2640330" algn="l" defTabSz="754380" rtl="0" eaLnBrk="1" latinLnBrk="0" hangingPunct="1">
        <a:defRPr sz="1485" kern="1200">
          <a:solidFill>
            <a:schemeClr val="tx1"/>
          </a:solidFill>
          <a:latin typeface="+mn-lt"/>
          <a:ea typeface="+mn-ea"/>
          <a:cs typeface="+mn-cs"/>
        </a:defRPr>
      </a:lvl8pPr>
      <a:lvl9pPr marL="3017520" algn="l" defTabSz="754380" rtl="0" eaLnBrk="1" latinLnBrk="0" hangingPunct="1">
        <a:defRPr sz="1485"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623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835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760" algn="l" defTabSz="754380" rtl="0" eaLnBrk="1" latinLnBrk="0" hangingPunct="1">
        <a:defRPr sz="1485" kern="1200">
          <a:solidFill>
            <a:schemeClr val="tx1"/>
          </a:solidFill>
          <a:latin typeface="+mn-lt"/>
          <a:ea typeface="+mn-ea"/>
          <a:cs typeface="+mn-cs"/>
        </a:defRPr>
      </a:lvl5pPr>
      <a:lvl6pPr marL="1885950" algn="l" defTabSz="754380" rtl="0" eaLnBrk="1" latinLnBrk="0" hangingPunct="1">
        <a:defRPr sz="1485" kern="1200">
          <a:solidFill>
            <a:schemeClr val="tx1"/>
          </a:solidFill>
          <a:latin typeface="+mn-lt"/>
          <a:ea typeface="+mn-ea"/>
          <a:cs typeface="+mn-cs"/>
        </a:defRPr>
      </a:lvl6pPr>
      <a:lvl7pPr marL="2263140" algn="l" defTabSz="754380" rtl="0" eaLnBrk="1" latinLnBrk="0" hangingPunct="1">
        <a:defRPr sz="1485" kern="1200">
          <a:solidFill>
            <a:schemeClr val="tx1"/>
          </a:solidFill>
          <a:latin typeface="+mn-lt"/>
          <a:ea typeface="+mn-ea"/>
          <a:cs typeface="+mn-cs"/>
        </a:defRPr>
      </a:lvl7pPr>
      <a:lvl8pPr marL="2640330" algn="l" defTabSz="754380" rtl="0" eaLnBrk="1" latinLnBrk="0" hangingPunct="1">
        <a:defRPr sz="1485" kern="1200">
          <a:solidFill>
            <a:schemeClr val="tx1"/>
          </a:solidFill>
          <a:latin typeface="+mn-lt"/>
          <a:ea typeface="+mn-ea"/>
          <a:cs typeface="+mn-cs"/>
        </a:defRPr>
      </a:lvl8pPr>
      <a:lvl9pPr marL="3017520" algn="l" defTabSz="754380" rtl="0" eaLnBrk="1" latinLnBrk="0" hangingPunct="1">
        <a:defRPr sz="1485"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623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835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760" algn="l" defTabSz="754380" rtl="0" eaLnBrk="1" latinLnBrk="0" hangingPunct="1">
        <a:defRPr sz="1485" kern="1200">
          <a:solidFill>
            <a:schemeClr val="tx1"/>
          </a:solidFill>
          <a:latin typeface="+mn-lt"/>
          <a:ea typeface="+mn-ea"/>
          <a:cs typeface="+mn-cs"/>
        </a:defRPr>
      </a:lvl5pPr>
      <a:lvl6pPr marL="1885950" algn="l" defTabSz="754380" rtl="0" eaLnBrk="1" latinLnBrk="0" hangingPunct="1">
        <a:defRPr sz="1485" kern="1200">
          <a:solidFill>
            <a:schemeClr val="tx1"/>
          </a:solidFill>
          <a:latin typeface="+mn-lt"/>
          <a:ea typeface="+mn-ea"/>
          <a:cs typeface="+mn-cs"/>
        </a:defRPr>
      </a:lvl6pPr>
      <a:lvl7pPr marL="2263140" algn="l" defTabSz="754380" rtl="0" eaLnBrk="1" latinLnBrk="0" hangingPunct="1">
        <a:defRPr sz="1485" kern="1200">
          <a:solidFill>
            <a:schemeClr val="tx1"/>
          </a:solidFill>
          <a:latin typeface="+mn-lt"/>
          <a:ea typeface="+mn-ea"/>
          <a:cs typeface="+mn-cs"/>
        </a:defRPr>
      </a:lvl7pPr>
      <a:lvl8pPr marL="2640330" algn="l" defTabSz="754380" rtl="0" eaLnBrk="1" latinLnBrk="0" hangingPunct="1">
        <a:defRPr sz="1485" kern="1200">
          <a:solidFill>
            <a:schemeClr val="tx1"/>
          </a:solidFill>
          <a:latin typeface="+mn-lt"/>
          <a:ea typeface="+mn-ea"/>
          <a:cs typeface="+mn-cs"/>
        </a:defRPr>
      </a:lvl8pPr>
      <a:lvl9pPr marL="3017520" algn="l" defTabSz="754380" rtl="0" eaLnBrk="1" latinLnBrk="0" hangingPunct="1">
        <a:defRPr sz="1485"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4" r:id="rId1"/>
    <p:sldLayoutId id="2147483695" r:id="rId2"/>
    <p:sldLayoutId id="2147483696" r:id="rId3"/>
    <p:sldLayoutId id="2147483697" r:id="rId4"/>
    <p:sldLayoutId id="2147483698" r:id="rId5"/>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623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835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760" algn="l" defTabSz="754380" rtl="0" eaLnBrk="1" latinLnBrk="0" hangingPunct="1">
        <a:defRPr sz="1485" kern="1200">
          <a:solidFill>
            <a:schemeClr val="tx1"/>
          </a:solidFill>
          <a:latin typeface="+mn-lt"/>
          <a:ea typeface="+mn-ea"/>
          <a:cs typeface="+mn-cs"/>
        </a:defRPr>
      </a:lvl5pPr>
      <a:lvl6pPr marL="1885950" algn="l" defTabSz="754380" rtl="0" eaLnBrk="1" latinLnBrk="0" hangingPunct="1">
        <a:defRPr sz="1485" kern="1200">
          <a:solidFill>
            <a:schemeClr val="tx1"/>
          </a:solidFill>
          <a:latin typeface="+mn-lt"/>
          <a:ea typeface="+mn-ea"/>
          <a:cs typeface="+mn-cs"/>
        </a:defRPr>
      </a:lvl6pPr>
      <a:lvl7pPr marL="2263140" algn="l" defTabSz="754380" rtl="0" eaLnBrk="1" latinLnBrk="0" hangingPunct="1">
        <a:defRPr sz="1485" kern="1200">
          <a:solidFill>
            <a:schemeClr val="tx1"/>
          </a:solidFill>
          <a:latin typeface="+mn-lt"/>
          <a:ea typeface="+mn-ea"/>
          <a:cs typeface="+mn-cs"/>
        </a:defRPr>
      </a:lvl7pPr>
      <a:lvl8pPr marL="2640330" algn="l" defTabSz="754380" rtl="0" eaLnBrk="1" latinLnBrk="0" hangingPunct="1">
        <a:defRPr sz="1485" kern="1200">
          <a:solidFill>
            <a:schemeClr val="tx1"/>
          </a:solidFill>
          <a:latin typeface="+mn-lt"/>
          <a:ea typeface="+mn-ea"/>
          <a:cs typeface="+mn-cs"/>
        </a:defRPr>
      </a:lvl8pPr>
      <a:lvl9pPr marL="3017520" algn="l" defTabSz="754380" rtl="0" eaLnBrk="1" latinLnBrk="0" hangingPunct="1">
        <a:defRPr sz="1485"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00" r:id="rId1"/>
    <p:sldLayoutId id="2147483701" r:id="rId2"/>
    <p:sldLayoutId id="2147483702" r:id="rId3"/>
  </p:sldLayoutIdLst>
  <p:hf sldNum="0" hdr="0" ftr="0" dt="0"/>
  <p:txStyles>
    <p:titleStyle>
      <a:lvl1pPr algn="l" defTabSz="754380" rtl="0" eaLnBrk="0" fontAlgn="base" hangingPunct="0">
        <a:lnSpc>
          <a:spcPct val="85000"/>
        </a:lnSpc>
        <a:spcBef>
          <a:spcPct val="0"/>
        </a:spcBef>
        <a:spcAft>
          <a:spcPct val="0"/>
        </a:spcAft>
        <a:defRPr sz="3900"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0965"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165"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623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835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6980"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080"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04" r:id="rId1"/>
    <p:sldLayoutId id="2147483705" r:id="rId2"/>
    <p:sldLayoutId id="2147483706" r:id="rId3"/>
  </p:sldLayoutIdLst>
  <p:hf sldNum="0" hdr="0" ftr="0" dt="0"/>
  <p:txStyles>
    <p:titleStyle>
      <a:lvl1pPr algn="l" defTabSz="754380" rtl="0" eaLnBrk="0" fontAlgn="base" hangingPunct="0">
        <a:lnSpc>
          <a:spcPct val="85000"/>
        </a:lnSpc>
        <a:spcBef>
          <a:spcPct val="0"/>
        </a:spcBef>
        <a:spcAft>
          <a:spcPct val="0"/>
        </a:spcAft>
        <a:defRPr sz="3895" kern="1200" spc="-41">
          <a:solidFill>
            <a:srgbClr val="404040"/>
          </a:solidFill>
          <a:latin typeface="+mj-lt"/>
          <a:ea typeface="+mj-ea"/>
          <a:cs typeface="+mj-cs"/>
        </a:defRPr>
      </a:lvl1pPr>
      <a:lvl2pPr algn="l" defTabSz="754380" rtl="0" eaLnBrk="0" fontAlgn="base" hangingPunct="0">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5pPr>
      <a:lvl6pPr marL="456565" algn="l" defTabSz="753110" rtl="0" fontAlgn="base">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6pPr>
      <a:lvl7pPr marL="913765" algn="l" defTabSz="753110" rtl="0" fontAlgn="base">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7pPr>
      <a:lvl8pPr marL="1370330" algn="l" defTabSz="753110" rtl="0" fontAlgn="base">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8pPr>
      <a:lvl9pPr marL="1827530" algn="l" defTabSz="753110" rtl="0" fontAlgn="base">
        <a:lnSpc>
          <a:spcPct val="85000"/>
        </a:lnSpc>
        <a:spcBef>
          <a:spcPct val="0"/>
        </a:spcBef>
        <a:spcAft>
          <a:spcPct val="0"/>
        </a:spcAft>
        <a:defRPr sz="3895">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165"/>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559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220"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7715" indent="-151130" algn="l" defTabSz="754380" rtl="0" eaLnBrk="0" fontAlgn="base" hangingPunct="0">
        <a:lnSpc>
          <a:spcPct val="90000"/>
        </a:lnSpc>
        <a:spcBef>
          <a:spcPts val="165"/>
        </a:spcBef>
        <a:spcAft>
          <a:spcPts val="32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1880"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6980"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080" indent="-188595" algn="l" defTabSz="754380" rtl="0" eaLnBrk="1" latinLnBrk="0" hangingPunct="1">
        <a:lnSpc>
          <a:spcPct val="90000"/>
        </a:lnSpc>
        <a:spcBef>
          <a:spcPts val="165"/>
        </a:spcBef>
        <a:spcAft>
          <a:spcPts val="33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0935"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4680" algn="l" defTabSz="754380" rtl="0" eaLnBrk="1" latinLnBrk="0" hangingPunct="1">
        <a:defRPr sz="1485" kern="1200">
          <a:solidFill>
            <a:schemeClr val="tx1"/>
          </a:solidFill>
          <a:latin typeface="+mn-lt"/>
          <a:ea typeface="+mn-ea"/>
          <a:cs typeface="+mn-cs"/>
        </a:defRPr>
      </a:lvl6pPr>
      <a:lvl7pPr marL="2261870" algn="l" defTabSz="754380" rtl="0" eaLnBrk="1" latinLnBrk="0" hangingPunct="1">
        <a:defRPr sz="1485" kern="1200">
          <a:solidFill>
            <a:schemeClr val="tx1"/>
          </a:solidFill>
          <a:latin typeface="+mn-lt"/>
          <a:ea typeface="+mn-ea"/>
          <a:cs typeface="+mn-cs"/>
        </a:defRPr>
      </a:lvl7pPr>
      <a:lvl8pPr marL="2639060" algn="l" defTabSz="754380" rtl="0" eaLnBrk="1" latinLnBrk="0" hangingPunct="1">
        <a:defRPr sz="1485" kern="1200">
          <a:solidFill>
            <a:schemeClr val="tx1"/>
          </a:solidFill>
          <a:latin typeface="+mn-lt"/>
          <a:ea typeface="+mn-ea"/>
          <a:cs typeface="+mn-cs"/>
        </a:defRPr>
      </a:lvl8pPr>
      <a:lvl9pPr marL="3015615" algn="l" defTabSz="754380" rtl="0" eaLnBrk="1" latinLnBrk="0" hangingPunct="1">
        <a:defRPr sz="1485"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Lst>
  <p:hf sldNum="0" hdr="0" ftr="0" dt="0"/>
  <p:txStyles>
    <p:titleStyle>
      <a:lvl1pPr algn="l" defTabSz="754380" rtl="0" eaLnBrk="0" fontAlgn="base" hangingPunct="0">
        <a:lnSpc>
          <a:spcPct val="85000"/>
        </a:lnSpc>
        <a:spcBef>
          <a:spcPct val="0"/>
        </a:spcBef>
        <a:spcAft>
          <a:spcPct val="0"/>
        </a:spcAft>
        <a:defRPr sz="3900" kern="1200" spc="-50">
          <a:solidFill>
            <a:srgbClr val="404040"/>
          </a:solidFill>
          <a:latin typeface="+mj-lt"/>
          <a:ea typeface="+mj-ea"/>
          <a:cs typeface="+mj-cs"/>
        </a:defRPr>
      </a:lvl1pPr>
      <a:lvl2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2pPr>
      <a:lvl3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3pPr>
      <a:lvl4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4pPr>
      <a:lvl5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5pPr>
      <a:lvl6pPr marL="553720"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6pPr>
      <a:lvl7pPr marL="1108075"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7pPr>
      <a:lvl8pPr marL="1661795"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8pPr>
      <a:lvl9pPr marL="2216150"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200"/>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559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771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0935"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250" algn="l" defTabSz="754380" rtl="0" eaLnBrk="1" latinLnBrk="0" hangingPunct="1">
        <a:defRPr sz="1485"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14" r:id="rId1"/>
    <p:sldLayoutId id="2147483715" r:id="rId2"/>
    <p:sldLayoutId id="2147483716" r:id="rId3"/>
    <p:sldLayoutId id="2147483717" r:id="rId4"/>
  </p:sldLayoutIdLst>
  <p:hf sldNum="0" hdr="0" ftr="0" dt="0"/>
  <p:txStyles>
    <p:titleStyle>
      <a:lvl1pPr algn="l" defTabSz="754380" rtl="0" eaLnBrk="0" fontAlgn="base" hangingPunct="0">
        <a:lnSpc>
          <a:spcPct val="85000"/>
        </a:lnSpc>
        <a:spcBef>
          <a:spcPct val="0"/>
        </a:spcBef>
        <a:spcAft>
          <a:spcPct val="0"/>
        </a:spcAft>
        <a:defRPr sz="3900" kern="1200" spc="-50">
          <a:solidFill>
            <a:srgbClr val="404040"/>
          </a:solidFill>
          <a:latin typeface="+mj-lt"/>
          <a:ea typeface="+mj-ea"/>
          <a:cs typeface="+mj-cs"/>
        </a:defRPr>
      </a:lvl1pPr>
      <a:lvl2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2pPr>
      <a:lvl3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3pPr>
      <a:lvl4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4pPr>
      <a:lvl5pPr algn="l" defTabSz="91440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5pPr>
      <a:lvl6pPr marL="553720"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6pPr>
      <a:lvl7pPr marL="1108075"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7pPr>
      <a:lvl8pPr marL="1661795"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8pPr>
      <a:lvl9pPr marL="2216150"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9pPr>
    </p:titleStyle>
    <p:bodyStyle>
      <a:lvl1pPr marL="74930" indent="-74930" algn="l" defTabSz="754380" rtl="0" eaLnBrk="0" fontAlgn="base" hangingPunct="0">
        <a:lnSpc>
          <a:spcPct val="90000"/>
        </a:lnSpc>
        <a:spcBef>
          <a:spcPts val="990"/>
        </a:spcBef>
        <a:spcAft>
          <a:spcPts val="200"/>
        </a:spcAft>
        <a:buClr>
          <a:schemeClr val="accent1"/>
        </a:buClr>
        <a:buSzPct val="100000"/>
        <a:buFont typeface="Calibri" panose="020F0502020204030204" pitchFamily="34" charset="0"/>
        <a:buChar char=" "/>
        <a:defRPr sz="1600" kern="1200">
          <a:solidFill>
            <a:srgbClr val="404040"/>
          </a:solidFill>
          <a:latin typeface="+mn-lt"/>
          <a:ea typeface="+mn-ea"/>
          <a:cs typeface="+mn-cs"/>
        </a:defRPr>
      </a:lvl1pPr>
      <a:lvl2pPr marL="31559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400" kern="1200">
          <a:solidFill>
            <a:srgbClr val="404040"/>
          </a:solidFill>
          <a:latin typeface="+mn-lt"/>
          <a:ea typeface="+mn-ea"/>
          <a:cs typeface="+mn-cs"/>
        </a:defRPr>
      </a:lvl2pPr>
      <a:lvl3pPr marL="46672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3pPr>
      <a:lvl4pPr marL="61785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4pPr>
      <a:lvl5pPr marL="767715" indent="-151130" algn="l" defTabSz="75438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mn-ea"/>
          <a:cs typeface="+mn-cs"/>
        </a:defRPr>
      </a:lvl5pPr>
      <a:lvl6pPr marL="9074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0935"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250" algn="l" defTabSz="754380" rtl="0" eaLnBrk="1" latinLnBrk="0" hangingPunct="1">
        <a:defRPr sz="1485"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p:cNvSpPr/>
          <p:nvPr/>
        </p:nvSpPr>
        <p:spPr>
          <a:xfrm>
            <a:off x="0" y="5281317"/>
            <a:ext cx="10058400" cy="3778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0" y="5227344"/>
            <a:ext cx="10058400" cy="5397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Placeholder 1"/>
          <p:cNvSpPr>
            <a:spLocks noGrp="1"/>
          </p:cNvSpPr>
          <p:nvPr>
            <p:ph type="title"/>
          </p:nvPr>
        </p:nvSpPr>
        <p:spPr>
          <a:xfrm>
            <a:off x="904876" y="236525"/>
            <a:ext cx="8297863" cy="1196908"/>
          </a:xfrm>
          <a:prstGeom prst="rect">
            <a:avLst/>
          </a:prstGeom>
        </p:spPr>
        <p:txBody>
          <a:bodyPr vert="horz" lIns="91440" tIns="45720" rIns="91440" bIns="45720" rtlCol="0" anchor="b">
            <a:normAutofit/>
          </a:bodyPr>
          <a:lstStyle/>
          <a:p>
            <a:r>
              <a:rPr lang="zh-CN" altLang="en-US" dirty="0" smtClean="0"/>
              <a:t>单击此处编辑母版标题样式</a:t>
            </a:r>
            <a:endParaRPr lang="en-US" dirty="0"/>
          </a:p>
        </p:txBody>
      </p:sp>
      <p:sp>
        <p:nvSpPr>
          <p:cNvPr id="1029" name="Text Placeholder 2"/>
          <p:cNvSpPr>
            <a:spLocks noGrp="1"/>
          </p:cNvSpPr>
          <p:nvPr>
            <p:ph type="body" idx="1"/>
          </p:nvPr>
        </p:nvSpPr>
        <p:spPr bwMode="auto">
          <a:xfrm>
            <a:off x="904876" y="1522327"/>
            <a:ext cx="8297863" cy="3320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lstStyle/>
          <a:p>
            <a:pPr lvl="0"/>
            <a:r>
              <a:rPr lang="zh-CN" altLang="en-US" dirty="0" smtClean="0"/>
              <a:t>单击此处编辑母版文本样式</a:t>
            </a:r>
            <a:endParaRPr lang="zh-CN" altLang="en-US" dirty="0" smtClean="0"/>
          </a:p>
          <a:p>
            <a:pPr lvl="1"/>
            <a:r>
              <a:rPr lang="zh-CN" altLang="en-US" dirty="0" smtClean="0"/>
              <a:t>第二级</a:t>
            </a:r>
            <a:endParaRPr lang="zh-CN" altLang="en-US" dirty="0" smtClean="0"/>
          </a:p>
          <a:p>
            <a:pPr lvl="2"/>
            <a:r>
              <a:rPr lang="zh-CN" altLang="en-US" dirty="0" smtClean="0"/>
              <a:t>第三级</a:t>
            </a:r>
            <a:endParaRPr lang="zh-CN" altLang="en-US" dirty="0" smtClean="0"/>
          </a:p>
          <a:p>
            <a:pPr lvl="3"/>
            <a:r>
              <a:rPr lang="zh-CN" altLang="en-US" dirty="0" smtClean="0"/>
              <a:t>第四级</a:t>
            </a:r>
            <a:endParaRPr lang="zh-CN" altLang="en-US" dirty="0" smtClean="0"/>
          </a:p>
          <a:p>
            <a:pPr lvl="4"/>
            <a:r>
              <a:rPr lang="zh-CN" altLang="en-US" dirty="0" smtClean="0"/>
              <a:t>第五级</a:t>
            </a:r>
            <a:endParaRPr lang="en-US" dirty="0" smtClean="0"/>
          </a:p>
        </p:txBody>
      </p:sp>
      <p:sp>
        <p:nvSpPr>
          <p:cNvPr id="4" name="Date Placeholder 3"/>
          <p:cNvSpPr>
            <a:spLocks noGrp="1"/>
          </p:cNvSpPr>
          <p:nvPr>
            <p:ph type="dt" sz="half" idx="2"/>
          </p:nvPr>
        </p:nvSpPr>
        <p:spPr>
          <a:xfrm>
            <a:off x="904875" y="5330526"/>
            <a:ext cx="2039938" cy="301608"/>
          </a:xfrm>
          <a:prstGeom prst="rect">
            <a:avLst/>
          </a:prstGeom>
        </p:spPr>
        <p:txBody>
          <a:bodyPr vert="horz" lIns="91440" tIns="45720" rIns="91440" bIns="45720" rtlCol="0" anchor="ctr"/>
          <a:lstStyle>
            <a:lvl1pPr algn="l">
              <a:defRPr sz="745">
                <a:solidFill>
                  <a:srgbClr val="FFFFFF"/>
                </a:solidFill>
                <a:ea typeface="华文中宋" panose="02010600040101010101" pitchFamily="2" charset="-122"/>
              </a:defRPr>
            </a:lvl1pPr>
          </a:lstStyle>
          <a:p>
            <a:pPr>
              <a:defRPr/>
            </a:pPr>
            <a:endParaRPr lang="zh-CN" altLang="en-US" dirty="0"/>
          </a:p>
        </p:txBody>
      </p:sp>
      <p:sp>
        <p:nvSpPr>
          <p:cNvPr id="5" name="Footer Placeholder 4"/>
          <p:cNvSpPr>
            <a:spLocks noGrp="1"/>
          </p:cNvSpPr>
          <p:nvPr>
            <p:ph type="ftr" sz="quarter" idx="3"/>
          </p:nvPr>
        </p:nvSpPr>
        <p:spPr>
          <a:xfrm>
            <a:off x="3041650" y="5330526"/>
            <a:ext cx="3978275" cy="301608"/>
          </a:xfrm>
          <a:prstGeom prst="rect">
            <a:avLst/>
          </a:prstGeom>
        </p:spPr>
        <p:txBody>
          <a:bodyPr vert="horz" lIns="91440" tIns="45720" rIns="91440" bIns="45720" rtlCol="0" anchor="ctr"/>
          <a:lstStyle>
            <a:lvl1pPr algn="ctr">
              <a:defRPr sz="745" cap="all" baseline="0">
                <a:solidFill>
                  <a:srgbClr val="FFFFFF"/>
                </a:solidFill>
                <a:ea typeface="华文中宋" panose="02010600040101010101" pitchFamily="2" charset="-122"/>
              </a:defRPr>
            </a:lvl1pPr>
          </a:lstStyle>
          <a:p>
            <a:pPr>
              <a:defRPr/>
            </a:pPr>
            <a:endParaRPr lang="zh-CN" dirty="0"/>
          </a:p>
        </p:txBody>
      </p:sp>
      <p:sp>
        <p:nvSpPr>
          <p:cNvPr id="6" name="Slide Number Placeholder 5"/>
          <p:cNvSpPr>
            <a:spLocks noGrp="1"/>
          </p:cNvSpPr>
          <p:nvPr>
            <p:ph type="sldNum" sz="quarter" idx="4"/>
          </p:nvPr>
        </p:nvSpPr>
        <p:spPr>
          <a:xfrm>
            <a:off x="8167689" y="5330526"/>
            <a:ext cx="1082675" cy="301608"/>
          </a:xfrm>
          <a:prstGeom prst="rect">
            <a:avLst/>
          </a:prstGeom>
        </p:spPr>
        <p:txBody>
          <a:bodyPr vert="horz" wrap="square" lIns="91440" tIns="45720" rIns="91440" bIns="45720" numCol="1" anchor="ctr" anchorCtr="0" compatLnSpc="1"/>
          <a:lstStyle>
            <a:lvl1pPr algn="r">
              <a:defRPr sz="800">
                <a:solidFill>
                  <a:srgbClr val="FFFFFF"/>
                </a:solidFill>
                <a:ea typeface="华文中宋" panose="02010600040101010101" pitchFamily="2" charset="-122"/>
              </a:defRPr>
            </a:lvl1pPr>
          </a:lstStyle>
          <a:p>
            <a:pPr>
              <a:defRPr/>
            </a:pPr>
            <a:fld id="{D0D3A6B6-68F8-412A-A6B8-63B8725A534D}" type="slidenum">
              <a:rPr lang="en-US" altLang="zh-CN" smtClean="0"/>
            </a:fld>
            <a:endParaRPr lang="zh-CN" altLang="zh-CN" dirty="0"/>
          </a:p>
        </p:txBody>
      </p:sp>
      <p:cxnSp>
        <p:nvCxnSpPr>
          <p:cNvPr id="10" name="Straight Connector 9"/>
          <p:cNvCxnSpPr/>
          <p:nvPr/>
        </p:nvCxnSpPr>
        <p:spPr>
          <a:xfrm>
            <a:off x="984250" y="1433432"/>
            <a:ext cx="8223250"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23" r:id="rId5"/>
    <p:sldLayoutId id="2147483724" r:id="rId6"/>
    <p:sldLayoutId id="2147483725" r:id="rId7"/>
    <p:sldLayoutId id="2147483726" r:id="rId8"/>
    <p:sldLayoutId id="2147483727" r:id="rId9"/>
    <p:sldLayoutId id="2147483728" r:id="rId10"/>
    <p:sldLayoutId id="2147483729" r:id="rId11"/>
  </p:sldLayoutIdLst>
  <p:transition spd="slow">
    <p:push dir="u"/>
  </p:transition>
  <p:txStyles>
    <p:titleStyle>
      <a:lvl1pPr algn="l" defTabSz="753110" rtl="0" eaLnBrk="0" fontAlgn="base" hangingPunct="0">
        <a:lnSpc>
          <a:spcPct val="85000"/>
        </a:lnSpc>
        <a:spcBef>
          <a:spcPct val="0"/>
        </a:spcBef>
        <a:spcAft>
          <a:spcPct val="0"/>
        </a:spcAft>
        <a:defRPr sz="3900" kern="1200" spc="-50">
          <a:solidFill>
            <a:srgbClr val="404040"/>
          </a:solidFill>
          <a:latin typeface="+mj-lt"/>
          <a:ea typeface="华文中宋" panose="02010600040101010101" pitchFamily="2" charset="-122"/>
          <a:cs typeface="+mj-cs"/>
        </a:defRPr>
      </a:lvl1pPr>
      <a:lvl2pPr algn="l" defTabSz="91313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2pPr>
      <a:lvl3pPr algn="l" defTabSz="91313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3pPr>
      <a:lvl4pPr algn="l" defTabSz="91313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4pPr>
      <a:lvl5pPr algn="l" defTabSz="913130" rtl="0" eaLnBrk="0" fontAlgn="base" hangingPunct="0">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5pPr>
      <a:lvl6pPr marL="553720"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6pPr>
      <a:lvl7pPr marL="1108075"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7pPr>
      <a:lvl8pPr marL="1661795"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8pPr>
      <a:lvl9pPr marL="2216150" algn="l" defTabSz="913130" rtl="0" fontAlgn="base">
        <a:lnSpc>
          <a:spcPct val="85000"/>
        </a:lnSpc>
        <a:spcBef>
          <a:spcPct val="0"/>
        </a:spcBef>
        <a:spcAft>
          <a:spcPct val="0"/>
        </a:spcAft>
        <a:defRPr sz="4725">
          <a:solidFill>
            <a:srgbClr val="404040"/>
          </a:solidFill>
          <a:latin typeface="Calibri Light" panose="020F0302020204030204" pitchFamily="34" charset="0"/>
          <a:ea typeface="宋体" panose="02010600030101010101" pitchFamily="2" charset="-122"/>
        </a:defRPr>
      </a:lvl9pPr>
    </p:titleStyle>
    <p:bodyStyle>
      <a:lvl1pPr marL="74930" indent="-74930" algn="l" defTabSz="753110" rtl="0" eaLnBrk="0" fontAlgn="base" hangingPunct="0">
        <a:lnSpc>
          <a:spcPct val="90000"/>
        </a:lnSpc>
        <a:spcBef>
          <a:spcPts val="990"/>
        </a:spcBef>
        <a:spcAft>
          <a:spcPts val="200"/>
        </a:spcAft>
        <a:buClr>
          <a:schemeClr val="accent1"/>
        </a:buClr>
        <a:buSzPct val="100000"/>
        <a:buFont typeface="Calibri" panose="020F0502020204030204" pitchFamily="34" charset="0"/>
        <a:buChar char=" "/>
        <a:defRPr sz="1600" kern="1200">
          <a:solidFill>
            <a:srgbClr val="404040"/>
          </a:solidFill>
          <a:latin typeface="+mn-lt"/>
          <a:ea typeface="华文中宋" panose="02010600040101010101" pitchFamily="2" charset="-122"/>
          <a:cs typeface="+mn-cs"/>
        </a:defRPr>
      </a:lvl1pPr>
      <a:lvl2pPr marL="315595" indent="-151130" algn="l" defTabSz="753110" rtl="0" eaLnBrk="0" fontAlgn="base" hangingPunct="0">
        <a:lnSpc>
          <a:spcPct val="90000"/>
        </a:lnSpc>
        <a:spcBef>
          <a:spcPts val="165"/>
        </a:spcBef>
        <a:spcAft>
          <a:spcPts val="395"/>
        </a:spcAft>
        <a:buClr>
          <a:schemeClr val="accent1"/>
        </a:buClr>
        <a:buFont typeface="Calibri" panose="020F0502020204030204" pitchFamily="34" charset="0"/>
        <a:buChar char="◦"/>
        <a:defRPr sz="1400" kern="1200">
          <a:solidFill>
            <a:srgbClr val="404040"/>
          </a:solidFill>
          <a:latin typeface="+mn-lt"/>
          <a:ea typeface="华文中宋" panose="02010600040101010101" pitchFamily="2" charset="-122"/>
          <a:cs typeface="+mn-cs"/>
        </a:defRPr>
      </a:lvl2pPr>
      <a:lvl3pPr marL="466725" indent="-151130" algn="l" defTabSz="75311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华文中宋" panose="02010600040101010101" pitchFamily="2" charset="-122"/>
          <a:cs typeface="+mn-cs"/>
        </a:defRPr>
      </a:lvl3pPr>
      <a:lvl4pPr marL="617855" indent="-151130" algn="l" defTabSz="75311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华文中宋" panose="02010600040101010101" pitchFamily="2" charset="-122"/>
          <a:cs typeface="+mn-cs"/>
        </a:defRPr>
      </a:lvl4pPr>
      <a:lvl5pPr marL="767715" indent="-151130" algn="l" defTabSz="753110" rtl="0" eaLnBrk="0" fontAlgn="base" hangingPunct="0">
        <a:lnSpc>
          <a:spcPct val="90000"/>
        </a:lnSpc>
        <a:spcBef>
          <a:spcPts val="165"/>
        </a:spcBef>
        <a:spcAft>
          <a:spcPts val="395"/>
        </a:spcAft>
        <a:buClr>
          <a:schemeClr val="accent1"/>
        </a:buClr>
        <a:buFont typeface="Calibri" panose="020F0502020204030204" pitchFamily="34" charset="0"/>
        <a:buChar char="◦"/>
        <a:defRPr sz="1100" kern="1200">
          <a:solidFill>
            <a:srgbClr val="404040"/>
          </a:solidFill>
          <a:latin typeface="+mn-lt"/>
          <a:ea typeface="华文中宋" panose="02010600040101010101" pitchFamily="2" charset="-122"/>
          <a:cs typeface="+mn-cs"/>
        </a:defRPr>
      </a:lvl5pPr>
      <a:lvl6pPr marL="9074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6pPr>
      <a:lvl7pPr marL="10725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7pPr>
      <a:lvl8pPr marL="12376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8pPr>
      <a:lvl9pPr marL="1402715" indent="-188595" algn="l" defTabSz="754380" rtl="0" eaLnBrk="1" latinLnBrk="0" hangingPunct="1">
        <a:lnSpc>
          <a:spcPct val="90000"/>
        </a:lnSpc>
        <a:spcBef>
          <a:spcPts val="165"/>
        </a:spcBef>
        <a:spcAft>
          <a:spcPts val="400"/>
        </a:spcAft>
        <a:buClr>
          <a:schemeClr val="accent1"/>
        </a:buClr>
        <a:buFont typeface="Calibri" panose="020F0502020204030204" pitchFamily="34" charset="0"/>
        <a:buChar char="◦"/>
        <a:defRPr sz="1155" kern="1200">
          <a:solidFill>
            <a:schemeClr val="tx1">
              <a:lumMod val="75000"/>
              <a:lumOff val="25000"/>
            </a:schemeClr>
          </a:solidFill>
          <a:latin typeface="+mn-lt"/>
          <a:ea typeface="+mn-ea"/>
          <a:cs typeface="+mn-cs"/>
        </a:defRPr>
      </a:lvl9pPr>
    </p:bodyStyle>
    <p:otherStyle>
      <a:defPPr>
        <a:defRPr lang="en-US"/>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0935"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250" algn="l" defTabSz="754380" rtl="0" eaLnBrk="1" latinLnBrk="0" hangingPunct="1">
        <a:defRPr sz="1485"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4" Type="http://schemas.openxmlformats.org/officeDocument/2006/relationships/notesSlide" Target="../notesSlides/notesSlide3.xml"/><Relationship Id="rId3" Type="http://schemas.openxmlformats.org/officeDocument/2006/relationships/slideLayout" Target="../slideLayouts/slideLayout11.xml"/><Relationship Id="rId2" Type="http://schemas.openxmlformats.org/officeDocument/2006/relationships/tags" Target="../tags/tag6.xml"/><Relationship Id="rId1" Type="http://schemas.openxmlformats.org/officeDocument/2006/relationships/tags" Target="../tags/tag5.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1.xml"/><Relationship Id="rId1" Type="http://schemas.openxmlformats.org/officeDocument/2006/relationships/tags" Target="../tags/tag7.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1.xml"/><Relationship Id="rId1" Type="http://schemas.openxmlformats.org/officeDocument/2006/relationships/tags" Target="../tags/tag8.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9.xml"/></Relationships>
</file>

<file path=ppt/slides/_rels/slide7.xml.rels><?xml version="1.0" encoding="UTF-8" standalone="yes"?>
<Relationships xmlns="http://schemas.openxmlformats.org/package/2006/relationships"><Relationship Id="rId4" Type="http://schemas.openxmlformats.org/officeDocument/2006/relationships/notesSlide" Target="../notesSlides/notesSlide7.xml"/><Relationship Id="rId3" Type="http://schemas.openxmlformats.org/officeDocument/2006/relationships/slideLayout" Target="../slideLayouts/slideLayout25.xml"/><Relationship Id="rId2" Type="http://schemas.openxmlformats.org/officeDocument/2006/relationships/tags" Target="../tags/tag11.xml"/><Relationship Id="rId1" Type="http://schemas.openxmlformats.org/officeDocument/2006/relationships/tags" Target="../tags/tag10.xml"/></Relationships>
</file>

<file path=ppt/slides/_rels/slide8.xml.rels><?xml version="1.0" encoding="UTF-8" standalone="yes"?>
<Relationships xmlns="http://schemas.openxmlformats.org/package/2006/relationships"><Relationship Id="rId5" Type="http://schemas.openxmlformats.org/officeDocument/2006/relationships/notesSlide" Target="../notesSlides/notesSlide8.xml"/><Relationship Id="rId4" Type="http://schemas.openxmlformats.org/officeDocument/2006/relationships/slideLayout" Target="../slideLayouts/slideLayout25.xml"/><Relationship Id="rId3" Type="http://schemas.openxmlformats.org/officeDocument/2006/relationships/tags" Target="../tags/tag14.xml"/><Relationship Id="rId2" Type="http://schemas.openxmlformats.org/officeDocument/2006/relationships/tags" Target="../tags/tag13.xml"/><Relationship Id="rId1" Type="http://schemas.openxmlformats.org/officeDocument/2006/relationships/tags" Target="../tags/tag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0.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11.xml"/><Relationship Id="rId1" Type="http://schemas.openxmlformats.org/officeDocument/2006/relationships/image" Target="../media/image7.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55.xml"/><Relationship Id="rId1" Type="http://schemas.openxmlformats.org/officeDocument/2006/relationships/image" Target="../media/image8.emf"/></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ags" Target="../tags/tag15.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ags" Target="../tags/tag16.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7.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xml"/><Relationship Id="rId1" Type="http://schemas.openxmlformats.org/officeDocument/2006/relationships/tags" Target="../tags/tag18.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ags" Target="../tags/tag19.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21.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47.xml"/><Relationship Id="rId1" Type="http://schemas.openxmlformats.org/officeDocument/2006/relationships/tags" Target="../tags/tag22.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44.xml"/><Relationship Id="rId1" Type="http://schemas.openxmlformats.org/officeDocument/2006/relationships/tags" Target="../tags/tag2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4.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2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30.xml"/><Relationship Id="rId1" Type="http://schemas.openxmlformats.org/officeDocument/2006/relationships/tags" Target="../tags/tag25.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26.xml"/></Relationships>
</file>

<file path=ppt/slides/_rels/slide31.xml.rels><?xml version="1.0" encoding="UTF-8" standalone="yes"?>
<Relationships xmlns="http://schemas.openxmlformats.org/package/2006/relationships"><Relationship Id="rId7" Type="http://schemas.openxmlformats.org/officeDocument/2006/relationships/notesSlide" Target="../notesSlides/notesSlide25.xml"/><Relationship Id="rId6" Type="http://schemas.openxmlformats.org/officeDocument/2006/relationships/vmlDrawing" Target="../drawings/vmlDrawing1.vml"/><Relationship Id="rId5" Type="http://schemas.openxmlformats.org/officeDocument/2006/relationships/slideLayout" Target="../slideLayouts/slideLayout7.xml"/><Relationship Id="rId4" Type="http://schemas.openxmlformats.org/officeDocument/2006/relationships/image" Target="../media/image9.wmf"/><Relationship Id="rId3" Type="http://schemas.openxmlformats.org/officeDocument/2006/relationships/package" Target="../embeddings/Workbook1.xlsx"/><Relationship Id="rId2" Type="http://schemas.openxmlformats.org/officeDocument/2006/relationships/tags" Target="../tags/tag28.xml"/><Relationship Id="rId1" Type="http://schemas.openxmlformats.org/officeDocument/2006/relationships/tags" Target="../tags/tag27.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7.xml"/><Relationship Id="rId1" Type="http://schemas.openxmlformats.org/officeDocument/2006/relationships/tags" Target="../tags/tag29.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7.xml"/><Relationship Id="rId1" Type="http://schemas.openxmlformats.org/officeDocument/2006/relationships/tags" Target="../tags/tag30.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7.xml"/><Relationship Id="rId1" Type="http://schemas.openxmlformats.org/officeDocument/2006/relationships/tags" Target="../tags/tag31.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7.xml"/><Relationship Id="rId1" Type="http://schemas.openxmlformats.org/officeDocument/2006/relationships/tags" Target="../tags/tag3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7.xml"/><Relationship Id="rId1" Type="http://schemas.openxmlformats.org/officeDocument/2006/relationships/tags" Target="../tags/tag33.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7.xml"/><Relationship Id="rId1" Type="http://schemas.openxmlformats.org/officeDocument/2006/relationships/tags" Target="../tags/tag34.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7.xml"/><Relationship Id="rId1" Type="http://schemas.openxmlformats.org/officeDocument/2006/relationships/tags" Target="../tags/tag35.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7.xml"/><Relationship Id="rId1" Type="http://schemas.openxmlformats.org/officeDocument/2006/relationships/tags" Target="../tags/tag36.xml"/></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7.xml"/><Relationship Id="rId1" Type="http://schemas.openxmlformats.org/officeDocument/2006/relationships/tags" Target="../tags/tag37.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7.xml"/><Relationship Id="rId1" Type="http://schemas.openxmlformats.org/officeDocument/2006/relationships/tags" Target="../tags/tag38.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7.xml"/><Relationship Id="rId1" Type="http://schemas.openxmlformats.org/officeDocument/2006/relationships/tags" Target="../tags/tag39.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35.xml"/><Relationship Id="rId1" Type="http://schemas.openxmlformats.org/officeDocument/2006/relationships/tags" Target="../tags/tag40.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35.xml"/><Relationship Id="rId1" Type="http://schemas.openxmlformats.org/officeDocument/2006/relationships/tags" Target="../tags/tag41.xml"/></Relationships>
</file>

<file path=ppt/slides/_rels/slide46.xml.rels><?xml version="1.0" encoding="UTF-8" standalone="yes"?>
<Relationships xmlns="http://schemas.openxmlformats.org/package/2006/relationships"><Relationship Id="rId8" Type="http://schemas.openxmlformats.org/officeDocument/2006/relationships/slideLayout" Target="../slideLayouts/slideLayout35.xml"/><Relationship Id="rId7" Type="http://schemas.openxmlformats.org/officeDocument/2006/relationships/tags" Target="../tags/tag48.xml"/><Relationship Id="rId6" Type="http://schemas.openxmlformats.org/officeDocument/2006/relationships/tags" Target="../tags/tag47.xml"/><Relationship Id="rId5" Type="http://schemas.openxmlformats.org/officeDocument/2006/relationships/tags" Target="../tags/tag46.xml"/><Relationship Id="rId4" Type="http://schemas.openxmlformats.org/officeDocument/2006/relationships/tags" Target="../tags/tag45.xml"/><Relationship Id="rId3" Type="http://schemas.openxmlformats.org/officeDocument/2006/relationships/tags" Target="../tags/tag44.xml"/><Relationship Id="rId2" Type="http://schemas.openxmlformats.org/officeDocument/2006/relationships/tags" Target="../tags/tag43.xml"/><Relationship Id="rId1" Type="http://schemas.openxmlformats.org/officeDocument/2006/relationships/tags" Target="../tags/tag42.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41.xml"/><Relationship Id="rId1" Type="http://schemas.openxmlformats.org/officeDocument/2006/relationships/tags" Target="../tags/tag49.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41.xml"/><Relationship Id="rId1" Type="http://schemas.openxmlformats.org/officeDocument/2006/relationships/tags" Target="../tags/tag50.xml"/></Relationships>
</file>

<file path=ppt/slides/_rels/slide49.xml.rels><?xml version="1.0" encoding="UTF-8" standalone="yes"?>
<Relationships xmlns="http://schemas.openxmlformats.org/package/2006/relationships"><Relationship Id="rId4" Type="http://schemas.openxmlformats.org/officeDocument/2006/relationships/vmlDrawing" Target="../drawings/vmlDrawing2.vml"/><Relationship Id="rId3" Type="http://schemas.openxmlformats.org/officeDocument/2006/relationships/slideLayout" Target="../slideLayouts/slideLayout27.xml"/><Relationship Id="rId2" Type="http://schemas.openxmlformats.org/officeDocument/2006/relationships/image" Target="../media/image10.wmf"/><Relationship Id="rId1" Type="http://schemas.openxmlformats.org/officeDocument/2006/relationships/oleObject" Target="file:///\\dev\dfs\&#26143;&#27827;&#20135;&#19994;&#38598;&#22242;\&#20135;&#19994;&#38598;&#22242;&#26412;&#37096;\&#20135;&#19994;-&#36130;&#21153;&#31649;&#29702;&#20013;&#24515;\&#20135;&#19994;-&#36130;&#21153;&#31649;&#29702;&#37096;\08.&#39044;&#31639;&#25991;&#20214;\2025&#24180;&#39044;&#31639;\11.18\&#29289;&#19994;\2025&#24180;&#39046;&#21019;&#25511;&#32929;&#25509;&#24453;&#21450;&#20307;&#32946;&#20844;&#21496;&#19987;&#23646;&#36153;&#29992;(10.10).xlsx" TargetMode="Externa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7.xml"/><Relationship Id="rId1" Type="http://schemas.openxmlformats.org/officeDocument/2006/relationships/tags" Target="../tags/tag51.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7.xml"/><Relationship Id="rId1" Type="http://schemas.openxmlformats.org/officeDocument/2006/relationships/tags" Target="../tags/tag52.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7.xml"/><Relationship Id="rId1" Type="http://schemas.openxmlformats.org/officeDocument/2006/relationships/tags" Target="../tags/tag53.xml"/></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7.xml"/><Relationship Id="rId1" Type="http://schemas.openxmlformats.org/officeDocument/2006/relationships/tags" Target="../tags/tag5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7.xml"/><Relationship Id="rId1" Type="http://schemas.openxmlformats.org/officeDocument/2006/relationships/tags" Target="../tags/tag55.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7.xml"/><Relationship Id="rId1" Type="http://schemas.openxmlformats.org/officeDocument/2006/relationships/tags" Target="../tags/tag5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27.xml"/><Relationship Id="rId1" Type="http://schemas.openxmlformats.org/officeDocument/2006/relationships/tags" Target="../tags/tag5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副标题 4"/>
          <p:cNvSpPr>
            <a:spLocks noGrp="1"/>
          </p:cNvSpPr>
          <p:nvPr>
            <p:ph type="subTitle" idx="4294967295"/>
          </p:nvPr>
        </p:nvSpPr>
        <p:spPr>
          <a:xfrm>
            <a:off x="0" y="4133850"/>
            <a:ext cx="10058400" cy="295275"/>
          </a:xfrm>
          <a:prstGeom prst="rect">
            <a:avLst/>
          </a:prstGeom>
        </p:spPr>
        <p:txBody>
          <a:bodyPr>
            <a:normAutofit fontScale="95000" lnSpcReduction="10000"/>
          </a:bodyPr>
          <a:lstStyle/>
          <a:p>
            <a:pPr marL="74930" marR="0" lvl="0" indent="-74930" algn="ctr" defTabSz="754380" rtl="0" eaLnBrk="1" fontAlgn="auto" latinLnBrk="0" hangingPunct="1">
              <a:lnSpc>
                <a:spcPct val="90000"/>
              </a:lnSpc>
              <a:spcBef>
                <a:spcPts val="990"/>
              </a:spcBef>
              <a:spcAft>
                <a:spcPts val="165"/>
              </a:spcAft>
              <a:buClr>
                <a:schemeClr val="accent1"/>
              </a:buClr>
              <a:buSzTx/>
              <a:buFont typeface="Calibri" panose="020F0502020204030204" pitchFamily="34" charset="0"/>
              <a:buChar char=" "/>
              <a:defRPr/>
            </a:pPr>
            <a:endParaRPr kumimoji="0" lang="zh-CN" altLang="en-US" sz="1600" b="0" i="0" u="none" strike="noStrike" kern="1200" cap="none" spc="0" normalizeH="0" baseline="0" noProof="1">
              <a:ln>
                <a:noFill/>
              </a:ln>
              <a:solidFill>
                <a:srgbClr val="404040"/>
              </a:solidFill>
              <a:effectLst/>
              <a:uLnTx/>
              <a:uFillTx/>
              <a:ea typeface="微软雅黑" panose="020B0503020204020204" pitchFamily="34" charset="-122"/>
            </a:endParaRPr>
          </a:p>
        </p:txBody>
      </p:sp>
      <p:sp>
        <p:nvSpPr>
          <p:cNvPr id="4" name="标题 3"/>
          <p:cNvSpPr>
            <a:spLocks noGrp="1"/>
          </p:cNvSpPr>
          <p:nvPr>
            <p:ph type="ctrTitle" idx="4294967295"/>
          </p:nvPr>
        </p:nvSpPr>
        <p:spPr>
          <a:xfrm>
            <a:off x="0" y="1574800"/>
            <a:ext cx="10058400" cy="1753235"/>
          </a:xfrm>
          <a:prstGeom prst="rect">
            <a:avLst/>
          </a:prstGeom>
        </p:spPr>
        <p:txBody>
          <a:bodyPr>
            <a:spAutoFit/>
          </a:bodyPr>
          <a:lstStyle/>
          <a:p>
            <a:pPr marL="0" marR="0" lvl="0" indent="0" algn="ctr" defTabSz="914400" rtl="0" eaLnBrk="1" fontAlgn="base" latinLnBrk="0" hangingPunct="1">
              <a:lnSpc>
                <a:spcPct val="150000"/>
              </a:lnSpc>
              <a:spcBef>
                <a:spcPct val="0"/>
              </a:spcBef>
              <a:spcAft>
                <a:spcPct val="0"/>
              </a:spcAft>
              <a:buClrTx/>
              <a:buSzTx/>
              <a:buFontTx/>
              <a:buNone/>
              <a:defRPr/>
            </a:pPr>
            <a:r>
              <a:rPr kumimoji="0" lang="zh-CN" altLang="en-US" sz="3600" b="1" i="0" u="none" strike="noStrike" kern="1200" cap="none" spc="600" normalizeH="0" baseline="0" noProof="1">
                <a:ln>
                  <a:noFill/>
                </a:ln>
                <a:solidFill>
                  <a:srgbClr val="D01E1E"/>
                </a:solidFill>
                <a:effectLst/>
                <a:uLnTx/>
                <a:uFillTx/>
                <a:ea typeface="微软雅黑" panose="020B0503020204020204" pitchFamily="34" charset="-122"/>
                <a:cs typeface="+mn-cs"/>
              </a:rPr>
              <a:t>产业</a:t>
            </a:r>
            <a:r>
              <a:rPr kumimoji="0" lang="zh-CN" altLang="en-US" sz="3600" b="1" i="0" u="none" strike="noStrike" kern="1200" cap="none" spc="600" normalizeH="0" baseline="0" noProof="1" smtClean="0">
                <a:ln>
                  <a:noFill/>
                </a:ln>
                <a:solidFill>
                  <a:srgbClr val="D01E1E"/>
                </a:solidFill>
                <a:effectLst/>
                <a:uLnTx/>
                <a:uFillTx/>
                <a:ea typeface="微软雅黑" panose="020B0503020204020204" pitchFamily="34" charset="-122"/>
                <a:cs typeface="+mn-cs"/>
              </a:rPr>
              <a:t>集团</a:t>
            </a:r>
            <a:r>
              <a:rPr kumimoji="0" lang="en-US" altLang="zh-CN" sz="3600" b="1" i="0" u="none" strike="noStrike" kern="1200" cap="none" spc="600" normalizeH="0" baseline="0" noProof="1" smtClean="0">
                <a:ln>
                  <a:noFill/>
                </a:ln>
                <a:solidFill>
                  <a:srgbClr val="D01E1E"/>
                </a:solidFill>
                <a:effectLst/>
                <a:uLnTx/>
                <a:uFillTx/>
                <a:ea typeface="微软雅黑" panose="020B0503020204020204" pitchFamily="34" charset="-122"/>
                <a:cs typeface="+mn-cs"/>
              </a:rPr>
              <a:t>2026年</a:t>
            </a:r>
            <a:r>
              <a:rPr kumimoji="0" lang="zh-CN" altLang="en-US" sz="3600" b="1" i="0" u="none" strike="noStrike" kern="1200" cap="none" spc="600" normalizeH="0" baseline="0" noProof="1">
                <a:ln>
                  <a:noFill/>
                </a:ln>
                <a:solidFill>
                  <a:srgbClr val="D01E1E"/>
                </a:solidFill>
                <a:effectLst/>
                <a:uLnTx/>
                <a:uFillTx/>
                <a:ea typeface="微软雅黑" panose="020B0503020204020204" pitchFamily="34" charset="-122"/>
                <a:cs typeface="+mn-cs"/>
              </a:rPr>
              <a:t>度</a:t>
            </a:r>
            <a:br>
              <a:rPr kumimoji="0" lang="en-US" altLang="zh-CN" sz="3600" b="1" i="0" u="none" strike="noStrike" kern="1200" cap="none" spc="600" normalizeH="0" baseline="0" noProof="1">
                <a:ln>
                  <a:noFill/>
                </a:ln>
                <a:solidFill>
                  <a:srgbClr val="D01E1E"/>
                </a:solidFill>
                <a:effectLst/>
                <a:uLnTx/>
                <a:uFillTx/>
                <a:ea typeface="微软雅黑" panose="020B0503020204020204" pitchFamily="34" charset="-122"/>
                <a:cs typeface="+mn-cs"/>
              </a:rPr>
            </a:br>
            <a:r>
              <a:rPr kumimoji="0" lang="zh-CN" altLang="en-US" sz="3600" b="1" i="0" u="none" strike="noStrike" kern="1200" cap="none" spc="600" normalizeH="0" baseline="0" noProof="1">
                <a:ln>
                  <a:noFill/>
                </a:ln>
                <a:solidFill>
                  <a:srgbClr val="D01E1E"/>
                </a:solidFill>
                <a:effectLst/>
                <a:uLnTx/>
                <a:uFillTx/>
                <a:ea typeface="微软雅黑" panose="020B0503020204020204" pitchFamily="34" charset="-122"/>
                <a:cs typeface="+mn-cs"/>
              </a:rPr>
              <a:t>经营计划和预算报告</a:t>
            </a:r>
            <a:endParaRPr kumimoji="0" lang="zh-CN" altLang="en-US" sz="3600" b="1" i="0" u="none" strike="noStrike" kern="1200" cap="none" spc="600" normalizeH="0" baseline="0" noProof="0" dirty="0">
              <a:ln>
                <a:noFill/>
              </a:ln>
              <a:solidFill>
                <a:srgbClr val="D01E1E"/>
              </a:solidFill>
              <a:effectLst/>
              <a:uLnTx/>
              <a:uFillTx/>
              <a:ea typeface="微软雅黑" panose="020B0503020204020204" pitchFamily="34" charset="-122"/>
              <a:cs typeface="+mn-cs"/>
            </a:endParaRPr>
          </a:p>
        </p:txBody>
      </p:sp>
    </p:spTree>
    <p:custDataLst>
      <p:tags r:id="rId1"/>
    </p:custData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灯片编号占位符 10"/>
          <p:cNvSpPr txBox="1">
            <a:spLocks noGrp="1"/>
          </p:cNvSpPr>
          <p:nvPr>
            <p:ph type="sldNum" sz="quarter" idx="4"/>
          </p:nvPr>
        </p:nvSpPr>
        <p:spPr>
          <a:noFill/>
        </p:spPr>
        <p:txBody>
          <a:bodyPr lIns="91419" tIns="45709" rIns="91419" bIns="45709" rtlCol="0" anchor="ctr"/>
          <a:lstStyle/>
          <a:p>
            <a:pPr marL="0" marR="0" lvl="0" indent="0" algn="r" defTabSz="914400" rtl="0" eaLnBrk="0" fontAlgn="base" latinLnBrk="0" hangingPunct="0">
              <a:lnSpc>
                <a:spcPct val="100000"/>
              </a:lnSpc>
              <a:spcBef>
                <a:spcPct val="0"/>
              </a:spcBef>
              <a:spcAft>
                <a:spcPct val="0"/>
              </a:spcAft>
              <a:buClrTx/>
              <a:buSzTx/>
              <a:buFontTx/>
              <a:buNone/>
              <a:defRPr/>
            </a:pPr>
            <a:fld id="{51E583C8-F0B7-4420-85FA-0D76DC3A4496}" type="slidenum">
              <a:rPr kumimoji="0" lang="zh-CN" altLang="en-US" sz="1000" b="0" i="0" u="none" strike="noStrike" kern="1200" cap="none" spc="0" normalizeH="0" baseline="0" noProof="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dirty="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endParaRPr>
          </a:p>
        </p:txBody>
      </p:sp>
      <p:grpSp>
        <p:nvGrpSpPr>
          <p:cNvPr id="12293" name="组合 1"/>
          <p:cNvGrpSpPr/>
          <p:nvPr/>
        </p:nvGrpSpPr>
        <p:grpSpPr>
          <a:xfrm>
            <a:off x="359410" y="1011555"/>
            <a:ext cx="2550160" cy="3945890"/>
            <a:chOff x="608404" y="1245543"/>
            <a:chExt cx="2596097" cy="2562703"/>
          </a:xfrm>
        </p:grpSpPr>
        <p:sp>
          <p:nvSpPr>
            <p:cNvPr id="6" name="矩形 5"/>
            <p:cNvSpPr/>
            <p:nvPr/>
          </p:nvSpPr>
          <p:spPr>
            <a:xfrm>
              <a:off x="631674" y="1245543"/>
              <a:ext cx="2572827" cy="590285"/>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0" normalizeH="0" baseline="0" noProof="0" dirty="0" smtClean="0">
                  <a:ln>
                    <a:noFill/>
                  </a:ln>
                  <a:solidFill>
                    <a:prstClr val="white"/>
                  </a:solidFill>
                  <a:effectLst/>
                  <a:uLnTx/>
                  <a:uFillTx/>
                  <a:latin typeface="Calibri" panose="020F0502020204030204"/>
                  <a:ea typeface="微软雅黑" panose="020B0503020204020204" pitchFamily="34" charset="-122"/>
                  <a:cs typeface="+mn-cs"/>
                </a:rPr>
                <a:t>产业</a:t>
              </a:r>
              <a:r>
                <a:rPr kumimoji="0" lang="zh-CN" altLang="en-US" sz="18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rPr>
                <a:t>租赁</a:t>
              </a:r>
              <a:endParaRPr kumimoji="0" lang="zh-CN" altLang="en-US" sz="18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endParaRPr>
            </a:p>
          </p:txBody>
        </p:sp>
        <p:sp>
          <p:nvSpPr>
            <p:cNvPr id="13" name="矩形 12"/>
            <p:cNvSpPr/>
            <p:nvPr/>
          </p:nvSpPr>
          <p:spPr>
            <a:xfrm>
              <a:off x="608404" y="1896135"/>
              <a:ext cx="2595789" cy="1912111"/>
            </a:xfrm>
            <a:prstGeom prst="rect">
              <a:avLst/>
            </a:prstGeom>
            <a:noFill/>
            <a:ln>
              <a:solidFill>
                <a:srgbClr val="58434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集团本部</a:t>
              </a:r>
              <a:endParaRPr kumimoji="0" lang="en-US" altLang="zh-CN"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深圳产业</a:t>
              </a:r>
              <a:r>
                <a:rPr kumimoji="0" lang="zh-CN" altLang="en-US" sz="10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a:t>
              </a:r>
              <a:r>
                <a:rPr kumimoji="0" lang="en-US" altLang="zh-CN" sz="10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WORLD123</a:t>
              </a:r>
              <a:r>
                <a:rPr kumimoji="0" lang="zh-CN" altLang="en-US" sz="10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期、</a:t>
              </a:r>
              <a:r>
                <a:rPr kumimoji="0" lang="zh-CN" altLang="en-US" sz="10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双塔组团、时代大厦、</a:t>
              </a:r>
              <a:r>
                <a:rPr kumimoji="0" lang="zh-CN" altLang="en-US" sz="10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XH</a:t>
              </a:r>
              <a:r>
                <a:rPr kumimoji="0" lang="zh-CN" altLang="en-US" sz="10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中心、XH世纪、银海</a:t>
              </a:r>
              <a:r>
                <a:rPr kumimoji="0" lang="zh-CN" altLang="en-US" sz="10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项目、</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开市客</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（新增）</a:t>
              </a:r>
              <a:r>
                <a:rPr kumimoji="0" lang="zh-CN" altLang="en-US" sz="10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endParaRPr kumimoji="0" lang="en-US" altLang="zh-CN" sz="10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华南产业</a:t>
              </a:r>
              <a:r>
                <a:rPr kumimoji="0" lang="zh-CN" altLang="en-US" sz="10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（XH发展大厦、东悦汇</a:t>
              </a:r>
              <a:r>
                <a:rPr kumimoji="0" lang="zh-CN" altLang="en-US" sz="10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项目、亚金项目、珠宝</a:t>
              </a:r>
              <a:r>
                <a:rPr kumimoji="0" lang="zh-CN" altLang="en-US" sz="10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小镇、云颂</a:t>
              </a:r>
              <a:r>
                <a:rPr kumimoji="0" lang="zh-CN" altLang="en-US" sz="10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府、</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东湾旧改</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（新增）</a:t>
              </a:r>
              <a:r>
                <a:rPr kumimoji="0" lang="zh-CN" altLang="en-US" sz="10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endParaRPr kumimoji="0" lang="en-US" altLang="zh-CN" sz="10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南京产业</a:t>
              </a:r>
              <a:r>
                <a:rPr kumimoji="0" lang="zh-CN" altLang="en-US" sz="10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（南京租赁</a:t>
              </a:r>
              <a:r>
                <a:rPr kumimoji="0" lang="en-US" altLang="zh-CN" sz="10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kumimoji="0" lang="zh-CN" altLang="en-US" sz="10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物业）</a:t>
              </a:r>
              <a:endParaRPr kumimoji="0" lang="en-US" altLang="zh-CN" sz="100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惠州产业</a:t>
              </a: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（宿舍租赁</a:t>
              </a:r>
              <a:r>
                <a:rPr kumimoji="0" lang="en-US" altLang="zh-CN"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a:t>
              </a: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物业</a:t>
              </a:r>
              <a:r>
                <a:rPr kumimoji="0" lang="zh-CN" altLang="en-US" sz="10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a:t>
              </a:r>
              <a:endParaRPr kumimoji="0" lang="en-US" altLang="zh-CN" sz="12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研究院</a:t>
              </a: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（深圳领创天下</a:t>
              </a:r>
              <a:r>
                <a:rPr kumimoji="0" lang="zh-CN" altLang="en-US" sz="10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a:t>
              </a:r>
              <a:endParaRPr kumimoji="0" lang="en-US" altLang="zh-CN" sz="10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苏州产业</a:t>
              </a:r>
              <a:r>
                <a:rPr lang="zh-CN" altLang="en-US" sz="10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（租赁）</a:t>
              </a:r>
              <a:endPar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sym typeface="+mn-ea"/>
              </a:endParaRPr>
            </a:p>
            <a:p>
              <a:pPr marL="285750" marR="0" lvl="0" indent="-285750" algn="l" defTabSz="914400" rtl="0" eaLnBrk="0" fontAlgn="base" latinLnBrk="0" hangingPunct="0">
                <a:lnSpc>
                  <a:spcPct val="100000"/>
                </a:lnSpc>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schemeClr val="accent2">
                      <a:lumMod val="75000"/>
                    </a:schemeClr>
                  </a:solidFill>
                  <a:effectLst/>
                  <a:uLnTx/>
                  <a:uFillTx/>
                  <a:latin typeface="微软雅黑" panose="020B0503020204020204" pitchFamily="34" charset="-122"/>
                  <a:ea typeface="微软雅黑" panose="020B0503020204020204" pitchFamily="34" charset="-122"/>
                  <a:cs typeface="+mn-cs"/>
                </a:rPr>
                <a:t>轻资产昆山</a:t>
              </a:r>
              <a:endParaRPr kumimoji="0" lang="zh-CN" altLang="en-US" sz="1200" b="1" i="0" u="none" strike="noStrike" kern="1200" cap="none" spc="0" normalizeH="0" baseline="0" noProof="0" dirty="0">
                <a:ln>
                  <a:noFill/>
                </a:ln>
                <a:solidFill>
                  <a:schemeClr val="accent2">
                    <a:lumMod val="75000"/>
                  </a:schemeClr>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成都产业</a:t>
              </a:r>
              <a:endPar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合资公司</a:t>
              </a:r>
              <a:r>
                <a:rPr kumimoji="0" lang="zh-CN" altLang="en-US" sz="10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（美</a:t>
              </a:r>
              <a:r>
                <a:rPr kumimoji="0" lang="zh-CN" altLang="en-US" sz="10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餐</a:t>
              </a: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a:t>
              </a:r>
              <a:endPar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grpSp>
        <p:nvGrpSpPr>
          <p:cNvPr id="12295" name="组合 3"/>
          <p:cNvGrpSpPr/>
          <p:nvPr/>
        </p:nvGrpSpPr>
        <p:grpSpPr>
          <a:xfrm>
            <a:off x="7842885" y="1012190"/>
            <a:ext cx="2077720" cy="3892550"/>
            <a:chOff x="5547841" y="1168429"/>
            <a:chExt cx="2165323" cy="3787068"/>
          </a:xfrm>
        </p:grpSpPr>
        <p:sp>
          <p:nvSpPr>
            <p:cNvPr id="16" name="矩形 15"/>
            <p:cNvSpPr/>
            <p:nvPr/>
          </p:nvSpPr>
          <p:spPr>
            <a:xfrm>
              <a:off x="5547841" y="1168429"/>
              <a:ext cx="2165323" cy="859365"/>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rPr>
                <a:t>政府考核专项预算</a:t>
              </a:r>
              <a:endParaRPr kumimoji="0" lang="zh-CN" altLang="en-US" sz="14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endParaRPr>
            </a:p>
          </p:txBody>
        </p:sp>
        <p:sp>
          <p:nvSpPr>
            <p:cNvPr id="17" name="矩形 16"/>
            <p:cNvSpPr/>
            <p:nvPr/>
          </p:nvSpPr>
          <p:spPr>
            <a:xfrm>
              <a:off x="5547841" y="2142688"/>
              <a:ext cx="2165323" cy="2812809"/>
            </a:xfrm>
            <a:prstGeom prst="rect">
              <a:avLst/>
            </a:prstGeom>
            <a:noFill/>
            <a:ln>
              <a:solidFill>
                <a:srgbClr val="58434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rPr>
                <a:t>南京公司考核费用</a:t>
              </a:r>
              <a:endParaRPr kumimoji="0" lang="en-US" altLang="zh-CN"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rPr>
                <a:t>惠州仲恺考核费用</a:t>
              </a:r>
              <a:endParaRPr kumimoji="0" lang="en-US" altLang="zh-CN"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rPr>
                <a:t>成都温江考核费用</a:t>
              </a:r>
              <a:endParaRPr kumimoji="0" lang="en-US" altLang="zh-CN"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rPr>
                <a:t>苏州横塘考核费用</a:t>
              </a:r>
              <a:endParaRPr kumimoji="0" lang="en-US" altLang="zh-CN" sz="1100" b="0"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200" b="1"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p:txBody>
        </p:sp>
      </p:grpSp>
      <p:grpSp>
        <p:nvGrpSpPr>
          <p:cNvPr id="18" name="组合 3"/>
          <p:cNvGrpSpPr/>
          <p:nvPr/>
        </p:nvGrpSpPr>
        <p:grpSpPr>
          <a:xfrm>
            <a:off x="5317490" y="1012190"/>
            <a:ext cx="2221865" cy="3929380"/>
            <a:chOff x="5547841" y="1184897"/>
            <a:chExt cx="2165323" cy="3755024"/>
          </a:xfrm>
        </p:grpSpPr>
        <p:sp>
          <p:nvSpPr>
            <p:cNvPr id="19" name="矩形 18"/>
            <p:cNvSpPr/>
            <p:nvPr/>
          </p:nvSpPr>
          <p:spPr>
            <a:xfrm>
              <a:off x="5547841" y="1184897"/>
              <a:ext cx="2165323" cy="86368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rPr>
                <a:t>产业</a:t>
              </a:r>
              <a:r>
                <a:rPr kumimoji="0" lang="zh-CN" altLang="en-US" sz="1800" b="1" i="0" u="none" strike="noStrike" kern="1200" cap="none" spc="0" normalizeH="0" baseline="0" noProof="0" dirty="0" smtClean="0">
                  <a:ln>
                    <a:noFill/>
                  </a:ln>
                  <a:solidFill>
                    <a:prstClr val="white"/>
                  </a:solidFill>
                  <a:effectLst/>
                  <a:uLnTx/>
                  <a:uFillTx/>
                  <a:latin typeface="Calibri" panose="020F0502020204030204"/>
                  <a:ea typeface="微软雅黑" panose="020B0503020204020204" pitchFamily="34" charset="-122"/>
                  <a:cs typeface="+mn-cs"/>
                </a:rPr>
                <a:t>销售</a:t>
              </a:r>
              <a:endParaRPr kumimoji="0" lang="zh-CN" altLang="en-US" sz="14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endParaRPr>
            </a:p>
          </p:txBody>
        </p:sp>
        <p:sp>
          <p:nvSpPr>
            <p:cNvPr id="20" name="矩形 19"/>
            <p:cNvSpPr/>
            <p:nvPr/>
          </p:nvSpPr>
          <p:spPr>
            <a:xfrm>
              <a:off x="5547841" y="2141858"/>
              <a:ext cx="2165323" cy="2798063"/>
            </a:xfrm>
            <a:prstGeom prst="rect">
              <a:avLst/>
            </a:prstGeom>
            <a:noFill/>
            <a:ln>
              <a:solidFill>
                <a:srgbClr val="58434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400" b="1" i="0" u="none" strike="noStrike" kern="1200" cap="none" spc="0" normalizeH="0" baseline="0" noProof="0" dirty="0" smtClean="0">
                  <a:ln>
                    <a:noFill/>
                  </a:ln>
                  <a:solidFill>
                    <a:prstClr val="black"/>
                  </a:solidFill>
                  <a:effectLst/>
                  <a:uLnTx/>
                  <a:uFillTx/>
                  <a:latin typeface="Calibri" panose="020F0502020204030204"/>
                  <a:ea typeface="微软雅黑" panose="020B0503020204020204" pitchFamily="34" charset="-122"/>
                  <a:cs typeface="+mn-cs"/>
                </a:rPr>
                <a:t>成都</a:t>
              </a:r>
              <a:r>
                <a:rPr kumimoji="0" lang="zh-CN" altLang="en-US" sz="1400" b="1"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rPr>
                <a:t>产业</a:t>
              </a:r>
              <a:endParaRPr kumimoji="0" lang="en-US" altLang="zh-CN" sz="1400" b="1"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400" b="1"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rPr>
                <a:t>南京</a:t>
              </a:r>
              <a:r>
                <a:rPr kumimoji="0" lang="zh-CN" altLang="en-US" sz="1400" b="1" i="0" u="none" strike="noStrike" kern="1200" cap="none" spc="0" normalizeH="0" baseline="0" noProof="0" dirty="0" smtClean="0">
                  <a:ln>
                    <a:noFill/>
                  </a:ln>
                  <a:solidFill>
                    <a:prstClr val="black"/>
                  </a:solidFill>
                  <a:effectLst/>
                  <a:uLnTx/>
                  <a:uFillTx/>
                  <a:latin typeface="Calibri" panose="020F0502020204030204"/>
                  <a:ea typeface="微软雅黑" panose="020B0503020204020204" pitchFamily="34" charset="-122"/>
                  <a:cs typeface="+mn-cs"/>
                </a:rPr>
                <a:t>产业</a:t>
              </a:r>
              <a:endParaRPr kumimoji="0" lang="zh-CN" altLang="en-US" sz="1400" b="1" i="0" u="none" strike="noStrike" kern="1200" cap="none" spc="0" normalizeH="0" baseline="0" noProof="0" dirty="0" smtClean="0">
                <a:ln>
                  <a:noFill/>
                </a:ln>
                <a:solidFill>
                  <a:prstClr val="black"/>
                </a:solidFill>
                <a:effectLst/>
                <a:uLnTx/>
                <a:uFillTx/>
                <a:latin typeface="Calibri" panose="020F0502020204030204"/>
                <a:ea typeface="微软雅黑" panose="020B0503020204020204" pitchFamily="34" charset="-122"/>
                <a:cs typeface="+mn-cs"/>
              </a:endParaRPr>
            </a:p>
            <a:p>
              <a:pPr marL="285750" marR="0" lvl="0" indent="-285750" algn="l" defTabSz="914400" rtl="0" eaLnBrk="0" fontAlgn="base" latinLnBrk="0" hangingPunct="0">
                <a:lnSpc>
                  <a:spcPct val="150000"/>
                </a:lnSpc>
                <a:buClrTx/>
                <a:buSzTx/>
                <a:buFont typeface="Wingdings" panose="05000000000000000000" pitchFamily="2" charset="2"/>
                <a:buChar char="u"/>
                <a:defRPr/>
              </a:pPr>
              <a:r>
                <a:rPr lang="zh-CN" altLang="en-US" sz="1400" b="1" noProof="0" dirty="0">
                  <a:ln>
                    <a:noFill/>
                  </a:ln>
                  <a:solidFill>
                    <a:srgbClr val="C00000"/>
                  </a:solidFill>
                  <a:effectLst/>
                  <a:uLnTx/>
                  <a:uFillTx/>
                  <a:latin typeface="Calibri" panose="020F0502020204030204"/>
                  <a:ea typeface="微软雅黑" panose="020B0503020204020204" pitchFamily="34" charset="-122"/>
                  <a:sym typeface="+mn-ea"/>
                </a:rPr>
                <a:t>黄江销售</a:t>
              </a:r>
              <a:r>
                <a:rPr lang="en-US" altLang="zh-CN" sz="1200" b="1"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200" b="1"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新增单列</a:t>
              </a:r>
              <a:r>
                <a:rPr lang="en-US" altLang="zh-CN" sz="1200" b="1"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endParaRPr kumimoji="0" lang="zh-CN" altLang="en-US" sz="12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lang="zh-CN" altLang="en-US" sz="1200" b="1" dirty="0">
                  <a:solidFill>
                    <a:schemeClr val="bg1">
                      <a:lumMod val="75000"/>
                    </a:schemeClr>
                  </a:solidFill>
                  <a:latin typeface="Calibri" panose="020F0502020204030204"/>
                  <a:ea typeface="微软雅黑" panose="020B0503020204020204" pitchFamily="34" charset="-122"/>
                </a:rPr>
                <a:t>惠</a:t>
              </a:r>
              <a:r>
                <a:rPr lang="zh-CN" altLang="en-US" sz="1200" b="1" dirty="0" smtClean="0">
                  <a:solidFill>
                    <a:schemeClr val="bg1">
                      <a:lumMod val="75000"/>
                    </a:schemeClr>
                  </a:solidFill>
                  <a:latin typeface="Calibri" panose="020F0502020204030204"/>
                  <a:ea typeface="微软雅黑" panose="020B0503020204020204" pitchFamily="34" charset="-122"/>
                </a:rPr>
                <a:t>州产业（</a:t>
              </a:r>
              <a:r>
                <a:rPr lang="en-US" altLang="zh-CN" sz="1200" b="1" dirty="0" smtClean="0">
                  <a:solidFill>
                    <a:schemeClr val="bg1">
                      <a:lumMod val="75000"/>
                    </a:schemeClr>
                  </a:solidFill>
                  <a:latin typeface="Calibri" panose="020F0502020204030204"/>
                  <a:ea typeface="微软雅黑" panose="020B0503020204020204" pitchFamily="34" charset="-122"/>
                </a:rPr>
                <a:t>25</a:t>
              </a:r>
              <a:r>
                <a:rPr lang="zh-CN" altLang="en-US" sz="1200" b="1" dirty="0">
                  <a:solidFill>
                    <a:schemeClr val="bg1">
                      <a:lumMod val="75000"/>
                    </a:schemeClr>
                  </a:solidFill>
                  <a:latin typeface="Calibri" panose="020F0502020204030204"/>
                  <a:ea typeface="微软雅黑" panose="020B0503020204020204" pitchFamily="34" charset="-122"/>
                </a:rPr>
                <a:t>年清盘</a:t>
              </a:r>
              <a:r>
                <a:rPr lang="zh-CN" altLang="en-US" sz="1200" b="1" dirty="0" smtClean="0">
                  <a:solidFill>
                    <a:schemeClr val="bg1">
                      <a:lumMod val="75000"/>
                    </a:schemeClr>
                  </a:solidFill>
                  <a:latin typeface="Calibri" panose="020F0502020204030204"/>
                  <a:ea typeface="微软雅黑" panose="020B0503020204020204" pitchFamily="34" charset="-122"/>
                </a:rPr>
                <a:t>）</a:t>
              </a:r>
              <a:endParaRPr lang="en-US" altLang="zh-CN" sz="1200" b="1" dirty="0" smtClean="0">
                <a:solidFill>
                  <a:schemeClr val="bg1">
                    <a:lumMod val="75000"/>
                  </a:schemeClr>
                </a:solidFill>
                <a:latin typeface="Calibri" panose="020F0502020204030204"/>
                <a:ea typeface="微软雅黑" panose="020B0503020204020204" pitchFamily="34" charset="-122"/>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smtClean="0">
                  <a:ln>
                    <a:noFill/>
                  </a:ln>
                  <a:solidFill>
                    <a:schemeClr val="bg1">
                      <a:lumMod val="75000"/>
                    </a:schemeClr>
                  </a:solidFill>
                  <a:effectLst/>
                  <a:uLnTx/>
                  <a:uFillTx/>
                  <a:latin typeface="Calibri" panose="020F0502020204030204"/>
                  <a:ea typeface="微软雅黑" panose="020B0503020204020204" pitchFamily="34" charset="-122"/>
                </a:rPr>
                <a:t>苏州产业（</a:t>
              </a:r>
              <a:r>
                <a:rPr kumimoji="0" lang="en-US" altLang="zh-CN" sz="1200" b="1" i="0" u="none" strike="noStrike" kern="1200" cap="none" spc="0" normalizeH="0" baseline="0" noProof="0" dirty="0" smtClean="0">
                  <a:ln>
                    <a:noFill/>
                  </a:ln>
                  <a:solidFill>
                    <a:schemeClr val="bg1">
                      <a:lumMod val="75000"/>
                    </a:schemeClr>
                  </a:solidFill>
                  <a:effectLst/>
                  <a:uLnTx/>
                  <a:uFillTx/>
                  <a:latin typeface="Calibri" panose="020F0502020204030204"/>
                  <a:ea typeface="微软雅黑" panose="020B0503020204020204" pitchFamily="34" charset="-122"/>
                </a:rPr>
                <a:t>25</a:t>
              </a:r>
              <a:r>
                <a:rPr kumimoji="0" lang="zh-CN" altLang="en-US" sz="1200" b="1" i="0" u="none" strike="noStrike" kern="1200" cap="none" spc="0" normalizeH="0" baseline="0" noProof="0" dirty="0" smtClean="0">
                  <a:ln>
                    <a:noFill/>
                  </a:ln>
                  <a:solidFill>
                    <a:schemeClr val="bg1">
                      <a:lumMod val="75000"/>
                    </a:schemeClr>
                  </a:solidFill>
                  <a:effectLst/>
                  <a:uLnTx/>
                  <a:uFillTx/>
                  <a:latin typeface="Calibri" panose="020F0502020204030204"/>
                  <a:ea typeface="微软雅黑" panose="020B0503020204020204" pitchFamily="34" charset="-122"/>
                </a:rPr>
                <a:t>年清</a:t>
              </a:r>
              <a:r>
                <a:rPr lang="zh-CN" altLang="en-US" sz="1200" b="1" dirty="0">
                  <a:solidFill>
                    <a:schemeClr val="bg1">
                      <a:lumMod val="75000"/>
                    </a:schemeClr>
                  </a:solidFill>
                  <a:latin typeface="Calibri" panose="020F0502020204030204"/>
                  <a:ea typeface="微软雅黑" panose="020B0503020204020204" pitchFamily="34" charset="-122"/>
                </a:rPr>
                <a:t>盘</a:t>
              </a:r>
              <a:r>
                <a:rPr kumimoji="0" lang="zh-CN" altLang="en-US" sz="1200" b="1" i="0" u="none" strike="noStrike" kern="1200" cap="none" spc="0" normalizeH="0" baseline="0" noProof="0" dirty="0" smtClean="0">
                  <a:ln>
                    <a:noFill/>
                  </a:ln>
                  <a:solidFill>
                    <a:schemeClr val="bg1">
                      <a:lumMod val="75000"/>
                    </a:schemeClr>
                  </a:solidFill>
                  <a:effectLst/>
                  <a:uLnTx/>
                  <a:uFillTx/>
                  <a:latin typeface="Calibri" panose="020F0502020204030204"/>
                  <a:ea typeface="微软雅黑" panose="020B0503020204020204" pitchFamily="34" charset="-122"/>
                </a:rPr>
                <a:t>）</a:t>
              </a:r>
              <a:endParaRPr kumimoji="0" lang="en-US" altLang="zh-CN" sz="900" b="0" i="0" u="none" strike="noStrike" kern="1200" cap="none" spc="0" normalizeH="0" baseline="0" noProof="0" dirty="0" smtClean="0">
                <a:ln>
                  <a:noFill/>
                </a:ln>
                <a:solidFill>
                  <a:schemeClr val="bg1">
                    <a:lumMod val="75000"/>
                  </a:schemeClr>
                </a:solidFill>
                <a:effectLst/>
                <a:uLnTx/>
                <a:uFillTx/>
                <a:latin typeface="Calibri" panose="020F0502020204030204"/>
                <a:ea typeface="微软雅黑" panose="020B0503020204020204" pitchFamily="34" charset="-122"/>
              </a:endParaRPr>
            </a:p>
            <a:p>
              <a:pPr marL="0" marR="0" lvl="0" indent="0" algn="l" defTabSz="914400" rtl="0" eaLnBrk="0" fontAlgn="base" latinLnBrk="0" hangingPunct="0">
                <a:lnSpc>
                  <a:spcPct val="150000"/>
                </a:lnSpc>
                <a:spcBef>
                  <a:spcPct val="0"/>
                </a:spcBef>
                <a:spcAft>
                  <a:spcPct val="0"/>
                </a:spcAft>
                <a:buClrTx/>
                <a:buSzTx/>
                <a:buFont typeface="Wingdings" panose="05000000000000000000" pitchFamily="2" charset="2"/>
                <a:buNone/>
                <a:defRPr/>
              </a:pPr>
              <a:endParaRPr kumimoji="0" lang="zh-CN" altLang="en-US" sz="1400" b="1" i="0" u="none" strike="noStrike" kern="1200" cap="none" spc="0" normalizeH="0" baseline="0" noProof="0" dirty="0">
                <a:ln>
                  <a:noFill/>
                </a:ln>
                <a:solidFill>
                  <a:prstClr val="black"/>
                </a:solidFill>
                <a:effectLst/>
                <a:uLnTx/>
                <a:uFillTx/>
                <a:latin typeface="Calibri" panose="020F0502020204030204"/>
                <a:ea typeface="微软雅黑" panose="020B0503020204020204" pitchFamily="34" charset="-122"/>
                <a:cs typeface="+mn-cs"/>
              </a:endParaRPr>
            </a:p>
          </p:txBody>
        </p:sp>
      </p:grpSp>
      <p:sp>
        <p:nvSpPr>
          <p:cNvPr id="4" name="矩形 3"/>
          <p:cNvSpPr/>
          <p:nvPr/>
        </p:nvSpPr>
        <p:spPr>
          <a:xfrm>
            <a:off x="280670" y="923290"/>
            <a:ext cx="7479030" cy="4222115"/>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1" name="矩形 20"/>
          <p:cNvSpPr/>
          <p:nvPr/>
        </p:nvSpPr>
        <p:spPr>
          <a:xfrm>
            <a:off x="3013032" y="1004887"/>
            <a:ext cx="2221873" cy="863559"/>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0" normalizeH="0" baseline="0" noProof="0" dirty="0" smtClean="0">
                <a:ln>
                  <a:noFill/>
                </a:ln>
                <a:solidFill>
                  <a:prstClr val="white"/>
                </a:solidFill>
                <a:effectLst/>
                <a:uLnTx/>
                <a:uFillTx/>
                <a:latin typeface="Calibri" panose="020F0502020204030204"/>
                <a:ea typeface="微软雅黑" panose="020B0503020204020204" pitchFamily="34" charset="-122"/>
                <a:cs typeface="+mn-cs"/>
              </a:rPr>
              <a:t>酒店、公寓</a:t>
            </a:r>
            <a:endParaRPr kumimoji="0" lang="zh-CN" altLang="en-US" sz="1400" b="1" i="0" u="none" strike="noStrike" kern="1200" cap="none" spc="0" normalizeH="0" baseline="0" noProof="0" dirty="0">
              <a:ln>
                <a:noFill/>
              </a:ln>
              <a:solidFill>
                <a:prstClr val="white"/>
              </a:solidFill>
              <a:effectLst/>
              <a:uLnTx/>
              <a:uFillTx/>
              <a:latin typeface="Calibri" panose="020F0502020204030204"/>
              <a:ea typeface="微软雅黑" panose="020B0503020204020204" pitchFamily="34" charset="-122"/>
              <a:cs typeface="+mn-cs"/>
            </a:endParaRPr>
          </a:p>
        </p:txBody>
      </p:sp>
      <p:sp>
        <p:nvSpPr>
          <p:cNvPr id="22" name="矩形 21"/>
          <p:cNvSpPr/>
          <p:nvPr/>
        </p:nvSpPr>
        <p:spPr>
          <a:xfrm>
            <a:off x="3013075" y="2014220"/>
            <a:ext cx="2244090" cy="2943860"/>
          </a:xfrm>
          <a:prstGeom prst="rect">
            <a:avLst/>
          </a:prstGeom>
          <a:noFill/>
          <a:ln>
            <a:solidFill>
              <a:srgbClr val="58434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东山酒店</a:t>
            </a: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a:t>
            </a:r>
            <a:r>
              <a:rPr kumimoji="0" lang="zh-CN" altLang="en-US" sz="12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深圳吉酒店</a:t>
            </a: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a:t>
            </a:r>
            <a:r>
              <a:rPr kumimoji="0" lang="zh-CN" altLang="en-US" sz="12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星度假酒店</a:t>
            </a:r>
            <a:r>
              <a:rPr kumimoji="0" lang="zh-CN" altLang="en-US" sz="12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a:t>
            </a:r>
            <a:r>
              <a:rPr kumimoji="0" lang="zh-CN" altLang="en-US" sz="1200" b="1" i="0" u="none" strike="noStrike" kern="1200" cap="none" spc="0" normalizeH="0" baseline="0" noProof="0" dirty="0" smtClean="0">
                <a:ln>
                  <a:noFill/>
                </a:ln>
                <a:solidFill>
                  <a:schemeClr val="accent2">
                    <a:lumMod val="50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丽思酒店</a:t>
            </a:r>
            <a:r>
              <a:rPr kumimoji="0" lang="zh-CN" altLang="en-US" sz="1200" b="1" i="0" u="none" strike="noStrike" kern="1200" cap="none" spc="0" normalizeH="0" baseline="0" noProof="0" dirty="0">
                <a:ln>
                  <a:noFill/>
                </a:ln>
                <a:solidFill>
                  <a:schemeClr val="accent2">
                    <a:lumMod val="50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a:t>
            </a:r>
            <a:r>
              <a:rPr kumimoji="0" lang="zh-CN" altLang="en-US" sz="12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常州万丽、</a:t>
            </a:r>
            <a:r>
              <a:rPr kumimoji="0" lang="zh-CN" altLang="en-US" sz="12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广州吉酒店</a:t>
            </a:r>
            <a:endParaRPr kumimoji="0" lang="zh-CN" altLang="en-US" sz="1200" b="0"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上海吉酒店</a:t>
            </a:r>
            <a:r>
              <a:rPr kumimoji="0" lang="en-US" altLang="zh-CN" sz="12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&amp;</a:t>
            </a:r>
            <a:r>
              <a:rPr kumimoji="0" lang="zh-CN" altLang="en-US" sz="12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郡寓</a:t>
            </a:r>
            <a:endParaRPr kumimoji="0" lang="en-US" altLang="zh-CN" sz="1200" b="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b="1" i="0" u="none" strike="noStrike" kern="1200" cap="none" spc="0" normalizeH="0" baseline="0" noProof="0" dirty="0" smtClean="0">
                <a:ln>
                  <a:noFill/>
                </a:ln>
                <a:solidFill>
                  <a:schemeClr val="accent2">
                    <a:lumMod val="50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沙</a:t>
            </a:r>
            <a:r>
              <a:rPr kumimoji="0" lang="zh-CN" altLang="en-US" sz="1200" b="1" i="0" u="none" strike="noStrike" kern="1200" cap="none" spc="0" normalizeH="0" baseline="0" noProof="0" dirty="0">
                <a:ln>
                  <a:noFill/>
                </a:ln>
                <a:solidFill>
                  <a:schemeClr val="accent2">
                    <a:lumMod val="50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井荣</a:t>
            </a:r>
            <a:r>
              <a:rPr kumimoji="0" lang="zh-CN" altLang="en-US" sz="1200" b="1" i="0" u="none" strike="noStrike" kern="1200" cap="none" spc="0" normalizeH="0" baseline="0" noProof="0" dirty="0" smtClean="0">
                <a:ln>
                  <a:noFill/>
                </a:ln>
                <a:solidFill>
                  <a:schemeClr val="accent2">
                    <a:lumMod val="50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御</a:t>
            </a:r>
            <a:r>
              <a:rPr kumimoji="0" lang="zh-CN" altLang="en-US" sz="1000" b="1" i="0" u="none" strike="noStrike" kern="1200" cap="none" spc="0" normalizeH="0" baseline="0" noProof="0" dirty="0" smtClean="0">
                <a:ln>
                  <a:noFill/>
                </a:ln>
                <a:solidFill>
                  <a:schemeClr val="accent2">
                    <a:lumMod val="50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（政府退还租赁）</a:t>
            </a:r>
            <a:r>
              <a:rPr kumimoji="0" lang="zh-CN" altLang="en-US" sz="12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、深圳北站</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（新增）</a:t>
            </a:r>
            <a:r>
              <a:rPr kumimoji="0" lang="zh-CN" altLang="en-US" sz="12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a:t>
            </a:r>
            <a:r>
              <a:rPr kumimoji="0" lang="zh-CN" altLang="en-US" sz="12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雅宝郡寓、锦居、国都高尔夫、亚金公寓、常州郡寓</a:t>
            </a:r>
            <a:r>
              <a:rPr kumimoji="0" lang="zh-CN" altLang="en-US" sz="11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、福田罗</a:t>
            </a:r>
            <a:r>
              <a:rPr kumimoji="0" lang="zh-CN" altLang="en-US" sz="11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湖项目、</a:t>
            </a:r>
            <a:r>
              <a:rPr kumimoji="0" lang="zh-CN" altLang="en-US" sz="11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龙岗</a:t>
            </a:r>
            <a:r>
              <a:rPr kumimoji="0" lang="zh-CN" altLang="en-US" sz="11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龙华项目</a:t>
            </a:r>
            <a:endParaRPr kumimoji="0" lang="en-US" altLang="zh-CN" sz="1100" b="0"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285750" marR="0" lvl="0" indent="-285750" algn="l" defTabSz="914400" rtl="0" eaLnBrk="0" fontAlgn="base" latinLnBrk="0" hangingPunct="0">
              <a:lnSpc>
                <a:spcPct val="150000"/>
              </a:lnSpc>
              <a:spcBef>
                <a:spcPct val="0"/>
              </a:spcBef>
              <a:spcAft>
                <a:spcPct val="0"/>
              </a:spcAft>
              <a:buClrTx/>
              <a:buSzTx/>
              <a:buFont typeface="Wingdings" panose="05000000000000000000" pitchFamily="2" charset="2"/>
              <a:buChar char="u"/>
              <a:defRPr/>
            </a:pPr>
            <a:r>
              <a:rPr kumimoji="0" lang="zh-CN" altLang="en-US" sz="12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rPr>
              <a:t>酒店公寓事业部</a:t>
            </a:r>
            <a:endParaRPr kumimoji="0" lang="en-US" altLang="zh-CN" sz="12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7" name="标题 6"/>
          <p:cNvSpPr>
            <a:spLocks noGrp="1"/>
          </p:cNvSpPr>
          <p:nvPr>
            <p:ph type="title"/>
          </p:nvPr>
        </p:nvSpPr>
        <p:spPr>
          <a:xfrm>
            <a:off x="283210" y="93345"/>
            <a:ext cx="7559675" cy="595630"/>
          </a:xfrm>
        </p:spPr>
        <p:txBody>
          <a:bodyPr/>
          <a:lstStyle/>
          <a:p>
            <a:pPr algn="l" eaLnBrk="0" fontAlgn="base" hangingPunct="0">
              <a:lnSpc>
                <a:spcPct val="100000"/>
              </a:lnSpc>
              <a:buClrTx/>
              <a:buSzTx/>
              <a:buFontTx/>
              <a:defRPr/>
            </a:pPr>
            <a:r>
              <a:rPr kumimoji="0" lang="en-US" altLang="zh-CN" sz="2000" b="1" i="0" u="none" strike="noStrike" kern="1200" cap="none" spc="-41" normalizeH="0" baseline="0" noProof="0" dirty="0" smtClean="0">
                <a:ln>
                  <a:noFill/>
                </a:ln>
                <a:solidFill>
                  <a:schemeClr val="tx1">
                    <a:lumMod val="75000"/>
                    <a:lumOff val="25000"/>
                  </a:schemeClr>
                </a:solidFill>
                <a:effectLst/>
                <a:uLnTx/>
                <a:uFillTx/>
                <a:latin typeface="微软雅黑" panose="020B0503020204020204" pitchFamily="34" charset="-122"/>
                <a:ea typeface="微软雅黑" panose="020B0503020204020204" pitchFamily="34" charset="-122"/>
              </a:rPr>
              <a:t>2026年经营目标-</a:t>
            </a:r>
            <a:r>
              <a:rPr lang="en-US" altLang="zh-CN" sz="2000" b="1" spc="-41" noProof="0" dirty="0" smtClean="0">
                <a:ln>
                  <a:noFill/>
                </a:ln>
                <a:solidFill>
                  <a:schemeClr val="tx1">
                    <a:lumMod val="75000"/>
                    <a:lumOff val="25000"/>
                  </a:schemeClr>
                </a:solidFill>
                <a:effectLst/>
                <a:uLnTx/>
                <a:uFillTx/>
                <a:latin typeface="微软雅黑" panose="020B0503020204020204" pitchFamily="34" charset="-122"/>
                <a:ea typeface="微软雅黑" panose="020B0503020204020204" pitchFamily="34" charset="-122"/>
              </a:rPr>
              <a:t>财务指标计算口径</a:t>
            </a:r>
            <a:endParaRPr kumimoji="0" lang="en-US" altLang="zh-CN" sz="2000" b="1" i="0" u="none" strike="noStrike" kern="1200" cap="none" spc="-41" normalizeH="0" baseline="0" noProof="0" dirty="0" smtClean="0">
              <a:ln>
                <a:noFill/>
              </a:ln>
              <a:solidFill>
                <a:schemeClr val="tx1">
                  <a:lumMod val="75000"/>
                  <a:lumOff val="25000"/>
                </a:schemeClr>
              </a:solidFill>
              <a:effectLst/>
              <a:uLnTx/>
              <a:uFillTx/>
              <a:latin typeface="微软雅黑" panose="020B0503020204020204" pitchFamily="34" charset="-122"/>
              <a:ea typeface="微软雅黑" panose="020B0503020204020204" pitchFamily="34" charset="-122"/>
            </a:endParaRPr>
          </a:p>
        </p:txBody>
      </p:sp>
      <p:sp>
        <p:nvSpPr>
          <p:cNvPr id="8" name="文本框 7"/>
          <p:cNvSpPr txBox="1"/>
          <p:nvPr/>
        </p:nvSpPr>
        <p:spPr>
          <a:xfrm>
            <a:off x="4165270" y="525390"/>
            <a:ext cx="2448272" cy="223049"/>
          </a:xfrm>
          <a:prstGeom prst="rect">
            <a:avLst/>
          </a:prstGeom>
          <a:noFill/>
        </p:spPr>
        <p:txBody>
          <a:bodyPr wrap="square" rtlCol="0">
            <a:no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rPr>
              <a:t>产业集团大合并</a:t>
            </a:r>
            <a:endParaRPr kumimoji="0" lang="zh-CN" altLang="en-US" sz="18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sp>
        <p:nvSpPr>
          <p:cNvPr id="2" name="文本框 1"/>
          <p:cNvSpPr txBox="1"/>
          <p:nvPr/>
        </p:nvSpPr>
        <p:spPr>
          <a:xfrm>
            <a:off x="276860" y="5245100"/>
            <a:ext cx="7197090" cy="213995"/>
          </a:xfrm>
          <a:prstGeom prst="rect">
            <a:avLst/>
          </a:prstGeom>
          <a:noFill/>
        </p:spPr>
        <p:txBody>
          <a:bodyPr wrap="square" rtlCol="0">
            <a:spAutoFit/>
          </a:bodyPr>
          <a:p>
            <a:r>
              <a:rPr lang="zh-CN" altLang="en-US" sz="800" b="1">
                <a:solidFill>
                  <a:srgbClr val="C00000"/>
                </a:solidFill>
                <a:latin typeface="黑体" panose="02010609060101010101" charset="-122"/>
                <a:ea typeface="黑体" panose="02010609060101010101" charset="-122"/>
                <a:cs typeface="黑体" panose="02010609060101010101" charset="-122"/>
              </a:rPr>
              <a:t>新增项目：开市客</a:t>
            </a:r>
            <a:r>
              <a:rPr lang="en-US" altLang="zh-CN" sz="800" b="1">
                <a:solidFill>
                  <a:srgbClr val="C00000"/>
                </a:solidFill>
                <a:latin typeface="黑体" panose="02010609060101010101" charset="-122"/>
                <a:ea typeface="黑体" panose="02010609060101010101" charset="-122"/>
                <a:cs typeface="黑体" panose="02010609060101010101" charset="-122"/>
              </a:rPr>
              <a:t>(</a:t>
            </a:r>
            <a:r>
              <a:rPr lang="zh-CN" altLang="en-US" sz="800" b="1">
                <a:solidFill>
                  <a:srgbClr val="C00000"/>
                </a:solidFill>
                <a:latin typeface="黑体" panose="02010609060101010101" charset="-122"/>
                <a:ea typeface="黑体" panose="02010609060101010101" charset="-122"/>
                <a:cs typeface="黑体" panose="02010609060101010101" charset="-122"/>
              </a:rPr>
              <a:t>租赁</a:t>
            </a:r>
            <a:r>
              <a:rPr lang="en-US" altLang="zh-CN" sz="800" b="1">
                <a:solidFill>
                  <a:srgbClr val="C00000"/>
                </a:solidFill>
                <a:latin typeface="黑体" panose="02010609060101010101" charset="-122"/>
                <a:ea typeface="黑体" panose="02010609060101010101" charset="-122"/>
                <a:cs typeface="黑体" panose="02010609060101010101" charset="-122"/>
              </a:rPr>
              <a:t>)+</a:t>
            </a:r>
            <a:r>
              <a:rPr lang="zh-CN" altLang="en-US" sz="800" b="1">
                <a:solidFill>
                  <a:srgbClr val="C00000"/>
                </a:solidFill>
                <a:latin typeface="黑体" panose="02010609060101010101" charset="-122"/>
                <a:ea typeface="黑体" panose="02010609060101010101" charset="-122"/>
                <a:cs typeface="黑体" panose="02010609060101010101" charset="-122"/>
              </a:rPr>
              <a:t>东湾村旧改</a:t>
            </a:r>
            <a:r>
              <a:rPr lang="en-US" altLang="zh-CN" sz="800" b="1">
                <a:solidFill>
                  <a:srgbClr val="C00000"/>
                </a:solidFill>
                <a:latin typeface="黑体" panose="02010609060101010101" charset="-122"/>
                <a:ea typeface="黑体" panose="02010609060101010101" charset="-122"/>
                <a:cs typeface="黑体" panose="02010609060101010101" charset="-122"/>
                <a:sym typeface="+mn-ea"/>
              </a:rPr>
              <a:t>(</a:t>
            </a:r>
            <a:r>
              <a:rPr lang="zh-CN" altLang="en-US" sz="800" b="1">
                <a:solidFill>
                  <a:srgbClr val="C00000"/>
                </a:solidFill>
                <a:latin typeface="黑体" panose="02010609060101010101" charset="-122"/>
                <a:ea typeface="黑体" panose="02010609060101010101" charset="-122"/>
                <a:cs typeface="黑体" panose="02010609060101010101" charset="-122"/>
                <a:sym typeface="+mn-ea"/>
              </a:rPr>
              <a:t>租赁</a:t>
            </a:r>
            <a:r>
              <a:rPr lang="en-US" altLang="zh-CN" sz="800" b="1">
                <a:solidFill>
                  <a:srgbClr val="C00000"/>
                </a:solidFill>
                <a:latin typeface="黑体" panose="02010609060101010101" charset="-122"/>
                <a:ea typeface="黑体" panose="02010609060101010101" charset="-122"/>
                <a:cs typeface="黑体" panose="02010609060101010101" charset="-122"/>
                <a:sym typeface="+mn-ea"/>
              </a:rPr>
              <a:t>)</a:t>
            </a:r>
            <a:r>
              <a:rPr lang="en-US" altLang="zh-CN" sz="800" b="1">
                <a:solidFill>
                  <a:srgbClr val="C00000"/>
                </a:solidFill>
                <a:latin typeface="黑体" panose="02010609060101010101" charset="-122"/>
                <a:ea typeface="黑体" panose="02010609060101010101" charset="-122"/>
                <a:cs typeface="黑体" panose="02010609060101010101" charset="-122"/>
              </a:rPr>
              <a:t>+</a:t>
            </a:r>
            <a:r>
              <a:rPr lang="zh-CN" altLang="en-US" sz="800" b="1">
                <a:solidFill>
                  <a:srgbClr val="C00000"/>
                </a:solidFill>
                <a:latin typeface="黑体" panose="02010609060101010101" charset="-122"/>
                <a:ea typeface="黑体" panose="02010609060101010101" charset="-122"/>
                <a:cs typeface="黑体" panose="02010609060101010101" charset="-122"/>
              </a:rPr>
              <a:t>深圳北站</a:t>
            </a:r>
            <a:r>
              <a:rPr lang="en-US" altLang="zh-CN" sz="800" b="1">
                <a:solidFill>
                  <a:srgbClr val="C00000"/>
                </a:solidFill>
                <a:latin typeface="黑体" panose="02010609060101010101" charset="-122"/>
                <a:ea typeface="黑体" panose="02010609060101010101" charset="-122"/>
                <a:cs typeface="黑体" panose="02010609060101010101" charset="-122"/>
                <a:sym typeface="+mn-ea"/>
              </a:rPr>
              <a:t>(</a:t>
            </a:r>
            <a:r>
              <a:rPr lang="zh-CN" altLang="en-US" sz="800" b="1">
                <a:solidFill>
                  <a:srgbClr val="C00000"/>
                </a:solidFill>
                <a:latin typeface="黑体" panose="02010609060101010101" charset="-122"/>
                <a:ea typeface="黑体" panose="02010609060101010101" charset="-122"/>
                <a:cs typeface="黑体" panose="02010609060101010101" charset="-122"/>
                <a:sym typeface="+mn-ea"/>
              </a:rPr>
              <a:t>公寓</a:t>
            </a:r>
            <a:r>
              <a:rPr lang="en-US" altLang="zh-CN" sz="800" b="1">
                <a:solidFill>
                  <a:srgbClr val="C00000"/>
                </a:solidFill>
                <a:latin typeface="黑体" panose="02010609060101010101" charset="-122"/>
                <a:ea typeface="黑体" panose="02010609060101010101" charset="-122"/>
                <a:cs typeface="黑体" panose="02010609060101010101" charset="-122"/>
                <a:sym typeface="+mn-ea"/>
              </a:rPr>
              <a:t>)</a:t>
            </a:r>
            <a:r>
              <a:rPr lang="en-US" altLang="zh-CN" sz="800" b="1">
                <a:solidFill>
                  <a:srgbClr val="C00000"/>
                </a:solidFill>
                <a:latin typeface="黑体" panose="02010609060101010101" charset="-122"/>
                <a:ea typeface="黑体" panose="02010609060101010101" charset="-122"/>
                <a:cs typeface="黑体" panose="02010609060101010101" charset="-122"/>
              </a:rPr>
              <a:t>+</a:t>
            </a:r>
            <a:r>
              <a:rPr lang="zh-CN" altLang="en-US" sz="800" b="1">
                <a:solidFill>
                  <a:srgbClr val="C00000"/>
                </a:solidFill>
                <a:latin typeface="黑体" panose="02010609060101010101" charset="-122"/>
                <a:ea typeface="黑体" panose="02010609060101010101" charset="-122"/>
                <a:cs typeface="黑体" panose="02010609060101010101" charset="-122"/>
              </a:rPr>
              <a:t>黄江</a:t>
            </a:r>
            <a:r>
              <a:rPr lang="en-US" altLang="zh-CN" sz="800" b="1">
                <a:solidFill>
                  <a:srgbClr val="C00000"/>
                </a:solidFill>
                <a:latin typeface="黑体" panose="02010609060101010101" charset="-122"/>
                <a:ea typeface="黑体" panose="02010609060101010101" charset="-122"/>
                <a:cs typeface="黑体" panose="02010609060101010101" charset="-122"/>
                <a:sym typeface="+mn-ea"/>
              </a:rPr>
              <a:t>(</a:t>
            </a:r>
            <a:r>
              <a:rPr lang="zh-CN" altLang="en-US" sz="800" b="1">
                <a:solidFill>
                  <a:srgbClr val="C00000"/>
                </a:solidFill>
                <a:latin typeface="黑体" panose="02010609060101010101" charset="-122"/>
                <a:ea typeface="黑体" panose="02010609060101010101" charset="-122"/>
                <a:cs typeface="黑体" panose="02010609060101010101" charset="-122"/>
                <a:sym typeface="+mn-ea"/>
              </a:rPr>
              <a:t>销售单列</a:t>
            </a:r>
            <a:r>
              <a:rPr lang="en-US" altLang="zh-CN" sz="800" b="1">
                <a:solidFill>
                  <a:srgbClr val="C00000"/>
                </a:solidFill>
                <a:latin typeface="黑体" panose="02010609060101010101" charset="-122"/>
                <a:ea typeface="黑体" panose="02010609060101010101" charset="-122"/>
                <a:cs typeface="黑体" panose="02010609060101010101" charset="-122"/>
                <a:sym typeface="+mn-ea"/>
              </a:rPr>
              <a:t>)</a:t>
            </a:r>
            <a:r>
              <a:rPr lang="zh-CN" altLang="en-US" sz="800">
                <a:latin typeface="黑体" panose="02010609060101010101" charset="-122"/>
                <a:ea typeface="黑体" panose="02010609060101010101" charset="-122"/>
                <a:cs typeface="黑体" panose="02010609060101010101" charset="-122"/>
              </a:rPr>
              <a:t>；</a:t>
            </a:r>
            <a:r>
              <a:rPr lang="en-US" altLang="zh-CN" sz="800">
                <a:latin typeface="黑体" panose="02010609060101010101" charset="-122"/>
                <a:ea typeface="黑体" panose="02010609060101010101" charset="-122"/>
                <a:cs typeface="黑体" panose="02010609060101010101" charset="-122"/>
              </a:rPr>
              <a:t> </a:t>
            </a:r>
            <a:r>
              <a:rPr lang="zh-CN" altLang="en-US" sz="800" b="1">
                <a:solidFill>
                  <a:schemeClr val="accent2">
                    <a:lumMod val="75000"/>
                  </a:schemeClr>
                </a:solidFill>
                <a:latin typeface="黑体" panose="02010609060101010101" charset="-122"/>
                <a:ea typeface="黑体" panose="02010609060101010101" charset="-122"/>
                <a:cs typeface="黑体" panose="02010609060101010101" charset="-122"/>
                <a:sym typeface="+mn-ea"/>
              </a:rPr>
              <a:t>轻资产项目：苏州昆山</a:t>
            </a:r>
            <a:r>
              <a:rPr lang="en-US" altLang="zh-CN" sz="800" b="1">
                <a:solidFill>
                  <a:schemeClr val="accent2">
                    <a:lumMod val="75000"/>
                  </a:schemeClr>
                </a:solidFill>
                <a:latin typeface="黑体" panose="02010609060101010101" charset="-122"/>
                <a:ea typeface="黑体" panose="02010609060101010101" charset="-122"/>
                <a:cs typeface="黑体" panose="02010609060101010101" charset="-122"/>
                <a:sym typeface="+mn-ea"/>
              </a:rPr>
              <a:t> </a:t>
            </a:r>
            <a:r>
              <a:rPr lang="zh-CN" altLang="en-US" sz="800" b="1">
                <a:solidFill>
                  <a:schemeClr val="accent2">
                    <a:lumMod val="75000"/>
                  </a:schemeClr>
                </a:solidFill>
                <a:latin typeface="黑体" panose="02010609060101010101" charset="-122"/>
                <a:ea typeface="黑体" panose="02010609060101010101" charset="-122"/>
                <a:cs typeface="黑体" panose="02010609060101010101" charset="-122"/>
                <a:sym typeface="+mn-ea"/>
              </a:rPr>
              <a:t>；</a:t>
            </a:r>
            <a:r>
              <a:rPr lang="zh-CN" altLang="en-US" sz="800" b="1">
                <a:solidFill>
                  <a:schemeClr val="accent2">
                    <a:lumMod val="50000"/>
                  </a:schemeClr>
                </a:solidFill>
                <a:latin typeface="黑体" panose="02010609060101010101" charset="-122"/>
                <a:ea typeface="黑体" panose="02010609060101010101" charset="-122"/>
                <a:cs typeface="黑体" panose="02010609060101010101" charset="-122"/>
              </a:rPr>
              <a:t>改造项目：丽思酒店</a:t>
            </a:r>
            <a:r>
              <a:rPr lang="en-US" altLang="zh-CN" sz="800" b="1">
                <a:solidFill>
                  <a:schemeClr val="accent2">
                    <a:lumMod val="50000"/>
                  </a:schemeClr>
                </a:solidFill>
                <a:latin typeface="黑体" panose="02010609060101010101" charset="-122"/>
                <a:ea typeface="黑体" panose="02010609060101010101" charset="-122"/>
                <a:cs typeface="黑体" panose="02010609060101010101" charset="-122"/>
              </a:rPr>
              <a:t>+</a:t>
            </a:r>
            <a:r>
              <a:rPr lang="zh-CN" altLang="en-US" sz="800" b="1">
                <a:solidFill>
                  <a:schemeClr val="accent2">
                    <a:lumMod val="50000"/>
                  </a:schemeClr>
                </a:solidFill>
                <a:latin typeface="黑体" panose="02010609060101010101" charset="-122"/>
                <a:ea typeface="黑体" panose="02010609060101010101" charset="-122"/>
                <a:cs typeface="黑体" panose="02010609060101010101" charset="-122"/>
              </a:rPr>
              <a:t>沙井荣御</a:t>
            </a:r>
            <a:r>
              <a:rPr lang="en-US" altLang="zh-CN" sz="800" b="1">
                <a:solidFill>
                  <a:schemeClr val="accent2">
                    <a:lumMod val="50000"/>
                  </a:schemeClr>
                </a:solidFill>
                <a:latin typeface="黑体" panose="02010609060101010101" charset="-122"/>
                <a:ea typeface="黑体" panose="02010609060101010101" charset="-122"/>
                <a:cs typeface="黑体" panose="02010609060101010101" charset="-122"/>
              </a:rPr>
              <a:t> </a:t>
            </a:r>
            <a:r>
              <a:rPr lang="zh-CN" altLang="en-US" sz="800">
                <a:latin typeface="黑体" panose="02010609060101010101" charset="-122"/>
                <a:ea typeface="黑体" panose="02010609060101010101" charset="-122"/>
                <a:cs typeface="黑体" panose="02010609060101010101" charset="-122"/>
              </a:rPr>
              <a:t>；</a:t>
            </a:r>
            <a:endParaRPr lang="en-US" altLang="zh-CN" sz="800" b="1">
              <a:solidFill>
                <a:schemeClr val="accent2">
                  <a:lumMod val="75000"/>
                </a:schemeClr>
              </a:solidFill>
              <a:latin typeface="黑体" panose="02010609060101010101" charset="-122"/>
              <a:ea typeface="黑体" panose="02010609060101010101" charset="-122"/>
              <a:cs typeface="黑体" panose="02010609060101010101" charset="-122"/>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34030" y="958056"/>
            <a:ext cx="9575690" cy="503511"/>
          </a:xfrm>
          <a:prstGeom prst="rect">
            <a:avLst/>
          </a:prstGeom>
          <a:noFill/>
        </p:spPr>
        <p:txBody>
          <a:bodyPr wrap="none" rtlCol="0">
            <a:noAutofit/>
          </a:bodyPr>
          <a:lstStyle/>
          <a:p>
            <a:pPr marL="171450" indent="-171450" algn="l">
              <a:lnSpc>
                <a:spcPct val="120000"/>
              </a:lnSpc>
              <a:buFont typeface="Wingdings" panose="05000000000000000000" pitchFamily="2" charset="2"/>
              <a:buChar char="n"/>
              <a:defRPr/>
            </a:pPr>
            <a:r>
              <a:rPr lang="en-US" altLang="zh-CN" sz="1200" dirty="0" smtClean="0">
                <a:solidFill>
                  <a:prstClr val="black"/>
                </a:solidFill>
                <a:latin typeface="微软雅黑" panose="020B0503020204020204" pitchFamily="34" charset="-122"/>
                <a:ea typeface="微软雅黑" panose="020B0503020204020204" pitchFamily="34" charset="-122"/>
                <a:sym typeface="+mn-ea"/>
              </a:rPr>
              <a:t>2025</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年招商面积：</a:t>
            </a:r>
            <a:r>
              <a:rPr lang="zh-CN" altLang="en-US" sz="1200" dirty="0">
                <a:solidFill>
                  <a:prstClr val="black"/>
                </a:solidFill>
                <a:latin typeface="微软雅黑" panose="020B0503020204020204" pitchFamily="34" charset="-122"/>
                <a:ea typeface="微软雅黑" panose="020B0503020204020204" pitchFamily="34" charset="-122"/>
                <a:sym typeface="+mn-ea"/>
              </a:rPr>
              <a:t>预计</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新</a:t>
            </a:r>
            <a:r>
              <a:rPr lang="zh-CN" altLang="en-US" sz="1200" dirty="0">
                <a:solidFill>
                  <a:prstClr val="black"/>
                </a:solidFill>
                <a:latin typeface="微软雅黑" panose="020B0503020204020204" pitchFamily="34" charset="-122"/>
                <a:ea typeface="微软雅黑" panose="020B0503020204020204" pitchFamily="34" charset="-122"/>
                <a:sym typeface="+mn-ea"/>
              </a:rPr>
              <a:t>签</a:t>
            </a:r>
            <a:r>
              <a:rPr lang="en-US" altLang="zh-CN" sz="1200" dirty="0">
                <a:solidFill>
                  <a:prstClr val="black"/>
                </a:solidFill>
                <a:latin typeface="微软雅黑" panose="020B0503020204020204" pitchFamily="34" charset="-122"/>
                <a:ea typeface="微软雅黑" panose="020B0503020204020204" pitchFamily="34" charset="-122"/>
                <a:sym typeface="+mn-ea"/>
              </a:rPr>
              <a:t> </a:t>
            </a:r>
            <a:r>
              <a:rPr lang="en-US" altLang="zh-CN" sz="1200" dirty="0">
                <a:solidFill>
                  <a:srgbClr val="C00000"/>
                </a:solidFill>
                <a:latin typeface="微软雅黑" panose="020B0503020204020204" pitchFamily="34" charset="-122"/>
                <a:ea typeface="微软雅黑" panose="020B0503020204020204" pitchFamily="34" charset="-122"/>
                <a:sym typeface="+mn-ea"/>
              </a:rPr>
              <a:t>23.79</a:t>
            </a:r>
            <a:r>
              <a:rPr lang="zh-CN" altLang="en-US" sz="1200" dirty="0">
                <a:solidFill>
                  <a:srgbClr val="C00000"/>
                </a:solidFill>
                <a:latin typeface="微软雅黑" panose="020B0503020204020204" pitchFamily="34" charset="-122"/>
                <a:ea typeface="微软雅黑" panose="020B0503020204020204" pitchFamily="34" charset="-122"/>
                <a:sym typeface="+mn-ea"/>
              </a:rPr>
              <a:t>万㎡，</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续签</a:t>
            </a:r>
            <a:r>
              <a:rPr lang="zh-CN" altLang="en-US" sz="1200" dirty="0">
                <a:solidFill>
                  <a:prstClr val="black"/>
                </a:solidFill>
                <a:latin typeface="微软雅黑" panose="020B0503020204020204" pitchFamily="34" charset="-122"/>
                <a:ea typeface="微软雅黑" panose="020B0503020204020204" pitchFamily="34" charset="-122"/>
                <a:sym typeface="+mn-ea"/>
              </a:rPr>
              <a:t>面积</a:t>
            </a:r>
            <a:r>
              <a:rPr lang="en-US" altLang="zh-CN" sz="1200" dirty="0" smtClean="0">
                <a:solidFill>
                  <a:srgbClr val="C00000"/>
                </a:solidFill>
                <a:latin typeface="微软雅黑" panose="020B0503020204020204" pitchFamily="34" charset="-122"/>
                <a:ea typeface="微软雅黑" panose="020B0503020204020204" pitchFamily="34" charset="-122"/>
                <a:sym typeface="+mn-ea"/>
              </a:rPr>
              <a:t>11.8</a:t>
            </a:r>
            <a:r>
              <a:rPr lang="zh-CN" altLang="en-US" sz="1200" dirty="0">
                <a:solidFill>
                  <a:srgbClr val="C00000"/>
                </a:solidFill>
                <a:latin typeface="微软雅黑" panose="020B0503020204020204" pitchFamily="34" charset="-122"/>
                <a:ea typeface="微软雅黑" panose="020B0503020204020204" pitchFamily="34" charset="-122"/>
                <a:sym typeface="+mn-ea"/>
              </a:rPr>
              <a:t>万㎡，</a:t>
            </a:r>
            <a:r>
              <a:rPr lang="zh-CN" altLang="en-US" sz="1200" dirty="0">
                <a:latin typeface="微软雅黑" panose="020B0503020204020204" pitchFamily="34" charset="-122"/>
                <a:ea typeface="微软雅黑" panose="020B0503020204020204" pitchFamily="34" charset="-122"/>
                <a:sym typeface="+mn-ea"/>
              </a:rPr>
              <a:t>合计</a:t>
            </a:r>
            <a:r>
              <a:rPr lang="en-US" altLang="zh-CN" sz="1200" dirty="0">
                <a:solidFill>
                  <a:srgbClr val="C00000"/>
                </a:solidFill>
                <a:latin typeface="微软雅黑" panose="020B0503020204020204" pitchFamily="34" charset="-122"/>
                <a:ea typeface="微软雅黑" panose="020B0503020204020204" pitchFamily="34" charset="-122"/>
                <a:sym typeface="+mn-ea"/>
              </a:rPr>
              <a:t> 35.64</a:t>
            </a:r>
            <a:r>
              <a:rPr lang="zh-CN" altLang="en-US" sz="1200" dirty="0">
                <a:solidFill>
                  <a:srgbClr val="C00000"/>
                </a:solidFill>
                <a:latin typeface="微软雅黑" panose="020B0503020204020204" pitchFamily="34" charset="-122"/>
                <a:ea typeface="微软雅黑" panose="020B0503020204020204" pitchFamily="34" charset="-122"/>
                <a:sym typeface="+mn-ea"/>
              </a:rPr>
              <a:t>万㎡</a:t>
            </a:r>
            <a:endParaRPr lang="en-US" altLang="zh-CN" sz="1200" b="1" dirty="0" smtClean="0">
              <a:solidFill>
                <a:prstClr val="black"/>
              </a:solidFill>
              <a:latin typeface="微软雅黑" panose="020B0503020204020204" pitchFamily="34" charset="-122"/>
              <a:ea typeface="微软雅黑" panose="020B0503020204020204" pitchFamily="34" charset="-122"/>
            </a:endParaRPr>
          </a:p>
          <a:p>
            <a:pPr marL="171450" indent="-171450" algn="l">
              <a:lnSpc>
                <a:spcPct val="120000"/>
              </a:lnSpc>
              <a:buFont typeface="Wingdings" panose="05000000000000000000" pitchFamily="2" charset="2"/>
              <a:buChar char="n"/>
              <a:defRPr/>
            </a:pPr>
            <a:r>
              <a:rPr lang="en-US" altLang="zh-CN" sz="1200" b="1" dirty="0" smtClean="0">
                <a:solidFill>
                  <a:prstClr val="black"/>
                </a:solidFill>
                <a:latin typeface="微软雅黑" panose="020B0503020204020204" pitchFamily="34" charset="-122"/>
                <a:ea typeface="微软雅黑" panose="020B0503020204020204" pitchFamily="34" charset="-122"/>
              </a:rPr>
              <a:t>2026</a:t>
            </a:r>
            <a:r>
              <a:rPr lang="zh-CN" altLang="en-US" sz="1200" b="1" dirty="0" smtClean="0">
                <a:solidFill>
                  <a:prstClr val="black"/>
                </a:solidFill>
                <a:latin typeface="微软雅黑" panose="020B0503020204020204" pitchFamily="34" charset="-122"/>
                <a:ea typeface="微软雅黑" panose="020B0503020204020204" pitchFamily="34" charset="-122"/>
              </a:rPr>
              <a:t>年</a:t>
            </a:r>
            <a:r>
              <a:rPr lang="zh-CN" altLang="en-US" sz="1200" b="1" dirty="0">
                <a:solidFill>
                  <a:prstClr val="black"/>
                </a:solidFill>
                <a:latin typeface="微软雅黑" panose="020B0503020204020204" pitchFamily="34" charset="-122"/>
                <a:ea typeface="微软雅黑" panose="020B0503020204020204" pitchFamily="34" charset="-122"/>
              </a:rPr>
              <a:t>招商</a:t>
            </a:r>
            <a:r>
              <a:rPr lang="zh-CN" altLang="en-US" sz="1200" b="1" dirty="0" smtClean="0">
                <a:solidFill>
                  <a:prstClr val="black"/>
                </a:solidFill>
                <a:latin typeface="微软雅黑" panose="020B0503020204020204" pitchFamily="34" charset="-122"/>
                <a:ea typeface="微软雅黑" panose="020B0503020204020204" pitchFamily="34" charset="-122"/>
              </a:rPr>
              <a:t>面积：</a:t>
            </a:r>
            <a:r>
              <a:rPr lang="zh-CN" altLang="en-US" sz="1200" b="1" dirty="0">
                <a:solidFill>
                  <a:prstClr val="black"/>
                </a:solidFill>
                <a:latin typeface="微软雅黑" panose="020B0503020204020204" pitchFamily="34" charset="-122"/>
                <a:ea typeface="微软雅黑" panose="020B0503020204020204" pitchFamily="34" charset="-122"/>
                <a:sym typeface="+mn-ea"/>
              </a:rPr>
              <a:t>目标</a:t>
            </a:r>
            <a:r>
              <a:rPr lang="zh-CN" altLang="en-US" sz="1200" b="1" dirty="0">
                <a:solidFill>
                  <a:prstClr val="black"/>
                </a:solidFill>
                <a:latin typeface="微软雅黑" panose="020B0503020204020204" pitchFamily="34" charset="-122"/>
                <a:ea typeface="微软雅黑" panose="020B0503020204020204" pitchFamily="34" charset="-122"/>
              </a:rPr>
              <a:t>新签</a:t>
            </a:r>
            <a:r>
              <a:rPr lang="en-US" altLang="zh-CN" sz="1200" b="1" dirty="0">
                <a:solidFill>
                  <a:prstClr val="black"/>
                </a:solidFill>
                <a:latin typeface="微软雅黑" panose="020B0503020204020204" pitchFamily="34" charset="-122"/>
                <a:ea typeface="微软雅黑" panose="020B0503020204020204" pitchFamily="34" charset="-122"/>
              </a:rPr>
              <a:t> </a:t>
            </a:r>
            <a:r>
              <a:rPr lang="en-US" altLang="zh-CN" sz="1200" b="1" dirty="0">
                <a:solidFill>
                  <a:srgbClr val="C00000"/>
                </a:solidFill>
                <a:latin typeface="微软雅黑" panose="020B0503020204020204" pitchFamily="34" charset="-122"/>
                <a:ea typeface="微软雅黑" panose="020B0503020204020204" pitchFamily="34" charset="-122"/>
              </a:rPr>
              <a:t>28.53</a:t>
            </a:r>
            <a:r>
              <a:rPr lang="zh-CN" altLang="en-US" sz="1200" b="1" dirty="0">
                <a:solidFill>
                  <a:srgbClr val="C00000"/>
                </a:solidFill>
                <a:latin typeface="微软雅黑" panose="020B0503020204020204" pitchFamily="34" charset="-122"/>
                <a:ea typeface="微软雅黑" panose="020B0503020204020204" pitchFamily="34" charset="-122"/>
                <a:sym typeface="+mn-ea"/>
              </a:rPr>
              <a:t>万㎡，</a:t>
            </a:r>
            <a:r>
              <a:rPr lang="zh-CN" altLang="en-US" sz="1200" b="1" dirty="0">
                <a:latin typeface="微软雅黑" panose="020B0503020204020204" pitchFamily="34" charset="-122"/>
                <a:ea typeface="微软雅黑" panose="020B0503020204020204" pitchFamily="34" charset="-122"/>
                <a:sym typeface="+mn-ea"/>
              </a:rPr>
              <a:t>续签目标</a:t>
            </a:r>
            <a:r>
              <a:rPr lang="en-US" altLang="zh-CN" sz="1200" b="1" dirty="0">
                <a:solidFill>
                  <a:prstClr val="black"/>
                </a:solidFill>
                <a:latin typeface="微软雅黑" panose="020B0503020204020204" pitchFamily="34" charset="-122"/>
                <a:ea typeface="微软雅黑" panose="020B0503020204020204" pitchFamily="34" charset="-122"/>
                <a:sym typeface="+mn-ea"/>
              </a:rPr>
              <a:t> </a:t>
            </a:r>
            <a:r>
              <a:rPr lang="en-US" altLang="zh-CN" sz="1200" b="1" dirty="0">
                <a:solidFill>
                  <a:srgbClr val="C00000"/>
                </a:solidFill>
                <a:latin typeface="微软雅黑" panose="020B0503020204020204" pitchFamily="34" charset="-122"/>
                <a:ea typeface="微软雅黑" panose="020B0503020204020204" pitchFamily="34" charset="-122"/>
                <a:sym typeface="+mn-ea"/>
              </a:rPr>
              <a:t>14.3</a:t>
            </a:r>
            <a:r>
              <a:rPr lang="zh-CN" altLang="en-US" sz="1200" b="1" dirty="0">
                <a:solidFill>
                  <a:srgbClr val="C00000"/>
                </a:solidFill>
                <a:latin typeface="微软雅黑" panose="020B0503020204020204" pitchFamily="34" charset="-122"/>
                <a:ea typeface="微软雅黑" panose="020B0503020204020204" pitchFamily="34" charset="-122"/>
                <a:sym typeface="+mn-ea"/>
              </a:rPr>
              <a:t>万㎡</a:t>
            </a:r>
            <a:r>
              <a:rPr lang="zh-CN" altLang="en-US" sz="1000" b="1" dirty="0">
                <a:latin typeface="微软雅黑" panose="020B0503020204020204" pitchFamily="34" charset="-122"/>
                <a:ea typeface="微软雅黑" panose="020B0503020204020204" pitchFamily="34" charset="-122"/>
                <a:sym typeface="+mn-ea"/>
              </a:rPr>
              <a:t>（</a:t>
            </a:r>
            <a:r>
              <a:rPr lang="en-US" altLang="zh-CN" sz="1000" b="1" dirty="0">
                <a:latin typeface="微软雅黑" panose="020B0503020204020204" pitchFamily="34" charset="-122"/>
                <a:ea typeface="微软雅黑" panose="020B0503020204020204" pitchFamily="34" charset="-122"/>
                <a:sym typeface="+mn-ea"/>
              </a:rPr>
              <a:t>26</a:t>
            </a:r>
            <a:r>
              <a:rPr lang="zh-CN" altLang="en-US" sz="1000" b="1" dirty="0">
                <a:latin typeface="微软雅黑" panose="020B0503020204020204" pitchFamily="34" charset="-122"/>
                <a:ea typeface="微软雅黑" panose="020B0503020204020204" pitchFamily="34" charset="-122"/>
                <a:sym typeface="+mn-ea"/>
              </a:rPr>
              <a:t>年到期</a:t>
            </a:r>
            <a:r>
              <a:rPr lang="en-US" altLang="zh-CN" sz="1000" b="1" dirty="0">
                <a:latin typeface="微软雅黑" panose="020B0503020204020204" pitchFamily="34" charset="-122"/>
                <a:ea typeface="微软雅黑" panose="020B0503020204020204" pitchFamily="34" charset="-122"/>
                <a:sym typeface="+mn-ea"/>
              </a:rPr>
              <a:t>20.24</a:t>
            </a:r>
            <a:r>
              <a:rPr lang="zh-CN" altLang="en-US" sz="1000" b="1" dirty="0">
                <a:latin typeface="微软雅黑" panose="020B0503020204020204" pitchFamily="34" charset="-122"/>
                <a:ea typeface="微软雅黑" panose="020B0503020204020204" pitchFamily="34" charset="-122"/>
                <a:sym typeface="+mn-ea"/>
              </a:rPr>
              <a:t>万㎡）</a:t>
            </a:r>
            <a:r>
              <a:rPr lang="zh-CN" altLang="en-US" sz="1100" b="1" dirty="0">
                <a:solidFill>
                  <a:srgbClr val="C00000"/>
                </a:solidFill>
                <a:latin typeface="微软雅黑" panose="020B0503020204020204" pitchFamily="34" charset="-122"/>
                <a:ea typeface="微软雅黑" panose="020B0503020204020204" pitchFamily="34" charset="-122"/>
                <a:sym typeface="+mn-ea"/>
              </a:rPr>
              <a:t>，</a:t>
            </a:r>
            <a:r>
              <a:rPr lang="en-US" altLang="zh-CN" sz="1200" b="1" dirty="0" err="1">
                <a:latin typeface="微软雅黑" panose="020B0503020204020204" pitchFamily="34" charset="-122"/>
                <a:ea typeface="微软雅黑" panose="020B0503020204020204" pitchFamily="34" charset="-122"/>
                <a:sym typeface="+mn-ea"/>
              </a:rPr>
              <a:t>合计</a:t>
            </a:r>
            <a:r>
              <a:rPr lang="en-US" altLang="zh-CN" sz="1200" b="1" dirty="0">
                <a:latin typeface="微软雅黑" panose="020B0503020204020204" pitchFamily="34" charset="-122"/>
                <a:ea typeface="微软雅黑" panose="020B0503020204020204" pitchFamily="34" charset="-122"/>
                <a:sym typeface="+mn-ea"/>
              </a:rPr>
              <a:t> </a:t>
            </a:r>
            <a:r>
              <a:rPr lang="en-US" altLang="zh-CN" sz="1200" b="1" dirty="0">
                <a:solidFill>
                  <a:srgbClr val="C00000"/>
                </a:solidFill>
                <a:latin typeface="微软雅黑" panose="020B0503020204020204" pitchFamily="34" charset="-122"/>
                <a:ea typeface="微软雅黑" panose="020B0503020204020204" pitchFamily="34" charset="-122"/>
                <a:sym typeface="+mn-ea"/>
              </a:rPr>
              <a:t>42.84</a:t>
            </a:r>
            <a:r>
              <a:rPr lang="zh-CN" altLang="en-US" sz="1200" b="1" dirty="0">
                <a:solidFill>
                  <a:srgbClr val="C00000"/>
                </a:solidFill>
                <a:latin typeface="微软雅黑" panose="020B0503020204020204" pitchFamily="34" charset="-122"/>
                <a:ea typeface="微软雅黑" panose="020B0503020204020204" pitchFamily="34" charset="-122"/>
                <a:sym typeface="+mn-ea"/>
              </a:rPr>
              <a:t>万</a:t>
            </a:r>
            <a:r>
              <a:rPr lang="zh-CN" altLang="en-US" sz="1200" b="1" dirty="0" smtClean="0">
                <a:solidFill>
                  <a:srgbClr val="C00000"/>
                </a:solidFill>
                <a:latin typeface="微软雅黑" panose="020B0503020204020204" pitchFamily="34" charset="-122"/>
                <a:ea typeface="微软雅黑" panose="020B0503020204020204" pitchFamily="34" charset="-122"/>
                <a:sym typeface="+mn-ea"/>
              </a:rPr>
              <a:t>㎡</a:t>
            </a:r>
            <a:r>
              <a:rPr lang="zh-CN" altLang="en-US" sz="1100" dirty="0" smtClean="0">
                <a:latin typeface="微软雅黑" panose="020B0503020204020204" pitchFamily="34" charset="-122"/>
                <a:ea typeface="微软雅黑" panose="020B0503020204020204" pitchFamily="34" charset="-122"/>
                <a:sym typeface="+mn-ea"/>
              </a:rPr>
              <a:t>（同比增加招商面积</a:t>
            </a:r>
            <a:r>
              <a:rPr lang="en-US" altLang="zh-CN" sz="1100" dirty="0" smtClean="0">
                <a:latin typeface="微软雅黑" panose="020B0503020204020204" pitchFamily="34" charset="-122"/>
                <a:ea typeface="微软雅黑" panose="020B0503020204020204" pitchFamily="34" charset="-122"/>
                <a:sym typeface="+mn-ea"/>
              </a:rPr>
              <a:t>7.2</a:t>
            </a:r>
            <a:r>
              <a:rPr lang="zh-CN" altLang="en-US" sz="1100" dirty="0" smtClean="0">
                <a:latin typeface="微软雅黑" panose="020B0503020204020204" pitchFamily="34" charset="-122"/>
                <a:ea typeface="微软雅黑" panose="020B0503020204020204" pitchFamily="34" charset="-122"/>
                <a:sym typeface="+mn-ea"/>
              </a:rPr>
              <a:t>万方，增幅</a:t>
            </a:r>
            <a:r>
              <a:rPr lang="en-US" altLang="zh-CN" sz="1100" dirty="0" smtClean="0">
                <a:latin typeface="微软雅黑" panose="020B0503020204020204" pitchFamily="34" charset="-122"/>
                <a:ea typeface="微软雅黑" panose="020B0503020204020204" pitchFamily="34" charset="-122"/>
                <a:sym typeface="+mn-ea"/>
              </a:rPr>
              <a:t>20%</a:t>
            </a:r>
            <a:r>
              <a:rPr lang="zh-CN" altLang="en-US" sz="1100" dirty="0" smtClean="0">
                <a:latin typeface="微软雅黑" panose="020B0503020204020204" pitchFamily="34" charset="-122"/>
                <a:ea typeface="微软雅黑" panose="020B0503020204020204" pitchFamily="34" charset="-122"/>
                <a:sym typeface="+mn-ea"/>
              </a:rPr>
              <a:t>）</a:t>
            </a:r>
            <a:endParaRPr lang="zh-CN" altLang="en-US" sz="900" dirty="0">
              <a:latin typeface="微软雅黑" panose="020B0503020204020204" pitchFamily="34" charset="-122"/>
              <a:ea typeface="微软雅黑" panose="020B0503020204020204" pitchFamily="34" charset="-122"/>
              <a:sym typeface="+mn-ea"/>
            </a:endParaRPr>
          </a:p>
          <a:p>
            <a:pPr algn="l">
              <a:lnSpc>
                <a:spcPct val="120000"/>
              </a:lnSpc>
              <a:defRPr/>
            </a:pPr>
            <a:r>
              <a:rPr lang="zh-CN" altLang="en-US" sz="1200" dirty="0">
                <a:solidFill>
                  <a:prstClr val="black"/>
                </a:solidFill>
                <a:latin typeface="微软雅黑" panose="020B0503020204020204" pitchFamily="34" charset="-122"/>
                <a:ea typeface="微软雅黑" panose="020B0503020204020204" pitchFamily="34" charset="-122"/>
              </a:rPr>
              <a:t> </a:t>
            </a:r>
            <a:endParaRPr lang="zh-CN" altLang="en-US" sz="1200" dirty="0">
              <a:solidFill>
                <a:srgbClr val="C00000"/>
              </a:solidFill>
              <a:latin typeface="微软雅黑" panose="020B0503020204020204" pitchFamily="34" charset="-122"/>
              <a:ea typeface="微软雅黑" panose="020B0503020204020204" pitchFamily="34" charset="-122"/>
              <a:sym typeface="+mn-ea"/>
            </a:endParaRPr>
          </a:p>
          <a:p>
            <a:pPr defTabSz="914400">
              <a:lnSpc>
                <a:spcPct val="120000"/>
              </a:lnSpc>
              <a:defRPr/>
            </a:pPr>
            <a:endParaRPr lang="zh-CN" altLang="en-US" sz="1200" dirty="0">
              <a:solidFill>
                <a:prstClr val="black"/>
              </a:solidFill>
              <a:latin typeface="微软雅黑" panose="020B0503020204020204" pitchFamily="34" charset="-122"/>
              <a:ea typeface="微软雅黑" panose="020B0503020204020204" pitchFamily="34" charset="-122"/>
            </a:endParaRPr>
          </a:p>
        </p:txBody>
      </p:sp>
      <p:sp>
        <p:nvSpPr>
          <p:cNvPr id="9" name="标题 4"/>
          <p:cNvSpPr>
            <a:spLocks noGrp="1"/>
          </p:cNvSpPr>
          <p:nvPr>
            <p:ph type="title"/>
          </p:nvPr>
        </p:nvSpPr>
        <p:spPr>
          <a:xfrm>
            <a:off x="349250" y="238126"/>
            <a:ext cx="7559675" cy="359346"/>
          </a:xfrm>
        </p:spPr>
        <p:txBody>
          <a:bodyPr/>
          <a:lstStyle/>
          <a:p>
            <a:pPr marL="0" marR="0" lvl="0" algn="l" defTabSz="754380" rtl="0" eaLnBrk="0" fontAlgn="base" latinLnBrk="0" hangingPunct="0">
              <a:lnSpc>
                <a:spcPct val="100000"/>
              </a:lnSpc>
              <a:buClrTx/>
              <a:buSzTx/>
              <a:buFontTx/>
              <a:buNone/>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第一部分：</a:t>
            </a:r>
            <a:r>
              <a:rPr lang="zh-CN" altLang="en-US" b="1" noProof="0" dirty="0" smtClean="0">
                <a:ln>
                  <a:noFill/>
                </a:ln>
                <a:effectLst/>
                <a:uLnTx/>
                <a:uFillTx/>
                <a:sym typeface="+mn-ea"/>
              </a:rPr>
              <a:t>202</a:t>
            </a:r>
            <a:r>
              <a:rPr lang="en-US" altLang="zh-CN" b="1" noProof="0" dirty="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经营目标（深圳产业公司）</a:t>
            </a:r>
            <a:endParaRPr kumimoji="0" lang="zh-CN" altLang="en-US" sz="1800" b="1" i="0" u="none" strike="noStrike" kern="1200" cap="none" spc="-41" normalizeH="0" baseline="0" noProof="0" dirty="0">
              <a:ln>
                <a:noFill/>
              </a:ln>
              <a:effectLst/>
              <a:uLnTx/>
              <a:uFillTx/>
              <a:sym typeface="+mn-ea"/>
            </a:endParaRPr>
          </a:p>
        </p:txBody>
      </p:sp>
      <p:sp>
        <p:nvSpPr>
          <p:cNvPr id="10" name="矩形 1"/>
          <p:cNvSpPr/>
          <p:nvPr>
            <p:custDataLst>
              <p:tags r:id="rId1"/>
            </p:custDataLst>
          </p:nvPr>
        </p:nvSpPr>
        <p:spPr>
          <a:xfrm>
            <a:off x="132656" y="675545"/>
            <a:ext cx="1943576" cy="281845"/>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lang="en-US" altLang="zh-CN" sz="1600" b="1" smtClean="0">
                <a:solidFill>
                  <a:prstClr val="white"/>
                </a:solidFill>
                <a:ea typeface="微软雅黑" panose="020B0503020204020204" pitchFamily="34" charset="-122"/>
              </a:rPr>
              <a:t>2026</a:t>
            </a:r>
            <a:r>
              <a:rPr lang="zh-CN" altLang="en-US" sz="1600" b="1" smtClean="0">
                <a:solidFill>
                  <a:prstClr val="white"/>
                </a:solidFill>
                <a:ea typeface="微软雅黑" panose="020B0503020204020204" pitchFamily="34" charset="-122"/>
              </a:rPr>
              <a:t>年</a:t>
            </a:r>
            <a:r>
              <a:rPr lang="zh-CN" altLang="en-US" sz="1600" b="1" dirty="0" smtClean="0">
                <a:solidFill>
                  <a:prstClr val="white"/>
                </a:solidFill>
                <a:ea typeface="微软雅黑" panose="020B0503020204020204" pitchFamily="34" charset="-122"/>
              </a:rPr>
              <a:t>经营目标</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12" name="矩形 11"/>
          <p:cNvSpPr/>
          <p:nvPr/>
        </p:nvSpPr>
        <p:spPr>
          <a:xfrm>
            <a:off x="276672" y="3909839"/>
            <a:ext cx="8856984" cy="1245235"/>
          </a:xfrm>
          <a:prstGeom prst="rect">
            <a:avLst/>
          </a:prstGeom>
        </p:spPr>
        <p:txBody>
          <a:bodyPr wrap="square">
            <a:spAutoFit/>
          </a:bodyPr>
          <a:lstStyle/>
          <a:p>
            <a:pPr lvl="0" defTabSz="754380" eaLnBrk="1" fontAlgn="auto" hangingPunct="1">
              <a:lnSpc>
                <a:spcPct val="150000"/>
              </a:lnSpc>
              <a:spcBef>
                <a:spcPts val="0"/>
              </a:spcBef>
              <a:spcAft>
                <a:spcPts val="0"/>
              </a:spcAft>
              <a:defRPr/>
            </a:pPr>
            <a:r>
              <a:rPr lang="zh-CN" altLang="en-US" sz="1000" dirty="0" smtClean="0">
                <a:solidFill>
                  <a:prstClr val="black"/>
                </a:solidFill>
                <a:latin typeface="微软雅黑" panose="020B0503020204020204" pitchFamily="34" charset="-122"/>
                <a:ea typeface="微软雅黑" panose="020B0503020204020204" pitchFamily="34" charset="-122"/>
              </a:rPr>
              <a:t>说明：</a:t>
            </a: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lnSpc>
                <a:spcPct val="150000"/>
              </a:lnSpc>
            </a:pPr>
            <a:r>
              <a:rPr lang="zh-CN" altLang="en-US" sz="1000" b="1" dirty="0">
                <a:latin typeface="微软雅黑" panose="020B0503020204020204" pitchFamily="34" charset="-122"/>
                <a:ea typeface="微软雅黑" panose="020B0503020204020204" pitchFamily="34" charset="-122"/>
              </a:rPr>
              <a:t>一、续租压力集中释放：</a:t>
            </a:r>
            <a:r>
              <a:rPr lang="en-US" altLang="zh-CN" sz="1000" dirty="0">
                <a:latin typeface="微软雅黑" panose="020B0503020204020204" pitchFamily="34" charset="-122"/>
                <a:ea typeface="微软雅黑" panose="020B0503020204020204" pitchFamily="34" charset="-122"/>
              </a:rPr>
              <a:t>26</a:t>
            </a:r>
            <a:r>
              <a:rPr lang="zh-CN" altLang="en-US" sz="1000" dirty="0">
                <a:latin typeface="微软雅黑" panose="020B0503020204020204" pitchFamily="34" charset="-122"/>
                <a:ea typeface="微软雅黑" panose="020B0503020204020204" pitchFamily="34" charset="-122"/>
              </a:rPr>
              <a:t>年到期面积达</a:t>
            </a:r>
            <a:r>
              <a:rPr lang="en-US" altLang="zh-CN" sz="1000" dirty="0">
                <a:latin typeface="微软雅黑" panose="020B0503020204020204" pitchFamily="34" charset="-122"/>
                <a:ea typeface="微软雅黑" panose="020B0503020204020204" pitchFamily="34" charset="-122"/>
              </a:rPr>
              <a:t>20.24</a:t>
            </a:r>
            <a:r>
              <a:rPr lang="zh-CN" altLang="en-US" sz="1000" dirty="0">
                <a:latin typeface="微软雅黑" panose="020B0503020204020204" pitchFamily="34" charset="-122"/>
                <a:ea typeface="微软雅黑" panose="020B0503020204020204" pitchFamily="34" charset="-122"/>
              </a:rPr>
              <a:t>万</a:t>
            </a:r>
            <a:r>
              <a:rPr lang="zh-CN" altLang="en-US" sz="1000" dirty="0" smtClean="0">
                <a:latin typeface="微软雅黑" panose="020B0503020204020204" pitchFamily="34" charset="-122"/>
                <a:ea typeface="微软雅黑" panose="020B0503020204020204" pitchFamily="34" charset="-122"/>
              </a:rPr>
              <a:t>㎡</a:t>
            </a:r>
            <a:r>
              <a:rPr lang="zh-CN" altLang="en-US" sz="1000" b="1" dirty="0" smtClean="0">
                <a:latin typeface="微软雅黑" panose="020B0503020204020204" pitchFamily="34" charset="-122"/>
                <a:ea typeface="微软雅黑" panose="020B0503020204020204" pitchFamily="34" charset="-122"/>
              </a:rPr>
              <a:t>（续租率约</a:t>
            </a:r>
            <a:r>
              <a:rPr lang="en-US" altLang="zh-CN" sz="1000" b="1" dirty="0" smtClean="0">
                <a:latin typeface="微软雅黑" panose="020B0503020204020204" pitchFamily="34" charset="-122"/>
                <a:ea typeface="微软雅黑" panose="020B0503020204020204" pitchFamily="34" charset="-122"/>
              </a:rPr>
              <a:t>70%</a:t>
            </a:r>
            <a:r>
              <a:rPr lang="zh-CN" altLang="en-US" sz="1000" b="1" dirty="0" smtClean="0">
                <a:latin typeface="微软雅黑" panose="020B0503020204020204" pitchFamily="34" charset="-122"/>
                <a:ea typeface="微软雅黑" panose="020B0503020204020204" pitchFamily="34" charset="-122"/>
              </a:rPr>
              <a:t>），</a:t>
            </a:r>
            <a:r>
              <a:rPr lang="zh-CN" altLang="en-US" sz="1000" dirty="0">
                <a:latin typeface="微软雅黑" panose="020B0503020204020204" pitchFamily="34" charset="-122"/>
                <a:ea typeface="微软雅黑" panose="020B0503020204020204" pitchFamily="34" charset="-122"/>
              </a:rPr>
              <a:t>续租客户均会明确提出降租或免租期诉求。</a:t>
            </a:r>
            <a:endParaRPr lang="zh-CN" altLang="en-US" sz="1000" dirty="0">
              <a:latin typeface="微软雅黑" panose="020B0503020204020204" pitchFamily="34" charset="-122"/>
              <a:ea typeface="微软雅黑" panose="020B0503020204020204" pitchFamily="34" charset="-122"/>
            </a:endParaRPr>
          </a:p>
          <a:p>
            <a:pPr>
              <a:lnSpc>
                <a:spcPct val="150000"/>
              </a:lnSpc>
            </a:pPr>
            <a:r>
              <a:rPr lang="zh-CN" altLang="en-US" sz="1000" b="1" dirty="0">
                <a:latin typeface="微软雅黑" panose="020B0503020204020204" pitchFamily="34" charset="-122"/>
                <a:ea typeface="微软雅黑" panose="020B0503020204020204" pitchFamily="34" charset="-122"/>
              </a:rPr>
              <a:t>二、稳商留客成本攀升：</a:t>
            </a:r>
            <a:r>
              <a:rPr lang="zh-CN" altLang="en-US" sz="1000" dirty="0">
                <a:latin typeface="微软雅黑" panose="020B0503020204020204" pitchFamily="34" charset="-122"/>
                <a:ea typeface="微软雅黑" panose="020B0503020204020204" pitchFamily="34" charset="-122"/>
              </a:rPr>
              <a:t>预计超</a:t>
            </a:r>
            <a:r>
              <a:rPr lang="en-US" altLang="zh-CN" sz="1000" dirty="0">
                <a:latin typeface="微软雅黑" panose="020B0503020204020204" pitchFamily="34" charset="-122"/>
                <a:ea typeface="微软雅黑" panose="020B0503020204020204" pitchFamily="34" charset="-122"/>
              </a:rPr>
              <a:t>30%</a:t>
            </a:r>
            <a:r>
              <a:rPr lang="zh-CN" altLang="en-US" sz="1000" dirty="0">
                <a:latin typeface="微软雅黑" panose="020B0503020204020204" pitchFamily="34" charset="-122"/>
                <a:ea typeface="微软雅黑" panose="020B0503020204020204" pitchFamily="34" charset="-122"/>
              </a:rPr>
              <a:t>的存量客户需开展留商谈判，以XH</a:t>
            </a:r>
            <a:r>
              <a:rPr lang="en-US" altLang="zh-CN" sz="1000" dirty="0">
                <a:latin typeface="微软雅黑" panose="020B0503020204020204" pitchFamily="34" charset="-122"/>
                <a:ea typeface="微软雅黑" panose="020B0503020204020204" pitchFamily="34" charset="-122"/>
              </a:rPr>
              <a:t>WORLD</a:t>
            </a:r>
            <a:r>
              <a:rPr lang="zh-CN" altLang="en-US" sz="1000" dirty="0">
                <a:latin typeface="微软雅黑" panose="020B0503020204020204" pitchFamily="34" charset="-122"/>
                <a:ea typeface="微软雅黑" panose="020B0503020204020204" pitchFamily="34" charset="-122"/>
              </a:rPr>
              <a:t>为例，全年预计留商支出达租金收入的</a:t>
            </a:r>
            <a:r>
              <a:rPr lang="en-US" altLang="zh-CN" sz="1000" dirty="0">
                <a:latin typeface="微软雅黑" panose="020B0503020204020204" pitchFamily="34" charset="-122"/>
                <a:ea typeface="微软雅黑" panose="020B0503020204020204" pitchFamily="34" charset="-122"/>
              </a:rPr>
              <a:t>1.5%-2%</a:t>
            </a:r>
            <a:r>
              <a:rPr lang="zh-CN" altLang="en-US" sz="1000" dirty="0">
                <a:latin typeface="微软雅黑" panose="020B0503020204020204" pitchFamily="34" charset="-122"/>
                <a:ea typeface="微软雅黑" panose="020B0503020204020204" pitchFamily="34" charset="-122"/>
              </a:rPr>
              <a:t>。</a:t>
            </a:r>
            <a:endParaRPr lang="zh-CN" altLang="en-US" sz="1000" dirty="0">
              <a:latin typeface="微软雅黑" panose="020B0503020204020204" pitchFamily="34" charset="-122"/>
              <a:ea typeface="微软雅黑" panose="020B0503020204020204" pitchFamily="34" charset="-122"/>
            </a:endParaRPr>
          </a:p>
          <a:p>
            <a:pPr>
              <a:lnSpc>
                <a:spcPct val="150000"/>
              </a:lnSpc>
            </a:pPr>
            <a:r>
              <a:rPr lang="zh-CN" altLang="en-US" sz="1000" b="1" dirty="0">
                <a:latin typeface="微软雅黑" panose="020B0503020204020204" pitchFamily="34" charset="-122"/>
                <a:ea typeface="微软雅黑" panose="020B0503020204020204" pitchFamily="34" charset="-122"/>
              </a:rPr>
              <a:t>三、市场恶化退租加剧：</a:t>
            </a:r>
            <a:r>
              <a:rPr lang="en-US" altLang="zh-CN" sz="1000" dirty="0">
                <a:latin typeface="微软雅黑" panose="020B0503020204020204" pitchFamily="34" charset="-122"/>
                <a:ea typeface="微软雅黑" panose="020B0503020204020204" pitchFamily="34" charset="-122"/>
              </a:rPr>
              <a:t>26</a:t>
            </a:r>
            <a:r>
              <a:rPr lang="zh-CN" altLang="en-US" sz="1000" dirty="0">
                <a:latin typeface="微软雅黑" panose="020B0503020204020204" pitchFamily="34" charset="-122"/>
                <a:ea typeface="微软雅黑" panose="020B0503020204020204" pitchFamily="34" charset="-122"/>
              </a:rPr>
              <a:t>年预计全年退租将高达</a:t>
            </a:r>
            <a:r>
              <a:rPr lang="en-US" altLang="zh-CN" sz="1000" dirty="0">
                <a:latin typeface="微软雅黑" panose="020B0503020204020204" pitchFamily="34" charset="-122"/>
                <a:ea typeface="微软雅黑" panose="020B0503020204020204" pitchFamily="34" charset="-122"/>
              </a:rPr>
              <a:t>16.15</a:t>
            </a:r>
            <a:r>
              <a:rPr lang="zh-CN" altLang="en-US" sz="1000" dirty="0">
                <a:latin typeface="微软雅黑" panose="020B0503020204020204" pitchFamily="34" charset="-122"/>
                <a:ea typeface="微软雅黑" panose="020B0503020204020204" pitchFamily="34" charset="-122"/>
              </a:rPr>
              <a:t>万㎡，退租后的空置窗口期及新引入企业的免租期将进一步影响收入。</a:t>
            </a:r>
            <a:endParaRPr lang="zh-CN" altLang="en-US" sz="1000" dirty="0">
              <a:latin typeface="微软雅黑" panose="020B0503020204020204" pitchFamily="34" charset="-122"/>
              <a:ea typeface="微软雅黑" panose="020B0503020204020204" pitchFamily="34" charset="-122"/>
            </a:endParaRPr>
          </a:p>
          <a:p>
            <a:pPr>
              <a:lnSpc>
                <a:spcPct val="150000"/>
              </a:lnSpc>
            </a:pPr>
            <a:r>
              <a:rPr lang="zh-CN" altLang="en-US" sz="1000" b="1" dirty="0">
                <a:latin typeface="微软雅黑" panose="020B0503020204020204" pitchFamily="34" charset="-122"/>
                <a:ea typeface="微软雅黑" panose="020B0503020204020204" pitchFamily="34" charset="-122"/>
              </a:rPr>
              <a:t>四、新签价格与条件让利：</a:t>
            </a:r>
            <a:r>
              <a:rPr lang="en-US" altLang="zh-CN" sz="1000" dirty="0">
                <a:latin typeface="微软雅黑" panose="020B0503020204020204" pitchFamily="34" charset="-122"/>
                <a:ea typeface="微软雅黑" panose="020B0503020204020204" pitchFamily="34" charset="-122"/>
              </a:rPr>
              <a:t>26</a:t>
            </a:r>
            <a:r>
              <a:rPr lang="zh-CN" altLang="en-US" sz="1000" dirty="0">
                <a:latin typeface="微软雅黑" panose="020B0503020204020204" pitchFamily="34" charset="-122"/>
                <a:ea typeface="微软雅黑" panose="020B0503020204020204" pitchFamily="34" charset="-122"/>
              </a:rPr>
              <a:t>年新签单价普遍下调</a:t>
            </a:r>
            <a:r>
              <a:rPr lang="en-US" altLang="zh-CN" sz="1000" dirty="0">
                <a:latin typeface="微软雅黑" panose="020B0503020204020204" pitchFamily="34" charset="-122"/>
                <a:ea typeface="微软雅黑" panose="020B0503020204020204" pitchFamily="34" charset="-122"/>
              </a:rPr>
              <a:t>4%</a:t>
            </a:r>
            <a:r>
              <a:rPr lang="zh-CN" altLang="en-US" sz="1000" dirty="0">
                <a:latin typeface="微软雅黑" panose="020B0503020204020204" pitchFamily="34" charset="-122"/>
                <a:ea typeface="微软雅黑" panose="020B0503020204020204" pitchFamily="34" charset="-122"/>
              </a:rPr>
              <a:t>（已低于市场降幅均值），免租期整体延长，导致新增面积对收入的拉动减弱</a:t>
            </a:r>
            <a:r>
              <a:rPr lang="zh-CN" altLang="en-US" sz="1000" dirty="0" smtClean="0">
                <a:latin typeface="微软雅黑" panose="020B0503020204020204" pitchFamily="34" charset="-122"/>
                <a:ea typeface="微软雅黑" panose="020B0503020204020204" pitchFamily="34" charset="-122"/>
              </a:rPr>
              <a:t>。</a:t>
            </a:r>
            <a:endParaRPr lang="zh-CN" altLang="en-US" sz="1000" dirty="0">
              <a:latin typeface="微软雅黑" panose="020B0503020204020204" pitchFamily="34" charset="-122"/>
              <a:ea typeface="微软雅黑" panose="020B0503020204020204" pitchFamily="34" charset="-122"/>
            </a:endParaRPr>
          </a:p>
        </p:txBody>
      </p:sp>
      <p:graphicFrame>
        <p:nvGraphicFramePr>
          <p:cNvPr id="7" name="表格 6"/>
          <p:cNvGraphicFramePr>
            <a:graphicFrameLocks noGrp="1"/>
          </p:cNvGraphicFramePr>
          <p:nvPr>
            <p:custDataLst>
              <p:tags r:id="rId2"/>
            </p:custDataLst>
          </p:nvPr>
        </p:nvGraphicFramePr>
        <p:xfrm>
          <a:off x="276672" y="1605583"/>
          <a:ext cx="9504489" cy="2143686"/>
        </p:xfrm>
        <a:graphic>
          <a:graphicData uri="http://schemas.openxmlformats.org/drawingml/2006/table">
            <a:tbl>
              <a:tblPr>
                <a:effectLst/>
                <a:tableStyleId>{5940675A-B579-460E-94D1-54222C63F5DA}</a:tableStyleId>
              </a:tblPr>
              <a:tblGrid>
                <a:gridCol w="749153"/>
                <a:gridCol w="748126"/>
                <a:gridCol w="715287"/>
                <a:gridCol w="676803"/>
                <a:gridCol w="682447"/>
                <a:gridCol w="673724"/>
                <a:gridCol w="608558"/>
                <a:gridCol w="665002"/>
                <a:gridCol w="679369"/>
                <a:gridCol w="678855"/>
                <a:gridCol w="678855"/>
                <a:gridCol w="635754"/>
                <a:gridCol w="652173"/>
                <a:gridCol w="660383"/>
              </a:tblGrid>
              <a:tr h="229831">
                <a:tc rowSpan="2">
                  <a:txBody>
                    <a:bodyPr/>
                    <a:lstStyle/>
                    <a:p>
                      <a:pPr algn="ctr" fontAlgn="ctr"/>
                      <a:r>
                        <a:rPr lang="zh-CN" altLang="en-US" sz="1050" b="1" u="none" strike="noStrike" dirty="0">
                          <a:solidFill>
                            <a:schemeClr val="tx1"/>
                          </a:solidFill>
                          <a:effectLst/>
                          <a:latin typeface="微软雅黑" panose="020B0503020204020204" pitchFamily="34" charset="-122"/>
                          <a:ea typeface="微软雅黑" panose="020B0503020204020204" pitchFamily="34" charset="-122"/>
                        </a:rPr>
                        <a:t>项目</a:t>
                      </a:r>
                      <a:endParaRPr lang="zh-CN" altLang="en-US" sz="1050" b="1" i="0" u="none" strike="noStrike" dirty="0">
                        <a:solidFill>
                          <a:schemeClr val="tx1"/>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gridSpan="3">
                  <a:txBody>
                    <a:bodyPr/>
                    <a:lstStyle/>
                    <a:p>
                      <a:pPr algn="ctr" fontAlgn="ctr"/>
                      <a:r>
                        <a:rPr lang="zh-CN" altLang="en-US" sz="1000" b="1" i="0" dirty="0">
                          <a:solidFill>
                            <a:schemeClr val="tx1"/>
                          </a:solidFill>
                          <a:latin typeface="微软雅黑" panose="020B0503020204020204" pitchFamily="34" charset="-122"/>
                          <a:ea typeface="微软雅黑" panose="020B0503020204020204" pitchFamily="34" charset="-122"/>
                        </a:rPr>
                        <a:t>新签面积（㎡）</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cPr/>
                </a:tc>
                <a:tc hMerge="1">
                  <a:tcPr/>
                </a:tc>
                <a:tc gridSpan="2">
                  <a:txBody>
                    <a:bodyPr/>
                    <a:lstStyle/>
                    <a:p>
                      <a:pPr algn="ctr" fontAlgn="ctr"/>
                      <a:r>
                        <a:rPr lang="zh-CN" altLang="en-US" sz="1000" b="1" i="0">
                          <a:solidFill>
                            <a:schemeClr val="tx1"/>
                          </a:solidFill>
                          <a:latin typeface="微软雅黑" panose="020B0503020204020204" pitchFamily="34" charset="-122"/>
                          <a:ea typeface="微软雅黑" panose="020B0503020204020204" pitchFamily="34" charset="-122"/>
                        </a:rPr>
                        <a:t>到期面积（㎡）</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cPr/>
                </a:tc>
                <a:tc gridSpan="3">
                  <a:txBody>
                    <a:bodyPr/>
                    <a:lstStyle/>
                    <a:p>
                      <a:pPr algn="ctr" fontAlgn="ctr"/>
                      <a:r>
                        <a:rPr lang="zh-CN" altLang="en-US" sz="1000" b="1" i="0">
                          <a:solidFill>
                            <a:schemeClr val="tx1"/>
                          </a:solidFill>
                          <a:latin typeface="微软雅黑" panose="020B0503020204020204" pitchFamily="34" charset="-122"/>
                          <a:ea typeface="微软雅黑" panose="020B0503020204020204" pitchFamily="34" charset="-122"/>
                        </a:rPr>
                        <a:t>续签面积</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cPr/>
                </a:tc>
                <a:tc hMerge="1">
                  <a:tcPr/>
                </a:tc>
                <a:tc gridSpan="2">
                  <a:txBody>
                    <a:bodyPr/>
                    <a:lstStyle/>
                    <a:p>
                      <a:pPr algn="ctr" fontAlgn="ctr">
                        <a:buNone/>
                      </a:pPr>
                      <a:r>
                        <a:rPr lang="zh-CN" altLang="en-US" sz="1000" b="1" i="0">
                          <a:solidFill>
                            <a:schemeClr val="tx1"/>
                          </a:solidFill>
                          <a:latin typeface="微软雅黑" panose="020B0503020204020204" pitchFamily="34" charset="-122"/>
                          <a:ea typeface="微软雅黑" panose="020B0503020204020204" pitchFamily="34" charset="-122"/>
                        </a:rPr>
                        <a:t>退租面积</a:t>
                      </a:r>
                      <a:endParaRPr lang="zh-CN" altLang="en-US" sz="1000" b="1" i="0">
                        <a:solidFill>
                          <a:schemeClr val="tx1"/>
                        </a:solidFill>
                        <a:latin typeface="微软雅黑" panose="020B0503020204020204" pitchFamily="34" charset="-122"/>
                        <a:ea typeface="微软雅黑" panose="020B0503020204020204" pitchFamily="34" charset="-122"/>
                      </a:endParaRPr>
                    </a:p>
                  </a:txBody>
                  <a:tcPr>
                    <a:lnB w="12700" cap="flat" cmpd="sng" algn="ctr">
                      <a:solidFill>
                        <a:schemeClr val="tx1"/>
                      </a:solidFill>
                      <a:prstDash val="solid"/>
                      <a:round/>
                      <a:headEnd type="none" w="med" len="med"/>
                      <a:tailEnd type="none" w="med" len="med"/>
                    </a:lnB>
                    <a:solidFill>
                      <a:srgbClr val="F2F2F2"/>
                    </a:solidFill>
                  </a:tcPr>
                </a:tc>
                <a:tc hMerge="1">
                  <a:tcPr>
                    <a:lnB w="12700" cap="flat" cmpd="sng" algn="ctr">
                      <a:solidFill>
                        <a:schemeClr val="tx1"/>
                      </a:solidFill>
                      <a:prstDash val="solid"/>
                      <a:round/>
                      <a:headEnd type="none" w="med" len="med"/>
                      <a:tailEnd type="none" w="med" len="med"/>
                    </a:lnB>
                    <a:solidFill>
                      <a:srgbClr val="F2F2F2"/>
                    </a:solidFill>
                  </a:tcPr>
                </a:tc>
                <a:tc gridSpan="3">
                  <a:txBody>
                    <a:bodyPr/>
                    <a:lstStyle/>
                    <a:p>
                      <a:pPr algn="ctr" fontAlgn="ctr"/>
                      <a:r>
                        <a:rPr lang="zh-CN" altLang="en-US" sz="1000" b="1" i="0">
                          <a:solidFill>
                            <a:schemeClr val="tx1"/>
                          </a:solidFill>
                          <a:latin typeface="微软雅黑" panose="020B0503020204020204" pitchFamily="34" charset="-122"/>
                          <a:ea typeface="微软雅黑" panose="020B0503020204020204" pitchFamily="34" charset="-122"/>
                        </a:rPr>
                        <a:t>招商合计（新签</a:t>
                      </a:r>
                      <a:r>
                        <a:rPr lang="en-US" altLang="zh-CN" sz="1000" b="1" i="0">
                          <a:solidFill>
                            <a:schemeClr val="tx1"/>
                          </a:solidFill>
                          <a:latin typeface="微软雅黑" panose="020B0503020204020204" pitchFamily="34" charset="-122"/>
                          <a:ea typeface="微软雅黑" panose="020B0503020204020204" pitchFamily="34" charset="-122"/>
                        </a:rPr>
                        <a:t>+</a:t>
                      </a:r>
                      <a:r>
                        <a:rPr lang="zh-CN" altLang="en-US" sz="1000" b="1" i="0">
                          <a:solidFill>
                            <a:schemeClr val="tx1"/>
                          </a:solidFill>
                          <a:latin typeface="微软雅黑" panose="020B0503020204020204" pitchFamily="34" charset="-122"/>
                          <a:ea typeface="微软雅黑" panose="020B0503020204020204" pitchFamily="34" charset="-122"/>
                        </a:rPr>
                        <a:t>续签）</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cPr marL="11542" marR="11542" marT="115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hMerge="1">
                  <a:tcPr marL="11542" marR="11542" marT="115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r>
              <a:tr h="287704">
                <a:tc vMerge="1">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目标</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预计</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a:solidFill>
                            <a:schemeClr val="tx1"/>
                          </a:solidFill>
                          <a:latin typeface="微软雅黑" panose="020B0503020204020204" pitchFamily="34" charset="-122"/>
                          <a:ea typeface="微软雅黑" panose="020B0503020204020204" pitchFamily="34" charset="-122"/>
                        </a:rPr>
                        <a:t>2026</a:t>
                      </a:r>
                      <a:r>
                        <a:rPr lang="zh-CN" altLang="en-US" sz="1000" b="1" i="0">
                          <a:solidFill>
                            <a:schemeClr val="tx1"/>
                          </a:solidFill>
                          <a:latin typeface="微软雅黑" panose="020B0503020204020204" pitchFamily="34" charset="-122"/>
                          <a:ea typeface="微软雅黑" panose="020B0503020204020204" pitchFamily="34" charset="-122"/>
                        </a:rPr>
                        <a:t>目标</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到期</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a:solidFill>
                            <a:schemeClr val="tx1"/>
                          </a:solidFill>
                          <a:latin typeface="微软雅黑" panose="020B0503020204020204" pitchFamily="34" charset="-122"/>
                          <a:ea typeface="微软雅黑" panose="020B0503020204020204" pitchFamily="34" charset="-122"/>
                        </a:rPr>
                        <a:t>2026</a:t>
                      </a:r>
                      <a:r>
                        <a:rPr lang="zh-CN" altLang="en-US" sz="1000" b="1" i="0">
                          <a:solidFill>
                            <a:schemeClr val="tx1"/>
                          </a:solidFill>
                          <a:latin typeface="微软雅黑" panose="020B0503020204020204" pitchFamily="34" charset="-122"/>
                          <a:ea typeface="微软雅黑" panose="020B0503020204020204" pitchFamily="34" charset="-122"/>
                        </a:rPr>
                        <a:t>到期</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目标</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预计</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a:solidFill>
                            <a:schemeClr val="tx1"/>
                          </a:solidFill>
                          <a:latin typeface="微软雅黑" panose="020B0503020204020204" pitchFamily="34" charset="-122"/>
                          <a:ea typeface="微软雅黑" panose="020B0503020204020204" pitchFamily="34" charset="-122"/>
                        </a:rPr>
                        <a:t>2026</a:t>
                      </a:r>
                      <a:r>
                        <a:rPr lang="zh-CN" altLang="en-US" sz="1000" b="1" i="0">
                          <a:solidFill>
                            <a:schemeClr val="tx1"/>
                          </a:solidFill>
                          <a:latin typeface="微软雅黑" panose="020B0503020204020204" pitchFamily="34" charset="-122"/>
                          <a:ea typeface="微软雅黑" panose="020B0503020204020204" pitchFamily="34" charset="-122"/>
                        </a:rPr>
                        <a:t>目标</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buNone/>
                      </a:pP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预计</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buNone/>
                      </a:pPr>
                      <a:r>
                        <a:rPr lang="en-US" altLang="zh-CN" sz="1000" b="1" i="0">
                          <a:solidFill>
                            <a:schemeClr val="tx1"/>
                          </a:solidFill>
                          <a:latin typeface="微软雅黑" panose="020B0503020204020204" pitchFamily="34" charset="-122"/>
                          <a:ea typeface="微软雅黑" panose="020B0503020204020204" pitchFamily="34" charset="-122"/>
                        </a:rPr>
                        <a:t>2026</a:t>
                      </a:r>
                      <a:r>
                        <a:rPr lang="zh-CN" altLang="en-US" sz="1000" b="1" i="0">
                          <a:solidFill>
                            <a:schemeClr val="tx1"/>
                          </a:solidFill>
                          <a:latin typeface="微软雅黑" panose="020B0503020204020204" pitchFamily="34" charset="-122"/>
                          <a:ea typeface="微软雅黑" panose="020B0503020204020204" pitchFamily="34" charset="-122"/>
                        </a:rPr>
                        <a:t>预计</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目标</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smtClean="0">
                          <a:solidFill>
                            <a:schemeClr val="tx1"/>
                          </a:solidFill>
                          <a:latin typeface="微软雅黑" panose="020B0503020204020204" pitchFamily="34" charset="-122"/>
                          <a:ea typeface="微软雅黑" panose="020B0503020204020204" pitchFamily="34" charset="-122"/>
                        </a:rPr>
                        <a:t>2025</a:t>
                      </a:r>
                      <a:r>
                        <a:rPr lang="zh-CN" altLang="en-US" sz="1000" b="1" i="0" smtClean="0">
                          <a:solidFill>
                            <a:schemeClr val="tx1"/>
                          </a:solidFill>
                          <a:latin typeface="微软雅黑" panose="020B0503020204020204" pitchFamily="34" charset="-122"/>
                          <a:ea typeface="微软雅黑" panose="020B0503020204020204" pitchFamily="34" charset="-122"/>
                        </a:rPr>
                        <a:t>预计</a:t>
                      </a:r>
                      <a:endParaRPr lang="zh-CN" altLang="en-US" sz="10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ctr"/>
                      <a:r>
                        <a:rPr lang="en-US" altLang="zh-CN" sz="1000" b="1" i="0">
                          <a:solidFill>
                            <a:schemeClr val="tx1"/>
                          </a:solidFill>
                          <a:latin typeface="微软雅黑" panose="020B0503020204020204" pitchFamily="34" charset="-122"/>
                          <a:ea typeface="微软雅黑" panose="020B0503020204020204" pitchFamily="34" charset="-122"/>
                        </a:rPr>
                        <a:t>2026</a:t>
                      </a:r>
                      <a:r>
                        <a:rPr lang="zh-CN" altLang="en-US" sz="1000" b="1" i="0">
                          <a:solidFill>
                            <a:schemeClr val="tx1"/>
                          </a:solidFill>
                          <a:latin typeface="微软雅黑" panose="020B0503020204020204" pitchFamily="34" charset="-122"/>
                          <a:ea typeface="微软雅黑" panose="020B0503020204020204" pitchFamily="34" charset="-122"/>
                        </a:rPr>
                        <a:t>目标</a:t>
                      </a:r>
                      <a:endParaRPr lang="zh-CN" altLang="en-US" sz="1000" b="1" i="0">
                        <a:solidFill>
                          <a:schemeClr val="tx1"/>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r>
              <a:tr h="201033">
                <a:tc>
                  <a:txBody>
                    <a:bodyPr/>
                    <a:lstStyle/>
                    <a:p>
                      <a:pPr algn="ctr" fontAlgn="b"/>
                      <a:r>
                        <a:rPr lang="en-US" sz="1050" u="none" strike="noStrike" dirty="0">
                          <a:solidFill>
                            <a:schemeClr val="tx1"/>
                          </a:solidFill>
                          <a:effectLst/>
                          <a:latin typeface="微软雅黑" panose="020B0503020204020204" pitchFamily="34" charset="-122"/>
                          <a:ea typeface="微软雅黑" panose="020B0503020204020204" pitchFamily="34" charset="-122"/>
                          <a:cs typeface="微软雅黑" panose="020B0503020204020204" pitchFamily="34" charset="-122"/>
                        </a:rPr>
                        <a:t>1-3</a:t>
                      </a:r>
                      <a:r>
                        <a:rPr lang="zh-CN" altLang="en-US" sz="1050" u="none" strike="noStrike" dirty="0">
                          <a:solidFill>
                            <a:schemeClr val="tx1"/>
                          </a:solidFill>
                          <a:effectLst/>
                          <a:latin typeface="微软雅黑" panose="020B0503020204020204" pitchFamily="34" charset="-122"/>
                          <a:ea typeface="微软雅黑" panose="020B0503020204020204" pitchFamily="34" charset="-122"/>
                          <a:cs typeface="微软雅黑" panose="020B0503020204020204" pitchFamily="34" charset="-122"/>
                        </a:rPr>
                        <a:t>期</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cs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66,987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75,929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85,614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79,646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77,769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55,802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55,998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54,446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78,367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72,388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122,789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131,927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140,060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2141">
                <a:tc>
                  <a:txBody>
                    <a:bodyPr/>
                    <a:lstStyle/>
                    <a:p>
                      <a:pPr algn="ctr" fontAlgn="b">
                        <a:buNone/>
                      </a:pPr>
                      <a:r>
                        <a:rPr lang="zh-CN" altLang="en-US" sz="1050" b="0" i="0" u="none" strike="noStrike" dirty="0">
                          <a:solidFill>
                            <a:schemeClr val="tx1"/>
                          </a:solidFill>
                          <a:effectLst/>
                          <a:latin typeface="微软雅黑" panose="020B0503020204020204" pitchFamily="34" charset="-122"/>
                          <a:ea typeface="微软雅黑" panose="020B0503020204020204" pitchFamily="34" charset="-122"/>
                          <a:cs typeface="微软雅黑" panose="020B0503020204020204" pitchFamily="34" charset="-122"/>
                        </a:rPr>
                        <a:t>双子塔组团</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cs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124,190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116,670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146,075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440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34,116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440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440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24,059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57,361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58,865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124,630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117,110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170,134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0479">
                <a:tc>
                  <a:txBody>
                    <a:bodyPr/>
                    <a:lstStyle/>
                    <a:p>
                      <a:pPr algn="ctr" fontAlgn="b"/>
                      <a:r>
                        <a:rPr lang="zh-CN" altLang="en-US" sz="1050" u="none" strike="noStrike" dirty="0">
                          <a:solidFill>
                            <a:schemeClr val="tx1"/>
                          </a:solidFill>
                          <a:effectLst/>
                          <a:latin typeface="微软雅黑" panose="020B0503020204020204" pitchFamily="34" charset="-122"/>
                          <a:ea typeface="微软雅黑" panose="020B0503020204020204" pitchFamily="34" charset="-122"/>
                        </a:rPr>
                        <a:t>XH中心</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8,020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7,989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6,140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9,156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5,574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5,203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7,157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3,392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8,390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2,183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13,223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15,146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9,532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2695">
                <a:tc>
                  <a:txBody>
                    <a:bodyPr/>
                    <a:lstStyle/>
                    <a:p>
                      <a:pPr algn="ctr" fontAlgn="b"/>
                      <a:r>
                        <a:rPr lang="zh-CN" altLang="en-US" sz="1050" u="none" strike="noStrike" dirty="0">
                          <a:solidFill>
                            <a:schemeClr val="tx1"/>
                          </a:solidFill>
                          <a:effectLst/>
                          <a:latin typeface="微软雅黑" panose="020B0503020204020204" pitchFamily="34" charset="-122"/>
                          <a:ea typeface="微软雅黑" panose="020B0503020204020204" pitchFamily="34" charset="-122"/>
                        </a:rPr>
                        <a:t>XH世纪</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1,083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371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757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1,162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2,515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277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1,162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1,878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1,062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1,360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1,534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2,635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0479">
                <a:tc>
                  <a:txBody>
                    <a:bodyPr/>
                    <a:lstStyle/>
                    <a:p>
                      <a:pPr algn="ctr" fontAlgn="b"/>
                      <a:r>
                        <a:rPr lang="zh-CN" altLang="en-US" sz="1050" u="none" strike="noStrike" dirty="0">
                          <a:solidFill>
                            <a:schemeClr val="tx1"/>
                          </a:solidFill>
                          <a:effectLst/>
                          <a:latin typeface="微软雅黑" panose="020B0503020204020204" pitchFamily="34" charset="-122"/>
                          <a:ea typeface="微软雅黑" panose="020B0503020204020204" pitchFamily="34" charset="-122"/>
                        </a:rPr>
                        <a:t>银海工业区</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11,719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30,913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27,798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63,715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82,469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25,417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53,780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59,290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27,478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24,872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37,136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84,693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87,088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1033">
                <a:tc>
                  <a:txBody>
                    <a:bodyPr/>
                    <a:lstStyle/>
                    <a:p>
                      <a:pPr algn="ctr" fontAlgn="b">
                        <a:buNone/>
                      </a:pPr>
                      <a:r>
                        <a:rPr lang="zh-CN" altLang="en-US" sz="1050" b="0" i="0" u="none" strike="noStrike" dirty="0">
                          <a:solidFill>
                            <a:schemeClr val="tx1"/>
                          </a:solidFill>
                          <a:effectLst/>
                          <a:latin typeface="微软雅黑" panose="020B0503020204020204" pitchFamily="34" charset="-122"/>
                          <a:ea typeface="微软雅黑" panose="020B0503020204020204" pitchFamily="34" charset="-122"/>
                        </a:rPr>
                        <a:t>XH时代</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10,000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4,963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5,000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1,844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2,035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10,000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4,963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5,000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2695">
                <a:tc>
                  <a:txBody>
                    <a:bodyPr/>
                    <a:lstStyle/>
                    <a:p>
                      <a:pPr algn="ctr" fontAlgn="b">
                        <a:buNone/>
                      </a:pPr>
                      <a:r>
                        <a:rPr lang="zh-CN" altLang="en-US" sz="1050" b="0" i="0" u="none" strike="noStrike" dirty="0" smtClean="0">
                          <a:solidFill>
                            <a:schemeClr val="tx1"/>
                          </a:solidFill>
                          <a:effectLst/>
                          <a:latin typeface="微软雅黑" panose="020B0503020204020204" pitchFamily="34" charset="-122"/>
                          <a:ea typeface="微软雅黑" panose="020B0503020204020204" pitchFamily="34" charset="-122"/>
                        </a:rPr>
                        <a:t>深圳开市</a:t>
                      </a:r>
                      <a:r>
                        <a:rPr lang="zh-CN" altLang="en-US" sz="1050" b="0" i="0" u="none" strike="noStrike" dirty="0">
                          <a:solidFill>
                            <a:schemeClr val="tx1"/>
                          </a:solidFill>
                          <a:effectLst/>
                          <a:latin typeface="微软雅黑" panose="020B0503020204020204" pitchFamily="34" charset="-122"/>
                          <a:ea typeface="微软雅黑" panose="020B0503020204020204" pitchFamily="34" charset="-122"/>
                        </a:rPr>
                        <a:t>客</a:t>
                      </a:r>
                      <a:endParaRPr lang="zh-CN" altLang="en-US" sz="1050" b="0" i="0" u="none" strike="noStrike" dirty="0">
                        <a:solidFill>
                          <a:schemeClr val="tx1"/>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1,029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13,930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133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1,029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13,930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r h="201587">
                <a:tc>
                  <a:txBody>
                    <a:bodyPr/>
                    <a:lstStyle/>
                    <a:p>
                      <a:pPr algn="ctr" fontAlgn="b"/>
                      <a:r>
                        <a:rPr lang="zh-CN" altLang="en-US" sz="1050" b="1" i="0" u="none" strike="noStrike" dirty="0">
                          <a:solidFill>
                            <a:srgbClr val="C00000"/>
                          </a:solidFill>
                          <a:effectLst/>
                          <a:latin typeface="微软雅黑" panose="020B0503020204020204" pitchFamily="34" charset="-122"/>
                          <a:ea typeface="微软雅黑" panose="020B0503020204020204" pitchFamily="34" charset="-122"/>
                        </a:rPr>
                        <a:t>合计</a:t>
                      </a:r>
                      <a:endParaRPr lang="zh-CN" altLang="en-US" sz="1050" b="1" i="0" u="none" strike="noStrike" dirty="0">
                        <a:solidFill>
                          <a:srgbClr val="C00000"/>
                        </a:solidFill>
                        <a:effectLst/>
                        <a:latin typeface="微软雅黑" panose="020B0503020204020204" pitchFamily="34" charset="-122"/>
                        <a:ea typeface="微软雅黑" panose="020B0503020204020204" pitchFamily="34" charset="-122"/>
                      </a:endParaRPr>
                    </a:p>
                  </a:txBody>
                  <a:tcPr marL="11535" marR="11535" marT="1153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221,998</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237,864</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285,314</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154,120</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202,443</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87,139</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118,538</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143,065</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173,550</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161,538</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309,137</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356,401</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428,380</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D6A8"/>
                    </a:solidFill>
                  </a:tcPr>
                </a:tc>
              </a:tr>
            </a:tbl>
          </a:graphicData>
        </a:graphic>
      </p:graphicFrame>
    </p:spTree>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4"/>
          <p:cNvSpPr>
            <a:spLocks noGrp="1"/>
          </p:cNvSpPr>
          <p:nvPr>
            <p:ph type="title"/>
          </p:nvPr>
        </p:nvSpPr>
        <p:spPr>
          <a:xfrm>
            <a:off x="348615" y="93346"/>
            <a:ext cx="7559675" cy="359346"/>
          </a:xfrm>
        </p:spPr>
        <p:txBody>
          <a:bodyPr/>
          <a:lstStyle/>
          <a:p>
            <a:pPr marL="0" marR="0" lvl="0" algn="l" defTabSz="754380" rtl="0" eaLnBrk="0" fontAlgn="base" latinLnBrk="0" hangingPunct="0">
              <a:lnSpc>
                <a:spcPct val="100000"/>
              </a:lnSpc>
              <a:buClrTx/>
              <a:buSzTx/>
              <a:buFontTx/>
              <a:buNone/>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第一部分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lang="zh-CN" altLang="en-US" b="1" noProof="0" dirty="0" smtClean="0">
                <a:ln>
                  <a:noFill/>
                </a:ln>
                <a:effectLst/>
                <a:uLnTx/>
                <a:uFillTx/>
                <a:sym typeface="+mn-ea"/>
              </a:rPr>
              <a:t>202</a:t>
            </a:r>
            <a:r>
              <a:rPr lang="en-US" altLang="zh-CN" b="1" noProof="0" dirty="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经营目标（深圳产业公司）</a:t>
            </a:r>
            <a:endParaRPr kumimoji="0" lang="zh-CN" altLang="en-US" sz="1800" b="1" i="0" u="none" strike="noStrike" kern="1200" cap="none" spc="-41" normalizeH="0" baseline="0" noProof="0" dirty="0">
              <a:ln>
                <a:noFill/>
              </a:ln>
              <a:effectLst/>
              <a:uLnTx/>
              <a:uFillTx/>
              <a:sym typeface="+mn-ea"/>
            </a:endParaRPr>
          </a:p>
        </p:txBody>
      </p:sp>
      <p:graphicFrame>
        <p:nvGraphicFramePr>
          <p:cNvPr id="4" name="表格 3"/>
          <p:cNvGraphicFramePr>
            <a:graphicFrameLocks noGrp="1"/>
          </p:cNvGraphicFramePr>
          <p:nvPr>
            <p:custDataLst>
              <p:tags r:id="rId1"/>
            </p:custDataLst>
          </p:nvPr>
        </p:nvGraphicFramePr>
        <p:xfrm>
          <a:off x="132715" y="546735"/>
          <a:ext cx="9741535" cy="3755390"/>
        </p:xfrm>
        <a:graphic>
          <a:graphicData uri="http://schemas.openxmlformats.org/drawingml/2006/table">
            <a:tbl>
              <a:tblPr firstRow="1" bandRow="1">
                <a:effectLst/>
                <a:tableStyleId>{5940675A-B579-460E-94D1-54222C63F5DA}</a:tableStyleId>
              </a:tblPr>
              <a:tblGrid>
                <a:gridCol w="233045"/>
                <a:gridCol w="717550"/>
                <a:gridCol w="661035"/>
                <a:gridCol w="523875"/>
                <a:gridCol w="559435"/>
                <a:gridCol w="462915"/>
                <a:gridCol w="584835"/>
                <a:gridCol w="579755"/>
                <a:gridCol w="622935"/>
                <a:gridCol w="470535"/>
                <a:gridCol w="508635"/>
                <a:gridCol w="485775"/>
                <a:gridCol w="476885"/>
                <a:gridCol w="459740"/>
                <a:gridCol w="518795"/>
                <a:gridCol w="496570"/>
                <a:gridCol w="474980"/>
                <a:gridCol w="476250"/>
                <a:gridCol w="427990"/>
              </a:tblGrid>
              <a:tr h="196215">
                <a:tc row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zh-CN" sz="800" b="1" dirty="0">
                          <a:solidFill>
                            <a:schemeClr val="bg1"/>
                          </a:solidFill>
                          <a:latin typeface="微软雅黑" panose="020B0503020204020204" pitchFamily="34" charset="-122"/>
                          <a:ea typeface="微软雅黑" panose="020B0503020204020204" pitchFamily="34" charset="-122"/>
                        </a:rPr>
                        <a:t>序号</a:t>
                      </a:r>
                      <a:endParaRPr lang="zh-CN" altLang="zh-CN" sz="80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row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zh-CN" sz="800" b="1" dirty="0">
                          <a:solidFill>
                            <a:schemeClr val="bg1"/>
                          </a:solidFill>
                          <a:latin typeface="微软雅黑" panose="020B0503020204020204" pitchFamily="34" charset="-122"/>
                          <a:ea typeface="微软雅黑" panose="020B0503020204020204" pitchFamily="34" charset="-122"/>
                        </a:rPr>
                        <a:t>项目</a:t>
                      </a:r>
                      <a:endParaRPr lang="zh-CN" altLang="zh-CN" sz="80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row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800" b="1" dirty="0">
                          <a:solidFill>
                            <a:schemeClr val="bg1"/>
                          </a:solidFill>
                          <a:latin typeface="微软雅黑" panose="020B0503020204020204" pitchFamily="34" charset="-122"/>
                          <a:ea typeface="微软雅黑" panose="020B0503020204020204" pitchFamily="34" charset="-122"/>
                        </a:rPr>
                        <a:t>可租面积</a:t>
                      </a:r>
                      <a:endParaRPr lang="zh-CN" altLang="en-US" sz="800" b="1" dirty="0">
                        <a:solidFill>
                          <a:schemeClr val="bg1"/>
                        </a:solidFill>
                        <a:latin typeface="微软雅黑" panose="020B0503020204020204" pitchFamily="34" charset="-122"/>
                        <a:ea typeface="微软雅黑" panose="020B0503020204020204" pitchFamily="34" charset="-122"/>
                      </a:endParaRPr>
                    </a:p>
                    <a:p>
                      <a:pPr indent="0" algn="ctr">
                        <a:buNone/>
                      </a:pPr>
                      <a:r>
                        <a:rPr lang="zh-CN" sz="8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en-US" sz="80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期末出租率</a:t>
                      </a:r>
                      <a:endParaRPr 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p>
                      <a:pPr algn="ctr" fontAlgn="ctr"/>
                      <a:r>
                        <a:rPr 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平均出租率</a:t>
                      </a:r>
                      <a:endParaRPr 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2">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新签均价（元</a:t>
                      </a: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租金均价（元</a:t>
                      </a: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4">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收入含税</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rowSpan="2">
                  <a:txBody>
                    <a:bodyPr/>
                    <a:p>
                      <a:pPr algn="ctr" fontAlgn="ctr">
                        <a:buNone/>
                      </a:pPr>
                      <a:r>
                        <a:rPr lang="en-US" altLang="zh-CN" sz="7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7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年平</a:t>
                      </a:r>
                      <a:endParaRPr lang="zh-CN" altLang="en-US" sz="7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7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均免租期</a:t>
                      </a:r>
                      <a:endParaRPr lang="zh-CN" altLang="en-US" sz="7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r>
              <a:tr h="304165">
                <a:tc v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v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v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10</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月末</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26年目标</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25年</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26年目标</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v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r>
              <a:tr h="147320">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1-3</a:t>
                      </a:r>
                      <a:r>
                        <a:rPr 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期</a:t>
                      </a:r>
                      <a:endParaRPr 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343,841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94.4%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97.4%</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3.1%</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94.1%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93.5%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-0.5%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107.1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104.0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115.9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110.5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-5.4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40,722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40,401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36,178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-4,223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1.73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7320">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2</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900" b="1" dirty="0">
                          <a:solidFill>
                            <a:schemeClr val="tx1"/>
                          </a:solidFill>
                          <a:latin typeface="微软雅黑" panose="020B0503020204020204" pitchFamily="34" charset="-122"/>
                          <a:ea typeface="微软雅黑" panose="020B0503020204020204" pitchFamily="34" charset="-122"/>
                        </a:rPr>
                        <a:t>西塔</a:t>
                      </a:r>
                      <a:endParaRPr lang="zh-CN" altLang="en-US" sz="900" b="1"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179,195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73.6%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FF0000"/>
                          </a:solidFill>
                          <a:latin typeface="微软雅黑" panose="020B0503020204020204" pitchFamily="34" charset="-122"/>
                          <a:ea typeface="微软雅黑" panose="020B0503020204020204" pitchFamily="34" charset="-122"/>
                        </a:rPr>
                        <a:t>84.8%</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74.7%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81.9%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129.8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125.7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130.8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126.4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15,330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14,807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15,716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732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3</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sz="900" b="1" dirty="0">
                          <a:solidFill>
                            <a:schemeClr val="tx1"/>
                          </a:solidFill>
                          <a:latin typeface="微软雅黑" panose="020B0503020204020204" pitchFamily="34" charset="-122"/>
                          <a:ea typeface="微软雅黑" panose="020B0503020204020204" pitchFamily="34" charset="-122"/>
                        </a:rPr>
                        <a:t>东塔</a:t>
                      </a:r>
                      <a:endParaRPr lang="zh-CN" sz="900" b="1"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175,527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43.0%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78.2%</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35.1%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34.6%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61.7%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27.1%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116.4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116.4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131.5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119.9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5,946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9,404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3,458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7320">
                <a:tc>
                  <a:txBody>
                    <a:bodyPr/>
                    <a:p>
                      <a:pPr indent="0" algn="ctr">
                        <a:buNone/>
                      </a:pP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altLang="en-US" sz="900" b="1" dirty="0">
                          <a:solidFill>
                            <a:srgbClr val="C00000"/>
                          </a:solidFill>
                          <a:latin typeface="微软雅黑" panose="020B0503020204020204" pitchFamily="34" charset="-122"/>
                          <a:ea typeface="微软雅黑" panose="020B0503020204020204" pitchFamily="34" charset="-122"/>
                          <a:sym typeface="+mn-ea"/>
                        </a:rPr>
                        <a:t>西塔</a:t>
                      </a:r>
                      <a:r>
                        <a:rPr lang="en-US" altLang="zh-CN" sz="900" b="1" dirty="0">
                          <a:solidFill>
                            <a:srgbClr val="C00000"/>
                          </a:solidFill>
                          <a:latin typeface="微软雅黑" panose="020B0503020204020204" pitchFamily="34" charset="-122"/>
                          <a:ea typeface="微软雅黑" panose="020B0503020204020204" pitchFamily="34" charset="-122"/>
                          <a:sym typeface="+mn-ea"/>
                        </a:rPr>
                        <a:t>+</a:t>
                      </a:r>
                      <a:r>
                        <a:rPr lang="zh-CN" altLang="en-US" sz="900" b="1" dirty="0">
                          <a:solidFill>
                            <a:srgbClr val="C00000"/>
                          </a:solidFill>
                          <a:latin typeface="微软雅黑" panose="020B0503020204020204" pitchFamily="34" charset="-122"/>
                          <a:ea typeface="微软雅黑" panose="020B0503020204020204" pitchFamily="34" charset="-122"/>
                          <a:sym typeface="+mn-ea"/>
                        </a:rPr>
                        <a:t>东塔</a:t>
                      </a:r>
                      <a:endParaRPr lang="zh-CN" altLang="en-US" sz="900" b="1" dirty="0">
                        <a:solidFill>
                          <a:srgbClr val="C00000"/>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354,722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58.4%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81.5%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23.1%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54.8%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71.9%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17.1%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123.8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120.5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131.0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123.9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19,640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20,753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25,121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6685">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4</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altLang="en-US" sz="900" b="1" dirty="0">
                          <a:latin typeface="微软雅黑" panose="020B0503020204020204" pitchFamily="34" charset="-122"/>
                          <a:ea typeface="微软雅黑" panose="020B0503020204020204" pitchFamily="34" charset="-122"/>
                          <a:sym typeface="+mn-ea"/>
                        </a:rPr>
                        <a:t>生态大厦</a:t>
                      </a:r>
                      <a:endParaRPr lang="zh-CN" altLang="en-US" sz="900" b="1" dirty="0">
                        <a:solidFill>
                          <a:schemeClr val="tx1"/>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32,445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90.6%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94.1%</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93.1%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110.9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106.9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110.7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112.8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732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5</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en-US" altLang="zh-CN" sz="900" b="1" dirty="0">
                          <a:latin typeface="微软雅黑" panose="020B0503020204020204" pitchFamily="34" charset="-122"/>
                          <a:ea typeface="微软雅黑" panose="020B0503020204020204" pitchFamily="34" charset="-122"/>
                          <a:sym typeface="+mn-ea"/>
                        </a:rPr>
                        <a:t>IEO</a:t>
                      </a:r>
                      <a:endParaRPr lang="en-US" altLang="zh-CN" sz="900" b="1" dirty="0">
                        <a:solidFill>
                          <a:schemeClr val="tx1"/>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14,984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48.1%</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37.2%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38.2%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226.4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174.1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2.12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7940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6</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altLang="en-US" sz="900" b="1" dirty="0">
                          <a:solidFill>
                            <a:schemeClr val="tx1"/>
                          </a:solidFill>
                          <a:latin typeface="微软雅黑" panose="020B0503020204020204" pitchFamily="34" charset="-122"/>
                          <a:ea typeface="微软雅黑" panose="020B0503020204020204" pitchFamily="34" charset="-122"/>
                          <a:sym typeface="+mn-ea"/>
                        </a:rPr>
                        <a:t>双子塔地下食堂</a:t>
                      </a:r>
                      <a:r>
                        <a:rPr lang="en-US" altLang="zh-CN" sz="900" b="1" dirty="0">
                          <a:solidFill>
                            <a:schemeClr val="tx1"/>
                          </a:solidFill>
                          <a:latin typeface="微软雅黑" panose="020B0503020204020204" pitchFamily="34" charset="-122"/>
                          <a:ea typeface="微软雅黑" panose="020B0503020204020204" pitchFamily="34" charset="-122"/>
                          <a:sym typeface="+mn-ea"/>
                        </a:rPr>
                        <a:t>+</a:t>
                      </a:r>
                      <a:r>
                        <a:rPr lang="zh-CN" altLang="en-US" sz="900" b="1" dirty="0">
                          <a:solidFill>
                            <a:schemeClr val="tx1"/>
                          </a:solidFill>
                          <a:latin typeface="微软雅黑" panose="020B0503020204020204" pitchFamily="34" charset="-122"/>
                          <a:ea typeface="微软雅黑" panose="020B0503020204020204" pitchFamily="34" charset="-122"/>
                          <a:sym typeface="+mn-ea"/>
                        </a:rPr>
                        <a:t>仓库</a:t>
                      </a:r>
                      <a:endParaRPr lang="zh-CN" altLang="en-US" sz="900" b="1" dirty="0">
                        <a:solidFill>
                          <a:schemeClr val="tx1"/>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20,157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zh-CN" altLang="en-US" sz="800" b="0" i="0">
                          <a:solidFill>
                            <a:srgbClr val="000000"/>
                          </a:solidFill>
                          <a:latin typeface="微软雅黑" panose="020B0503020204020204" pitchFamily="34" charset="-122"/>
                          <a:ea typeface="微软雅黑" panose="020B0503020204020204" pitchFamily="34" charset="-122"/>
                        </a:rPr>
                        <a:t>仓库</a:t>
                      </a:r>
                      <a:r>
                        <a:rPr lang="en-US" altLang="zh-CN" sz="800" b="0" i="0">
                          <a:solidFill>
                            <a:srgbClr val="000000"/>
                          </a:solidFill>
                          <a:latin typeface="微软雅黑" panose="020B0503020204020204" pitchFamily="34" charset="-122"/>
                          <a:ea typeface="微软雅黑" panose="020B0503020204020204" pitchFamily="34" charset="-122"/>
                        </a:rPr>
                        <a:t>99.5%</a:t>
                      </a:r>
                      <a:br>
                        <a:rPr lang="en-US" altLang="zh-CN" sz="800" b="0" i="0">
                          <a:solidFill>
                            <a:srgbClr val="000000"/>
                          </a:solidFill>
                          <a:latin typeface="微软雅黑" panose="020B0503020204020204" pitchFamily="34" charset="-122"/>
                          <a:ea typeface="微软雅黑" panose="020B0503020204020204" pitchFamily="34" charset="-122"/>
                        </a:rPr>
                      </a:br>
                      <a:r>
                        <a:rPr lang="zh-CN" altLang="en-US" sz="800" b="0" i="0">
                          <a:solidFill>
                            <a:srgbClr val="000000"/>
                          </a:solidFill>
                          <a:latin typeface="微软雅黑" panose="020B0503020204020204" pitchFamily="34" charset="-122"/>
                          <a:ea typeface="微软雅黑" panose="020B0503020204020204" pitchFamily="34" charset="-122"/>
                        </a:rPr>
                        <a:t>食堂</a:t>
                      </a:r>
                      <a:r>
                        <a:rPr lang="en-US" altLang="zh-CN" sz="800" b="0" i="0">
                          <a:solidFill>
                            <a:srgbClr val="000000"/>
                          </a:solidFill>
                          <a:latin typeface="微软雅黑" panose="020B0503020204020204" pitchFamily="34" charset="-122"/>
                          <a:ea typeface="微软雅黑" panose="020B0503020204020204" pitchFamily="34" charset="-122"/>
                        </a:rPr>
                        <a:t>19.5%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zh-CN" altLang="en-US" sz="800" b="0" i="0">
                          <a:solidFill>
                            <a:srgbClr val="000000"/>
                          </a:solidFill>
                          <a:latin typeface="微软雅黑" panose="020B0503020204020204" pitchFamily="34" charset="-122"/>
                          <a:ea typeface="微软雅黑" panose="020B0503020204020204" pitchFamily="34" charset="-122"/>
                        </a:rPr>
                        <a:t>仓库</a:t>
                      </a:r>
                      <a:r>
                        <a:rPr lang="en-US" altLang="zh-CN" sz="800" b="0" i="0">
                          <a:solidFill>
                            <a:srgbClr val="000000"/>
                          </a:solidFill>
                          <a:latin typeface="微软雅黑" panose="020B0503020204020204" pitchFamily="34" charset="-122"/>
                          <a:ea typeface="微软雅黑" panose="020B0503020204020204" pitchFamily="34" charset="-122"/>
                        </a:rPr>
                        <a:t>99.5%</a:t>
                      </a:r>
                      <a:br>
                        <a:rPr lang="en-US" altLang="zh-CN" sz="800" b="0" i="0">
                          <a:solidFill>
                            <a:srgbClr val="000000"/>
                          </a:solidFill>
                          <a:latin typeface="微软雅黑" panose="020B0503020204020204" pitchFamily="34" charset="-122"/>
                          <a:ea typeface="微软雅黑" panose="020B0503020204020204" pitchFamily="34" charset="-122"/>
                        </a:rPr>
                      </a:br>
                      <a:r>
                        <a:rPr lang="zh-CN" altLang="en-US" sz="800" b="0" i="0">
                          <a:solidFill>
                            <a:srgbClr val="000000"/>
                          </a:solidFill>
                          <a:latin typeface="微软雅黑" panose="020B0503020204020204" pitchFamily="34" charset="-122"/>
                          <a:ea typeface="微软雅黑" panose="020B0503020204020204" pitchFamily="34" charset="-122"/>
                        </a:rPr>
                        <a:t>食堂</a:t>
                      </a:r>
                      <a:r>
                        <a:rPr lang="en-US" altLang="zh-CN" sz="800" b="0" i="0">
                          <a:solidFill>
                            <a:srgbClr val="000000"/>
                          </a:solidFill>
                          <a:latin typeface="微软雅黑" panose="020B0503020204020204" pitchFamily="34" charset="-122"/>
                          <a:ea typeface="微软雅黑" panose="020B0503020204020204" pitchFamily="34" charset="-122"/>
                        </a:rPr>
                        <a:t>19.5%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zh-CN" altLang="en-US" sz="800" b="0" i="0">
                          <a:solidFill>
                            <a:srgbClr val="000000"/>
                          </a:solidFill>
                          <a:latin typeface="微软雅黑" panose="020B0503020204020204" pitchFamily="34" charset="-122"/>
                          <a:ea typeface="微软雅黑" panose="020B0503020204020204" pitchFamily="34" charset="-122"/>
                        </a:rPr>
                        <a:t>仓库</a:t>
                      </a:r>
                      <a:r>
                        <a:rPr lang="en-US" altLang="zh-CN" sz="800" b="0" i="0">
                          <a:solidFill>
                            <a:srgbClr val="000000"/>
                          </a:solidFill>
                          <a:latin typeface="微软雅黑" panose="020B0503020204020204" pitchFamily="34" charset="-122"/>
                          <a:ea typeface="微软雅黑" panose="020B0503020204020204" pitchFamily="34" charset="-122"/>
                        </a:rPr>
                        <a:t>98%</a:t>
                      </a:r>
                      <a:br>
                        <a:rPr lang="en-US" altLang="zh-CN" sz="800" b="0" i="0">
                          <a:solidFill>
                            <a:srgbClr val="000000"/>
                          </a:solidFill>
                          <a:latin typeface="微软雅黑" panose="020B0503020204020204" pitchFamily="34" charset="-122"/>
                          <a:ea typeface="微软雅黑" panose="020B0503020204020204" pitchFamily="34" charset="-122"/>
                        </a:rPr>
                      </a:br>
                      <a:r>
                        <a:rPr lang="zh-CN" altLang="en-US" sz="800" b="0" i="0">
                          <a:solidFill>
                            <a:srgbClr val="000000"/>
                          </a:solidFill>
                          <a:latin typeface="微软雅黑" panose="020B0503020204020204" pitchFamily="34" charset="-122"/>
                          <a:ea typeface="微软雅黑" panose="020B0503020204020204" pitchFamily="34" charset="-122"/>
                        </a:rPr>
                        <a:t>食堂</a:t>
                      </a:r>
                      <a:r>
                        <a:rPr lang="en-US" altLang="zh-CN" sz="800" b="0" i="0">
                          <a:solidFill>
                            <a:srgbClr val="000000"/>
                          </a:solidFill>
                          <a:latin typeface="微软雅黑" panose="020B0503020204020204" pitchFamily="34" charset="-122"/>
                          <a:ea typeface="微软雅黑" panose="020B0503020204020204" pitchFamily="34" charset="-122"/>
                        </a:rPr>
                        <a:t>47.56%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zh-CN" altLang="en-US" sz="800" b="0" i="0">
                          <a:solidFill>
                            <a:srgbClr val="000000"/>
                          </a:solidFill>
                          <a:latin typeface="微软雅黑" panose="020B0503020204020204" pitchFamily="34" charset="-122"/>
                          <a:ea typeface="微软雅黑" panose="020B0503020204020204" pitchFamily="34" charset="-122"/>
                        </a:rPr>
                        <a:t>仓库</a:t>
                      </a:r>
                      <a:r>
                        <a:rPr lang="en-US" altLang="zh-CN" sz="800" b="0" i="0">
                          <a:solidFill>
                            <a:srgbClr val="000000"/>
                          </a:solidFill>
                          <a:latin typeface="微软雅黑" panose="020B0503020204020204" pitchFamily="34" charset="-122"/>
                          <a:ea typeface="微软雅黑" panose="020B0503020204020204" pitchFamily="34" charset="-122"/>
                        </a:rPr>
                        <a:t>99.5%</a:t>
                      </a:r>
                      <a:br>
                        <a:rPr lang="en-US" altLang="zh-CN" sz="800" b="0" i="0">
                          <a:solidFill>
                            <a:srgbClr val="000000"/>
                          </a:solidFill>
                          <a:latin typeface="微软雅黑" panose="020B0503020204020204" pitchFamily="34" charset="-122"/>
                          <a:ea typeface="微软雅黑" panose="020B0503020204020204" pitchFamily="34" charset="-122"/>
                        </a:rPr>
                      </a:br>
                      <a:r>
                        <a:rPr lang="zh-CN" altLang="en-US" sz="800" b="0" i="0">
                          <a:solidFill>
                            <a:srgbClr val="000000"/>
                          </a:solidFill>
                          <a:latin typeface="微软雅黑" panose="020B0503020204020204" pitchFamily="34" charset="-122"/>
                          <a:ea typeface="微软雅黑" panose="020B0503020204020204" pitchFamily="34" charset="-122"/>
                        </a:rPr>
                        <a:t>食堂</a:t>
                      </a:r>
                      <a:r>
                        <a:rPr lang="en-US" altLang="zh-CN" sz="800" b="0" i="0">
                          <a:solidFill>
                            <a:srgbClr val="000000"/>
                          </a:solidFill>
                          <a:latin typeface="微软雅黑" panose="020B0503020204020204" pitchFamily="34" charset="-122"/>
                          <a:ea typeface="微软雅黑" panose="020B0503020204020204" pitchFamily="34" charset="-122"/>
                        </a:rPr>
                        <a:t>19.5%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zh-CN" altLang="en-US" sz="800" b="0" i="0">
                          <a:solidFill>
                            <a:srgbClr val="000000"/>
                          </a:solidFill>
                          <a:latin typeface="微软雅黑" panose="020B0503020204020204" pitchFamily="34" charset="-122"/>
                          <a:ea typeface="微软雅黑" panose="020B0503020204020204" pitchFamily="34" charset="-122"/>
                        </a:rPr>
                        <a:t>仓库</a:t>
                      </a:r>
                      <a:r>
                        <a:rPr lang="en-US" altLang="zh-CN" sz="800" b="0" i="0">
                          <a:solidFill>
                            <a:srgbClr val="000000"/>
                          </a:solidFill>
                          <a:latin typeface="微软雅黑" panose="020B0503020204020204" pitchFamily="34" charset="-122"/>
                          <a:ea typeface="微软雅黑" panose="020B0503020204020204" pitchFamily="34" charset="-122"/>
                        </a:rPr>
                        <a:t>1.5%</a:t>
                      </a:r>
                      <a:br>
                        <a:rPr lang="en-US" altLang="zh-CN" sz="800" b="0" i="0">
                          <a:solidFill>
                            <a:srgbClr val="000000"/>
                          </a:solidFill>
                          <a:latin typeface="微软雅黑" panose="020B0503020204020204" pitchFamily="34" charset="-122"/>
                          <a:ea typeface="微软雅黑" panose="020B0503020204020204" pitchFamily="34" charset="-122"/>
                        </a:rPr>
                      </a:br>
                      <a:r>
                        <a:rPr lang="zh-CN" altLang="en-US" sz="800" b="0" i="0">
                          <a:solidFill>
                            <a:srgbClr val="000000"/>
                          </a:solidFill>
                          <a:latin typeface="微软雅黑" panose="020B0503020204020204" pitchFamily="34" charset="-122"/>
                          <a:ea typeface="微软雅黑" panose="020B0503020204020204" pitchFamily="34" charset="-122"/>
                        </a:rPr>
                        <a:t>食堂</a:t>
                      </a:r>
                      <a:r>
                        <a:rPr lang="en-US" altLang="zh-CN" sz="800" b="0" i="0">
                          <a:solidFill>
                            <a:srgbClr val="000000"/>
                          </a:solidFill>
                          <a:latin typeface="微软雅黑" panose="020B0503020204020204" pitchFamily="34" charset="-122"/>
                          <a:ea typeface="微软雅黑" panose="020B0503020204020204" pitchFamily="34" charset="-122"/>
                        </a:rPr>
                        <a:t>-28.06%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63830">
                <a:tc>
                  <a:txBody>
                    <a:bodyPr/>
                    <a:p>
                      <a:pPr indent="0" algn="ctr">
                        <a:buNone/>
                      </a:pP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altLang="en-US" sz="900" b="1" dirty="0">
                          <a:solidFill>
                            <a:srgbClr val="C00000"/>
                          </a:solidFill>
                          <a:latin typeface="微软雅黑" panose="020B0503020204020204" pitchFamily="34" charset="-122"/>
                          <a:ea typeface="微软雅黑" panose="020B0503020204020204" pitchFamily="34" charset="-122"/>
                          <a:sym typeface="+mn-ea"/>
                        </a:rPr>
                        <a:t>双塔组团</a:t>
                      </a:r>
                      <a:endParaRPr lang="zh-CN" altLang="en-US" sz="900" b="1" dirty="0">
                        <a:solidFill>
                          <a:srgbClr val="C00000"/>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422,308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59.8%</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80.8%</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21.0%</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57.5%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72.3%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15%</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24,563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24,951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30,009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5,058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3.69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60020">
                <a:tc>
                  <a:txBody>
                    <a:bodyPr/>
                    <a:p>
                      <a:pPr indent="0" algn="ctr">
                        <a:buNone/>
                      </a:pPr>
                      <a:r>
                        <a:rPr lang="en-US" sz="900" b="0" dirty="0">
                          <a:solidFill>
                            <a:schemeClr val="tx1"/>
                          </a:solidFill>
                          <a:latin typeface="微软雅黑" panose="020B0503020204020204" pitchFamily="34" charset="-122"/>
                          <a:ea typeface="微软雅黑" panose="020B0503020204020204" pitchFamily="34" charset="-122"/>
                        </a:rPr>
                        <a:t>7</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sz="900" b="1" dirty="0">
                          <a:latin typeface="微软雅黑" panose="020B0503020204020204" pitchFamily="34" charset="-122"/>
                          <a:ea typeface="微软雅黑" panose="020B0503020204020204" pitchFamily="34" charset="-122"/>
                          <a:sym typeface="+mn-ea"/>
                        </a:rPr>
                        <a:t>XH中心</a:t>
                      </a:r>
                      <a:endParaRPr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40,539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83.0%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90.1%</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7.1%</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87.3%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85.9%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208.1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213.5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201.0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7,531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7,611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7,106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69545">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sz="900" b="0">
                          <a:solidFill>
                            <a:schemeClr val="tx1"/>
                          </a:solidFill>
                          <a:latin typeface="微软雅黑" panose="020B0503020204020204" pitchFamily="34" charset="-122"/>
                          <a:ea typeface="微软雅黑" panose="020B0503020204020204" pitchFamily="34" charset="-122"/>
                        </a:rPr>
                        <a:t>8</a:t>
                      </a:r>
                      <a:endParaRPr lang="en-US" altLang="en-US" sz="900" b="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sz="900" b="1" dirty="0">
                          <a:solidFill>
                            <a:schemeClr val="tx1"/>
                          </a:solidFill>
                          <a:latin typeface="微软雅黑" panose="020B0503020204020204" pitchFamily="34" charset="-122"/>
                          <a:ea typeface="微软雅黑" panose="020B0503020204020204" pitchFamily="34" charset="-122"/>
                        </a:rPr>
                        <a:t>XH世纪</a:t>
                      </a:r>
                      <a:endParaRPr lang="zh-CN" altLang="en-US" sz="900" b="1"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5,604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100.0%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94.6%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99.2%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98.2%</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136.7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120.8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1,002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0.74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8590">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9</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sz="900" b="1" dirty="0">
                          <a:solidFill>
                            <a:schemeClr val="tx1"/>
                          </a:solidFill>
                          <a:latin typeface="微软雅黑" panose="020B0503020204020204" pitchFamily="34" charset="-122"/>
                          <a:ea typeface="微软雅黑" panose="020B0503020204020204" pitchFamily="34" charset="-122"/>
                        </a:rPr>
                        <a:t>银海</a:t>
                      </a:r>
                      <a:endParaRPr lang="zh-CN" altLang="en-US" sz="900" b="1"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139,400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96.8%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95.7%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93.8%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92.7%</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21.3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18.6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3,763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3,773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7955">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10</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900" b="1" dirty="0">
                          <a:solidFill>
                            <a:schemeClr val="tx1"/>
                          </a:solidFill>
                          <a:latin typeface="微软雅黑" panose="020B0503020204020204" pitchFamily="34" charset="-122"/>
                          <a:ea typeface="微软雅黑" panose="020B0503020204020204" pitchFamily="34" charset="-122"/>
                          <a:sym typeface="+mn-ea"/>
                        </a:rPr>
                        <a:t>XH时代</a:t>
                      </a:r>
                      <a:endParaRPr lang="zh-CN" altLang="en-US" sz="900" b="1" dirty="0">
                        <a:solidFill>
                          <a:schemeClr val="tx1"/>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12,630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89.9%</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27.2%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40.5%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75.7%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35.1%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53.9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48.0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59.1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52.0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4.94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4732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11</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altLang="en-US" sz="900" b="1" dirty="0">
                          <a:solidFill>
                            <a:srgbClr val="C00000"/>
                          </a:solidFill>
                          <a:latin typeface="微软雅黑" panose="020B0503020204020204" pitchFamily="34" charset="-122"/>
                          <a:ea typeface="微软雅黑" panose="020B0503020204020204" pitchFamily="34" charset="-122"/>
                          <a:sym typeface="+mn-ea"/>
                        </a:rPr>
                        <a:t>开市客</a:t>
                      </a:r>
                      <a:endParaRPr lang="zh-CN" altLang="en-US" sz="900" b="1" dirty="0">
                        <a:solidFill>
                          <a:srgbClr val="C00000"/>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36,644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40.8%</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19.9%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新</a:t>
                      </a:r>
                      <a:r>
                        <a:rPr lang="en-US" altLang="zh-CN" sz="900" b="0" i="0">
                          <a:solidFill>
                            <a:srgbClr val="000000"/>
                          </a:solidFill>
                          <a:latin typeface="微软雅黑" panose="020B0503020204020204" pitchFamily="34" charset="-122"/>
                          <a:ea typeface="微软雅黑" panose="020B0503020204020204" pitchFamily="34" charset="-122"/>
                        </a:rPr>
                        <a:t>3.5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01930">
                <a:tc grid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900" b="1" dirty="0">
                          <a:solidFill>
                            <a:schemeClr val="tx1"/>
                          </a:solidFill>
                          <a:effectLst/>
                          <a:latin typeface="微软雅黑" panose="020B0503020204020204" pitchFamily="34" charset="-122"/>
                          <a:ea typeface="微软雅黑" panose="020B0503020204020204" pitchFamily="34" charset="-122"/>
                        </a:rPr>
                        <a:t>写字楼</a:t>
                      </a:r>
                      <a:r>
                        <a:rPr lang="en-US" altLang="zh-CN" sz="900" b="1" dirty="0">
                          <a:solidFill>
                            <a:schemeClr val="tx1"/>
                          </a:solidFill>
                          <a:effectLst/>
                          <a:latin typeface="微软雅黑" panose="020B0503020204020204" pitchFamily="34" charset="-122"/>
                          <a:ea typeface="微软雅黑" panose="020B0503020204020204" pitchFamily="34" charset="-122"/>
                        </a:rPr>
                        <a:t>合计</a:t>
                      </a:r>
                      <a:endParaRPr lang="zh-CN" altLang="en-US" sz="900" b="1"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hMerge="1">
                  <a:tcPr marL="12701" marR="12701" marT="12695" marB="45699"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1,000,966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77,798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78,075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78,050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87325">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12</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marL="0" marR="0" lvl="0" indent="0" algn="ctr" defTabSz="754380" rtl="0" eaLnBrk="1" fontAlgn="auto" latinLnBrk="0" hangingPunct="1">
                        <a:lnSpc>
                          <a:spcPct val="100000"/>
                        </a:lnSpc>
                        <a:spcBef>
                          <a:spcPts val="0"/>
                        </a:spcBef>
                        <a:spcAft>
                          <a:spcPts val="0"/>
                        </a:spcAft>
                        <a:buClrTx/>
                        <a:buSzTx/>
                        <a:buFontTx/>
                        <a:buNone/>
                        <a:defRPr/>
                      </a:pPr>
                      <a:r>
                        <a:rPr lang="en-US" altLang="zh-CN" sz="900" b="1" kern="1200" dirty="0">
                          <a:solidFill>
                            <a:schemeClr val="tx1"/>
                          </a:solidFill>
                          <a:latin typeface="微软雅黑" panose="020B0503020204020204" pitchFamily="34" charset="-122"/>
                          <a:ea typeface="微软雅黑" panose="020B0503020204020204" pitchFamily="34" charset="-122"/>
                          <a:cs typeface="+mn-cs"/>
                          <a:sym typeface="Arial" panose="020B0604020202020204" pitchFamily="34" charset="0"/>
                        </a:rPr>
                        <a:t>WORLD</a:t>
                      </a:r>
                      <a:r>
                        <a:rPr lang="zh-CN" altLang="en-US" sz="900" b="1" kern="1200" dirty="0">
                          <a:solidFill>
                            <a:schemeClr val="tx1"/>
                          </a:solidFill>
                          <a:latin typeface="微软雅黑" panose="020B0503020204020204" pitchFamily="34" charset="-122"/>
                          <a:ea typeface="微软雅黑" panose="020B0503020204020204" pitchFamily="34" charset="-122"/>
                          <a:cs typeface="+mn-cs"/>
                          <a:sym typeface="Arial" panose="020B0604020202020204" pitchFamily="34" charset="0"/>
                        </a:rPr>
                        <a:t>联办</a:t>
                      </a:r>
                      <a:endParaRPr lang="zh-CN" altLang="en-US" sz="900" b="1" kern="1200" dirty="0">
                        <a:solidFill>
                          <a:schemeClr val="tx1"/>
                        </a:solidFill>
                        <a:latin typeface="微软雅黑" panose="020B0503020204020204" pitchFamily="34" charset="-122"/>
                        <a:ea typeface="微软雅黑" panose="020B0503020204020204" pitchFamily="34" charset="-122"/>
                        <a:cs typeface="+mn-cs"/>
                        <a:sym typeface="Arial" panose="020B0604020202020204" pitchFamily="34" charset="0"/>
                      </a:endParaRPr>
                    </a:p>
                  </a:txBody>
                  <a:tcPr marL="10478" marR="10478" marT="10473" marB="3770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卡位</a:t>
                      </a:r>
                      <a:r>
                        <a:rPr lang="en-US" altLang="zh-CN" sz="900" b="0" i="0">
                          <a:solidFill>
                            <a:srgbClr val="000000"/>
                          </a:solidFill>
                          <a:latin typeface="微软雅黑" panose="020B0503020204020204" pitchFamily="34" charset="-122"/>
                          <a:ea typeface="微软雅黑" panose="020B0503020204020204" pitchFamily="34" charset="-122"/>
                        </a:rPr>
                        <a:t>556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92.5%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88.1%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86.3%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86.2%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1,033.3</a:t>
                      </a:r>
                      <a:r>
                        <a:rPr lang="zh-CN" altLang="en-US" sz="900" b="0" i="0">
                          <a:solidFill>
                            <a:srgbClr val="000000"/>
                          </a:solidFill>
                          <a:latin typeface="微软雅黑" panose="020B0503020204020204" pitchFamily="34" charset="-122"/>
                          <a:ea typeface="微软雅黑" panose="020B0503020204020204" pitchFamily="34" charset="-122"/>
                        </a:rPr>
                        <a:t>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1,000</a:t>
                      </a:r>
                      <a:r>
                        <a:rPr lang="zh-CN" altLang="en-US" sz="900" b="0" i="0">
                          <a:solidFill>
                            <a:srgbClr val="000000"/>
                          </a:solidFill>
                          <a:latin typeface="微软雅黑" panose="020B0503020204020204" pitchFamily="34" charset="-122"/>
                          <a:ea typeface="微软雅黑" panose="020B0503020204020204" pitchFamily="34" charset="-122"/>
                        </a:rPr>
                        <a:t>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696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87960">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13</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900" b="1" dirty="0">
                          <a:solidFill>
                            <a:schemeClr val="tx1"/>
                          </a:solidFill>
                          <a:latin typeface="微软雅黑" panose="020B0503020204020204" pitchFamily="34" charset="-122"/>
                          <a:ea typeface="微软雅黑" panose="020B0503020204020204" pitchFamily="34" charset="-122"/>
                        </a:rPr>
                        <a:t>中心联办</a:t>
                      </a:r>
                      <a:endParaRPr lang="zh-CN" altLang="en-US" sz="900" b="1" dirty="0">
                        <a:solidFill>
                          <a:schemeClr val="tx1"/>
                        </a:solidFill>
                        <a:latin typeface="微软雅黑" panose="020B0503020204020204" pitchFamily="34" charset="-122"/>
                        <a:ea typeface="微软雅黑" panose="020B0503020204020204" pitchFamily="34" charset="-122"/>
                      </a:endParaRPr>
                    </a:p>
                  </a:txBody>
                  <a:tcPr marL="10478" marR="10478" marT="10473" marB="3770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卡位</a:t>
                      </a:r>
                      <a:r>
                        <a:rPr lang="en-US" altLang="zh-CN" sz="900" b="0" i="0">
                          <a:solidFill>
                            <a:srgbClr val="000000"/>
                          </a:solidFill>
                          <a:latin typeface="微软雅黑" panose="020B0503020204020204" pitchFamily="34" charset="-122"/>
                          <a:ea typeface="微软雅黑" panose="020B0503020204020204" pitchFamily="34" charset="-122"/>
                        </a:rPr>
                        <a:t>257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73.5%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85.6%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12.1%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1,981.6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1,800.0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56845">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14</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sz="900" b="1" dirty="0">
                          <a:solidFill>
                            <a:schemeClr val="tx1"/>
                          </a:solidFill>
                          <a:latin typeface="微软雅黑" panose="020B0503020204020204" pitchFamily="34" charset="-122"/>
                          <a:ea typeface="微软雅黑" panose="020B0503020204020204" pitchFamily="34" charset="-122"/>
                          <a:sym typeface="+mn-ea"/>
                        </a:rPr>
                        <a:t>资产经营收入</a:t>
                      </a:r>
                      <a:endParaRPr lang="zh-CN" sz="900" b="1" dirty="0">
                        <a:solidFill>
                          <a:schemeClr val="tx1"/>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3,888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4,116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4,109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58115">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15</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indent="0" algn="ctr">
                        <a:buNone/>
                      </a:pPr>
                      <a:r>
                        <a:rPr lang="zh-CN" altLang="en-US" sz="900" b="1" dirty="0">
                          <a:solidFill>
                            <a:schemeClr val="tx1"/>
                          </a:solidFill>
                          <a:latin typeface="微软雅黑" panose="020B0503020204020204" pitchFamily="34" charset="-122"/>
                          <a:ea typeface="微软雅黑" panose="020B0503020204020204" pitchFamily="34" charset="-122"/>
                          <a:sym typeface="+mn-ea"/>
                        </a:rPr>
                        <a:t>物业盈余</a:t>
                      </a:r>
                      <a:endParaRPr lang="zh-CN" altLang="en-US" sz="900" b="1" dirty="0">
                        <a:solidFill>
                          <a:schemeClr val="tx1"/>
                        </a:solidFill>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168275">
                <a:tc grid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900" b="1" dirty="0">
                          <a:solidFill>
                            <a:schemeClr val="tx1"/>
                          </a:solidFill>
                          <a:latin typeface="微软雅黑" panose="020B0503020204020204" pitchFamily="34" charset="-122"/>
                          <a:ea typeface="微软雅黑" panose="020B0503020204020204" pitchFamily="34" charset="-122"/>
                        </a:rPr>
                        <a:t>收入总合计</a:t>
                      </a:r>
                      <a:endParaRPr lang="zh-CN" altLang="en-US" sz="900" b="1" dirty="0">
                        <a:solidFill>
                          <a:schemeClr val="tx1"/>
                        </a:solidFill>
                        <a:effectLst/>
                        <a:latin typeface="微软雅黑" panose="020B0503020204020204" pitchFamily="34" charset="-122"/>
                        <a:ea typeface="微软雅黑" panose="020B0503020204020204" pitchFamily="34" charset="-122"/>
                        <a:sym typeface="+mn-ea"/>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hMerge="1">
                  <a:tcPr marL="12701" marR="12701" marT="12699" marB="45716" anchor="ctr">
                    <a:lnR w="6350" cap="flat" cmpd="sng" algn="ctr">
                      <a:solidFill>
                        <a:schemeClr val="tx1"/>
                      </a:solidFill>
                      <a:prstDash val="solid"/>
                      <a:round/>
                      <a:headEnd type="none" w="med" len="med"/>
                      <a:tailEnd type="none" w="med" len="med"/>
                    </a:lnR>
                    <a:lnB w="6350" cap="flat" cmpd="sng" algn="ctr">
                      <a:solidFill>
                        <a:schemeClr val="tx1"/>
                      </a:solidFill>
                      <a:prstDash val="solid"/>
                      <a:round/>
                      <a:headEnd type="none" w="med" len="med"/>
                      <a:tailEnd type="none" w="med" len="med"/>
                    </a:lnB>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82,905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83,269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84,019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1" name="文本框 8"/>
          <p:cNvSpPr txBox="1"/>
          <p:nvPr/>
        </p:nvSpPr>
        <p:spPr>
          <a:xfrm>
            <a:off x="132715" y="4301490"/>
            <a:ext cx="9928860" cy="1230630"/>
          </a:xfrm>
          <a:prstGeom prst="rect">
            <a:avLst/>
          </a:prstGeom>
          <a:noFill/>
        </p:spPr>
        <p:txBody>
          <a:bodyPr wrap="square" rtlCol="0">
            <a:no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a:lstStyle>
          <a:p>
            <a:pPr>
              <a:lnSpc>
                <a:spcPct val="120000"/>
              </a:lnSpc>
            </a:pPr>
            <a:r>
              <a:rPr lang="en-US" altLang="zh-CN" sz="700" b="1" dirty="0" smtClean="0">
                <a:solidFill>
                  <a:srgbClr val="000000"/>
                </a:solidFill>
                <a:latin typeface="微软雅黑" panose="020B0503020204020204" pitchFamily="34" charset="-122"/>
                <a:ea typeface="微软雅黑" panose="020B0503020204020204" pitchFamily="34" charset="-122"/>
                <a:sym typeface="+mn-ea"/>
              </a:rPr>
              <a:t>123</a:t>
            </a:r>
            <a:r>
              <a:rPr lang="zh-CN" altLang="en-US" sz="700" b="1" dirty="0" smtClean="0">
                <a:solidFill>
                  <a:srgbClr val="000000"/>
                </a:solidFill>
                <a:latin typeface="微软雅黑" panose="020B0503020204020204" pitchFamily="34" charset="-122"/>
                <a:ea typeface="微软雅黑" panose="020B0503020204020204" pitchFamily="34" charset="-122"/>
                <a:sym typeface="+mn-ea"/>
              </a:rPr>
              <a:t>期：</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）平均出租率下降</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0.5%</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，减少收入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251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）租金单价下降</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5.38</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元，下降率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4.6%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，减少收入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2,076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）免租期，</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2026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年预算新签</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4</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个月（</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 </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续签</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个月（</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），减少收入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1,160</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4</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）挽商留商，面积</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0.88</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万方，免租期</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1.5</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个月，减少收入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146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）内部租金单价下调，减少收入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332</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endParaRPr lang="zh-CN" altLang="en-US" sz="700" dirty="0" smtClean="0">
              <a:solidFill>
                <a:schemeClr val="tx1"/>
              </a:solidFill>
              <a:latin typeface="微软雅黑" panose="020B0503020204020204" pitchFamily="34" charset="-122"/>
              <a:ea typeface="微软雅黑" panose="020B0503020204020204" pitchFamily="34" charset="-122"/>
              <a:sym typeface="+mn-ea"/>
            </a:endParaRPr>
          </a:p>
          <a:p>
            <a:pPr>
              <a:lnSpc>
                <a:spcPct val="120000"/>
              </a:lnSpc>
            </a:pPr>
            <a:r>
              <a:rPr lang="zh-CN" altLang="en-US" sz="700" b="1" dirty="0" smtClean="0">
                <a:solidFill>
                  <a:srgbClr val="000000"/>
                </a:solidFill>
                <a:latin typeface="微软雅黑" panose="020B0503020204020204" pitchFamily="34" charset="-122"/>
                <a:ea typeface="微软雅黑" panose="020B0503020204020204" pitchFamily="34" charset="-122"/>
                <a:sym typeface="+mn-ea"/>
              </a:rPr>
              <a:t>双塔组团：</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）存量客户起租及单价上涨，增加收入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6,684</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2026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年新签</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14.61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万㎡，增加收入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5,478</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）受经营环境变化与成本管控的双重影响，</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年预算退租</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5.85</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2025</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年预计</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5.74</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万㎡），尤为关注到近期租期未满一年退租的企业呈上升趋势，退租</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影响后续约</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9</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个月租期（重新招商时间</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3</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个月、当年新签免租期</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个月）减少收入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6,505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4</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）挽商留商，考虑</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万平，</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个月，减少收入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270</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）内部租金单价下调，减少收入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252</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万。XH</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WORLD</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大项目整体目标收入较</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年预计增加</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835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endParaRPr lang="zh-CN" altLang="en-US" sz="700" dirty="0" smtClean="0">
              <a:solidFill>
                <a:schemeClr val="tx1"/>
              </a:solidFill>
              <a:latin typeface="微软雅黑" panose="020B0503020204020204" pitchFamily="34" charset="-122"/>
              <a:ea typeface="微软雅黑" panose="020B0503020204020204" pitchFamily="34" charset="-122"/>
              <a:sym typeface="+mn-ea"/>
            </a:endParaRPr>
          </a:p>
          <a:p>
            <a:pPr>
              <a:lnSpc>
                <a:spcPct val="120000"/>
              </a:lnSpc>
            </a:pPr>
            <a:r>
              <a:rPr lang="zh-CN" altLang="en-US" sz="700" b="1" dirty="0" smtClean="0">
                <a:solidFill>
                  <a:schemeClr val="tx1"/>
                </a:solidFill>
                <a:latin typeface="微软雅黑" panose="020B0503020204020204" pitchFamily="34" charset="-122"/>
                <a:ea typeface="微软雅黑" panose="020B0503020204020204" pitchFamily="34" charset="-122"/>
                <a:sym typeface="+mn-ea"/>
              </a:rPr>
              <a:t>XH中心：</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）平均出租率下降</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1.4%</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136</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）新签续签</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6</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个月免租期（</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2+2+2</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），各增加一个月免租期，减少收入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110</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3</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）挽商留商及单价下降，减少收入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255</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endParaRPr lang="zh-CN" altLang="en-US" sz="700" dirty="0" smtClean="0">
              <a:solidFill>
                <a:schemeClr val="tx1"/>
              </a:solidFill>
              <a:latin typeface="微软雅黑" panose="020B0503020204020204" pitchFamily="34" charset="-122"/>
              <a:ea typeface="微软雅黑" panose="020B0503020204020204" pitchFamily="34" charset="-122"/>
              <a:sym typeface="+mn-ea"/>
            </a:endParaRPr>
          </a:p>
          <a:p>
            <a:pPr>
              <a:lnSpc>
                <a:spcPct val="120000"/>
              </a:lnSpc>
            </a:pPr>
            <a:r>
              <a:rPr lang="zh-CN" altLang="en-US" sz="700" b="1" dirty="0" smtClean="0">
                <a:solidFill>
                  <a:schemeClr val="tx1"/>
                </a:solidFill>
                <a:latin typeface="微软雅黑" panose="020B0503020204020204" pitchFamily="34" charset="-122"/>
                <a:ea typeface="微软雅黑" panose="020B0503020204020204" pitchFamily="34" charset="-122"/>
                <a:sym typeface="+mn-ea"/>
              </a:rPr>
              <a:t>XH世纪：</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）平均出租率下降</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10</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）租金单价下降</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11.7</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元，减少收入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79</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3</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）内部租金单价下调，减少收入</a:t>
            </a:r>
            <a:r>
              <a:rPr lang="en-US" altLang="zh-CN" sz="700" dirty="0" smtClean="0">
                <a:solidFill>
                  <a:schemeClr val="tx1"/>
                </a:solidFill>
                <a:latin typeface="微软雅黑" panose="020B0503020204020204" pitchFamily="34" charset="-122"/>
                <a:ea typeface="微软雅黑" panose="020B0503020204020204" pitchFamily="34" charset="-122"/>
                <a:sym typeface="+mn-ea"/>
              </a:rPr>
              <a:t>27</a:t>
            </a:r>
            <a:r>
              <a:rPr lang="zh-CN" altLang="en-US" sz="700" dirty="0" smtClean="0">
                <a:solidFill>
                  <a:schemeClr val="tx1"/>
                </a:solidFill>
                <a:latin typeface="微软雅黑" panose="020B0503020204020204" pitchFamily="34" charset="-122"/>
                <a:ea typeface="微软雅黑" panose="020B0503020204020204" pitchFamily="34" charset="-122"/>
                <a:sym typeface="+mn-ea"/>
              </a:rPr>
              <a:t>万。</a:t>
            </a:r>
            <a:endParaRPr lang="zh-CN" altLang="en-US" sz="700" dirty="0" smtClean="0">
              <a:solidFill>
                <a:schemeClr val="tx1"/>
              </a:solidFill>
              <a:latin typeface="微软雅黑" panose="020B0503020204020204" pitchFamily="34" charset="-122"/>
              <a:ea typeface="微软雅黑" panose="020B0503020204020204" pitchFamily="34" charset="-122"/>
              <a:sym typeface="+mn-ea"/>
            </a:endParaRPr>
          </a:p>
          <a:p>
            <a:pPr>
              <a:lnSpc>
                <a:spcPct val="120000"/>
              </a:lnSpc>
            </a:pPr>
            <a:r>
              <a:rPr lang="zh-CN" altLang="en-US" sz="700" b="1" dirty="0" smtClean="0">
                <a:solidFill>
                  <a:srgbClr val="000000"/>
                </a:solidFill>
                <a:latin typeface="微软雅黑" panose="020B0503020204020204" pitchFamily="34" charset="-122"/>
                <a:ea typeface="微软雅黑" panose="020B0503020204020204" pitchFamily="34" charset="-122"/>
                <a:sym typeface="+mn-ea"/>
              </a:rPr>
              <a:t>银海项目：</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）纵维立方约</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2.5</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万㎡厂房（出租率占比</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17.1%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），月租金</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38</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万，预计</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2026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年</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4</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月</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30</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日到期退租；</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5</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号宿舍广东中保</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38</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间</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2,484</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㎡以及</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号宿舍整栋</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4,816</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㎡影响；</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C1C2</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宿舍因结构检测为危楼，对楼栋进行清空加固，影响收入</a:t>
            </a:r>
            <a:r>
              <a:rPr lang="en-US" altLang="zh-CN" sz="700" dirty="0" smtClean="0">
                <a:solidFill>
                  <a:srgbClr val="000000"/>
                </a:solidFill>
                <a:latin typeface="微软雅黑" panose="020B0503020204020204" pitchFamily="34" charset="-122"/>
                <a:ea typeface="微软雅黑" panose="020B0503020204020204" pitchFamily="34" charset="-122"/>
                <a:sym typeface="+mn-ea"/>
              </a:rPr>
              <a:t>301</a:t>
            </a:r>
            <a:r>
              <a:rPr lang="zh-CN" altLang="en-US" sz="700" dirty="0" smtClean="0">
                <a:solidFill>
                  <a:srgbClr val="000000"/>
                </a:solidFill>
                <a:latin typeface="微软雅黑" panose="020B0503020204020204" pitchFamily="34" charset="-122"/>
                <a:ea typeface="微软雅黑" panose="020B0503020204020204" pitchFamily="34" charset="-122"/>
                <a:sym typeface="+mn-ea"/>
              </a:rPr>
              <a:t>万。</a:t>
            </a:r>
            <a:endParaRPr lang="zh-CN" altLang="en-US" sz="700" dirty="0" smtClean="0">
              <a:solidFill>
                <a:srgbClr val="000000"/>
              </a:solidFill>
              <a:latin typeface="微软雅黑" panose="020B0503020204020204" pitchFamily="34" charset="-122"/>
              <a:ea typeface="微软雅黑" panose="020B0503020204020204" pitchFamily="34" charset="-122"/>
              <a:sym typeface="+mn-ea"/>
            </a:endParaRPr>
          </a:p>
          <a:p>
            <a:pPr>
              <a:lnSpc>
                <a:spcPct val="120000"/>
              </a:lnSpc>
            </a:pPr>
            <a:r>
              <a:rPr lang="zh-CN" altLang="en-US" sz="700" dirty="0" smtClean="0">
                <a:solidFill>
                  <a:srgbClr val="000000"/>
                </a:solidFill>
                <a:latin typeface="微软雅黑" panose="020B0503020204020204" pitchFamily="34" charset="-122"/>
                <a:ea typeface="微软雅黑" panose="020B0503020204020204" pitchFamily="34" charset="-122"/>
                <a:sym typeface="+mn-ea"/>
              </a:rPr>
              <a:t>以上租金单价不含内部结算租金单价调整影响。</a:t>
            </a:r>
            <a:endParaRPr lang="zh-CN" altLang="en-US" sz="700" dirty="0" smtClean="0">
              <a:solidFill>
                <a:srgbClr val="000000"/>
              </a:solidFill>
              <a:latin typeface="微软雅黑" panose="020B0503020204020204" pitchFamily="34" charset="-122"/>
              <a:ea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4"/>
          <p:cNvSpPr>
            <a:spLocks noGrp="1"/>
          </p:cNvSpPr>
          <p:nvPr>
            <p:ph type="title"/>
          </p:nvPr>
        </p:nvSpPr>
        <p:spPr>
          <a:xfrm>
            <a:off x="348615" y="93346"/>
            <a:ext cx="7559675" cy="359346"/>
          </a:xfrm>
        </p:spPr>
        <p:txBody>
          <a:bodyPr/>
          <a:lstStyle/>
          <a:p>
            <a:pPr marL="0" marR="0" lvl="0" algn="l" defTabSz="754380" rtl="0" eaLnBrk="0" fontAlgn="base" latinLnBrk="0" hangingPunct="0">
              <a:lnSpc>
                <a:spcPct val="100000"/>
              </a:lnSpc>
              <a:buClrTx/>
              <a:buSzTx/>
              <a:buFontTx/>
              <a:buNone/>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第一部分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lang="zh-CN" altLang="en-US" b="1" noProof="0" dirty="0" smtClean="0">
                <a:ln>
                  <a:noFill/>
                </a:ln>
                <a:effectLst/>
                <a:uLnTx/>
                <a:uFillTx/>
                <a:sym typeface="+mn-ea"/>
              </a:rPr>
              <a:t>202</a:t>
            </a:r>
            <a:r>
              <a:rPr lang="en-US" altLang="zh-CN" b="1" noProof="0" dirty="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经营目标（深圳产业公司）</a:t>
            </a:r>
            <a:endParaRPr kumimoji="0" lang="zh-CN" altLang="en-US" sz="1800" b="1" i="0" u="none" strike="noStrike" kern="1200" cap="none" spc="-41" normalizeH="0" baseline="0" noProof="0" dirty="0">
              <a:ln>
                <a:noFill/>
              </a:ln>
              <a:effectLst/>
              <a:uLnTx/>
              <a:uFillTx/>
              <a:sym typeface="+mn-ea"/>
            </a:endParaRPr>
          </a:p>
        </p:txBody>
      </p:sp>
      <p:sp>
        <p:nvSpPr>
          <p:cNvPr id="10" name="矩形 1"/>
          <p:cNvSpPr/>
          <p:nvPr>
            <p:custDataLst>
              <p:tags r:id="rId1"/>
            </p:custDataLst>
          </p:nvPr>
        </p:nvSpPr>
        <p:spPr>
          <a:xfrm>
            <a:off x="132656" y="453295"/>
            <a:ext cx="1943576" cy="281845"/>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lang="en-US" altLang="zh-CN" sz="1600" b="1" dirty="0" smtClean="0">
                <a:solidFill>
                  <a:prstClr val="white"/>
                </a:solidFill>
                <a:ea typeface="微软雅黑" panose="020B0503020204020204" pitchFamily="34" charset="-122"/>
              </a:rPr>
              <a:t>2026</a:t>
            </a:r>
            <a:r>
              <a:rPr lang="zh-CN" altLang="en-US" sz="1600" b="1" dirty="0" smtClean="0">
                <a:solidFill>
                  <a:prstClr val="white"/>
                </a:solidFill>
                <a:ea typeface="微软雅黑" panose="020B0503020204020204" pitchFamily="34" charset="-122"/>
              </a:rPr>
              <a:t>年经营目标</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4" name="文本框 1"/>
          <p:cNvSpPr txBox="1"/>
          <p:nvPr/>
        </p:nvSpPr>
        <p:spPr>
          <a:xfrm>
            <a:off x="374587" y="813495"/>
            <a:ext cx="9145016" cy="555986"/>
          </a:xfrm>
          <a:prstGeom prst="rect">
            <a:avLst/>
          </a:prstGeom>
          <a:noFill/>
          <a:ln w="9525">
            <a:noFill/>
          </a:ln>
        </p:spPr>
        <p:txBody>
          <a:bodyPr/>
          <a:lstStyle/>
          <a:p>
            <a:pPr>
              <a:lnSpc>
                <a:spcPct val="150000"/>
              </a:lnSpc>
            </a:pPr>
            <a:r>
              <a:rPr lang="zh-CN" altLang="en-US" sz="1455" b="1" dirty="0">
                <a:latin typeface="微软雅黑" panose="020B0503020204020204" pitchFamily="34" charset="-122"/>
                <a:ea typeface="微软雅黑" panose="020B0503020204020204" pitchFamily="34" charset="-122"/>
                <a:sym typeface="+mn-ea"/>
              </a:rPr>
              <a:t>持续拓展园区企业非核心业务需求，通过资产、空间等开发企业需求，提升园区配套服务，实现大项目</a:t>
            </a:r>
            <a:r>
              <a:rPr lang="zh-CN" altLang="en-US" sz="1455" b="1" dirty="0" smtClean="0">
                <a:latin typeface="微软雅黑" panose="020B0503020204020204" pitchFamily="34" charset="-122"/>
                <a:ea typeface="微软雅黑" panose="020B0503020204020204" pitchFamily="34" charset="-122"/>
                <a:sym typeface="+mn-ea"/>
              </a:rPr>
              <a:t>运营。</a:t>
            </a:r>
            <a:endParaRPr lang="zh-CN" altLang="en-US" sz="1455" b="1" dirty="0">
              <a:latin typeface="微软雅黑" panose="020B0503020204020204" pitchFamily="34" charset="-122"/>
              <a:ea typeface="微软雅黑" panose="020B0503020204020204" pitchFamily="34" charset="-122"/>
              <a:sym typeface="+mn-ea"/>
            </a:endParaRPr>
          </a:p>
        </p:txBody>
      </p:sp>
      <p:graphicFrame>
        <p:nvGraphicFramePr>
          <p:cNvPr id="5" name="表格 4"/>
          <p:cNvGraphicFramePr>
            <a:graphicFrameLocks noGrp="1"/>
          </p:cNvGraphicFramePr>
          <p:nvPr/>
        </p:nvGraphicFramePr>
        <p:xfrm>
          <a:off x="502823" y="1340301"/>
          <a:ext cx="9073007" cy="3692525"/>
        </p:xfrm>
        <a:graphic>
          <a:graphicData uri="http://schemas.openxmlformats.org/drawingml/2006/table">
            <a:tbl>
              <a:tblPr/>
              <a:tblGrid>
                <a:gridCol w="1447377"/>
                <a:gridCol w="1013695"/>
                <a:gridCol w="1013695"/>
                <a:gridCol w="1013695"/>
                <a:gridCol w="4584545"/>
              </a:tblGrid>
              <a:tr h="335021">
                <a:tc>
                  <a:txBody>
                    <a:bodyPr/>
                    <a:lstStyle/>
                    <a:p>
                      <a:pPr algn="ctr" rtl="0" fontAlgn="ctr"/>
                      <a:r>
                        <a:rPr lang="zh-CN" altLang="en-US" sz="1200" b="1" i="0" u="none" strike="noStrike" dirty="0">
                          <a:solidFill>
                            <a:srgbClr val="FFFFFF"/>
                          </a:solidFill>
                          <a:effectLst/>
                          <a:latin typeface="微软雅黑" panose="020B0503020204020204" pitchFamily="34" charset="-122"/>
                          <a:ea typeface="微软雅黑" panose="020B0503020204020204" pitchFamily="34" charset="-122"/>
                        </a:rPr>
                        <a:t>类别（收入）</a:t>
                      </a:r>
                      <a:endParaRPr lang="zh-CN" altLang="en-US" sz="12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a:solidFill>
                        <a:schemeClr val="tx1"/>
                      </a:solidFill>
                      <a:prstDash val="solid"/>
                    </a:lnT>
                    <a:lnB w="6350" cap="flat" cmpd="sng" algn="ctr">
                      <a:solidFill>
                        <a:schemeClr val="tx1"/>
                      </a:solidFill>
                      <a:prstDash val="solid"/>
                      <a:round/>
                      <a:headEnd type="none" w="med" len="med"/>
                      <a:tailEnd type="none" w="med" len="med"/>
                    </a:lnB>
                    <a:solidFill>
                      <a:srgbClr val="CB1D23"/>
                    </a:solidFill>
                  </a:tcPr>
                </a:tc>
                <a:tc>
                  <a:txBody>
                    <a:bodyPr/>
                    <a:lstStyle/>
                    <a:p>
                      <a:pPr algn="ctr" rtl="0" fontAlgn="ctr"/>
                      <a:r>
                        <a:rPr lang="en-US" altLang="zh-CN" sz="1100" b="1" i="0" u="none" strike="noStrike" dirty="0" smtClean="0">
                          <a:solidFill>
                            <a:srgbClr val="FFFFFF"/>
                          </a:solidFill>
                          <a:effectLst/>
                          <a:latin typeface="微软雅黑" panose="020B0503020204020204" pitchFamily="34" charset="-122"/>
                          <a:ea typeface="微软雅黑" panose="020B0503020204020204" pitchFamily="34" charset="-122"/>
                        </a:rPr>
                        <a:t>2025</a:t>
                      </a:r>
                      <a:r>
                        <a:rPr lang="zh-CN" altLang="en-US" sz="1100" b="1" i="0" u="none" strike="noStrike" dirty="0" smtClean="0">
                          <a:solidFill>
                            <a:srgbClr val="FFFFFF"/>
                          </a:solidFill>
                          <a:effectLst/>
                          <a:latin typeface="微软雅黑" panose="020B0503020204020204" pitchFamily="34" charset="-122"/>
                          <a:ea typeface="微软雅黑" panose="020B0503020204020204" pitchFamily="34" charset="-122"/>
                        </a:rPr>
                        <a:t>年</a:t>
                      </a:r>
                      <a:r>
                        <a:rPr lang="zh-CN" altLang="en-US" sz="1100" b="1" i="0" u="none" strike="noStrike" dirty="0">
                          <a:solidFill>
                            <a:srgbClr val="FFFFFF"/>
                          </a:solidFill>
                          <a:effectLst/>
                          <a:latin typeface="微软雅黑" panose="020B0503020204020204" pitchFamily="34" charset="-122"/>
                          <a:ea typeface="微软雅黑" panose="020B0503020204020204" pitchFamily="34" charset="-122"/>
                        </a:rPr>
                        <a:t>计划</a:t>
                      </a:r>
                      <a:endParaRPr lang="zh-CN" altLang="en-US" sz="11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B1D23"/>
                    </a:solidFill>
                  </a:tcPr>
                </a:tc>
                <a:tc>
                  <a:txBody>
                    <a:bodyPr/>
                    <a:lstStyle/>
                    <a:p>
                      <a:pPr algn="ctr" rtl="0" fontAlgn="ctr"/>
                      <a:r>
                        <a:rPr lang="en-US" altLang="zh-CN" sz="1100" b="1" i="0" u="none" strike="noStrike" dirty="0" smtClean="0">
                          <a:solidFill>
                            <a:srgbClr val="FFFFFF"/>
                          </a:solidFill>
                          <a:effectLst/>
                          <a:latin typeface="微软雅黑" panose="020B0503020204020204" pitchFamily="34" charset="-122"/>
                          <a:ea typeface="微软雅黑" panose="020B0503020204020204" pitchFamily="34" charset="-122"/>
                        </a:rPr>
                        <a:t>2025</a:t>
                      </a:r>
                      <a:r>
                        <a:rPr lang="zh-CN" altLang="en-US" sz="1100" b="1" i="0" u="none" strike="noStrike" dirty="0" smtClean="0">
                          <a:solidFill>
                            <a:srgbClr val="FFFFFF"/>
                          </a:solidFill>
                          <a:effectLst/>
                          <a:latin typeface="微软雅黑" panose="020B0503020204020204" pitchFamily="34" charset="-122"/>
                          <a:ea typeface="微软雅黑" panose="020B0503020204020204" pitchFamily="34" charset="-122"/>
                        </a:rPr>
                        <a:t>年</a:t>
                      </a:r>
                      <a:r>
                        <a:rPr lang="zh-CN" altLang="en-US" sz="1100" b="1" i="0" u="none" strike="noStrike" dirty="0">
                          <a:solidFill>
                            <a:srgbClr val="FFFFFF"/>
                          </a:solidFill>
                          <a:effectLst/>
                          <a:latin typeface="微软雅黑" panose="020B0503020204020204" pitchFamily="34" charset="-122"/>
                          <a:ea typeface="微软雅黑" panose="020B0503020204020204" pitchFamily="34" charset="-122"/>
                        </a:rPr>
                        <a:t>预估</a:t>
                      </a:r>
                      <a:endParaRPr lang="zh-CN" altLang="en-US" sz="11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B1D23"/>
                    </a:solidFill>
                  </a:tcPr>
                </a:tc>
                <a:tc>
                  <a:txBody>
                    <a:bodyPr/>
                    <a:lstStyle/>
                    <a:p>
                      <a:pPr algn="ctr" rtl="0" fontAlgn="ctr"/>
                      <a:r>
                        <a:rPr lang="en-US" altLang="zh-CN" sz="11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年计划</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B1D23"/>
                    </a:solidFill>
                  </a:tcPr>
                </a:tc>
                <a:tc>
                  <a:txBody>
                    <a:bodyPr/>
                    <a:lstStyle/>
                    <a:p>
                      <a:pPr algn="ctr" rtl="0" fontAlgn="ctr"/>
                      <a:r>
                        <a:rPr lang="zh-CN" altLang="en-US" sz="1200" b="1" i="0" u="none" strike="noStrike">
                          <a:solidFill>
                            <a:srgbClr val="FFFFFF"/>
                          </a:solidFill>
                          <a:effectLst/>
                          <a:latin typeface="微软雅黑" panose="020B0503020204020204" pitchFamily="34" charset="-122"/>
                          <a:ea typeface="微软雅黑" panose="020B0503020204020204" pitchFamily="34" charset="-122"/>
                        </a:rPr>
                        <a:t>备注</a:t>
                      </a:r>
                      <a:endParaRPr lang="zh-CN" altLang="en-US" sz="1200" b="1" i="0" u="none" strike="noStrike">
                        <a:solidFill>
                          <a:srgbClr val="FFFFFF"/>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B1D23"/>
                    </a:solidFill>
                  </a:tcPr>
                </a:tc>
              </a:tr>
              <a:tr h="355883">
                <a:tc>
                  <a:txBody>
                    <a:bodyPr/>
                    <a:lstStyle/>
                    <a:p>
                      <a:pPr algn="ctr" rtl="0" fontAlgn="ctr"/>
                      <a:r>
                        <a:rPr lang="zh-CN" altLang="en-US" sz="1100" b="1" i="0" u="none" strike="noStrike">
                          <a:solidFill>
                            <a:srgbClr val="000000"/>
                          </a:solidFill>
                          <a:effectLst/>
                          <a:latin typeface="微软雅黑" panose="020B0503020204020204" pitchFamily="34" charset="-122"/>
                          <a:ea typeface="微软雅黑" panose="020B0503020204020204" pitchFamily="34" charset="-122"/>
                        </a:rPr>
                        <a:t>合计</a:t>
                      </a: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3,887.85</a:t>
                      </a:r>
                      <a:endParaRPr lang="en-US" altLang="zh-CN" sz="1100" b="1"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4,115.76</a:t>
                      </a:r>
                      <a:endParaRPr lang="en-US" altLang="zh-CN" sz="1100" b="1"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4,108.7</a:t>
                      </a:r>
                      <a:endParaRPr lang="en-US" altLang="zh-CN" sz="1100" b="1"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zh-CN" altLang="en-US" sz="1000" b="1" i="0" u="none" strike="noStrike">
                          <a:solidFill>
                            <a:srgbClr val="000000"/>
                          </a:solidFill>
                          <a:effectLst/>
                          <a:latin typeface="微软雅黑" panose="020B0503020204020204" pitchFamily="34" charset="-122"/>
                          <a:ea typeface="微软雅黑" panose="020B0503020204020204" pitchFamily="34" charset="-122"/>
                        </a:rPr>
                        <a:t>剔除政府补贴影响，</a:t>
                      </a:r>
                      <a:r>
                        <a:rPr lang="zh-CN" altLang="en-US" sz="1000" b="1" i="0" u="none" strike="noStrike">
                          <a:solidFill>
                            <a:srgbClr val="C00000"/>
                          </a:solidFill>
                          <a:effectLst/>
                          <a:latin typeface="微软雅黑" panose="020B0503020204020204" pitchFamily="34" charset="-122"/>
                          <a:ea typeface="微软雅黑" panose="020B0503020204020204" pitchFamily="34" charset="-122"/>
                        </a:rPr>
                        <a:t>收入增加</a:t>
                      </a:r>
                      <a:r>
                        <a:rPr lang="en-US" altLang="zh-CN" sz="1000" b="1" i="0" u="none" strike="noStrike">
                          <a:solidFill>
                            <a:srgbClr val="C00000"/>
                          </a:solidFill>
                          <a:effectLst/>
                          <a:latin typeface="微软雅黑" panose="020B0503020204020204" pitchFamily="34" charset="-122"/>
                          <a:ea typeface="微软雅黑" panose="020B0503020204020204" pitchFamily="34" charset="-122"/>
                        </a:rPr>
                        <a:t>18</a:t>
                      </a:r>
                      <a:r>
                        <a:rPr lang="zh-CN" altLang="en-US" sz="1000" b="1" i="0" u="none" strike="noStrike">
                          <a:solidFill>
                            <a:srgbClr val="C00000"/>
                          </a:solidFill>
                          <a:effectLst/>
                          <a:latin typeface="微软雅黑" panose="020B0503020204020204" pitchFamily="34" charset="-122"/>
                          <a:ea typeface="微软雅黑" panose="020B0503020204020204" pitchFamily="34" charset="-122"/>
                        </a:rPr>
                        <a:t>万，</a:t>
                      </a:r>
                      <a:r>
                        <a:rPr lang="zh-CN" altLang="en-US" sz="1000" b="1" i="0" u="none" strike="noStrike">
                          <a:solidFill>
                            <a:srgbClr val="000000"/>
                          </a:solidFill>
                          <a:effectLst/>
                          <a:latin typeface="微软雅黑" panose="020B0503020204020204" pitchFamily="34" charset="-122"/>
                          <a:ea typeface="微软雅黑" panose="020B0503020204020204" pitchFamily="34" charset="-122"/>
                        </a:rPr>
                        <a:t>其中：停车场收入增加</a:t>
                      </a: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66</a:t>
                      </a:r>
                      <a:r>
                        <a:rPr lang="zh-CN" altLang="en-US" sz="1000" b="1" i="0" u="none" strike="noStrike">
                          <a:solidFill>
                            <a:srgbClr val="000000"/>
                          </a:solidFill>
                          <a:effectLst/>
                          <a:latin typeface="微软雅黑" panose="020B0503020204020204" pitchFamily="34" charset="-122"/>
                          <a:ea typeface="微软雅黑" panose="020B0503020204020204" pitchFamily="34" charset="-122"/>
                        </a:rPr>
                        <a:t>万，宿舍减少</a:t>
                      </a: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25</a:t>
                      </a:r>
                      <a:r>
                        <a:rPr lang="zh-CN" altLang="en-US" sz="1000" b="1" i="0" u="none" strike="noStrike">
                          <a:solidFill>
                            <a:srgbClr val="000000"/>
                          </a:solidFill>
                          <a:effectLst/>
                          <a:latin typeface="微软雅黑" panose="020B0503020204020204" pitchFamily="34" charset="-122"/>
                          <a:ea typeface="微软雅黑" panose="020B0503020204020204" pitchFamily="34" charset="-122"/>
                        </a:rPr>
                        <a:t>万，体育公司减少</a:t>
                      </a: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22</a:t>
                      </a:r>
                      <a:r>
                        <a:rPr lang="zh-CN" altLang="en-US" sz="1000" b="1" i="0" u="none" strike="noStrike">
                          <a:solidFill>
                            <a:srgbClr val="000000"/>
                          </a:solidFill>
                          <a:effectLst/>
                          <a:latin typeface="微软雅黑" panose="020B0503020204020204" pitchFamily="34" charset="-122"/>
                          <a:ea typeface="微软雅黑" panose="020B0503020204020204" pitchFamily="34" charset="-122"/>
                        </a:rPr>
                        <a:t>万，其他变化较小。</a:t>
                      </a:r>
                      <a:endParaRPr lang="zh-CN" altLang="en-US" sz="1000" b="1"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宿舍</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893.57</a:t>
                      </a:r>
                      <a:endParaRPr lang="en-US" altLang="zh-CN"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901.81</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877.01</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二期宿舍平均出租率降至</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84%</a:t>
                      </a:r>
                      <a:r>
                        <a:rPr lang="zh-CN" altLang="en-US" sz="1000" b="0" i="0" u="none" strike="noStrike" dirty="0">
                          <a:solidFill>
                            <a:srgbClr val="C00000"/>
                          </a:solidFill>
                          <a:effectLst/>
                          <a:latin typeface="微软雅黑" panose="020B0503020204020204" pitchFamily="34" charset="-122"/>
                          <a:ea typeface="微软雅黑" panose="020B0503020204020204" pitchFamily="34" charset="-122"/>
                        </a:rPr>
                        <a:t>（考虑民乐公园改造）</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，五号公社平均出租率</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92%</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467096">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先锋展厅</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500.4</a:t>
                      </a:r>
                      <a:endParaRPr lang="en-US" altLang="zh-CN"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488.01</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486.12</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118.8w=三菱10.8w*11（免租期25年6月）/216.23w=荣电19.3w*3+17.58*9（预估会降租10元）/99.6w=优篮子8.3w*12/51.6w=孵化中心4.3*12</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会议室</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93</a:t>
                      </a:r>
                      <a:endParaRPr lang="en-US" altLang="zh-CN"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93</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93</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领创文体中心</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233.4</a:t>
                      </a:r>
                      <a:endParaRPr lang="en-US" altLang="zh-CN"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217.8</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195.8</a:t>
                      </a:r>
                      <a:endParaRPr lang="en-US" altLang="zh-CN" sz="1100" b="0" i="0" u="none" strike="noStrike">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pl-PL" sz="1000" b="0" i="0" u="none" strike="noStrike" dirty="0">
                          <a:solidFill>
                            <a:srgbClr val="000000"/>
                          </a:solidFill>
                          <a:effectLst/>
                          <a:latin typeface="微软雅黑" panose="020B0503020204020204" pitchFamily="34" charset="-122"/>
                          <a:ea typeface="微软雅黑" panose="020B0503020204020204" pitchFamily="34" charset="-122"/>
                        </a:rPr>
                        <a:t>1</a:t>
                      </a:r>
                      <a:r>
                        <a:rPr lang="en-US" altLang="pl-PL" sz="1000" b="0" i="0" u="none" strike="noStrike" dirty="0">
                          <a:solidFill>
                            <a:srgbClr val="000000"/>
                          </a:solidFill>
                          <a:effectLst/>
                          <a:latin typeface="微软雅黑" panose="020B0503020204020204" pitchFamily="34" charset="-122"/>
                          <a:ea typeface="微软雅黑" panose="020B0503020204020204" pitchFamily="34" charset="-122"/>
                        </a:rPr>
                        <a:t>7</a:t>
                      </a:r>
                      <a:r>
                        <a:rPr lang="pl-PL" sz="1000" b="0" i="0" u="none" strike="noStrike" dirty="0">
                          <a:solidFill>
                            <a:srgbClr val="000000"/>
                          </a:solidFill>
                          <a:effectLst/>
                          <a:latin typeface="微软雅黑" panose="020B0503020204020204" pitchFamily="34" charset="-122"/>
                          <a:ea typeface="微软雅黑" panose="020B0503020204020204" pitchFamily="34" charset="-122"/>
                        </a:rPr>
                        <a:t>.8w*11月（1月免租）</a:t>
                      </a:r>
                      <a:r>
                        <a:rPr lang="zh-CN" altLang="pl-PL" sz="10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pl-PL" sz="1000" b="0" i="0" u="none" strike="noStrike" dirty="0">
                          <a:solidFill>
                            <a:srgbClr val="C00000"/>
                          </a:solidFill>
                          <a:effectLst/>
                          <a:latin typeface="微软雅黑" panose="020B0503020204020204" pitchFamily="34" charset="-122"/>
                          <a:ea typeface="微软雅黑" panose="020B0503020204020204" pitchFamily="34" charset="-122"/>
                        </a:rPr>
                        <a:t>根据政府要求</a:t>
                      </a:r>
                      <a:r>
                        <a:rPr lang="zh-CN" altLang="en-US" sz="1000" b="0" i="0" u="none" strike="noStrike" dirty="0">
                          <a:solidFill>
                            <a:srgbClr val="C00000"/>
                          </a:solidFill>
                          <a:effectLst/>
                          <a:latin typeface="微软雅黑" panose="020B0503020204020204" pitchFamily="34" charset="-122"/>
                          <a:ea typeface="微软雅黑" panose="020B0503020204020204" pitchFamily="34" charset="-122"/>
                        </a:rPr>
                        <a:t>恢复土地性质，收回部分租赁位置</a:t>
                      </a:r>
                      <a:r>
                        <a:rPr lang="zh-CN" altLang="pl-PL" sz="1000" b="0" i="0" u="none" strike="noStrike" dirty="0">
                          <a:solidFill>
                            <a:srgbClr val="C00000"/>
                          </a:solidFill>
                          <a:effectLst/>
                          <a:latin typeface="微软雅黑" panose="020B0503020204020204" pitchFamily="34" charset="-122"/>
                          <a:ea typeface="微软雅黑" panose="020B0503020204020204" pitchFamily="34" charset="-122"/>
                        </a:rPr>
                        <a:t>，</a:t>
                      </a:r>
                      <a:r>
                        <a:rPr lang="en-US" altLang="zh-CN" sz="1000" b="0" i="0" u="none" strike="noStrike" dirty="0">
                          <a:solidFill>
                            <a:srgbClr val="C00000"/>
                          </a:solidFill>
                          <a:effectLst/>
                          <a:latin typeface="微软雅黑" panose="020B0503020204020204" pitchFamily="34" charset="-122"/>
                          <a:ea typeface="微软雅黑" panose="020B0503020204020204" pitchFamily="34" charset="-122"/>
                        </a:rPr>
                        <a:t>26</a:t>
                      </a:r>
                      <a:r>
                        <a:rPr lang="zh-CN" altLang="en-US" sz="1000" b="0" i="0" u="none" strike="noStrike" dirty="0">
                          <a:solidFill>
                            <a:srgbClr val="C00000"/>
                          </a:solidFill>
                          <a:effectLst/>
                          <a:latin typeface="微软雅黑" panose="020B0503020204020204" pitchFamily="34" charset="-122"/>
                          <a:ea typeface="微软雅黑" panose="020B0503020204020204" pitchFamily="34" charset="-122"/>
                        </a:rPr>
                        <a:t>年涉及预估</a:t>
                      </a:r>
                      <a:r>
                        <a:rPr lang="en-US" altLang="zh-CN" sz="1000" b="0" i="0" u="none" strike="noStrike" dirty="0">
                          <a:solidFill>
                            <a:srgbClr val="C00000"/>
                          </a:solidFill>
                          <a:effectLst/>
                          <a:latin typeface="微软雅黑" panose="020B0503020204020204" pitchFamily="34" charset="-122"/>
                          <a:ea typeface="微软雅黑" panose="020B0503020204020204" pitchFamily="34" charset="-122"/>
                        </a:rPr>
                        <a:t>22</a:t>
                      </a:r>
                      <a:r>
                        <a:rPr lang="zh-CN" altLang="en-US" sz="1000" b="0" i="0" u="none" strike="noStrike" dirty="0">
                          <a:solidFill>
                            <a:srgbClr val="C00000"/>
                          </a:solidFill>
                          <a:effectLst/>
                          <a:latin typeface="微软雅黑" panose="020B0503020204020204" pitchFamily="34" charset="-122"/>
                          <a:ea typeface="微软雅黑" panose="020B0503020204020204" pitchFamily="34" charset="-122"/>
                        </a:rPr>
                        <a:t>万</a:t>
                      </a:r>
                      <a:r>
                        <a:rPr lang="en-US" altLang="zh-CN" sz="1000" b="0" i="0" u="none" strike="noStrike" dirty="0">
                          <a:solidFill>
                            <a:srgbClr val="C00000"/>
                          </a:solidFill>
                          <a:effectLst/>
                          <a:latin typeface="微软雅黑" panose="020B0503020204020204" pitchFamily="34" charset="-122"/>
                          <a:ea typeface="微软雅黑" panose="020B0503020204020204" pitchFamily="34" charset="-122"/>
                        </a:rPr>
                        <a:t>/</a:t>
                      </a:r>
                      <a:r>
                        <a:rPr lang="zh-CN" altLang="en-US" sz="1000" b="0" i="0" u="none" strike="noStrike" dirty="0">
                          <a:solidFill>
                            <a:srgbClr val="C00000"/>
                          </a:solidFill>
                          <a:effectLst/>
                          <a:latin typeface="微软雅黑" panose="020B0503020204020204" pitchFamily="34" charset="-122"/>
                          <a:ea typeface="微软雅黑" panose="020B0503020204020204" pitchFamily="34" charset="-122"/>
                        </a:rPr>
                        <a:t>年</a:t>
                      </a:r>
                      <a:endParaRPr lang="zh-CN" altLang="en-US" sz="1000" b="0" i="0" u="none" strike="noStrike" dirty="0">
                        <a:solidFill>
                          <a:srgbClr val="C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其它经营（一二三）</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460.08</a:t>
                      </a:r>
                      <a:endParaRPr lang="en-US" altLang="zh-CN" sz="11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461.98</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453.34</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仓库</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45.36</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广告位</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89</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食堂</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211.08</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充电桩</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8</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br>
                        <a:rPr lang="en-US" sz="1000" b="0" i="0" u="none" strike="noStrike" dirty="0">
                          <a:solidFill>
                            <a:srgbClr val="000000"/>
                          </a:solidFill>
                          <a:effectLst/>
                          <a:latin typeface="微软雅黑" panose="020B0503020204020204" pitchFamily="34" charset="-122"/>
                          <a:ea typeface="微软雅黑" panose="020B0503020204020204" pitchFamily="34" charset="-122"/>
                        </a:rPr>
                      </a:br>
                      <a:r>
                        <a:rPr lang="en-US" sz="10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早餐车</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9.9</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运营商</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18</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公共场地</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72</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endParaRPr 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其它经营（双子塔）</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134.15</a:t>
                      </a:r>
                      <a:endParaRPr lang="en-US" altLang="zh-CN"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182.85</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191.72</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仓库</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21.6</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广告位</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21</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食堂</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81.13</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充电桩</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4</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br>
                        <a:rPr lang="en-US" sz="1000" b="0" i="0" u="none" strike="noStrike" dirty="0">
                          <a:solidFill>
                            <a:srgbClr val="000000"/>
                          </a:solidFill>
                          <a:effectLst/>
                          <a:latin typeface="微软雅黑" panose="020B0503020204020204" pitchFamily="34" charset="-122"/>
                          <a:ea typeface="微软雅黑" panose="020B0503020204020204" pitchFamily="34" charset="-122"/>
                        </a:rPr>
                      </a:br>
                      <a:r>
                        <a:rPr lang="en-US" sz="10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早餐车</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4.95</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运营商</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12</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公共场地</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30</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其他</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17.04</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endParaRPr 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lstStyle/>
                    <a:p>
                      <a:pPr algn="ctr" rtl="0"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停车场</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1,573.25</a:t>
                      </a:r>
                      <a:endParaRPr lang="en-US" altLang="zh-CN" sz="11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 1,745.45 </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ctr" fontAlgn="ctr"/>
                      <a:r>
                        <a:rPr lang="en-US" altLang="zh-CN" sz="1100" b="0" i="0">
                          <a:solidFill>
                            <a:srgbClr val="000000"/>
                          </a:solidFill>
                          <a:latin typeface="微软雅黑" panose="020B0503020204020204" pitchFamily="34" charset="-122"/>
                          <a:ea typeface="微软雅黑" panose="020B0503020204020204" pitchFamily="34" charset="-122"/>
                        </a:rPr>
                        <a:t> 1,811.71 </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lstStyle/>
                    <a:p>
                      <a:pPr algn="l"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一期 </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624</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万、二期</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403.2</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万，三期</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307.2</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万、领创</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99.85</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万、生态</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IEO9.6</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万、双子塔</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367.86</a:t>
                      </a:r>
                      <a:r>
                        <a:rPr lang="en-US" sz="1000" b="0" i="0" u="none" strike="noStrike" dirty="0">
                          <a:solidFill>
                            <a:srgbClr val="000000"/>
                          </a:solidFill>
                          <a:effectLst/>
                          <a:latin typeface="微软雅黑" panose="020B0503020204020204" pitchFamily="34" charset="-122"/>
                          <a:ea typeface="微软雅黑" panose="020B0503020204020204" pitchFamily="34" charset="-122"/>
                        </a:rPr>
                        <a:t>w</a:t>
                      </a:r>
                      <a:endParaRPr 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r h="355883">
                <a:tc>
                  <a:txBody>
                    <a:bodyPr/>
                    <a:p>
                      <a:pPr algn="ctr" rtl="0" fontAlgn="ctr">
                        <a:buNone/>
                      </a:pP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政府补贴</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p>
                      <a:pPr algn="ctr" rtl="0" fontAlgn="ctr">
                        <a:buNone/>
                      </a:pPr>
                      <a:endParaRPr lang="en-US" altLang="zh-CN" sz="11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798" marR="7798" marT="7798"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p>
                      <a:pPr algn="ctr" fontAlgn="ctr"/>
                      <a:r>
                        <a:rPr lang="en-US" altLang="zh-CN" sz="1100" b="0" i="0">
                          <a:solidFill>
                            <a:srgbClr val="000000"/>
                          </a:solidFill>
                          <a:latin typeface="微软雅黑" panose="020B0503020204020204" pitchFamily="34" charset="-122"/>
                          <a:ea typeface="微软雅黑" panose="020B0503020204020204" pitchFamily="34" charset="-122"/>
                        </a:rPr>
                        <a:t>25</a:t>
                      </a:r>
                      <a:endParaRPr lang="en-US" altLang="zh-CN" sz="11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p>
                      <a:pPr algn="l" fontAlgn="ctr"/>
                      <a:endParaRPr sz="1100" b="0" i="0">
                        <a:solidFill>
                          <a:srgbClr val="000000"/>
                        </a:solidFill>
                        <a:latin typeface="宋体" panose="02010600030101010101" pitchFamily="2" charset="-122"/>
                        <a:ea typeface="宋体" panose="02010600030101010101" pitchFamily="2" charset="-122"/>
                      </a:endParaRPr>
                    </a:p>
                  </a:txBody>
                  <a:tcPr marL="9842" marR="9842" marT="9842"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c>
                  <a:txBody>
                    <a:bodyPr/>
                    <a:p>
                      <a:pPr algn="l" rtl="0" fontAlgn="ctr">
                        <a:buNone/>
                      </a:pPr>
                      <a:endParaRPr lang="en-US" altLang="en-US" sz="1100" b="0" i="0" u="none" strike="noStrike" dirty="0">
                        <a:solidFill>
                          <a:srgbClr val="000000"/>
                        </a:solidFill>
                        <a:effectLst/>
                        <a:latin typeface="微软雅黑" panose="020B0503020204020204" pitchFamily="34" charset="-122"/>
                        <a:ea typeface="微软雅黑" panose="020B0503020204020204" pitchFamily="34" charset="-122"/>
                      </a:endParaRPr>
                    </a:p>
                  </a:txBody>
                  <a:tcPr marL="9450" marR="9450" marT="945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2F2F2"/>
                    </a:solidFill>
                  </a:tcPr>
                </a:tc>
              </a:tr>
            </a:tbl>
          </a:graphicData>
        </a:graphic>
      </p:graphicFrame>
      <p:sp>
        <p:nvSpPr>
          <p:cNvPr id="6" name="文本框 5"/>
          <p:cNvSpPr txBox="1"/>
          <p:nvPr/>
        </p:nvSpPr>
        <p:spPr>
          <a:xfrm>
            <a:off x="492760" y="5133216"/>
            <a:ext cx="7658286" cy="260350"/>
          </a:xfrm>
          <a:prstGeom prst="rect">
            <a:avLst/>
          </a:prstGeom>
          <a:noFill/>
        </p:spPr>
        <p:txBody>
          <a:bodyPr wrap="square" rtlCol="0" anchor="t">
            <a:spAutoFit/>
          </a:bodyPr>
          <a:lstStyle/>
          <a:p>
            <a:r>
              <a:rPr lang="zh-CN" altLang="en-US" sz="1100" dirty="0" smtClean="0">
                <a:effectLst/>
                <a:latin typeface="微软雅黑" panose="020B0503020204020204" pitchFamily="34" charset="-122"/>
                <a:ea typeface="微软雅黑" panose="020B0503020204020204" pitchFamily="34" charset="-122"/>
                <a:sym typeface="+mn-ea"/>
              </a:rPr>
              <a:t>备注：因政府补贴项</a:t>
            </a:r>
            <a:r>
              <a:rPr lang="zh-CN" altLang="en-US" sz="1100" dirty="0">
                <a:effectLst/>
                <a:latin typeface="微软雅黑" panose="020B0503020204020204" pitchFamily="34" charset="-122"/>
                <a:ea typeface="微软雅黑" panose="020B0503020204020204" pitchFamily="34" charset="-122"/>
                <a:sym typeface="+mn-ea"/>
              </a:rPr>
              <a:t>为不可预见性收入，</a:t>
            </a:r>
            <a:r>
              <a:rPr lang="en-US" altLang="zh-CN" sz="1100" dirty="0">
                <a:effectLst/>
                <a:latin typeface="微软雅黑" panose="020B0503020204020204" pitchFamily="34" charset="-122"/>
                <a:ea typeface="微软雅黑" panose="020B0503020204020204" pitchFamily="34" charset="-122"/>
                <a:sym typeface="+mn-ea"/>
              </a:rPr>
              <a:t>26</a:t>
            </a:r>
            <a:r>
              <a:rPr lang="zh-CN" altLang="en-US" sz="1100" dirty="0">
                <a:effectLst/>
                <a:latin typeface="微软雅黑" panose="020B0503020204020204" pitchFamily="34" charset="-122"/>
                <a:ea typeface="微软雅黑" panose="020B0503020204020204" pitchFamily="34" charset="-122"/>
                <a:sym typeface="+mn-ea"/>
              </a:rPr>
              <a:t>年未考虑</a:t>
            </a:r>
            <a:endParaRPr lang="zh-CN" altLang="en-US" sz="1100" dirty="0" smtClean="0">
              <a:effectLst/>
              <a:latin typeface="微软雅黑" panose="020B0503020204020204" pitchFamily="34" charset="-122"/>
              <a:ea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9250" y="238126"/>
            <a:ext cx="7559675" cy="359346"/>
          </a:xfrm>
        </p:spPr>
        <p:txBody>
          <a:bodyPr/>
          <a:lstStyle/>
          <a:p>
            <a:pPr marL="0" marR="0" lvl="0" indent="0" algn="l" defTabSz="75438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第一部分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：202</a:t>
            </a:r>
            <a:r>
              <a:rPr lang="en-US" altLang="zh-CN" b="1" dirty="0" smtClean="0"/>
              <a:t>6</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年</a:t>
            </a:r>
            <a:r>
              <a:rPr kumimoji="0" lang="zh-CN" altLang="en-US" sz="1800" b="1" i="0" u="none" strike="noStrike" kern="1200" cap="none" spc="-41" normalizeH="0" baseline="0" noProof="0" dirty="0">
                <a:ln>
                  <a:noFill/>
                </a:ln>
                <a:solidFill>
                  <a:schemeClr val="tx1">
                    <a:lumMod val="75000"/>
                    <a:lumOff val="25000"/>
                  </a:schemeClr>
                </a:solidFill>
                <a:effectLst/>
                <a:uLnTx/>
                <a:uFillTx/>
              </a:rPr>
              <a:t>经营目标</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lang="zh-CN" altLang="en-US" b="1" dirty="0"/>
              <a:t>华南</a:t>
            </a:r>
            <a:r>
              <a:rPr lang="zh-CN" altLang="en-US" b="1" noProof="0" dirty="0" smtClean="0"/>
              <a:t>产业公司</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endParaRPr kumimoji="0" lang="zh-CN" altLang="en-US" sz="1800" b="1" i="0" u="none" strike="noStrike" kern="1200" cap="none" spc="-41" normalizeH="0" baseline="0" noProof="0" dirty="0">
              <a:ln>
                <a:noFill/>
              </a:ln>
              <a:solidFill>
                <a:schemeClr val="tx1">
                  <a:lumMod val="75000"/>
                  <a:lumOff val="25000"/>
                </a:schemeClr>
              </a:solidFill>
              <a:effectLst/>
              <a:uLnTx/>
              <a:uFillTx/>
            </a:endParaRPr>
          </a:p>
        </p:txBody>
      </p:sp>
      <p:sp>
        <p:nvSpPr>
          <p:cNvPr id="6" name="矩形 5"/>
          <p:cNvSpPr/>
          <p:nvPr/>
        </p:nvSpPr>
        <p:spPr>
          <a:xfrm>
            <a:off x="205105" y="4053205"/>
            <a:ext cx="9568815" cy="1375410"/>
          </a:xfrm>
          <a:prstGeom prst="rect">
            <a:avLst/>
          </a:prstGeom>
        </p:spPr>
        <p:txBody>
          <a:bodyPr wrap="square">
            <a:no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东</a:t>
            </a:r>
            <a:r>
              <a:rPr kumimoji="0" lang="zh-CN" altLang="en-US" sz="900" b="1" i="0" u="none" strike="noStrike" kern="1200" cap="none" spc="-41"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rPr>
              <a:t>悦</a:t>
            </a: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汇：</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 </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10</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月出租率</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69%</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26</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年预算期末出租率</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80%</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平均出租率为</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74%</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，同比提升</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12%</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a:t>
            </a: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收入增加</a:t>
            </a:r>
            <a:r>
              <a:rPr kumimoji="0" lang="en-US" altLang="zh-CN"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469</a:t>
            </a: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按</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8</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万方，</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2026</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年签约均价</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50</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，新签约客户考虑</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2</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个月免租期考虑，</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50*80197*12*0.12*10=483</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万</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），内部结算单价调整，减少</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14</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a:t>
            </a:r>
            <a:endPar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发展大厦：</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10</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月出租率</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49%</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26</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年预算期末出租率</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61%</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收入增加</a:t>
            </a:r>
            <a:r>
              <a:rPr kumimoji="0" lang="en-US" altLang="zh-CN"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323</a:t>
            </a: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2026</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年有老客户到期，该部分客户续租需要考虑帮扶，帮扶减少收入</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130</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万（</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10F</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21F</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6F</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等）；另，</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2025</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年预计含</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保险服务中心退租装修收入</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276</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a:t>
            </a:r>
            <a:r>
              <a:rPr kumimoji="0" 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122</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万工程收入和</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60</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万罚没收入，整体收入减少</a:t>
            </a:r>
            <a:r>
              <a:rPr kumimoji="0" lang="en-US" altLang="zh-CN"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265</a:t>
            </a:r>
            <a:r>
              <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万。</a:t>
            </a:r>
            <a:endParaRPr kumimoji="0" lang="zh-CN" altLang="en-US" sz="900"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900" b="1" i="0" u="none" strike="noStrike" kern="1200" cap="none" spc="-41"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cs typeface="+mn-cs"/>
              </a:rPr>
              <a:t>亚金项目：</a:t>
            </a:r>
            <a:r>
              <a:rPr lang="zh-CN" altLang="en-US" sz="900" b="1" spc="-41" dirty="0" smtClean="0">
                <a:solidFill>
                  <a:schemeClr val="tx1"/>
                </a:solidFill>
                <a:latin typeface="微软雅黑" panose="020B0503020204020204" pitchFamily="34" charset="-122"/>
                <a:ea typeface="微软雅黑" panose="020B0503020204020204" pitchFamily="34" charset="-122"/>
              </a:rPr>
              <a:t>收入减少</a:t>
            </a:r>
            <a:r>
              <a:rPr lang="en-US" altLang="zh-CN" sz="900" b="1" spc="-41" dirty="0" smtClean="0">
                <a:solidFill>
                  <a:schemeClr val="tx1"/>
                </a:solidFill>
                <a:latin typeface="微软雅黑" panose="020B0503020204020204" pitchFamily="34" charset="-122"/>
                <a:ea typeface="微软雅黑" panose="020B0503020204020204" pitchFamily="34" charset="-122"/>
              </a:rPr>
              <a:t>176</a:t>
            </a:r>
            <a:r>
              <a:rPr lang="zh-CN" altLang="en-US" sz="900" b="1" spc="-41" dirty="0" smtClean="0">
                <a:solidFill>
                  <a:schemeClr val="tx1"/>
                </a:solidFill>
                <a:latin typeface="微软雅黑" panose="020B0503020204020204" pitchFamily="34" charset="-122"/>
                <a:ea typeface="微软雅黑" panose="020B0503020204020204" pitchFamily="34" charset="-122"/>
              </a:rPr>
              <a:t>万</a:t>
            </a:r>
            <a:r>
              <a:rPr lang="zh-CN" altLang="en-US" sz="900" spc="-41" dirty="0" smtClean="0">
                <a:solidFill>
                  <a:schemeClr val="tx1"/>
                </a:solidFill>
                <a:latin typeface="微软雅黑" panose="020B0503020204020204" pitchFamily="34" charset="-122"/>
                <a:ea typeface="微软雅黑" panose="020B0503020204020204" pitchFamily="34" charset="-122"/>
              </a:rPr>
              <a:t>，主要因出租率下降，免租期续租降价影响</a:t>
            </a:r>
            <a:r>
              <a:rPr lang="en-US" altLang="zh-CN" sz="900" spc="-41" dirty="0" smtClean="0">
                <a:solidFill>
                  <a:schemeClr val="tx1"/>
                </a:solidFill>
                <a:latin typeface="微软雅黑" panose="020B0503020204020204" pitchFamily="34" charset="-122"/>
                <a:ea typeface="微软雅黑" panose="020B0503020204020204" pitchFamily="34" charset="-122"/>
              </a:rPr>
              <a:t>90</a:t>
            </a:r>
            <a:r>
              <a:rPr lang="zh-CN" altLang="en-US" sz="900" spc="-41" dirty="0" smtClean="0">
                <a:solidFill>
                  <a:schemeClr val="tx1"/>
                </a:solidFill>
                <a:latin typeface="微软雅黑" panose="020B0503020204020204" pitchFamily="34" charset="-122"/>
                <a:ea typeface="微软雅黑" panose="020B0503020204020204" pitchFamily="34" charset="-122"/>
              </a:rPr>
              <a:t>万</a:t>
            </a:r>
            <a:r>
              <a:rPr lang="en-US" altLang="zh-CN" sz="900" spc="-41" dirty="0" smtClean="0">
                <a:solidFill>
                  <a:schemeClr val="tx1"/>
                </a:solidFill>
                <a:latin typeface="微软雅黑" panose="020B0503020204020204" pitchFamily="34" charset="-122"/>
                <a:ea typeface="微软雅黑" panose="020B0503020204020204" pitchFamily="34" charset="-122"/>
              </a:rPr>
              <a:t>+</a:t>
            </a:r>
            <a:r>
              <a:rPr lang="zh-CN" altLang="en-US" sz="900" spc="-41" dirty="0" smtClean="0">
                <a:solidFill>
                  <a:schemeClr val="tx1"/>
                </a:solidFill>
                <a:latin typeface="微软雅黑" panose="020B0503020204020204" pitchFamily="34" charset="-122"/>
                <a:ea typeface="微软雅黑" panose="020B0503020204020204" pitchFamily="34" charset="-122"/>
              </a:rPr>
              <a:t>客户集中到期帮扶</a:t>
            </a:r>
            <a:r>
              <a:rPr lang="en-US" altLang="zh-CN" sz="900" spc="-41" dirty="0" smtClean="0">
                <a:solidFill>
                  <a:schemeClr val="tx1"/>
                </a:solidFill>
                <a:latin typeface="微软雅黑" panose="020B0503020204020204" pitchFamily="34" charset="-122"/>
                <a:ea typeface="微软雅黑" panose="020B0503020204020204" pitchFamily="34" charset="-122"/>
              </a:rPr>
              <a:t>61</a:t>
            </a:r>
            <a:r>
              <a:rPr lang="zh-CN" altLang="en-US" sz="900" spc="-41" dirty="0" smtClean="0">
                <a:solidFill>
                  <a:schemeClr val="tx1"/>
                </a:solidFill>
                <a:latin typeface="微软雅黑" panose="020B0503020204020204" pitchFamily="34" charset="-122"/>
                <a:ea typeface="微软雅黑" panose="020B0503020204020204" pitchFamily="34" charset="-122"/>
              </a:rPr>
              <a:t>万。</a:t>
            </a:r>
            <a:r>
              <a:rPr lang="en-US" altLang="zh-CN" sz="900" spc="-41" dirty="0" smtClean="0">
                <a:solidFill>
                  <a:schemeClr val="tx1"/>
                </a:solidFill>
                <a:latin typeface="微软雅黑" panose="020B0503020204020204" pitchFamily="34" charset="-122"/>
                <a:ea typeface="微软雅黑" panose="020B0503020204020204" pitchFamily="34" charset="-122"/>
              </a:rPr>
              <a:t>1</a:t>
            </a:r>
            <a:r>
              <a:rPr lang="zh-CN" altLang="en-US" sz="900" spc="-41" dirty="0" smtClean="0">
                <a:solidFill>
                  <a:schemeClr val="tx1"/>
                </a:solidFill>
                <a:latin typeface="微软雅黑" panose="020B0503020204020204" pitchFamily="34" charset="-122"/>
                <a:ea typeface="微软雅黑" panose="020B0503020204020204" pitchFamily="34" charset="-122"/>
              </a:rPr>
              <a:t>、</a:t>
            </a:r>
            <a:r>
              <a:rPr lang="en-US" altLang="zh-CN" sz="900" spc="-41" dirty="0" smtClean="0">
                <a:solidFill>
                  <a:schemeClr val="tx1"/>
                </a:solidFill>
                <a:latin typeface="微软雅黑" panose="020B0503020204020204" pitchFamily="34" charset="-122"/>
                <a:ea typeface="微软雅黑" panose="020B0503020204020204" pitchFamily="34" charset="-122"/>
              </a:rPr>
              <a:t>25</a:t>
            </a:r>
            <a:r>
              <a:rPr lang="zh-CN" altLang="en-US" sz="900" spc="-41" dirty="0" smtClean="0">
                <a:solidFill>
                  <a:schemeClr val="tx1"/>
                </a:solidFill>
                <a:latin typeface="微软雅黑" panose="020B0503020204020204" pitchFamily="34" charset="-122"/>
                <a:ea typeface="微软雅黑" panose="020B0503020204020204" pitchFamily="34" charset="-122"/>
              </a:rPr>
              <a:t>年续租或替换客户影响：</a:t>
            </a:r>
            <a:r>
              <a:rPr lang="en-US" altLang="zh-CN" sz="900" spc="-41" dirty="0" smtClean="0">
                <a:solidFill>
                  <a:schemeClr val="tx1"/>
                </a:solidFill>
                <a:latin typeface="微软雅黑" panose="020B0503020204020204" pitchFamily="34" charset="-122"/>
                <a:ea typeface="微软雅黑" panose="020B0503020204020204" pitchFamily="34" charset="-122"/>
              </a:rPr>
              <a:t>25</a:t>
            </a:r>
            <a:r>
              <a:rPr lang="zh-CN" altLang="en-US" sz="900" spc="-41" dirty="0" smtClean="0">
                <a:solidFill>
                  <a:schemeClr val="tx1"/>
                </a:solidFill>
                <a:latin typeface="微软雅黑" panose="020B0503020204020204" pitchFamily="34" charset="-122"/>
                <a:ea typeface="微软雅黑" panose="020B0503020204020204" pitchFamily="34" charset="-122"/>
              </a:rPr>
              <a:t>年降价续租或替换客户导致预算差，且免租期在</a:t>
            </a:r>
            <a:r>
              <a:rPr lang="en-US" altLang="zh-CN" sz="900" spc="-41" dirty="0" smtClean="0">
                <a:solidFill>
                  <a:schemeClr val="tx1"/>
                </a:solidFill>
                <a:latin typeface="微软雅黑" panose="020B0503020204020204" pitchFamily="34" charset="-122"/>
                <a:ea typeface="微软雅黑" panose="020B0503020204020204" pitchFamily="34" charset="-122"/>
              </a:rPr>
              <a:t>26</a:t>
            </a:r>
            <a:r>
              <a:rPr lang="zh-CN" altLang="en-US" sz="900" spc="-41" dirty="0" smtClean="0">
                <a:solidFill>
                  <a:schemeClr val="tx1"/>
                </a:solidFill>
                <a:latin typeface="微软雅黑" panose="020B0503020204020204" pitchFamily="34" charset="-122"/>
                <a:ea typeface="微软雅黑" panose="020B0503020204020204" pitchFamily="34" charset="-122"/>
              </a:rPr>
              <a:t>年兑现。主要为：启德教育，模力偶像，宴客家更换成年丰饭庄，地产</a:t>
            </a:r>
            <a:r>
              <a:rPr lang="en-US" altLang="zh-CN" sz="900" spc="-41" dirty="0" smtClean="0">
                <a:solidFill>
                  <a:schemeClr val="tx1"/>
                </a:solidFill>
                <a:latin typeface="微软雅黑" panose="020B0503020204020204" pitchFamily="34" charset="-122"/>
                <a:ea typeface="微软雅黑" panose="020B0503020204020204" pitchFamily="34" charset="-122"/>
              </a:rPr>
              <a:t>VIP</a:t>
            </a:r>
            <a:r>
              <a:rPr lang="zh-CN" altLang="en-US" sz="900" spc="-41" dirty="0" smtClean="0">
                <a:solidFill>
                  <a:schemeClr val="tx1"/>
                </a:solidFill>
                <a:latin typeface="微软雅黑" panose="020B0503020204020204" pitchFamily="34" charset="-122"/>
                <a:ea typeface="微软雅黑" panose="020B0503020204020204" pitchFamily="34" charset="-122"/>
              </a:rPr>
              <a:t>包房等，预算缺口约：</a:t>
            </a:r>
            <a:r>
              <a:rPr lang="en-US" altLang="zh-CN" sz="900" spc="-41" dirty="0" smtClean="0">
                <a:solidFill>
                  <a:schemeClr val="tx1"/>
                </a:solidFill>
                <a:latin typeface="微软雅黑" panose="020B0503020204020204" pitchFamily="34" charset="-122"/>
                <a:ea typeface="微软雅黑" panose="020B0503020204020204" pitchFamily="34" charset="-122"/>
              </a:rPr>
              <a:t>90</a:t>
            </a:r>
            <a:r>
              <a:rPr lang="zh-CN" altLang="en-US" sz="900" spc="-41" dirty="0" smtClean="0">
                <a:solidFill>
                  <a:schemeClr val="tx1"/>
                </a:solidFill>
                <a:latin typeface="微软雅黑" panose="020B0503020204020204" pitchFamily="34" charset="-122"/>
                <a:ea typeface="微软雅黑" panose="020B0503020204020204" pitchFamily="34" charset="-122"/>
              </a:rPr>
              <a:t>万。</a:t>
            </a:r>
            <a:r>
              <a:rPr lang="en-US" altLang="zh-CN" sz="900" spc="-41" dirty="0" smtClean="0">
                <a:solidFill>
                  <a:schemeClr val="tx1"/>
                </a:solidFill>
                <a:latin typeface="微软雅黑" panose="020B0503020204020204" pitchFamily="34" charset="-122"/>
                <a:ea typeface="微软雅黑" panose="020B0503020204020204" pitchFamily="34" charset="-122"/>
              </a:rPr>
              <a:t>2</a:t>
            </a:r>
            <a:r>
              <a:rPr lang="zh-CN" altLang="en-US" sz="900" spc="-41" dirty="0" smtClean="0">
                <a:solidFill>
                  <a:schemeClr val="tx1"/>
                </a:solidFill>
                <a:latin typeface="微软雅黑" panose="020B0503020204020204" pitchFamily="34" charset="-122"/>
                <a:ea typeface="微软雅黑" panose="020B0503020204020204" pitchFamily="34" charset="-122"/>
              </a:rPr>
              <a:t>、</a:t>
            </a:r>
            <a:r>
              <a:rPr lang="en-US" altLang="zh-CN" sz="900" spc="-41" dirty="0" smtClean="0">
                <a:solidFill>
                  <a:schemeClr val="tx1"/>
                </a:solidFill>
                <a:latin typeface="微软雅黑" panose="020B0503020204020204" pitchFamily="34" charset="-122"/>
                <a:ea typeface="微软雅黑" panose="020B0503020204020204" pitchFamily="34" charset="-122"/>
              </a:rPr>
              <a:t>26</a:t>
            </a:r>
            <a:r>
              <a:rPr lang="zh-CN" altLang="en-US" sz="900" spc="-41" dirty="0" smtClean="0">
                <a:solidFill>
                  <a:schemeClr val="tx1"/>
                </a:solidFill>
                <a:latin typeface="微软雅黑" panose="020B0503020204020204" pitchFamily="34" charset="-122"/>
                <a:ea typeface="微软雅黑" panose="020B0503020204020204" pitchFamily="34" charset="-122"/>
              </a:rPr>
              <a:t>年超</a:t>
            </a:r>
            <a:r>
              <a:rPr lang="en-US" altLang="zh-CN" sz="900" spc="-41" dirty="0" smtClean="0">
                <a:solidFill>
                  <a:schemeClr val="tx1"/>
                </a:solidFill>
                <a:latin typeface="微软雅黑" panose="020B0503020204020204" pitchFamily="34" charset="-122"/>
                <a:ea typeface="微软雅黑" panose="020B0503020204020204" pitchFamily="34" charset="-122"/>
              </a:rPr>
              <a:t>10000</a:t>
            </a:r>
            <a:r>
              <a:rPr lang="zh-CN" altLang="en-US" sz="900" spc="-41" dirty="0" smtClean="0">
                <a:solidFill>
                  <a:schemeClr val="tx1"/>
                </a:solidFill>
                <a:latin typeface="微软雅黑" panose="020B0503020204020204" pitchFamily="34" charset="-122"/>
                <a:ea typeface="微软雅黑" panose="020B0503020204020204" pitchFamily="34" charset="-122"/>
              </a:rPr>
              <a:t>㎡客户到期，考虑部分退租空置及降价留商影响，同时部分客户</a:t>
            </a:r>
            <a:r>
              <a:rPr lang="en-US" altLang="zh-CN" sz="900" spc="-41" dirty="0" smtClean="0">
                <a:solidFill>
                  <a:schemeClr val="tx1"/>
                </a:solidFill>
                <a:latin typeface="微软雅黑" panose="020B0503020204020204" pitchFamily="34" charset="-122"/>
                <a:ea typeface="微软雅黑" panose="020B0503020204020204" pitchFamily="34" charset="-122"/>
              </a:rPr>
              <a:t>25</a:t>
            </a:r>
            <a:r>
              <a:rPr lang="zh-CN" altLang="en-US" sz="900" spc="-41" dirty="0" smtClean="0">
                <a:solidFill>
                  <a:schemeClr val="tx1"/>
                </a:solidFill>
                <a:latin typeface="微软雅黑" panose="020B0503020204020204" pitchFamily="34" charset="-122"/>
                <a:ea typeface="微软雅黑" panose="020B0503020204020204" pitchFamily="34" charset="-122"/>
              </a:rPr>
              <a:t>年持续申请要求帮扶，在通过新租增补后，预计缺口约：</a:t>
            </a:r>
            <a:r>
              <a:rPr lang="en-US" altLang="zh-CN" sz="900" spc="-41" dirty="0" smtClean="0">
                <a:solidFill>
                  <a:schemeClr val="tx1"/>
                </a:solidFill>
                <a:latin typeface="微软雅黑" panose="020B0503020204020204" pitchFamily="34" charset="-122"/>
                <a:ea typeface="微软雅黑" panose="020B0503020204020204" pitchFamily="34" charset="-122"/>
              </a:rPr>
              <a:t>61</a:t>
            </a:r>
            <a:r>
              <a:rPr lang="zh-CN" altLang="en-US" sz="900" spc="-41" dirty="0" smtClean="0">
                <a:solidFill>
                  <a:schemeClr val="tx1"/>
                </a:solidFill>
                <a:latin typeface="微软雅黑" panose="020B0503020204020204" pitchFamily="34" charset="-122"/>
                <a:ea typeface="微软雅黑" panose="020B0503020204020204" pitchFamily="34" charset="-122"/>
              </a:rPr>
              <a:t>万。</a:t>
            </a:r>
            <a:r>
              <a:rPr lang="en-US" altLang="zh-CN" sz="900" spc="-41" dirty="0" smtClean="0">
                <a:solidFill>
                  <a:schemeClr val="tx1"/>
                </a:solidFill>
                <a:latin typeface="微软雅黑" panose="020B0503020204020204" pitchFamily="34" charset="-122"/>
                <a:ea typeface="微软雅黑" panose="020B0503020204020204" pitchFamily="34" charset="-122"/>
              </a:rPr>
              <a:t>3</a:t>
            </a:r>
            <a:r>
              <a:rPr lang="zh-CN" altLang="en-US" sz="900" spc="-41" dirty="0" smtClean="0">
                <a:solidFill>
                  <a:schemeClr val="tx1"/>
                </a:solidFill>
                <a:latin typeface="微软雅黑" panose="020B0503020204020204" pitchFamily="34" charset="-122"/>
                <a:ea typeface="微软雅黑" panose="020B0503020204020204" pitchFamily="34" charset="-122"/>
              </a:rPr>
              <a:t>、</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内部结算单价调整，减少</a:t>
            </a:r>
            <a:r>
              <a:rPr lang="en-US" altLang="zh-CN" sz="900" spc="-41" noProof="0" dirty="0" smtClean="0">
                <a:ln>
                  <a:noFill/>
                </a:ln>
                <a:effectLst/>
                <a:uLnTx/>
                <a:uFillTx/>
                <a:latin typeface="微软雅黑" panose="020B0503020204020204" pitchFamily="34" charset="-122"/>
                <a:ea typeface="微软雅黑" panose="020B0503020204020204" pitchFamily="34" charset="-122"/>
                <a:sym typeface="+mn-ea"/>
              </a:rPr>
              <a:t>25</a:t>
            </a:r>
            <a:r>
              <a:rPr lang="zh-CN" altLang="en-US" sz="900" spc="-41" noProof="0" dirty="0" smtClean="0">
                <a:ln>
                  <a:noFill/>
                </a:ln>
                <a:effectLst/>
                <a:uLnTx/>
                <a:uFillTx/>
                <a:latin typeface="微软雅黑" panose="020B0503020204020204" pitchFamily="34" charset="-122"/>
                <a:ea typeface="微软雅黑" panose="020B0503020204020204" pitchFamily="34" charset="-122"/>
                <a:sym typeface="+mn-ea"/>
              </a:rPr>
              <a:t>万</a:t>
            </a:r>
            <a:r>
              <a:rPr lang="zh-CN" altLang="en-US" sz="900" spc="-41" dirty="0" smtClean="0">
                <a:solidFill>
                  <a:schemeClr val="tx1"/>
                </a:solidFill>
                <a:latin typeface="微软雅黑" panose="020B0503020204020204" pitchFamily="34" charset="-122"/>
                <a:ea typeface="微软雅黑" panose="020B0503020204020204" pitchFamily="34" charset="-122"/>
              </a:rPr>
              <a:t>。</a:t>
            </a:r>
            <a:endParaRPr lang="zh-CN" altLang="en-US" sz="900" spc="-41" dirty="0" smtClean="0">
              <a:solidFill>
                <a:schemeClr val="tx1"/>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r>
              <a:rPr lang="zh-CN" altLang="en-US" sz="900" b="1" spc="-41" dirty="0" smtClean="0">
                <a:solidFill>
                  <a:schemeClr val="tx1"/>
                </a:solidFill>
                <a:latin typeface="微软雅黑" panose="020B0503020204020204" pitchFamily="34" charset="-122"/>
                <a:ea typeface="微软雅黑" panose="020B0503020204020204" pitchFamily="34" charset="-122"/>
              </a:rPr>
              <a:t>云颂府：</a:t>
            </a:r>
            <a:r>
              <a:rPr lang="zh-CN" altLang="en-US" sz="900" spc="-41" dirty="0" smtClean="0">
                <a:solidFill>
                  <a:schemeClr val="tx1"/>
                </a:solidFill>
                <a:latin typeface="微软雅黑" panose="020B0503020204020204" pitchFamily="34" charset="-122"/>
                <a:ea typeface="微软雅黑" panose="020B0503020204020204" pitchFamily="34" charset="-122"/>
              </a:rPr>
              <a:t>出租率提升，</a:t>
            </a:r>
            <a:r>
              <a:rPr lang="zh-CN" altLang="en-US" sz="900" b="1" spc="-41" dirty="0" smtClean="0">
                <a:solidFill>
                  <a:schemeClr val="tx1"/>
                </a:solidFill>
                <a:latin typeface="微软雅黑" panose="020B0503020204020204" pitchFamily="34" charset="-122"/>
                <a:ea typeface="微软雅黑" panose="020B0503020204020204" pitchFamily="34" charset="-122"/>
              </a:rPr>
              <a:t>收入增加</a:t>
            </a:r>
            <a:r>
              <a:rPr lang="en-US" altLang="zh-CN" sz="900" b="1" spc="-41" dirty="0" smtClean="0">
                <a:solidFill>
                  <a:schemeClr val="tx1"/>
                </a:solidFill>
                <a:latin typeface="微软雅黑" panose="020B0503020204020204" pitchFamily="34" charset="-122"/>
                <a:ea typeface="微软雅黑" panose="020B0503020204020204" pitchFamily="34" charset="-122"/>
              </a:rPr>
              <a:t>26</a:t>
            </a:r>
            <a:r>
              <a:rPr lang="zh-CN" altLang="en-US" sz="900" b="1" spc="-41" dirty="0" smtClean="0">
                <a:solidFill>
                  <a:schemeClr val="tx1"/>
                </a:solidFill>
                <a:latin typeface="微软雅黑" panose="020B0503020204020204" pitchFamily="34" charset="-122"/>
                <a:ea typeface="微软雅黑" panose="020B0503020204020204" pitchFamily="34" charset="-122"/>
              </a:rPr>
              <a:t>万。</a:t>
            </a:r>
            <a:endParaRPr lang="zh-CN" altLang="en-US" sz="900" b="1" spc="-41" dirty="0" smtClean="0">
              <a:solidFill>
                <a:schemeClr val="tx1"/>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r>
              <a:rPr lang="zh-CN" altLang="en-US" sz="900" b="1" spc="-41" dirty="0" smtClean="0">
                <a:solidFill>
                  <a:schemeClr val="tx1"/>
                </a:solidFill>
                <a:latin typeface="微软雅黑" panose="020B0503020204020204" pitchFamily="34" charset="-122"/>
                <a:ea typeface="微软雅黑" panose="020B0503020204020204" pitchFamily="34" charset="-122"/>
              </a:rPr>
              <a:t>珠宝小镇：收入增加</a:t>
            </a:r>
            <a:r>
              <a:rPr lang="en-US" altLang="zh-CN" sz="900" b="1" spc="-41" dirty="0" smtClean="0">
                <a:solidFill>
                  <a:schemeClr val="tx1"/>
                </a:solidFill>
                <a:latin typeface="微软雅黑" panose="020B0503020204020204" pitchFamily="34" charset="-122"/>
                <a:ea typeface="微软雅黑" panose="020B0503020204020204" pitchFamily="34" charset="-122"/>
              </a:rPr>
              <a:t>10</a:t>
            </a:r>
            <a:r>
              <a:rPr lang="zh-CN" altLang="en-US" sz="900" b="1" spc="-41" dirty="0" smtClean="0">
                <a:solidFill>
                  <a:schemeClr val="tx1"/>
                </a:solidFill>
                <a:latin typeface="微软雅黑" panose="020B0503020204020204" pitchFamily="34" charset="-122"/>
                <a:ea typeface="微软雅黑" panose="020B0503020204020204" pitchFamily="34" charset="-122"/>
              </a:rPr>
              <a:t>万，</a:t>
            </a:r>
            <a:r>
              <a:rPr lang="en-US" altLang="zh-CN" sz="900" spc="-41" dirty="0" smtClean="0">
                <a:solidFill>
                  <a:schemeClr val="tx1"/>
                </a:solidFill>
                <a:latin typeface="微软雅黑" panose="020B0503020204020204" pitchFamily="34" charset="-122"/>
                <a:ea typeface="微软雅黑" panose="020B0503020204020204" pitchFamily="34" charset="-122"/>
              </a:rPr>
              <a:t>25</a:t>
            </a:r>
            <a:r>
              <a:rPr lang="zh-CN" altLang="en-US" sz="900" spc="-41" dirty="0" smtClean="0">
                <a:solidFill>
                  <a:schemeClr val="tx1"/>
                </a:solidFill>
                <a:latin typeface="微软雅黑" panose="020B0503020204020204" pitchFamily="34" charset="-122"/>
                <a:ea typeface="微软雅黑" panose="020B0503020204020204" pitchFamily="34" charset="-122"/>
              </a:rPr>
              <a:t>年一个月免租期。</a:t>
            </a:r>
            <a:endParaRPr lang="zh-CN" altLang="en-US" sz="900" spc="-41" dirty="0" smtClean="0">
              <a:solidFill>
                <a:schemeClr val="tx1"/>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lang="zh-CN" altLang="en-US" sz="900" spc="-41" dirty="0" smtClean="0">
              <a:solidFill>
                <a:schemeClr val="tx1"/>
              </a:solidFill>
              <a:latin typeface="微软雅黑" panose="020B0503020204020204" pitchFamily="34" charset="-122"/>
              <a:ea typeface="微软雅黑" panose="020B0503020204020204" pitchFamily="34" charset="-122"/>
            </a:endParaRPr>
          </a:p>
        </p:txBody>
      </p:sp>
      <p:sp>
        <p:nvSpPr>
          <p:cNvPr id="9" name="矩形 1"/>
          <p:cNvSpPr/>
          <p:nvPr/>
        </p:nvSpPr>
        <p:spPr>
          <a:xfrm>
            <a:off x="204664" y="597471"/>
            <a:ext cx="1944216" cy="287338"/>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kumimoji="0" lang="en-US" altLang="zh-CN"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2026</a:t>
            </a:r>
            <a:r>
              <a:rPr kumimoji="0" lang="zh-CN" altLang="en-US"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年经营目标</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10" name="矩形 9"/>
          <p:cNvSpPr/>
          <p:nvPr/>
        </p:nvSpPr>
        <p:spPr>
          <a:xfrm>
            <a:off x="204664" y="916306"/>
            <a:ext cx="9442891" cy="257229"/>
          </a:xfrm>
          <a:prstGeom prst="rect">
            <a:avLst/>
          </a:prstGeom>
          <a:noFill/>
        </p:spPr>
        <p:txBody>
          <a:bodyPr anchor="ctr"/>
          <a:lstStyle/>
          <a:p>
            <a:pPr marL="171450" marR="0" lvl="0" indent="-171450" algn="l" defTabSz="754380" rtl="0" eaLnBrk="1" fontAlgn="base" latinLnBrk="0" hangingPunct="1">
              <a:lnSpc>
                <a:spcPct val="100000"/>
              </a:lnSpc>
              <a:spcBef>
                <a:spcPct val="0"/>
              </a:spcBef>
              <a:spcAft>
                <a:spcPct val="0"/>
              </a:spcAft>
              <a:buClrTx/>
              <a:buSzTx/>
              <a:buFont typeface="Wingdings" panose="05000000000000000000" charset="0"/>
              <a:buChar char="n"/>
              <a:defRPr/>
            </a:pPr>
            <a:r>
              <a:rPr kumimoji="0" lang="zh-CN" altLang="en-US"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华南产业</a:t>
            </a:r>
            <a:r>
              <a:rPr kumimoji="0" lang="en-US" altLang="zh-CN"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6</a:t>
            </a:r>
            <a:r>
              <a:rPr kumimoji="0" lang="zh-CN" altLang="en-US"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个项目</a:t>
            </a:r>
            <a:r>
              <a:rPr lang="zh-CN" altLang="en-US" sz="1400" b="1" noProof="0" dirty="0" smtClean="0">
                <a:solidFill>
                  <a:prstClr val="black"/>
                </a:solidFill>
                <a:latin typeface="微软雅黑" panose="020B0503020204020204" pitchFamily="34" charset="-122"/>
                <a:ea typeface="微软雅黑" panose="020B0503020204020204" pitchFamily="34" charset="-122"/>
              </a:rPr>
              <a:t>（新增东湾旧改），</a:t>
            </a:r>
            <a:r>
              <a:rPr kumimoji="0" lang="en-US" altLang="zh-CN"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2026</a:t>
            </a:r>
            <a:r>
              <a:rPr kumimoji="0" lang="zh-CN" altLang="en-US"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年收入（含税）</a:t>
            </a:r>
            <a:r>
              <a:rPr kumimoji="0" lang="zh-CN" altLang="en-US"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8</a:t>
            </a:r>
            <a:r>
              <a:rPr kumimoji="0" lang="en-US" altLang="zh-CN"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a:t>
            </a:r>
            <a:r>
              <a:rPr kumimoji="0" lang="zh-CN" altLang="en-US"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7</a:t>
            </a:r>
            <a:r>
              <a:rPr kumimoji="0" lang="en-US" altLang="zh-CN"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09</a:t>
            </a:r>
            <a:r>
              <a:rPr kumimoji="0" lang="zh-CN" altLang="en-US"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万，</a:t>
            </a:r>
            <a:r>
              <a:rPr kumimoji="0" lang="en-US" altLang="zh-CN"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NOI </a:t>
            </a:r>
            <a:r>
              <a:rPr kumimoji="0" lang="en-US" altLang="zh-CN"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4,671</a:t>
            </a:r>
            <a:r>
              <a:rPr kumimoji="0" lang="zh-CN" altLang="en-US" sz="14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rPr>
              <a:t>万</a:t>
            </a:r>
            <a:r>
              <a:rPr kumimoji="0" lang="zh-CN" altLang="en-US" sz="14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rPr>
              <a:t>；</a:t>
            </a:r>
            <a:endParaRPr kumimoji="0" lang="zh-CN" altLang="en-US" sz="14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aphicFrame>
        <p:nvGraphicFramePr>
          <p:cNvPr id="4" name="表格 3"/>
          <p:cNvGraphicFramePr>
            <a:graphicFrameLocks noGrp="1"/>
          </p:cNvGraphicFramePr>
          <p:nvPr>
            <p:custDataLst>
              <p:tags r:id="rId1"/>
            </p:custDataLst>
          </p:nvPr>
        </p:nvGraphicFramePr>
        <p:xfrm>
          <a:off x="276860" y="1245235"/>
          <a:ext cx="9262745" cy="2663190"/>
        </p:xfrm>
        <a:graphic>
          <a:graphicData uri="http://schemas.openxmlformats.org/drawingml/2006/table">
            <a:tbl>
              <a:tblPr firstRow="1" bandRow="1">
                <a:effectLst/>
                <a:tableStyleId>{5940675A-B579-460E-94D1-54222C63F5DA}</a:tableStyleId>
              </a:tblPr>
              <a:tblGrid>
                <a:gridCol w="198755"/>
                <a:gridCol w="690245"/>
                <a:gridCol w="535305"/>
                <a:gridCol w="450850"/>
                <a:gridCol w="458470"/>
                <a:gridCol w="405765"/>
                <a:gridCol w="382270"/>
                <a:gridCol w="407670"/>
                <a:gridCol w="332105"/>
                <a:gridCol w="413385"/>
                <a:gridCol w="419100"/>
                <a:gridCol w="398145"/>
                <a:gridCol w="318770"/>
                <a:gridCol w="366395"/>
                <a:gridCol w="365760"/>
                <a:gridCol w="349250"/>
                <a:gridCol w="374650"/>
                <a:gridCol w="405765"/>
                <a:gridCol w="419735"/>
                <a:gridCol w="346075"/>
                <a:gridCol w="403225"/>
                <a:gridCol w="413385"/>
                <a:gridCol w="407670"/>
              </a:tblGrid>
              <a:tr h="331470">
                <a:tc row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zh-CN" sz="800" b="1" dirty="0">
                          <a:solidFill>
                            <a:schemeClr val="bg1"/>
                          </a:solidFill>
                          <a:latin typeface="微软雅黑" panose="020B0503020204020204" pitchFamily="34" charset="-122"/>
                          <a:ea typeface="微软雅黑" panose="020B0503020204020204" pitchFamily="34" charset="-122"/>
                        </a:rPr>
                        <a:t>序号</a:t>
                      </a:r>
                      <a:endParaRPr lang="zh-CN" altLang="zh-CN" sz="80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row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zh-CN" sz="800" b="1" dirty="0">
                          <a:solidFill>
                            <a:schemeClr val="bg1"/>
                          </a:solidFill>
                          <a:latin typeface="微软雅黑" panose="020B0503020204020204" pitchFamily="34" charset="-122"/>
                          <a:ea typeface="微软雅黑" panose="020B0503020204020204" pitchFamily="34" charset="-122"/>
                        </a:rPr>
                        <a:t>项目</a:t>
                      </a:r>
                      <a:endParaRPr lang="zh-CN" altLang="zh-CN" sz="80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rowSpan="2">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zh-CN" altLang="en-US" sz="800" b="1" dirty="0">
                          <a:solidFill>
                            <a:schemeClr val="bg1"/>
                          </a:solidFill>
                          <a:latin typeface="微软雅黑" panose="020B0503020204020204" pitchFamily="34" charset="-122"/>
                          <a:ea typeface="微软雅黑" panose="020B0503020204020204" pitchFamily="34" charset="-122"/>
                        </a:rPr>
                        <a:t>可租面积</a:t>
                      </a:r>
                      <a:endParaRPr lang="zh-CN" altLang="en-US" sz="800" b="1" dirty="0">
                        <a:solidFill>
                          <a:schemeClr val="bg1"/>
                        </a:solidFill>
                        <a:latin typeface="微软雅黑" panose="020B0503020204020204" pitchFamily="34" charset="-122"/>
                        <a:ea typeface="微软雅黑" panose="020B0503020204020204" pitchFamily="34" charset="-122"/>
                      </a:endParaRPr>
                    </a:p>
                    <a:p>
                      <a:pPr indent="0" algn="ctr">
                        <a:buNone/>
                      </a:pPr>
                      <a:r>
                        <a:rPr lang="zh-CN" sz="8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en-US" sz="80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新签面积（㎡）</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期末出租率</a:t>
                      </a:r>
                      <a:endParaRPr 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p>
                      <a:pPr algn="ctr" fontAlgn="ctr"/>
                      <a:r>
                        <a:rPr 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平均出租率</a:t>
                      </a:r>
                      <a:endParaRPr 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2">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新签均价</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（元</a:t>
                      </a: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租金均价</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（元</a:t>
                      </a: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收入含税</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gridSpan="3">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NOI</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hMerge="1">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r>
              <a:tr h="389890">
                <a:tc v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v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vMerge="1">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10</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末</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新签</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26年</a:t>
                      </a:r>
                      <a:endPar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25</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预计</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en-US" altLang="zh-CN"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26</a:t>
                      </a: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目标</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c>
                  <a:txBody>
                    <a:bodyPr/>
                    <a:p>
                      <a:pPr algn="ctr" fontAlgn="ctr">
                        <a:buNone/>
                      </a:pPr>
                      <a:r>
                        <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差异</a:t>
                      </a:r>
                      <a:endParaRPr lang="zh-CN" altLang="en-US" sz="800" b="1" i="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C00000"/>
                    </a:solidFill>
                  </a:tcPr>
                </a:tc>
              </a:tr>
              <a:tr h="310515">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1</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zh-CN" altLang="en-US" sz="900" b="1" i="0">
                          <a:solidFill>
                            <a:srgbClr val="000000"/>
                          </a:solidFill>
                          <a:latin typeface="微软雅黑" panose="020B0503020204020204" pitchFamily="34" charset="-122"/>
                          <a:ea typeface="微软雅黑" panose="020B0503020204020204" pitchFamily="34" charset="-122"/>
                        </a:rPr>
                        <a:t>东悦汇</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81,098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12,455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2,545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80%</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74%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62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3,162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3,631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469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1,755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2,324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569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82575">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2</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ctr" fontAlgn="ctr"/>
                      <a:r>
                        <a:rPr lang="zh-CN" altLang="en-US" sz="900" b="1" i="0">
                          <a:solidFill>
                            <a:srgbClr val="000000"/>
                          </a:solidFill>
                          <a:latin typeface="微软雅黑" panose="020B0503020204020204" pitchFamily="34" charset="-122"/>
                          <a:ea typeface="微软雅黑" panose="020B0503020204020204" pitchFamily="34" charset="-122"/>
                        </a:rPr>
                        <a:t>XH发展</a:t>
                      </a:r>
                      <a:endParaRPr lang="zh-CN" altLang="en-US" sz="900" b="1" i="0">
                        <a:solidFill>
                          <a:srgbClr val="000000"/>
                        </a:solidFill>
                        <a:latin typeface="微软雅黑" panose="020B0503020204020204" pitchFamily="34" charset="-122"/>
                        <a:ea typeface="微软雅黑" panose="020B0503020204020204" pitchFamily="34" charset="-122"/>
                      </a:endParaRPr>
                    </a:p>
                    <a:p>
                      <a:pPr algn="ctr" fontAlgn="ctr"/>
                      <a:r>
                        <a:rPr lang="zh-CN" altLang="en-US" sz="900" b="1" i="0">
                          <a:solidFill>
                            <a:srgbClr val="000000"/>
                          </a:solidFill>
                          <a:latin typeface="微软雅黑" panose="020B0503020204020204" pitchFamily="34" charset="-122"/>
                          <a:ea typeface="微软雅黑" panose="020B0503020204020204" pitchFamily="34" charset="-122"/>
                        </a:rPr>
                        <a:t>大厦</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44,633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8,538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-2,538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61%</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56%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61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lstStyle>
                      <a:defPPr>
                        <a:defRPr lang="en-US">
                          <a:solidFill>
                            <a:schemeClr val="tx1"/>
                          </a:solidFill>
                        </a:defRPr>
                      </a:defPPr>
                      <a:lvl1pPr marL="0" algn="l" defTabSz="754380" rtl="0" eaLnBrk="1" latinLnBrk="0" hangingPunct="1">
                        <a:defRPr sz="1485" kern="1200">
                          <a:solidFill>
                            <a:schemeClr val="tx1"/>
                          </a:solidFill>
                          <a:latin typeface="+mn-lt"/>
                          <a:ea typeface="+mn-ea"/>
                          <a:cs typeface="+mn-cs"/>
                        </a:defRPr>
                      </a:lvl1pPr>
                      <a:lvl2pPr marL="377190" algn="l" defTabSz="754380" rtl="0" eaLnBrk="1" latinLnBrk="0" hangingPunct="1">
                        <a:defRPr sz="1485" kern="1200">
                          <a:solidFill>
                            <a:schemeClr val="tx1"/>
                          </a:solidFill>
                          <a:latin typeface="+mn-lt"/>
                          <a:ea typeface="+mn-ea"/>
                          <a:cs typeface="+mn-cs"/>
                        </a:defRPr>
                      </a:lvl2pPr>
                      <a:lvl3pPr marL="754380" algn="l" defTabSz="754380" rtl="0" eaLnBrk="1" latinLnBrk="0" hangingPunct="1">
                        <a:defRPr sz="1485" kern="1200">
                          <a:solidFill>
                            <a:schemeClr val="tx1"/>
                          </a:solidFill>
                          <a:latin typeface="+mn-lt"/>
                          <a:ea typeface="+mn-ea"/>
                          <a:cs typeface="+mn-cs"/>
                        </a:defRPr>
                      </a:lvl3pPr>
                      <a:lvl4pPr marL="1131570" algn="l" defTabSz="754380" rtl="0" eaLnBrk="1" latinLnBrk="0" hangingPunct="1">
                        <a:defRPr sz="1485" kern="1200">
                          <a:solidFill>
                            <a:schemeClr val="tx1"/>
                          </a:solidFill>
                          <a:latin typeface="+mn-lt"/>
                          <a:ea typeface="+mn-ea"/>
                          <a:cs typeface="+mn-cs"/>
                        </a:defRPr>
                      </a:lvl4pPr>
                      <a:lvl5pPr marL="1508125" algn="l" defTabSz="754380" rtl="0" eaLnBrk="1" latinLnBrk="0" hangingPunct="1">
                        <a:defRPr sz="1485" kern="1200">
                          <a:solidFill>
                            <a:schemeClr val="tx1"/>
                          </a:solidFill>
                          <a:latin typeface="+mn-lt"/>
                          <a:ea typeface="+mn-ea"/>
                          <a:cs typeface="+mn-cs"/>
                        </a:defRPr>
                      </a:lvl5pPr>
                      <a:lvl6pPr marL="1885315" algn="l" defTabSz="754380" rtl="0" eaLnBrk="1" latinLnBrk="0" hangingPunct="1">
                        <a:defRPr sz="1485" kern="1200">
                          <a:solidFill>
                            <a:schemeClr val="tx1"/>
                          </a:solidFill>
                          <a:latin typeface="+mn-lt"/>
                          <a:ea typeface="+mn-ea"/>
                          <a:cs typeface="+mn-cs"/>
                        </a:defRPr>
                      </a:lvl6pPr>
                      <a:lvl7pPr marL="2262505" algn="l" defTabSz="754380" rtl="0" eaLnBrk="1" latinLnBrk="0" hangingPunct="1">
                        <a:defRPr sz="1485" kern="1200">
                          <a:solidFill>
                            <a:schemeClr val="tx1"/>
                          </a:solidFill>
                          <a:latin typeface="+mn-lt"/>
                          <a:ea typeface="+mn-ea"/>
                          <a:cs typeface="+mn-cs"/>
                        </a:defRPr>
                      </a:lvl7pPr>
                      <a:lvl8pPr marL="2639695" algn="l" defTabSz="754380" rtl="0" eaLnBrk="1" latinLnBrk="0" hangingPunct="1">
                        <a:defRPr sz="1485" kern="1200">
                          <a:solidFill>
                            <a:schemeClr val="tx1"/>
                          </a:solidFill>
                          <a:latin typeface="+mn-lt"/>
                          <a:ea typeface="+mn-ea"/>
                          <a:cs typeface="+mn-cs"/>
                        </a:defRPr>
                      </a:lvl8pPr>
                      <a:lvl9pPr marL="3016885" algn="l" defTabSz="754380" rtl="0" eaLnBrk="1" latinLnBrk="0" hangingPunct="1">
                        <a:defRPr sz="1485" kern="1200">
                          <a:solidFill>
                            <a:schemeClr val="tx1"/>
                          </a:solidFill>
                          <a:latin typeface="+mn-lt"/>
                          <a:ea typeface="+mn-ea"/>
                          <a:cs typeface="+mn-cs"/>
                        </a:defRPr>
                      </a:lvl9p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1,591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1,326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-265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291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5781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3</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亚金</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28,665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2,217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3,069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852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83%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84%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3,151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2,975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1,910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1,778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6543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4</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云颂府</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23,549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3,775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7,073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3,298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90%</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76%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27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632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658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249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85750">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5</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珠宝小镇</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4,346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100%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100%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120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74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58445">
                <a:tc>
                  <a:txBody>
                    <a:bodyPr/>
                    <a:p>
                      <a:pPr indent="0" algn="ctr">
                        <a:buNone/>
                      </a:pPr>
                      <a:r>
                        <a:rPr lang="en-US" altLang="en-US" sz="900" b="0" dirty="0">
                          <a:solidFill>
                            <a:schemeClr val="tx1"/>
                          </a:solidFill>
                          <a:latin typeface="微软雅黑" panose="020B0503020204020204" pitchFamily="34" charset="-122"/>
                          <a:ea typeface="微软雅黑" panose="020B0503020204020204" pitchFamily="34" charset="-122"/>
                        </a:rPr>
                        <a:t>6</a:t>
                      </a: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东湾旧改</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23,000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r h="281305">
                <a:tc>
                  <a:txBody>
                    <a:bodyPr/>
                    <a:p>
                      <a:pPr indent="0" algn="ctr">
                        <a:buNone/>
                      </a:pPr>
                      <a:endParaRPr lang="en-US" altLang="en-US" sz="900" b="0" dirty="0">
                        <a:solidFill>
                          <a:schemeClr val="tx1"/>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合计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205,291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26,985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31,141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4,157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8,646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8,709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64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4,593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4,671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78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25474" y="221900"/>
            <a:ext cx="7552044" cy="358983"/>
          </a:xfrm>
        </p:spPr>
        <p:txBody>
          <a:bodyPr/>
          <a:lstStyle/>
          <a:p>
            <a:pPr>
              <a:defRPr/>
            </a:pPr>
            <a:r>
              <a:rPr lang="zh-CN" altLang="en-US" b="1" dirty="0"/>
              <a:t>第一部分</a:t>
            </a:r>
            <a:r>
              <a:rPr lang="zh-CN" altLang="en-US" b="1" dirty="0" smtClean="0"/>
              <a:t>：</a:t>
            </a:r>
            <a:r>
              <a:rPr lang="zh-CN" altLang="en-US" b="1" noProof="0" dirty="0" smtClean="0">
                <a:ln>
                  <a:noFill/>
                </a:ln>
                <a:effectLst/>
                <a:uLnTx/>
                <a:uFillTx/>
                <a:sym typeface="+mn-ea"/>
              </a:rPr>
              <a:t>202</a:t>
            </a:r>
            <a:r>
              <a:rPr lang="en-US" altLang="zh-CN" b="1" noProof="0" dirty="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a:t>
            </a:r>
            <a:r>
              <a:rPr lang="zh-CN" altLang="en-US" b="1" noProof="0" dirty="0" smtClean="0">
                <a:ln>
                  <a:noFill/>
                </a:ln>
                <a:effectLst/>
                <a:uLnTx/>
                <a:uFillTx/>
                <a:sym typeface="+mn-ea"/>
              </a:rPr>
              <a:t>（</a:t>
            </a:r>
            <a:r>
              <a:rPr lang="zh-CN" altLang="en-US" b="1" noProof="0" dirty="0">
                <a:sym typeface="+mn-ea"/>
              </a:rPr>
              <a:t>南京</a:t>
            </a:r>
            <a:r>
              <a:rPr lang="zh-CN" altLang="en-US" b="1" noProof="0" dirty="0" smtClean="0">
                <a:ln>
                  <a:noFill/>
                </a:ln>
                <a:effectLst/>
                <a:uLnTx/>
                <a:uFillTx/>
                <a:sym typeface="+mn-ea"/>
              </a:rPr>
              <a:t>产业</a:t>
            </a:r>
            <a:r>
              <a:rPr lang="zh-CN" altLang="en-US" b="1" noProof="0" dirty="0">
                <a:ln>
                  <a:noFill/>
                </a:ln>
                <a:effectLst/>
                <a:uLnTx/>
                <a:uFillTx/>
                <a:sym typeface="+mn-ea"/>
              </a:rPr>
              <a:t>公司）</a:t>
            </a:r>
            <a:endParaRPr lang="zh-CN" altLang="en-US" b="1" dirty="0">
              <a:sym typeface="+mn-ea"/>
            </a:endParaRPr>
          </a:p>
        </p:txBody>
      </p:sp>
      <p:sp>
        <p:nvSpPr>
          <p:cNvPr id="18" name="矩形 1"/>
          <p:cNvSpPr/>
          <p:nvPr>
            <p:custDataLst>
              <p:tags r:id="rId1"/>
            </p:custDataLst>
          </p:nvPr>
        </p:nvSpPr>
        <p:spPr>
          <a:xfrm>
            <a:off x="135084" y="580889"/>
            <a:ext cx="2376907" cy="281877"/>
          </a:xfrm>
          <a:prstGeom prst="rect">
            <a:avLst/>
          </a:prstGeom>
          <a:solidFill>
            <a:srgbClr val="595959"/>
          </a:solidFill>
          <a:ln w="9525">
            <a:noFill/>
          </a:ln>
        </p:spPr>
        <p:txBody>
          <a:bodyPr anchor="ctr" anchorCtr="0"/>
          <a:lstStyle/>
          <a:p>
            <a:pPr marL="346075" indent="-346075" defTabSz="1108075" fontAlgn="base">
              <a:spcBef>
                <a:spcPct val="0"/>
              </a:spcBef>
              <a:spcAft>
                <a:spcPct val="0"/>
              </a:spcAft>
              <a:buFont typeface="Wingdings" panose="05000000000000000000" pitchFamily="2" charset="2"/>
              <a:buChar char="p"/>
              <a:defRPr/>
            </a:pPr>
            <a:r>
              <a:rPr lang="en-US" altLang="zh-CN" sz="1600" b="1" dirty="0" smtClean="0">
                <a:solidFill>
                  <a:prstClr val="white"/>
                </a:solidFill>
                <a:latin typeface="Arial" panose="020B0604020202020204" pitchFamily="34" charset="0"/>
                <a:ea typeface="微软雅黑" panose="020B0503020204020204" pitchFamily="34" charset="-122"/>
              </a:rPr>
              <a:t>2026</a:t>
            </a:r>
            <a:r>
              <a:rPr lang="zh-CN" altLang="en-US" sz="1600" b="1" dirty="0" smtClean="0">
                <a:solidFill>
                  <a:prstClr val="white"/>
                </a:solidFill>
                <a:latin typeface="Arial" panose="020B0604020202020204" pitchFamily="34" charset="0"/>
                <a:ea typeface="微软雅黑" panose="020B0503020204020204" pitchFamily="34" charset="-122"/>
              </a:rPr>
              <a:t>年</a:t>
            </a:r>
            <a:r>
              <a:rPr lang="zh-CN" altLang="en-US" sz="1600" b="1" dirty="0">
                <a:solidFill>
                  <a:prstClr val="white"/>
                </a:solidFill>
                <a:latin typeface="Arial" panose="020B0604020202020204" pitchFamily="34" charset="0"/>
                <a:ea typeface="微软雅黑" panose="020B0503020204020204" pitchFamily="34" charset="-122"/>
              </a:rPr>
              <a:t>经营目标</a:t>
            </a:r>
            <a:endParaRPr lang="zh-CN" altLang="en-US" sz="1600" b="1" dirty="0">
              <a:solidFill>
                <a:prstClr val="white"/>
              </a:solidFill>
              <a:latin typeface="Arial" panose="020B0604020202020204" pitchFamily="34" charset="0"/>
              <a:ea typeface="微软雅黑" panose="020B0503020204020204" pitchFamily="34" charset="-122"/>
            </a:endParaRPr>
          </a:p>
        </p:txBody>
      </p:sp>
      <p:sp>
        <p:nvSpPr>
          <p:cNvPr id="13" name="矩形 12"/>
          <p:cNvSpPr/>
          <p:nvPr/>
        </p:nvSpPr>
        <p:spPr>
          <a:xfrm>
            <a:off x="349456" y="1029414"/>
            <a:ext cx="9299829" cy="700945"/>
          </a:xfrm>
          <a:prstGeom prst="rect">
            <a:avLst/>
          </a:prstGeom>
          <a:ln>
            <a:solidFill>
              <a:schemeClr val="tx1"/>
            </a:solidFill>
          </a:ln>
        </p:spPr>
        <p:txBody>
          <a:bodyPr wrap="square">
            <a:noAutofit/>
          </a:bodyPr>
          <a:lstStyle>
            <a:defPPr>
              <a:defRPr lang="zh-CN"/>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a:lstStyle>
          <a:p>
            <a:pPr defTabSz="1108075">
              <a:lnSpc>
                <a:spcPct val="120000"/>
              </a:lnSpc>
              <a:defRPr/>
            </a:pPr>
            <a:r>
              <a:rPr lang="en-US" altLang="zh-CN" sz="1155" b="1" spc="-50" dirty="0" smtClean="0">
                <a:solidFill>
                  <a:prstClr val="black">
                    <a:lumMod val="75000"/>
                    <a:lumOff val="25000"/>
                  </a:prstClr>
                </a:solidFill>
                <a:latin typeface="微软雅黑" panose="020B0503020204020204" pitchFamily="34" charset="-122"/>
                <a:ea typeface="微软雅黑" panose="020B0503020204020204" pitchFamily="34" charset="-122"/>
              </a:rPr>
              <a:t>2026</a:t>
            </a:r>
            <a:r>
              <a:rPr lang="zh-CN" altLang="en-US" sz="1155" b="1" spc="-50" dirty="0" smtClean="0">
                <a:solidFill>
                  <a:prstClr val="black">
                    <a:lumMod val="75000"/>
                    <a:lumOff val="25000"/>
                  </a:prstClr>
                </a:solidFill>
                <a:latin typeface="微软雅黑" panose="020B0503020204020204" pitchFamily="34" charset="-122"/>
                <a:ea typeface="微软雅黑" panose="020B0503020204020204" pitchFamily="34" charset="-122"/>
              </a:rPr>
              <a:t>年</a:t>
            </a:r>
            <a:r>
              <a:rPr lang="zh-CN" altLang="en-US" sz="1155" b="1" spc="-50" dirty="0">
                <a:solidFill>
                  <a:prstClr val="black">
                    <a:lumMod val="75000"/>
                    <a:lumOff val="25000"/>
                  </a:prstClr>
                </a:solidFill>
                <a:latin typeface="微软雅黑" panose="020B0503020204020204" pitchFamily="34" charset="-122"/>
                <a:ea typeface="微软雅黑" panose="020B0503020204020204" pitchFamily="34" charset="-122"/>
              </a:rPr>
              <a:t>租赁目标：期末出租率</a:t>
            </a:r>
            <a:r>
              <a:rPr lang="zh-CN" altLang="en-US" sz="1155" b="1" u="sng" spc="-50" dirty="0">
                <a:solidFill>
                  <a:srgbClr val="C00000"/>
                </a:solidFill>
                <a:latin typeface="微软雅黑" panose="020B0503020204020204" pitchFamily="34" charset="-122"/>
                <a:ea typeface="微软雅黑" panose="020B0503020204020204" pitchFamily="34" charset="-122"/>
              </a:rPr>
              <a:t> </a:t>
            </a:r>
            <a:r>
              <a:rPr lang="en-US" altLang="zh-CN" sz="1155" b="1" u="sng" spc="-50" dirty="0">
                <a:solidFill>
                  <a:srgbClr val="C00000"/>
                </a:solidFill>
                <a:latin typeface="微软雅黑" panose="020B0503020204020204" pitchFamily="34" charset="-122"/>
                <a:ea typeface="微软雅黑" panose="020B0503020204020204" pitchFamily="34" charset="-122"/>
              </a:rPr>
              <a:t>70</a:t>
            </a:r>
            <a:r>
              <a:rPr lang="zh-CN" altLang="en-US" sz="1155" b="1" u="sng" spc="-50" dirty="0" smtClean="0">
                <a:solidFill>
                  <a:srgbClr val="C00000"/>
                </a:solidFill>
                <a:latin typeface="微软雅黑" panose="020B0503020204020204" pitchFamily="34" charset="-122"/>
                <a:ea typeface="微软雅黑" panose="020B0503020204020204" pitchFamily="34" charset="-122"/>
              </a:rPr>
              <a:t> </a:t>
            </a:r>
            <a:r>
              <a:rPr lang="en-US" altLang="zh-CN" sz="1155" b="1" spc="-50" dirty="0">
                <a:solidFill>
                  <a:prstClr val="black"/>
                </a:solidFill>
                <a:latin typeface="微软雅黑" panose="020B0503020204020204" pitchFamily="34" charset="-122"/>
                <a:ea typeface="微软雅黑" panose="020B0503020204020204" pitchFamily="34" charset="-122"/>
              </a:rPr>
              <a:t>%</a:t>
            </a:r>
            <a:r>
              <a:rPr lang="en-US" altLang="zh-CN" sz="1155" b="1" u="sng" spc="-50" dirty="0">
                <a:solidFill>
                  <a:prstClr val="white"/>
                </a:solidFill>
                <a:latin typeface="微软雅黑" panose="020B0503020204020204" pitchFamily="34" charset="-122"/>
                <a:ea typeface="微软雅黑" panose="020B0503020204020204" pitchFamily="34" charset="-122"/>
              </a:rPr>
              <a:t>   </a:t>
            </a:r>
            <a:r>
              <a:rPr lang="zh-CN" altLang="en-US" sz="1155" b="1" spc="-50" dirty="0">
                <a:solidFill>
                  <a:prstClr val="black">
                    <a:lumMod val="75000"/>
                    <a:lumOff val="25000"/>
                  </a:prstClr>
                </a:solidFill>
                <a:latin typeface="微软雅黑" panose="020B0503020204020204" pitchFamily="34" charset="-122"/>
                <a:ea typeface="微软雅黑" panose="020B0503020204020204" pitchFamily="34" charset="-122"/>
              </a:rPr>
              <a:t>平均出租率</a:t>
            </a:r>
            <a:r>
              <a:rPr lang="zh-CN" altLang="en-US" sz="1155" b="1" u="sng" spc="-50" dirty="0">
                <a:solidFill>
                  <a:srgbClr val="C00000"/>
                </a:solidFill>
                <a:latin typeface="微软雅黑" panose="020B0503020204020204" pitchFamily="34" charset="-122"/>
                <a:ea typeface="微软雅黑" panose="020B0503020204020204" pitchFamily="34" charset="-122"/>
              </a:rPr>
              <a:t> </a:t>
            </a:r>
            <a:r>
              <a:rPr lang="en-US" altLang="zh-CN" sz="1155" b="1" u="sng" spc="-50" dirty="0">
                <a:solidFill>
                  <a:srgbClr val="C00000"/>
                </a:solidFill>
                <a:latin typeface="微软雅黑" panose="020B0503020204020204" pitchFamily="34" charset="-122"/>
                <a:ea typeface="微软雅黑" panose="020B0503020204020204" pitchFamily="34" charset="-122"/>
              </a:rPr>
              <a:t>78</a:t>
            </a:r>
            <a:r>
              <a:rPr lang="zh-CN" altLang="en-US" sz="1155" b="1" u="sng" spc="-50" dirty="0" smtClean="0">
                <a:solidFill>
                  <a:srgbClr val="C00000"/>
                </a:solidFill>
                <a:latin typeface="微软雅黑" panose="020B0503020204020204" pitchFamily="34" charset="-122"/>
                <a:ea typeface="微软雅黑" panose="020B0503020204020204" pitchFamily="34" charset="-122"/>
              </a:rPr>
              <a:t> </a:t>
            </a:r>
            <a:r>
              <a:rPr lang="en-US" altLang="zh-CN" sz="1155" b="1" spc="-50" dirty="0">
                <a:solidFill>
                  <a:prstClr val="black"/>
                </a:solidFill>
                <a:latin typeface="微软雅黑" panose="020B0503020204020204" pitchFamily="34" charset="-122"/>
                <a:ea typeface="微软雅黑" panose="020B0503020204020204" pitchFamily="34" charset="-122"/>
              </a:rPr>
              <a:t>%  </a:t>
            </a:r>
            <a:r>
              <a:rPr lang="zh-CN" altLang="en-US" sz="1155" b="1" spc="-50" dirty="0" smtClean="0">
                <a:solidFill>
                  <a:prstClr val="black">
                    <a:lumMod val="75000"/>
                    <a:lumOff val="25000"/>
                  </a:prstClr>
                </a:solidFill>
                <a:latin typeface="微软雅黑" panose="020B0503020204020204" pitchFamily="34" charset="-122"/>
                <a:ea typeface="微软雅黑" panose="020B0503020204020204" pitchFamily="34" charset="-122"/>
              </a:rPr>
              <a:t>经营</a:t>
            </a:r>
            <a:r>
              <a:rPr lang="zh-CN" altLang="en-US" sz="1155" b="1" spc="-50" dirty="0">
                <a:solidFill>
                  <a:prstClr val="black">
                    <a:lumMod val="75000"/>
                    <a:lumOff val="25000"/>
                  </a:prstClr>
                </a:solidFill>
                <a:latin typeface="微软雅黑" panose="020B0503020204020204" pitchFamily="34" charset="-122"/>
                <a:ea typeface="微软雅黑" panose="020B0503020204020204" pitchFamily="34" charset="-122"/>
              </a:rPr>
              <a:t>收入</a:t>
            </a:r>
            <a:r>
              <a:rPr lang="zh-CN" altLang="en-US" sz="1155" b="1" u="sng" spc="-50" dirty="0">
                <a:solidFill>
                  <a:prstClr val="black">
                    <a:lumMod val="75000"/>
                    <a:lumOff val="25000"/>
                  </a:prstClr>
                </a:solidFill>
                <a:latin typeface="微软雅黑" panose="020B0503020204020204" pitchFamily="34" charset="-122"/>
                <a:ea typeface="微软雅黑" panose="020B0503020204020204" pitchFamily="34" charset="-122"/>
              </a:rPr>
              <a:t>  </a:t>
            </a:r>
            <a:r>
              <a:rPr lang="en-US" altLang="zh-CN" sz="1155" b="1" u="sng" dirty="0" smtClean="0">
                <a:solidFill>
                  <a:srgbClr val="C00000"/>
                </a:solidFill>
                <a:latin typeface="微软雅黑" panose="020B0503020204020204" pitchFamily="34" charset="-122"/>
                <a:ea typeface="微软雅黑" panose="020B0503020204020204" pitchFamily="34" charset="-122"/>
              </a:rPr>
              <a:t>3,458</a:t>
            </a:r>
            <a:r>
              <a:rPr lang="en-US" altLang="zh-CN" sz="1155" b="1" u="sng" dirty="0" smtClean="0">
                <a:solidFill>
                  <a:srgbClr val="C00000"/>
                </a:solidFill>
                <a:latin typeface="微软雅黑" panose="020B0503020204020204" pitchFamily="34" charset="-122"/>
                <a:ea typeface="微软雅黑" panose="020B0503020204020204" pitchFamily="34" charset="-122"/>
              </a:rPr>
              <a:t> </a:t>
            </a:r>
            <a:r>
              <a:rPr lang="zh-CN" altLang="en-US" sz="1155" b="1" spc="-50" dirty="0">
                <a:solidFill>
                  <a:prstClr val="black">
                    <a:lumMod val="75000"/>
                    <a:lumOff val="25000"/>
                  </a:prstClr>
                </a:solidFill>
                <a:latin typeface="微软雅黑" panose="020B0503020204020204" pitchFamily="34" charset="-122"/>
                <a:ea typeface="微软雅黑" panose="020B0503020204020204" pitchFamily="34" charset="-122"/>
              </a:rPr>
              <a:t>万元</a:t>
            </a:r>
            <a:r>
              <a:rPr lang="zh-CN" altLang="en-US" sz="1155" spc="-50" dirty="0">
                <a:solidFill>
                  <a:prstClr val="black">
                    <a:lumMod val="75000"/>
                    <a:lumOff val="25000"/>
                  </a:prstClr>
                </a:solidFill>
                <a:latin typeface="微软雅黑" panose="020B0503020204020204" pitchFamily="34" charset="-122"/>
                <a:ea typeface="微软雅黑" panose="020B0503020204020204" pitchFamily="34" charset="-122"/>
              </a:rPr>
              <a:t>（含</a:t>
            </a:r>
            <a:r>
              <a:rPr lang="zh-CN" altLang="en-US" sz="1155" spc="-50" dirty="0" smtClean="0">
                <a:solidFill>
                  <a:prstClr val="black">
                    <a:lumMod val="75000"/>
                    <a:lumOff val="25000"/>
                  </a:prstClr>
                </a:solidFill>
                <a:latin typeface="微软雅黑" panose="020B0503020204020204" pitchFamily="34" charset="-122"/>
                <a:ea typeface="微软雅黑" panose="020B0503020204020204" pitchFamily="34" charset="-122"/>
              </a:rPr>
              <a:t>物业收入</a:t>
            </a:r>
            <a:r>
              <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rPr>
              <a:t>431</a:t>
            </a:r>
            <a:r>
              <a:rPr lang="zh-CN" altLang="en-US" sz="1155" spc="-50" dirty="0" smtClean="0">
                <a:solidFill>
                  <a:prstClr val="black">
                    <a:lumMod val="75000"/>
                    <a:lumOff val="25000"/>
                  </a:prstClr>
                </a:solidFill>
                <a:latin typeface="微软雅黑" panose="020B0503020204020204" pitchFamily="34" charset="-122"/>
                <a:ea typeface="微软雅黑" panose="020B0503020204020204" pitchFamily="34" charset="-122"/>
              </a:rPr>
              <a:t>万）</a:t>
            </a:r>
            <a:endPar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endParaRPr>
          </a:p>
          <a:p>
            <a:pPr defTabSz="1108075">
              <a:lnSpc>
                <a:spcPct val="120000"/>
              </a:lnSpc>
              <a:defRPr/>
            </a:pPr>
            <a:r>
              <a:rPr lang="en-US" altLang="zh-CN" sz="1155" spc="-50" dirty="0">
                <a:solidFill>
                  <a:prstClr val="black">
                    <a:lumMod val="75000"/>
                    <a:lumOff val="25000"/>
                  </a:prstClr>
                </a:solidFill>
                <a:latin typeface="微软雅黑" panose="020B0503020204020204" pitchFamily="34" charset="-122"/>
                <a:ea typeface="微软雅黑" panose="020B0503020204020204" pitchFamily="34" charset="-122"/>
              </a:rPr>
              <a:t> </a:t>
            </a:r>
            <a:r>
              <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rPr>
              <a:t>                        </a:t>
            </a:r>
            <a:r>
              <a:rPr lang="zh-CN" altLang="en-US" sz="1155" spc="-50" dirty="0" smtClean="0">
                <a:solidFill>
                  <a:prstClr val="black">
                    <a:lumMod val="75000"/>
                    <a:lumOff val="25000"/>
                  </a:prstClr>
                </a:solidFill>
                <a:latin typeface="微软雅黑" panose="020B0503020204020204" pitchFamily="34" charset="-122"/>
                <a:ea typeface="微软雅黑" panose="020B0503020204020204" pitchFamily="34" charset="-122"/>
              </a:rPr>
              <a:t>    </a:t>
            </a:r>
            <a:r>
              <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rPr>
              <a:t> </a:t>
            </a:r>
            <a:r>
              <a:rPr lang="zh-CN" altLang="en-US" sz="1155" spc="-50" dirty="0" smtClean="0">
                <a:solidFill>
                  <a:prstClr val="black">
                    <a:lumMod val="75000"/>
                    <a:lumOff val="25000"/>
                  </a:prstClr>
                </a:solidFill>
                <a:latin typeface="微软雅黑" panose="020B0503020204020204" pitchFamily="34" charset="-122"/>
                <a:ea typeface="微软雅黑" panose="020B0503020204020204" pitchFamily="34" charset="-122"/>
              </a:rPr>
              <a:t> </a:t>
            </a:r>
            <a:r>
              <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rPr>
              <a:t> </a:t>
            </a:r>
            <a:r>
              <a:rPr lang="en-US" altLang="zh-CN" sz="1155" b="1" spc="-50" dirty="0" smtClean="0">
                <a:solidFill>
                  <a:prstClr val="black">
                    <a:lumMod val="75000"/>
                    <a:lumOff val="25000"/>
                  </a:prstClr>
                </a:solidFill>
                <a:latin typeface="微软雅黑" panose="020B0503020204020204" pitchFamily="34" charset="-122"/>
                <a:ea typeface="微软雅黑" panose="020B0503020204020204" pitchFamily="34" charset="-122"/>
              </a:rPr>
              <a:t>NOI</a:t>
            </a:r>
            <a:r>
              <a:rPr lang="zh-CN" altLang="en-US" sz="1155" b="1" u="sng" spc="-50" dirty="0">
                <a:solidFill>
                  <a:srgbClr val="C00000"/>
                </a:solidFill>
                <a:latin typeface="微软雅黑" panose="020B0503020204020204" pitchFamily="34" charset="-122"/>
                <a:ea typeface="微软雅黑" panose="020B0503020204020204" pitchFamily="34" charset="-122"/>
              </a:rPr>
              <a:t> </a:t>
            </a:r>
            <a:r>
              <a:rPr lang="en-US" sz="1155" b="1" u="sng" spc="-50" dirty="0" smtClean="0">
                <a:solidFill>
                  <a:srgbClr val="C00000"/>
                </a:solidFill>
                <a:latin typeface="微软雅黑" panose="020B0503020204020204" pitchFamily="34" charset="-122"/>
                <a:ea typeface="微软雅黑" panose="020B0503020204020204" pitchFamily="34" charset="-122"/>
              </a:rPr>
              <a:t>1,673</a:t>
            </a:r>
            <a:r>
              <a:rPr lang="zh-CN" altLang="en-US" sz="1155" b="1" u="sng" spc="-50" dirty="0" smtClean="0">
                <a:solidFill>
                  <a:srgbClr val="C00000"/>
                </a:solidFill>
                <a:latin typeface="微软雅黑" panose="020B0503020204020204" pitchFamily="34" charset="-122"/>
                <a:ea typeface="微软雅黑" panose="020B0503020204020204" pitchFamily="34" charset="-122"/>
              </a:rPr>
              <a:t> </a:t>
            </a:r>
            <a:r>
              <a:rPr lang="zh-CN" altLang="en-US" sz="1155" b="1" spc="-50" dirty="0">
                <a:solidFill>
                  <a:prstClr val="black">
                    <a:lumMod val="75000"/>
                    <a:lumOff val="25000"/>
                  </a:prstClr>
                </a:solidFill>
                <a:latin typeface="微软雅黑" panose="020B0503020204020204" pitchFamily="34" charset="-122"/>
                <a:ea typeface="微软雅黑" panose="020B0503020204020204" pitchFamily="34" charset="-122"/>
              </a:rPr>
              <a:t>万元</a:t>
            </a:r>
            <a:r>
              <a:rPr lang="zh-CN" altLang="en-US" sz="1155" spc="-50" dirty="0">
                <a:solidFill>
                  <a:prstClr val="black">
                    <a:lumMod val="75000"/>
                    <a:lumOff val="25000"/>
                  </a:prstClr>
                </a:solidFill>
                <a:latin typeface="微软雅黑" panose="020B0503020204020204" pitchFamily="34" charset="-122"/>
                <a:ea typeface="微软雅黑" panose="020B0503020204020204" pitchFamily="34" charset="-122"/>
              </a:rPr>
              <a:t>（含</a:t>
            </a:r>
            <a:r>
              <a:rPr lang="zh-CN" altLang="en-US" sz="1155" spc="-50" dirty="0" smtClean="0">
                <a:solidFill>
                  <a:prstClr val="black">
                    <a:lumMod val="75000"/>
                    <a:lumOff val="25000"/>
                  </a:prstClr>
                </a:solidFill>
                <a:latin typeface="微软雅黑" panose="020B0503020204020204" pitchFamily="34" charset="-122"/>
                <a:ea typeface="微软雅黑" panose="020B0503020204020204" pitchFamily="34" charset="-122"/>
              </a:rPr>
              <a:t>物业利润</a:t>
            </a:r>
            <a:r>
              <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rPr>
              <a:t>-92</a:t>
            </a:r>
            <a:r>
              <a:rPr lang="zh-CN" altLang="en-US" sz="1155" spc="-50" dirty="0" smtClean="0">
                <a:solidFill>
                  <a:prstClr val="black">
                    <a:lumMod val="75000"/>
                    <a:lumOff val="25000"/>
                  </a:prstClr>
                </a:solidFill>
                <a:latin typeface="微软雅黑" panose="020B0503020204020204" pitchFamily="34" charset="-122"/>
                <a:ea typeface="微软雅黑" panose="020B0503020204020204" pitchFamily="34" charset="-122"/>
              </a:rPr>
              <a:t>万）</a:t>
            </a:r>
            <a:endParaRPr lang="en-US" altLang="zh-CN" sz="1155" spc="-50" dirty="0" smtClean="0">
              <a:solidFill>
                <a:prstClr val="black">
                  <a:lumMod val="75000"/>
                  <a:lumOff val="25000"/>
                </a:prstClr>
              </a:solidFill>
              <a:latin typeface="微软雅黑" panose="020B0503020204020204" pitchFamily="34" charset="-122"/>
              <a:ea typeface="微软雅黑" panose="020B0503020204020204" pitchFamily="34" charset="-122"/>
            </a:endParaRPr>
          </a:p>
          <a:p>
            <a:pPr defTabSz="1108075">
              <a:lnSpc>
                <a:spcPct val="120000"/>
              </a:lnSpc>
              <a:defRPr/>
            </a:pPr>
            <a:r>
              <a:rPr lang="zh-CN" altLang="en-US" sz="1100" b="1" dirty="0" smtClean="0">
                <a:latin typeface="微软雅黑" panose="020B0503020204020204" pitchFamily="34" charset="-122"/>
                <a:ea typeface="微软雅黑" panose="020B0503020204020204" pitchFamily="34" charset="-122"/>
              </a:rPr>
              <a:t>                              收入</a:t>
            </a:r>
            <a:r>
              <a:rPr lang="zh-CN" altLang="en-US" sz="1100" b="1" dirty="0">
                <a:latin typeface="微软雅黑" panose="020B0503020204020204" pitchFamily="34" charset="-122"/>
                <a:ea typeface="微软雅黑" panose="020B0503020204020204" pitchFamily="34" charset="-122"/>
              </a:rPr>
              <a:t>构成：经营收入</a:t>
            </a:r>
            <a:r>
              <a:rPr lang="en-US" altLang="zh-CN" sz="1100" b="1" dirty="0">
                <a:latin typeface="微软雅黑" panose="020B0503020204020204" pitchFamily="34" charset="-122"/>
                <a:ea typeface="微软雅黑" panose="020B0503020204020204" pitchFamily="34" charset="-122"/>
              </a:rPr>
              <a:t>3,458</a:t>
            </a:r>
            <a:r>
              <a:rPr lang="zh-CN" altLang="en-US" sz="1100" b="1" dirty="0">
                <a:latin typeface="微软雅黑" panose="020B0503020204020204" pitchFamily="34" charset="-122"/>
                <a:ea typeface="微软雅黑" panose="020B0503020204020204" pitchFamily="34" charset="-122"/>
              </a:rPr>
              <a:t>万</a:t>
            </a:r>
            <a:r>
              <a:rPr lang="en-US" altLang="zh-CN" sz="1100" b="1" dirty="0">
                <a:latin typeface="微软雅黑" panose="020B0503020204020204" pitchFamily="34" charset="-122"/>
                <a:ea typeface="微软雅黑" panose="020B0503020204020204" pitchFamily="34" charset="-122"/>
              </a:rPr>
              <a:t>=</a:t>
            </a:r>
            <a:r>
              <a:rPr lang="zh-CN" altLang="en-US" sz="1100" b="1" dirty="0">
                <a:latin typeface="微软雅黑" panose="020B0503020204020204" pitchFamily="34" charset="-122"/>
                <a:ea typeface="微软雅黑" panose="020B0503020204020204" pitchFamily="34" charset="-122"/>
              </a:rPr>
              <a:t>租金收入</a:t>
            </a:r>
            <a:r>
              <a:rPr lang="en-US" altLang="zh-CN" sz="1100" b="1" dirty="0">
                <a:latin typeface="微软雅黑" panose="020B0503020204020204" pitchFamily="34" charset="-122"/>
                <a:ea typeface="微软雅黑" panose="020B0503020204020204" pitchFamily="34" charset="-122"/>
              </a:rPr>
              <a:t>2,708</a:t>
            </a:r>
            <a:r>
              <a:rPr lang="zh-CN" altLang="en-US" sz="1100" b="1" dirty="0">
                <a:latin typeface="微软雅黑" panose="020B0503020204020204" pitchFamily="34" charset="-122"/>
                <a:ea typeface="微软雅黑" panose="020B0503020204020204" pitchFamily="34" charset="-122"/>
              </a:rPr>
              <a:t>万</a:t>
            </a:r>
            <a:r>
              <a:rPr lang="en-US" altLang="zh-CN" sz="1100" b="1" dirty="0">
                <a:latin typeface="微软雅黑" panose="020B0503020204020204" pitchFamily="34" charset="-122"/>
                <a:ea typeface="微软雅黑" panose="020B0503020204020204" pitchFamily="34" charset="-122"/>
              </a:rPr>
              <a:t>+</a:t>
            </a:r>
            <a:r>
              <a:rPr lang="zh-CN" altLang="en-US" sz="1100" b="1" dirty="0">
                <a:latin typeface="微软雅黑" panose="020B0503020204020204" pitchFamily="34" charset="-122"/>
                <a:ea typeface="微软雅黑" panose="020B0503020204020204" pitchFamily="34" charset="-122"/>
              </a:rPr>
              <a:t>多经收入</a:t>
            </a:r>
            <a:r>
              <a:rPr lang="en-US" altLang="zh-CN" sz="1100" b="1" dirty="0">
                <a:latin typeface="微软雅黑" panose="020B0503020204020204" pitchFamily="34" charset="-122"/>
                <a:ea typeface="微软雅黑" panose="020B0503020204020204" pitchFamily="34" charset="-122"/>
              </a:rPr>
              <a:t>101</a:t>
            </a:r>
            <a:r>
              <a:rPr lang="zh-CN" altLang="en-US" sz="1100" b="1" dirty="0">
                <a:latin typeface="微软雅黑" panose="020B0503020204020204" pitchFamily="34" charset="-122"/>
                <a:ea typeface="微软雅黑" panose="020B0503020204020204" pitchFamily="34" charset="-122"/>
              </a:rPr>
              <a:t>万</a:t>
            </a:r>
            <a:r>
              <a:rPr lang="en-US" altLang="zh-CN" sz="1100" b="1" dirty="0">
                <a:latin typeface="微软雅黑" panose="020B0503020204020204" pitchFamily="34" charset="-122"/>
                <a:ea typeface="微软雅黑" panose="020B0503020204020204" pitchFamily="34" charset="-122"/>
              </a:rPr>
              <a:t>+</a:t>
            </a:r>
            <a:r>
              <a:rPr lang="zh-CN" altLang="en-US" sz="1100" b="1" dirty="0">
                <a:latin typeface="微软雅黑" panose="020B0503020204020204" pitchFamily="34" charset="-122"/>
                <a:ea typeface="微软雅黑" panose="020B0503020204020204" pitchFamily="34" charset="-122"/>
              </a:rPr>
              <a:t>物业费收入</a:t>
            </a:r>
            <a:r>
              <a:rPr lang="en-US" altLang="zh-CN" sz="1100" b="1" dirty="0">
                <a:latin typeface="微软雅黑" panose="020B0503020204020204" pitchFamily="34" charset="-122"/>
                <a:ea typeface="微软雅黑" panose="020B0503020204020204" pitchFamily="34" charset="-122"/>
              </a:rPr>
              <a:t>394</a:t>
            </a:r>
            <a:r>
              <a:rPr lang="zh-CN" altLang="en-US" sz="1100" b="1" dirty="0">
                <a:latin typeface="微软雅黑" panose="020B0503020204020204" pitchFamily="34" charset="-122"/>
                <a:ea typeface="微软雅黑" panose="020B0503020204020204" pitchFamily="34" charset="-122"/>
              </a:rPr>
              <a:t>万</a:t>
            </a:r>
            <a:r>
              <a:rPr lang="en-US" altLang="zh-CN" sz="1100" b="1" dirty="0">
                <a:latin typeface="微软雅黑" panose="020B0503020204020204" pitchFamily="34" charset="-122"/>
                <a:ea typeface="微软雅黑" panose="020B0503020204020204" pitchFamily="34" charset="-122"/>
              </a:rPr>
              <a:t>+</a:t>
            </a:r>
            <a:r>
              <a:rPr lang="zh-CN" altLang="en-US" sz="1100" b="1" dirty="0">
                <a:latin typeface="微软雅黑" panose="020B0503020204020204" pitchFamily="34" charset="-122"/>
                <a:ea typeface="微软雅黑" panose="020B0503020204020204" pitchFamily="34" charset="-122"/>
              </a:rPr>
              <a:t>停车场收入</a:t>
            </a:r>
            <a:r>
              <a:rPr lang="en-US" altLang="zh-CN" sz="1100" b="1" dirty="0">
                <a:latin typeface="微软雅黑" panose="020B0503020204020204" pitchFamily="34" charset="-122"/>
                <a:ea typeface="微软雅黑" panose="020B0503020204020204" pitchFamily="34" charset="-122"/>
              </a:rPr>
              <a:t>255</a:t>
            </a:r>
            <a:r>
              <a:rPr lang="zh-CN" altLang="en-US" sz="1100" b="1" dirty="0">
                <a:latin typeface="微软雅黑" panose="020B0503020204020204" pitchFamily="34" charset="-122"/>
                <a:ea typeface="微软雅黑" panose="020B0503020204020204" pitchFamily="34" charset="-122"/>
              </a:rPr>
              <a:t>万</a:t>
            </a:r>
            <a:r>
              <a:rPr lang="zh-CN" altLang="en-US" sz="1100" b="1" dirty="0" smtClean="0">
                <a:latin typeface="微软雅黑" panose="020B0503020204020204" pitchFamily="34" charset="-122"/>
                <a:ea typeface="微软雅黑" panose="020B0503020204020204" pitchFamily="34" charset="-122"/>
              </a:rPr>
              <a:t>；</a:t>
            </a:r>
            <a:endParaRPr lang="zh-CN" altLang="en-US" sz="1100" b="1" dirty="0">
              <a:latin typeface="微软雅黑" panose="020B0503020204020204" pitchFamily="34" charset="-122"/>
              <a:ea typeface="微软雅黑" panose="020B0503020204020204" pitchFamily="34" charset="-122"/>
            </a:endParaRPr>
          </a:p>
        </p:txBody>
      </p:sp>
      <p:graphicFrame>
        <p:nvGraphicFramePr>
          <p:cNvPr id="11" name="表格 10"/>
          <p:cNvGraphicFramePr>
            <a:graphicFrameLocks noGrp="1"/>
          </p:cNvGraphicFramePr>
          <p:nvPr>
            <p:custDataLst>
              <p:tags r:id="rId2"/>
            </p:custDataLst>
          </p:nvPr>
        </p:nvGraphicFramePr>
        <p:xfrm>
          <a:off x="325120" y="1892935"/>
          <a:ext cx="9322435" cy="2804160"/>
        </p:xfrm>
        <a:graphic>
          <a:graphicData uri="http://schemas.openxmlformats.org/drawingml/2006/table">
            <a:tbl>
              <a:tblPr/>
              <a:tblGrid>
                <a:gridCol w="651510"/>
                <a:gridCol w="652145"/>
                <a:gridCol w="565150"/>
                <a:gridCol w="757555"/>
                <a:gridCol w="754380"/>
                <a:gridCol w="755650"/>
                <a:gridCol w="840105"/>
                <a:gridCol w="841375"/>
                <a:gridCol w="843280"/>
                <a:gridCol w="88900"/>
                <a:gridCol w="619760"/>
                <a:gridCol w="309245"/>
                <a:gridCol w="300355"/>
                <a:gridCol w="490220"/>
                <a:gridCol w="215265"/>
                <a:gridCol w="637540"/>
              </a:tblGrid>
              <a:tr h="439420">
                <a:tc rowSpan="3">
                  <a:txBody>
                    <a:bodyPr/>
                    <a:lstStyle/>
                    <a:p>
                      <a:pPr algn="ctr" rtl="0" fontAlgn="ctr"/>
                      <a:r>
                        <a:rPr lang="zh-CN" altLang="en-US" sz="800" b="1" i="0" u="none" strike="noStrike" dirty="0">
                          <a:solidFill>
                            <a:srgbClr val="FFFFFF"/>
                          </a:solidFill>
                          <a:effectLst/>
                          <a:latin typeface="微软雅黑" panose="020B0503020204020204" pitchFamily="34" charset="-122"/>
                          <a:ea typeface="微软雅黑" panose="020B0503020204020204" pitchFamily="34" charset="-122"/>
                        </a:rPr>
                        <a:t>项目</a:t>
                      </a:r>
                      <a:endParaRPr lang="zh-CN" altLang="en-US" sz="8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总可租面积</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rowSpan="3">
                  <a:txBody>
                    <a:bodyPr/>
                    <a:lstStyle/>
                    <a:p>
                      <a:pPr algn="ctr" rtl="0" fontAlgn="ctr"/>
                      <a:r>
                        <a:rPr lang="en-US" altLang="zh-CN" sz="8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800" b="1" i="0" u="none" strike="noStrike" dirty="0">
                          <a:solidFill>
                            <a:srgbClr val="FFFFFF"/>
                          </a:solidFill>
                          <a:effectLst/>
                          <a:latin typeface="微软雅黑" panose="020B0503020204020204" pitchFamily="34" charset="-122"/>
                          <a:ea typeface="微软雅黑" panose="020B0503020204020204" pitchFamily="34" charset="-122"/>
                        </a:rPr>
                        <a:t>年末预计待租面积 （㎡）</a:t>
                      </a:r>
                      <a:endParaRPr lang="zh-CN" altLang="en-US" sz="8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5">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年租赁指标（年末预计数）</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gridSpan="8">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年租赁指标</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c hMerge="1">
                  <a:tcPr/>
                </a:tc>
                <a:tc hMerge="1">
                  <a:tcPr/>
                </a:tc>
              </a:tr>
              <a:tr h="238125">
                <a:tc vMerge="1">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C00000"/>
                    </a:solidFill>
                  </a:tcPr>
                </a:tc>
                <a:tc vMerge="1">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平均单价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期末</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平均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租金收入</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row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新签面积</a:t>
                      </a:r>
                      <a:br>
                        <a:rPr lang="zh-CN" altLang="en-US" sz="800" b="1" i="0" u="none" strike="noStrike">
                          <a:solidFill>
                            <a:srgbClr val="FFFFFF"/>
                          </a:solidFill>
                          <a:effectLst/>
                          <a:latin typeface="微软雅黑" panose="020B0503020204020204" pitchFamily="34" charset="-122"/>
                          <a:ea typeface="微软雅黑" panose="020B0503020204020204" pitchFamily="34" charset="-122"/>
                        </a:rPr>
                      </a:b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平均单价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rowSpan="2"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期末出租率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hMerge="1">
                  <a:tcPr/>
                </a:tc>
                <a:tc rowSpan="2"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平均出租率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hMerge="1">
                  <a:tcPr/>
                </a:tc>
                <a:tc rowSpan="2"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租金收入</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hMerge="1">
                  <a:tcPr/>
                </a:tc>
                <a:tc rowSpan="2">
                  <a:txBody>
                    <a:bodyPr/>
                    <a:lstStyle/>
                    <a:p>
                      <a:pPr algn="ctr" rtl="0" fontAlgn="ctr"/>
                      <a:r>
                        <a:rPr lang="zh-CN" altLang="en-US" sz="800" b="1" i="0" u="none" strike="noStrike" dirty="0">
                          <a:solidFill>
                            <a:srgbClr val="FFFFFF"/>
                          </a:solidFill>
                          <a:effectLst/>
                          <a:latin typeface="微软雅黑" panose="020B0503020204020204" pitchFamily="34" charset="-122"/>
                          <a:ea typeface="微软雅黑" panose="020B0503020204020204" pitchFamily="34" charset="-122"/>
                        </a:rPr>
                        <a:t>新签面积</a:t>
                      </a:r>
                      <a:endParaRPr lang="zh-CN" altLang="en-US" sz="8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252730">
                <a:tc vMerge="1">
                  <a:tcPr/>
                </a:tc>
                <a:tc>
                  <a:txBody>
                    <a:bodyPr/>
                    <a:lstStyle/>
                    <a:p>
                      <a:pPr algn="ctr" fontAlgn="ctr"/>
                      <a:r>
                        <a:rPr lang="zh-CN" altLang="en-US" sz="900" b="0" i="0" u="none" strike="noStrike">
                          <a:solidFill>
                            <a:srgbClr val="000000"/>
                          </a:solidFill>
                          <a:effectLst/>
                          <a:latin typeface="宋体" panose="02010600030101010101" pitchFamily="2" charset="-122"/>
                          <a:ea typeface="宋体" panose="02010600030101010101" pitchFamily="2" charset="-122"/>
                        </a:rPr>
                        <a:t>　</a:t>
                      </a:r>
                      <a:endParaRPr lang="zh-CN" altLang="en-US" sz="900" b="0" i="0" u="none" strike="noStrike">
                        <a:solidFill>
                          <a:srgbClr val="000000"/>
                        </a:solidFill>
                        <a:effectLst/>
                        <a:latin typeface="宋体" panose="02010600030101010101" pitchFamily="2" charset="-122"/>
                        <a:ea typeface="宋体" panose="02010600030101010101" pitchFamily="2"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vMerge="1">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（元</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出租率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出租率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（万元）</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vMerge="1">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（元</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vMerge="1" gridSpan="2">
                  <a:tcPr/>
                </a:tc>
                <a:tc vMerge="1" hMerge="1">
                  <a:tcPr/>
                </a:tc>
                <a:tc vMerge="1" gridSpan="2">
                  <a:tcPr/>
                </a:tc>
                <a:tc vMerge="1" hMerge="1">
                  <a:tcPr/>
                </a:tc>
                <a:tc vMerge="1" gridSpan="2">
                  <a:tcPr/>
                </a:tc>
                <a:tc vMerge="1" hMerge="1">
                  <a:tcPr/>
                </a:tc>
                <a:tc vMerge="1">
                  <a:tcPr/>
                </a:tc>
              </a:tr>
              <a:tr h="327025">
                <a:tc rowSpan="5">
                  <a:txBody>
                    <a:bodyPr/>
                    <a:lstStyle/>
                    <a:p>
                      <a:pPr algn="ctr" rtl="0" fontAlgn="ctr"/>
                      <a:r>
                        <a:rPr lang="zh-CN" altLang="en-US" sz="1000" b="1" i="0" u="none" strike="noStrike">
                          <a:solidFill>
                            <a:srgbClr val="000000"/>
                          </a:solidFill>
                          <a:effectLst/>
                          <a:latin typeface="微软雅黑" panose="020B0503020204020204" pitchFamily="34" charset="-122"/>
                          <a:ea typeface="微软雅黑" panose="020B0503020204020204" pitchFamily="34" charset="-122"/>
                        </a:rPr>
                        <a:t>南京XH</a:t>
                      </a:r>
                      <a:r>
                        <a:rPr lang="en-US" sz="1000" b="1" i="0" u="none" strike="noStrike">
                          <a:solidFill>
                            <a:srgbClr val="000000"/>
                          </a:solidFill>
                          <a:effectLst/>
                          <a:latin typeface="微软雅黑" panose="020B0503020204020204" pitchFamily="34" charset="-122"/>
                          <a:ea typeface="微软雅黑" panose="020B0503020204020204" pitchFamily="34" charset="-122"/>
                        </a:rPr>
                        <a:t>WORLD</a:t>
                      </a:r>
                      <a:endParaRPr lang="en-US" sz="1000" b="1" i="0" u="none" strike="noStrike">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5">
                  <a:txBody>
                    <a:bodyPr/>
                    <a:lstStyle/>
                    <a:p>
                      <a:pPr algn="l"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46,161.13</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5">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4313</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67.9</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90.99%</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94.09%</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3426</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7,500</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62.74</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gridSpan="2">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70%</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a:tc>
                <a:tc gridSpan="2">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78%</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a:tc>
                <a:tc gridSpan="2">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2,708</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a:tc>
                <a:tc>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7559.47</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r>
              <a:tr h="433070">
                <a:tc vMerge="1">
                  <a:tcPr/>
                </a:tc>
                <a:tc vMerge="1">
                  <a:tcPr/>
                </a:tc>
                <a:tc vMerge="1">
                  <a:tcPr/>
                </a:tc>
                <a:tc gridSpan="5">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年经营指标（年末预计数）</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gridSpan="8">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年经营指标</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c hMerge="1">
                  <a:tcPr/>
                </a:tc>
                <a:tc hMerge="1">
                  <a:tcPr/>
                </a:tc>
              </a:tr>
              <a:tr h="438785">
                <a:tc vMerge="1">
                  <a:tcPr/>
                </a:tc>
                <a:tc vMerge="1">
                  <a:tcPr/>
                </a:tc>
                <a:tc vMerge="1">
                  <a:tcPr/>
                </a:tc>
                <a:tc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预计经营收入</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hMerge="1">
                  <a:tcPr/>
                </a:tc>
                <a:tc>
                  <a:txBody>
                    <a:bodyPr/>
                    <a:lstStyle/>
                    <a:p>
                      <a:pPr algn="ctr" rtl="0"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NOI</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月均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累计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经营收入目标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hMerge="1">
                  <a:tcPr marL="7565" marR="7565" marT="756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gridSpan="2">
                  <a:txBody>
                    <a:bodyPr/>
                    <a:lstStyle/>
                    <a:p>
                      <a:pPr algn="ctr" rtl="0"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NOI</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C00000"/>
                    </a:solidFill>
                  </a:tcPr>
                </a:tc>
                <a:tc hMerge="1">
                  <a:tcPr marL="7565" marR="7565" marT="756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月均收缴率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hMerge="1">
                  <a:tcPr/>
                </a:tc>
                <a:tc rowSpan="2"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累计收缴率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hMerge="1">
                  <a:tcPr/>
                </a:tc>
              </a:tr>
              <a:tr h="229870">
                <a:tc vMerge="1">
                  <a:tcPr/>
                </a:tc>
                <a:tc vMerge="1">
                  <a:tcPr/>
                </a:tc>
                <a:tc vMerge="1">
                  <a:tcPr/>
                </a:tc>
                <a:tc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（万元）</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hMerge="1">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（万元）</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dirty="0">
                          <a:solidFill>
                            <a:srgbClr val="FFFFFF"/>
                          </a:solidFill>
                          <a:effectLst/>
                          <a:latin typeface="微软雅黑" panose="020B0503020204020204" pitchFamily="34" charset="-122"/>
                          <a:ea typeface="微软雅黑" panose="020B0503020204020204" pitchFamily="34" charset="-122"/>
                        </a:rPr>
                        <a:t>收缴率</a:t>
                      </a:r>
                      <a:endParaRPr lang="zh-CN" altLang="en-US" sz="800" b="1" i="0" u="none" strike="noStrike" dirty="0">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收缴率</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（万元）</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hMerge="1">
                  <a:tcPr marL="7565" marR="7565" marT="756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rtl="0"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（万元）</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C00000"/>
                    </a:solidFill>
                  </a:tcPr>
                </a:tc>
                <a:tc hMerge="1">
                  <a:tcPr/>
                </a:tc>
                <a:tc vMerge="1" gridSpan="2">
                  <a:tcPr/>
                </a:tc>
                <a:tc vMerge="1" hMerge="1">
                  <a:tcPr/>
                </a:tc>
                <a:tc vMerge="1" gridSpan="2">
                  <a:tcPr/>
                </a:tc>
                <a:tc vMerge="1" hMerge="1">
                  <a:tcPr/>
                </a:tc>
              </a:tr>
              <a:tr h="445135">
                <a:tc vMerge="1">
                  <a:tcPr/>
                </a:tc>
                <a:tc vMerge="1">
                  <a:tcPr/>
                </a:tc>
                <a:tc vMerge="1">
                  <a:tcPr/>
                </a:tc>
                <a:tc gridSpan="2">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4,352</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a:tc>
                <a:tc>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2,522</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90%</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98%</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3,458</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marL="7565" marR="7565" marT="756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gridSpan="2">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1,673</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marL="7565" marR="7565" marT="756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gridSpan="2">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85%</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a:tc>
                <a:tc gridSpan="2">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98%</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7562" marR="7562" marT="75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a:tc>
              </a:tr>
            </a:tbl>
          </a:graphicData>
        </a:graphic>
      </p:graphicFrame>
      <p:sp>
        <p:nvSpPr>
          <p:cNvPr id="2" name="矩形 1"/>
          <p:cNvSpPr/>
          <p:nvPr/>
        </p:nvSpPr>
        <p:spPr>
          <a:xfrm>
            <a:off x="204470" y="4701540"/>
            <a:ext cx="9653905" cy="887095"/>
          </a:xfrm>
          <a:prstGeom prst="rect">
            <a:avLst/>
          </a:prstGeom>
        </p:spPr>
        <p:txBody>
          <a:bodyPr wrap="square">
            <a:noAutofit/>
          </a:bodyPr>
          <a:lstStyle/>
          <a:p>
            <a:r>
              <a:rPr lang="zh-CN" altLang="en-US" sz="1000" b="1" dirty="0">
                <a:latin typeface="微软雅黑" panose="020B0503020204020204" pitchFamily="34" charset="-122"/>
                <a:ea typeface="微软雅黑" panose="020B0503020204020204" pitchFamily="34" charset="-122"/>
              </a:rPr>
              <a:t>差异原因分析</a:t>
            </a:r>
            <a:r>
              <a:rPr lang="zh-CN" altLang="en-US" sz="1000" b="1" dirty="0" smtClean="0">
                <a:latin typeface="微软雅黑" panose="020B0503020204020204" pitchFamily="34" charset="-122"/>
                <a:ea typeface="微软雅黑" panose="020B0503020204020204" pitchFamily="34" charset="-122"/>
              </a:rPr>
              <a:t>：</a:t>
            </a:r>
            <a:r>
              <a:rPr lang="en-US" altLang="zh-CN" sz="1000" b="1" dirty="0" smtClean="0">
                <a:solidFill>
                  <a:srgbClr val="C00000"/>
                </a:solidFill>
                <a:latin typeface="微软雅黑" panose="020B0503020204020204" pitchFamily="34" charset="-122"/>
                <a:ea typeface="微软雅黑" panose="020B0503020204020204" pitchFamily="34" charset="-122"/>
                <a:sym typeface="+mn-ea"/>
              </a:rPr>
              <a:t>2026</a:t>
            </a:r>
            <a:r>
              <a:rPr lang="zh-CN" altLang="en-US" sz="1000" b="1" dirty="0">
                <a:solidFill>
                  <a:srgbClr val="C00000"/>
                </a:solidFill>
                <a:latin typeface="微软雅黑" panose="020B0503020204020204" pitchFamily="34" charset="-122"/>
                <a:ea typeface="微软雅黑" panose="020B0503020204020204" pitchFamily="34" charset="-122"/>
                <a:sym typeface="+mn-ea"/>
              </a:rPr>
              <a:t>年预计退租面积</a:t>
            </a:r>
            <a:r>
              <a:rPr lang="en-US" altLang="zh-CN" sz="1000" b="1" dirty="0">
                <a:solidFill>
                  <a:srgbClr val="C00000"/>
                </a:solidFill>
                <a:latin typeface="微软雅黑" panose="020B0503020204020204" pitchFamily="34" charset="-122"/>
                <a:ea typeface="微软雅黑" panose="020B0503020204020204" pitchFamily="34" charset="-122"/>
                <a:sym typeface="+mn-ea"/>
              </a:rPr>
              <a:t>17,484.56㎡(</a:t>
            </a:r>
            <a:r>
              <a:rPr lang="zh-CN" altLang="en-US" sz="1000" b="1" dirty="0">
                <a:solidFill>
                  <a:srgbClr val="C00000"/>
                </a:solidFill>
                <a:latin typeface="微软雅黑" panose="020B0503020204020204" pitchFamily="34" charset="-122"/>
                <a:ea typeface="微软雅黑" panose="020B0503020204020204" pitchFamily="34" charset="-122"/>
                <a:sym typeface="+mn-ea"/>
              </a:rPr>
              <a:t>含京东五星</a:t>
            </a:r>
            <a:r>
              <a:rPr lang="en-US" altLang="zh-CN" sz="1000" b="1" dirty="0">
                <a:solidFill>
                  <a:srgbClr val="C00000"/>
                </a:solidFill>
                <a:latin typeface="微软雅黑" panose="020B0503020204020204" pitchFamily="34" charset="-122"/>
                <a:ea typeface="微软雅黑" panose="020B0503020204020204" pitchFamily="34" charset="-122"/>
                <a:sym typeface="+mn-ea"/>
              </a:rPr>
              <a:t>12,378.13</a:t>
            </a:r>
            <a:r>
              <a:rPr lang="zh-CN" altLang="en-US" sz="1000" b="1" dirty="0">
                <a:solidFill>
                  <a:srgbClr val="C00000"/>
                </a:solidFill>
                <a:latin typeface="微软雅黑" panose="020B0503020204020204" pitchFamily="34" charset="-122"/>
                <a:ea typeface="微软雅黑" panose="020B0503020204020204" pitchFamily="34" charset="-122"/>
                <a:sym typeface="+mn-ea"/>
              </a:rPr>
              <a:t>平，</a:t>
            </a:r>
            <a:r>
              <a:rPr lang="en-US" altLang="zh-CN" sz="1000" b="1" dirty="0">
                <a:solidFill>
                  <a:srgbClr val="C00000"/>
                </a:solidFill>
                <a:latin typeface="微软雅黑" panose="020B0503020204020204" pitchFamily="34" charset="-122"/>
                <a:ea typeface="微软雅黑" panose="020B0503020204020204" pitchFamily="34" charset="-122"/>
                <a:sym typeface="+mn-ea"/>
              </a:rPr>
              <a:t>2026</a:t>
            </a:r>
            <a:r>
              <a:rPr lang="zh-CN" altLang="en-US" sz="1000" b="1" dirty="0">
                <a:solidFill>
                  <a:srgbClr val="C00000"/>
                </a:solidFill>
                <a:latin typeface="微软雅黑" panose="020B0503020204020204" pitchFamily="34" charset="-122"/>
                <a:ea typeface="微软雅黑" panose="020B0503020204020204" pitchFamily="34" charset="-122"/>
                <a:sym typeface="+mn-ea"/>
              </a:rPr>
              <a:t>年</a:t>
            </a:r>
            <a:r>
              <a:rPr lang="en-US" altLang="zh-CN" sz="1000" b="1" dirty="0">
                <a:solidFill>
                  <a:srgbClr val="C00000"/>
                </a:solidFill>
                <a:latin typeface="微软雅黑" panose="020B0503020204020204" pitchFamily="34" charset="-122"/>
                <a:ea typeface="微软雅黑" panose="020B0503020204020204" pitchFamily="34" charset="-122"/>
                <a:sym typeface="+mn-ea"/>
              </a:rPr>
              <a:t>5</a:t>
            </a:r>
            <a:r>
              <a:rPr lang="zh-CN" altLang="en-US" sz="1000" b="1" dirty="0">
                <a:solidFill>
                  <a:srgbClr val="C00000"/>
                </a:solidFill>
                <a:latin typeface="微软雅黑" panose="020B0503020204020204" pitchFamily="34" charset="-122"/>
                <a:ea typeface="微软雅黑" panose="020B0503020204020204" pitchFamily="34" charset="-122"/>
                <a:sym typeface="+mn-ea"/>
              </a:rPr>
              <a:t>月底退租</a:t>
            </a:r>
            <a:r>
              <a:rPr lang="en-US" altLang="zh-CN" sz="1000" b="1" dirty="0">
                <a:solidFill>
                  <a:srgbClr val="C00000"/>
                </a:solidFill>
                <a:latin typeface="微软雅黑" panose="020B0503020204020204" pitchFamily="34" charset="-122"/>
                <a:ea typeface="微软雅黑" panose="020B0503020204020204" pitchFamily="34" charset="-122"/>
                <a:sym typeface="+mn-ea"/>
              </a:rPr>
              <a:t>)</a:t>
            </a:r>
            <a:r>
              <a:rPr lang="zh-CN" altLang="en-US" sz="1000" b="1" dirty="0">
                <a:solidFill>
                  <a:srgbClr val="C00000"/>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新租</a:t>
            </a:r>
            <a:r>
              <a:rPr lang="en-US" altLang="zh-CN" sz="1000" dirty="0">
                <a:solidFill>
                  <a:prstClr val="black"/>
                </a:solidFill>
                <a:latin typeface="微软雅黑" panose="020B0503020204020204" pitchFamily="34" charset="-122"/>
                <a:ea typeface="微软雅黑" panose="020B0503020204020204" pitchFamily="34" charset="-122"/>
                <a:sym typeface="+mn-ea"/>
              </a:rPr>
              <a:t>7,559.47㎡</a:t>
            </a:r>
            <a:r>
              <a:rPr lang="zh-CN" altLang="en-US" sz="1000" dirty="0">
                <a:solidFill>
                  <a:prstClr val="black"/>
                </a:solidFill>
                <a:latin typeface="微软雅黑" panose="020B0503020204020204" pitchFamily="34" charset="-122"/>
                <a:ea typeface="微软雅黑" panose="020B0503020204020204" pitchFamily="34" charset="-122"/>
                <a:sym typeface="+mn-ea"/>
              </a:rPr>
              <a:t>，续租面积</a:t>
            </a:r>
            <a:r>
              <a:rPr lang="en-US" altLang="zh-CN" sz="1000" dirty="0">
                <a:solidFill>
                  <a:prstClr val="black"/>
                </a:solidFill>
                <a:latin typeface="微软雅黑" panose="020B0503020204020204" pitchFamily="34" charset="-122"/>
                <a:ea typeface="微软雅黑" panose="020B0503020204020204" pitchFamily="34" charset="-122"/>
                <a:sym typeface="+mn-ea"/>
              </a:rPr>
              <a:t>2,941.19</a:t>
            </a:r>
            <a:r>
              <a:rPr lang="en-US" altLang="zh-CN" sz="1000" dirty="0">
                <a:solidFill>
                  <a:prstClr val="black"/>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，全年累计租赁面积</a:t>
            </a:r>
            <a:r>
              <a:rPr lang="en-US" altLang="zh-CN" sz="1000" dirty="0">
                <a:solidFill>
                  <a:prstClr val="black"/>
                </a:solidFill>
                <a:latin typeface="微软雅黑" panose="020B0503020204020204" pitchFamily="34" charset="-122"/>
                <a:ea typeface="微软雅黑" panose="020B0503020204020204" pitchFamily="34" charset="-122"/>
                <a:sym typeface="+mn-ea"/>
              </a:rPr>
              <a:t>10,500.66</a:t>
            </a:r>
            <a:r>
              <a:rPr lang="en-US" altLang="zh-CN" sz="1000" dirty="0">
                <a:solidFill>
                  <a:prstClr val="black"/>
                </a:solidFill>
                <a:latin typeface="微软雅黑" panose="020B0503020204020204" pitchFamily="34" charset="-122"/>
                <a:ea typeface="微软雅黑" panose="020B0503020204020204" pitchFamily="34" charset="-122"/>
                <a:sym typeface="+mn-ea"/>
              </a:rPr>
              <a:t>㎡</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。租金收入</a:t>
            </a:r>
            <a:r>
              <a:rPr lang="en-US" altLang="zh-CN" sz="1000" dirty="0">
                <a:solidFill>
                  <a:prstClr val="black"/>
                </a:solidFill>
                <a:latin typeface="微软雅黑" panose="020B0503020204020204" pitchFamily="34" charset="-122"/>
                <a:ea typeface="微软雅黑" panose="020B0503020204020204" pitchFamily="34" charset="-122"/>
                <a:sym typeface="+mn-ea"/>
              </a:rPr>
              <a:t>2,708</a:t>
            </a:r>
            <a:r>
              <a:rPr lang="zh-CN" altLang="en-US" sz="1000" dirty="0">
                <a:solidFill>
                  <a:prstClr val="black"/>
                </a:solidFill>
                <a:latin typeface="微软雅黑" panose="020B0503020204020204" pitchFamily="34" charset="-122"/>
                <a:ea typeface="微软雅黑" panose="020B0503020204020204" pitchFamily="34" charset="-122"/>
                <a:sym typeface="+mn-ea"/>
              </a:rPr>
              <a:t>万</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，下降</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893</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万，主要是</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26</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年平均出租率</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78%</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，下降</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16.8%</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出租率下降对应租金减少</a:t>
            </a:r>
            <a:r>
              <a:rPr lang="en-US" altLang="zh-CN" sz="1000" dirty="0">
                <a:solidFill>
                  <a:prstClr val="black"/>
                </a:solidFill>
                <a:latin typeface="微软雅黑" panose="020B0503020204020204" pitchFamily="34" charset="-122"/>
                <a:ea typeface="微软雅黑" panose="020B0503020204020204" pitchFamily="34" charset="-122"/>
                <a:sym typeface="+mn-ea"/>
              </a:rPr>
              <a:t>594</a:t>
            </a:r>
            <a:r>
              <a:rPr lang="zh-CN" altLang="en-US" sz="1000" dirty="0">
                <a:solidFill>
                  <a:prstClr val="black"/>
                </a:solidFill>
                <a:latin typeface="微软雅黑" panose="020B0503020204020204" pitchFamily="34" charset="-122"/>
                <a:ea typeface="微软雅黑" panose="020B0503020204020204" pitchFamily="34" charset="-122"/>
                <a:sym typeface="+mn-ea"/>
              </a:rPr>
              <a:t>万</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（其中京东</a:t>
            </a:r>
            <a:r>
              <a:rPr lang="zh-CN" altLang="en-US" sz="1000" dirty="0">
                <a:solidFill>
                  <a:prstClr val="black"/>
                </a:solidFill>
                <a:latin typeface="微软雅黑" panose="020B0503020204020204" pitchFamily="34" charset="-122"/>
                <a:ea typeface="微软雅黑" panose="020B0503020204020204" pitchFamily="34" charset="-122"/>
                <a:sym typeface="+mn-ea"/>
              </a:rPr>
              <a:t>五星退租影响租金收入</a:t>
            </a:r>
            <a:r>
              <a:rPr lang="en-US" altLang="zh-CN" sz="1000" dirty="0">
                <a:solidFill>
                  <a:prstClr val="black"/>
                </a:solidFill>
                <a:latin typeface="微软雅黑" panose="020B0503020204020204" pitchFamily="34" charset="-122"/>
                <a:ea typeface="微软雅黑" panose="020B0503020204020204" pitchFamily="34" charset="-122"/>
                <a:sym typeface="+mn-ea"/>
              </a:rPr>
              <a:t>537</a:t>
            </a:r>
            <a:r>
              <a:rPr lang="zh-CN" altLang="en-US" sz="1000" dirty="0">
                <a:solidFill>
                  <a:prstClr val="black"/>
                </a:solidFill>
                <a:latin typeface="微软雅黑" panose="020B0503020204020204" pitchFamily="34" charset="-122"/>
                <a:ea typeface="微软雅黑" panose="020B0503020204020204" pitchFamily="34" charset="-122"/>
                <a:sym typeface="+mn-ea"/>
              </a:rPr>
              <a:t>万）</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2026</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年平均</a:t>
            </a:r>
            <a:r>
              <a:rPr lang="zh-CN" altLang="en-US" sz="1000" dirty="0">
                <a:solidFill>
                  <a:prstClr val="black"/>
                </a:solidFill>
                <a:latin typeface="微软雅黑" panose="020B0503020204020204" pitchFamily="34" charset="-122"/>
                <a:ea typeface="微软雅黑" panose="020B0503020204020204" pitchFamily="34" charset="-122"/>
                <a:sym typeface="+mn-ea"/>
              </a:rPr>
              <a:t>租金单价</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62.74</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元</a:t>
            </a:r>
            <a:r>
              <a:rPr lang="en-US" altLang="zh-CN" sz="1000" dirty="0">
                <a:solidFill>
                  <a:prstClr val="black"/>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平</a:t>
            </a:r>
            <a:r>
              <a:rPr lang="en-US" altLang="zh-CN" sz="1000" dirty="0">
                <a:solidFill>
                  <a:prstClr val="black"/>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月，</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较</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2025</a:t>
            </a:r>
            <a:r>
              <a:rPr lang="zh-CN" altLang="en-US" sz="1000" dirty="0">
                <a:solidFill>
                  <a:prstClr val="black"/>
                </a:solidFill>
                <a:latin typeface="微软雅黑" panose="020B0503020204020204" pitchFamily="34" charset="-122"/>
                <a:ea typeface="微软雅黑" panose="020B0503020204020204" pitchFamily="34" charset="-122"/>
                <a:sym typeface="+mn-ea"/>
              </a:rPr>
              <a:t>年下降</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5.25</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元</a:t>
            </a:r>
            <a:r>
              <a:rPr lang="en-US" altLang="zh-CN" sz="1000" dirty="0">
                <a:solidFill>
                  <a:prstClr val="black"/>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平</a:t>
            </a:r>
            <a:r>
              <a:rPr lang="en-US" altLang="zh-CN" sz="1000" dirty="0">
                <a:solidFill>
                  <a:prstClr val="black"/>
                </a:solidFill>
                <a:latin typeface="微软雅黑" panose="020B0503020204020204" pitchFamily="34" charset="-122"/>
                <a:ea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sym typeface="+mn-ea"/>
              </a:rPr>
              <a:t>月，平均租金下降对应租金减少</a:t>
            </a:r>
            <a:r>
              <a:rPr lang="en-US" altLang="zh-CN" sz="1000" dirty="0">
                <a:solidFill>
                  <a:prstClr val="black"/>
                </a:solidFill>
                <a:latin typeface="微软雅黑" panose="020B0503020204020204" pitchFamily="34" charset="-122"/>
                <a:ea typeface="微软雅黑" panose="020B0503020204020204" pitchFamily="34" charset="-122"/>
                <a:sym typeface="+mn-ea"/>
              </a:rPr>
              <a:t>123</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受京东五星退租影响物业管理费、停车场收入等其他收入下降</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176</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万元。</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NOI 1,673</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万，下降</a:t>
            </a:r>
            <a:r>
              <a:rPr lang="en-US" altLang="zh-CN" sz="1000" dirty="0" smtClean="0">
                <a:solidFill>
                  <a:prstClr val="black"/>
                </a:solidFill>
                <a:latin typeface="微软雅黑" panose="020B0503020204020204" pitchFamily="34" charset="-122"/>
                <a:ea typeface="微软雅黑" panose="020B0503020204020204" pitchFamily="34" charset="-122"/>
                <a:sym typeface="+mn-ea"/>
              </a:rPr>
              <a:t>850</a:t>
            </a:r>
            <a:r>
              <a:rPr lang="zh-CN" altLang="en-US" sz="1000" dirty="0" smtClean="0">
                <a:solidFill>
                  <a:prstClr val="black"/>
                </a:solidFill>
                <a:latin typeface="微软雅黑" panose="020B0503020204020204" pitchFamily="34" charset="-122"/>
                <a:ea typeface="微软雅黑" panose="020B0503020204020204" pitchFamily="34" charset="-122"/>
                <a:sym typeface="+mn-ea"/>
              </a:rPr>
              <a:t>万。</a:t>
            </a:r>
            <a:endParaRPr lang="zh-CN" altLang="en-US" sz="1000" dirty="0" smtClean="0">
              <a:solidFill>
                <a:prstClr val="black"/>
              </a:solidFill>
              <a:latin typeface="微软雅黑" panose="020B0503020204020204" pitchFamily="34" charset="-122"/>
              <a:ea typeface="微软雅黑" panose="020B0503020204020204" pitchFamily="34" charset="-122"/>
              <a:sym typeface="+mn-ea"/>
            </a:endParaRPr>
          </a:p>
          <a:p>
            <a:r>
              <a:rPr lang="en-US" altLang="zh-CN" sz="1000" dirty="0" smtClean="0">
                <a:solidFill>
                  <a:schemeClr val="tx1"/>
                </a:solidFill>
                <a:latin typeface="微软雅黑" panose="020B0503020204020204" pitchFamily="34" charset="-122"/>
                <a:ea typeface="微软雅黑" panose="020B0503020204020204" pitchFamily="34" charset="-122"/>
              </a:rPr>
              <a:t> </a:t>
            </a:r>
            <a:r>
              <a:rPr lang="zh-CN" altLang="en-US" sz="900" dirty="0" smtClean="0">
                <a:solidFill>
                  <a:schemeClr val="tx1"/>
                </a:solidFill>
                <a:latin typeface="微软雅黑" panose="020B0503020204020204" pitchFamily="34" charset="-122"/>
                <a:ea typeface="微软雅黑" panose="020B0503020204020204" pitchFamily="34" charset="-122"/>
              </a:rPr>
              <a:t>物业情况</a:t>
            </a:r>
            <a:r>
              <a:rPr lang="en-US" altLang="zh-CN" sz="900" dirty="0" smtClean="0">
                <a:solidFill>
                  <a:schemeClr val="tx1"/>
                </a:solidFill>
                <a:latin typeface="微软雅黑" panose="020B0503020204020204" pitchFamily="34" charset="-122"/>
                <a:ea typeface="微软雅黑" panose="020B0503020204020204" pitchFamily="34" charset="-122"/>
              </a:rPr>
              <a:t> </a:t>
            </a:r>
            <a:r>
              <a:rPr lang="zh-CN" altLang="en-US" sz="900" dirty="0" smtClean="0">
                <a:solidFill>
                  <a:schemeClr val="tx1"/>
                </a:solidFill>
                <a:latin typeface="微软雅黑" panose="020B0503020204020204" pitchFamily="34" charset="-122"/>
                <a:ea typeface="微软雅黑" panose="020B0503020204020204" pitchFamily="34" charset="-122"/>
              </a:rPr>
              <a:t>：</a:t>
            </a:r>
            <a:r>
              <a:rPr lang="en-US" altLang="zh-CN" sz="900" dirty="0" smtClean="0">
                <a:solidFill>
                  <a:schemeClr val="tx1"/>
                </a:solidFill>
                <a:latin typeface="微软雅黑" panose="020B0503020204020204" pitchFamily="34" charset="-122"/>
                <a:ea typeface="微软雅黑" panose="020B0503020204020204" pitchFamily="34" charset="-122"/>
              </a:rPr>
              <a:t>26</a:t>
            </a:r>
            <a:r>
              <a:rPr lang="zh-CN" altLang="en-US" sz="900" dirty="0" smtClean="0">
                <a:solidFill>
                  <a:schemeClr val="tx1"/>
                </a:solidFill>
                <a:latin typeface="微软雅黑" panose="020B0503020204020204" pitchFamily="34" charset="-122"/>
                <a:ea typeface="微软雅黑" panose="020B0503020204020204" pitchFamily="34" charset="-122"/>
              </a:rPr>
              <a:t>年收入</a:t>
            </a:r>
            <a:r>
              <a:rPr lang="en-US" altLang="zh-CN" sz="900" dirty="0" smtClean="0">
                <a:solidFill>
                  <a:schemeClr val="tx1"/>
                </a:solidFill>
                <a:latin typeface="微软雅黑" panose="020B0503020204020204" pitchFamily="34" charset="-122"/>
                <a:ea typeface="微软雅黑" panose="020B0503020204020204" pitchFamily="34" charset="-122"/>
              </a:rPr>
              <a:t>(</a:t>
            </a:r>
            <a:r>
              <a:rPr lang="zh-CN" altLang="en-US" sz="900" dirty="0" smtClean="0">
                <a:latin typeface="微软雅黑" panose="020B0503020204020204" pitchFamily="34" charset="-122"/>
                <a:ea typeface="微软雅黑" panose="020B0503020204020204" pitchFamily="34" charset="-122"/>
                <a:sym typeface="+mn-ea"/>
              </a:rPr>
              <a:t>含税</a:t>
            </a:r>
            <a:r>
              <a:rPr lang="en-US" altLang="zh-CN" sz="900" dirty="0" smtClean="0">
                <a:solidFill>
                  <a:schemeClr val="tx1"/>
                </a:solidFill>
                <a:latin typeface="微软雅黑" panose="020B0503020204020204" pitchFamily="34" charset="-122"/>
                <a:ea typeface="微软雅黑" panose="020B0503020204020204" pitchFamily="34" charset="-122"/>
              </a:rPr>
              <a:t>)431</a:t>
            </a:r>
            <a:r>
              <a:rPr lang="zh-CN" altLang="en-US" sz="900" dirty="0" smtClean="0">
                <a:solidFill>
                  <a:schemeClr val="tx1"/>
                </a:solidFill>
                <a:latin typeface="微软雅黑" panose="020B0503020204020204" pitchFamily="34" charset="-122"/>
                <a:ea typeface="微软雅黑" panose="020B0503020204020204" pitchFamily="34" charset="-122"/>
              </a:rPr>
              <a:t>万，成本费用</a:t>
            </a:r>
            <a:r>
              <a:rPr lang="en-US" altLang="zh-CN" sz="900" dirty="0" smtClean="0">
                <a:solidFill>
                  <a:schemeClr val="tx1"/>
                </a:solidFill>
                <a:latin typeface="微软雅黑" panose="020B0503020204020204" pitchFamily="34" charset="-122"/>
                <a:ea typeface="微软雅黑" panose="020B0503020204020204" pitchFamily="34" charset="-122"/>
              </a:rPr>
              <a:t> 499</a:t>
            </a:r>
            <a:r>
              <a:rPr lang="zh-CN" altLang="en-US" sz="900" dirty="0" smtClean="0">
                <a:solidFill>
                  <a:schemeClr val="tx1"/>
                </a:solidFill>
                <a:latin typeface="微软雅黑" panose="020B0503020204020204" pitchFamily="34" charset="-122"/>
                <a:ea typeface="微软雅黑" panose="020B0503020204020204" pitchFamily="34" charset="-122"/>
              </a:rPr>
              <a:t>万，</a:t>
            </a:r>
            <a:r>
              <a:rPr lang="en-US" altLang="zh-CN" sz="900" dirty="0" smtClean="0">
                <a:solidFill>
                  <a:schemeClr val="tx1"/>
                </a:solidFill>
                <a:latin typeface="微软雅黑" panose="020B0503020204020204" pitchFamily="34" charset="-122"/>
                <a:ea typeface="微软雅黑" panose="020B0503020204020204" pitchFamily="34" charset="-122"/>
              </a:rPr>
              <a:t> </a:t>
            </a:r>
            <a:r>
              <a:rPr lang="zh-CN" altLang="en-US" sz="900" dirty="0" smtClean="0">
                <a:solidFill>
                  <a:schemeClr val="tx1"/>
                </a:solidFill>
                <a:latin typeface="微软雅黑" panose="020B0503020204020204" pitchFamily="34" charset="-122"/>
                <a:ea typeface="微软雅黑" panose="020B0503020204020204" pitchFamily="34" charset="-122"/>
              </a:rPr>
              <a:t>利润</a:t>
            </a:r>
            <a:r>
              <a:rPr lang="en-US" altLang="zh-CN" sz="900" dirty="0" smtClean="0">
                <a:solidFill>
                  <a:schemeClr val="tx1"/>
                </a:solidFill>
                <a:latin typeface="微软雅黑" panose="020B0503020204020204" pitchFamily="34" charset="-122"/>
                <a:ea typeface="微软雅黑" panose="020B0503020204020204" pitchFamily="34" charset="-122"/>
              </a:rPr>
              <a:t>-92</a:t>
            </a:r>
            <a:r>
              <a:rPr lang="zh-CN" altLang="en-US" sz="900" dirty="0" smtClean="0">
                <a:solidFill>
                  <a:schemeClr val="tx1"/>
                </a:solidFill>
                <a:latin typeface="微软雅黑" panose="020B0503020204020204" pitchFamily="34" charset="-122"/>
                <a:ea typeface="微软雅黑" panose="020B0503020204020204" pitchFamily="34" charset="-122"/>
              </a:rPr>
              <a:t>万。</a:t>
            </a:r>
            <a:endParaRPr lang="zh-CN" altLang="en-US" sz="900" u="sng" dirty="0" smtClean="0">
              <a:solidFill>
                <a:schemeClr val="tx1"/>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2925" y="240003"/>
            <a:ext cx="7553739" cy="359064"/>
          </a:xfrm>
        </p:spPr>
        <p:txBody>
          <a:bodyPr/>
          <a:lstStyle/>
          <a:p>
            <a:pPr>
              <a:defRPr/>
            </a:pPr>
            <a:r>
              <a:rPr lang="zh-CN" altLang="en-US" b="1" dirty="0"/>
              <a:t>第一部分</a:t>
            </a:r>
            <a:r>
              <a:rPr lang="zh-CN" altLang="en-US" b="1" dirty="0" smtClean="0"/>
              <a:t>：</a:t>
            </a:r>
            <a:r>
              <a:rPr lang="zh-CN" altLang="en-US" b="1" noProof="0" dirty="0" smtClean="0">
                <a:ln>
                  <a:noFill/>
                </a:ln>
                <a:effectLst/>
                <a:uLnTx/>
                <a:uFillTx/>
                <a:sym typeface="+mn-ea"/>
              </a:rPr>
              <a:t>202</a:t>
            </a:r>
            <a:r>
              <a:rPr lang="en-US" altLang="zh-CN" b="1" dirty="0" smtClean="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a:t>
            </a:r>
            <a:r>
              <a:rPr lang="zh-CN" altLang="en-US" b="1" noProof="0" dirty="0" smtClean="0">
                <a:ln>
                  <a:noFill/>
                </a:ln>
                <a:effectLst/>
                <a:uLnTx/>
                <a:uFillTx/>
                <a:sym typeface="+mn-ea"/>
              </a:rPr>
              <a:t>（</a:t>
            </a:r>
            <a:r>
              <a:rPr lang="zh-CN" altLang="en-US" b="1" dirty="0" smtClean="0">
                <a:sym typeface="+mn-ea"/>
              </a:rPr>
              <a:t>苏州产业</a:t>
            </a:r>
            <a:r>
              <a:rPr lang="zh-CN" altLang="en-US" b="1" noProof="0" dirty="0" smtClean="0">
                <a:ln>
                  <a:noFill/>
                </a:ln>
                <a:effectLst/>
                <a:uLnTx/>
                <a:uFillTx/>
                <a:sym typeface="+mn-ea"/>
              </a:rPr>
              <a:t>事业部）</a:t>
            </a:r>
            <a:endParaRPr lang="zh-CN" altLang="en-US" b="1" dirty="0">
              <a:sym typeface="+mn-ea"/>
            </a:endParaRPr>
          </a:p>
        </p:txBody>
      </p:sp>
      <p:sp>
        <p:nvSpPr>
          <p:cNvPr id="13" name="矩形 1"/>
          <p:cNvSpPr/>
          <p:nvPr>
            <p:custDataLst>
              <p:tags r:id="rId1"/>
            </p:custDataLst>
          </p:nvPr>
        </p:nvSpPr>
        <p:spPr>
          <a:xfrm>
            <a:off x="134030" y="675991"/>
            <a:ext cx="1943031" cy="281766"/>
          </a:xfrm>
          <a:prstGeom prst="rect">
            <a:avLst/>
          </a:prstGeom>
          <a:solidFill>
            <a:srgbClr val="595959"/>
          </a:solidFill>
          <a:ln w="9525">
            <a:noFill/>
          </a:ln>
        </p:spPr>
        <p:txBody>
          <a:bodyPr anchor="ctr" anchorCtr="0"/>
          <a:lstStyle/>
          <a:p>
            <a:pPr marL="346075" indent="-346075" defTabSz="1108075" fontAlgn="base">
              <a:spcBef>
                <a:spcPct val="0"/>
              </a:spcBef>
              <a:spcAft>
                <a:spcPct val="0"/>
              </a:spcAft>
              <a:buFont typeface="Wingdings" panose="05000000000000000000" pitchFamily="2" charset="2"/>
              <a:buChar char="p"/>
              <a:defRPr/>
            </a:pPr>
            <a:r>
              <a:rPr lang="zh-CN" altLang="en-US" sz="1600" b="1" dirty="0">
                <a:solidFill>
                  <a:prstClr val="white"/>
                </a:solidFill>
                <a:latin typeface="Arial" panose="020B0604020202020204" pitchFamily="34" charset="0"/>
                <a:ea typeface="微软雅黑" panose="020B0503020204020204" pitchFamily="34" charset="-122"/>
              </a:rPr>
              <a:t>市场分析</a:t>
            </a:r>
            <a:endParaRPr lang="zh-CN" altLang="en-US" sz="1600" b="1" dirty="0">
              <a:solidFill>
                <a:prstClr val="white"/>
              </a:solidFill>
              <a:latin typeface="Arial" panose="020B0604020202020204" pitchFamily="34" charset="0"/>
              <a:ea typeface="微软雅黑" panose="020B0503020204020204" pitchFamily="34" charset="-122"/>
            </a:endParaRPr>
          </a:p>
        </p:txBody>
      </p:sp>
      <p:sp>
        <p:nvSpPr>
          <p:cNvPr id="2" name="矩形 1"/>
          <p:cNvSpPr/>
          <p:nvPr/>
        </p:nvSpPr>
        <p:spPr>
          <a:xfrm>
            <a:off x="421005" y="1020445"/>
            <a:ext cx="9067800" cy="606425"/>
          </a:xfrm>
          <a:prstGeom prst="rect">
            <a:avLst/>
          </a:prstGeom>
        </p:spPr>
        <p:txBody>
          <a:bodyPr wrap="square">
            <a:noAutofit/>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n"/>
              <a:defRPr/>
            </a:pPr>
            <a:r>
              <a:rPr lang="en-US" altLang="zh-CN"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 2025</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年上半年苏州</a:t>
            </a: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整体租赁市场</a:t>
            </a:r>
            <a:r>
              <a:rPr lang="zh-CN" altLang="en-US"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净吸纳量仅有</a:t>
            </a:r>
            <a:r>
              <a:rPr lang="en-US" altLang="zh-CN"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2.66</a:t>
            </a:r>
            <a:r>
              <a:rPr lang="zh-CN" altLang="en-US"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，较去年</a:t>
            </a: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同期相比，</a:t>
            </a:r>
            <a:r>
              <a:rPr lang="zh-CN" altLang="en-US" sz="1200" b="1"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下降</a:t>
            </a:r>
            <a:r>
              <a:rPr lang="en-US" altLang="zh-CN"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62.5%</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endParaRPr kumimoji="0" lang="en-US" altLang="zh-CN" sz="1200" b="1" i="0" u="none" strike="noStrike" kern="1200" cap="none" spc="0" normalizeH="0" baseline="0" noProof="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n"/>
              <a:defRPr/>
            </a:pP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上半年市场成交</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面积超过</a:t>
            </a:r>
            <a:r>
              <a:rPr lang="en-US" altLang="zh-CN"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5000</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㎡的楼宇</a:t>
            </a: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仅</a:t>
            </a:r>
            <a:r>
              <a:rPr lang="en-US" altLang="zh-CN"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栋，数量较去年同期</a:t>
            </a:r>
            <a:r>
              <a:rPr lang="zh-CN" altLang="en-US"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下降</a:t>
            </a:r>
            <a:r>
              <a:rPr lang="en-US" altLang="zh-CN"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55%</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，整体空置率持续走高；</a:t>
            </a:r>
            <a:endParaRPr kumimoji="0" lang="en-US" altLang="zh-CN" sz="1200" b="1" i="0" u="none" strike="noStrike" kern="1200" cap="none" spc="0" normalizeH="0" baseline="0" noProof="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n"/>
              <a:defRPr/>
            </a:pPr>
            <a:r>
              <a:rPr lang="en-US" altLang="zh-CN"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2025Q4-2027</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年期间，苏州预计将有</a:t>
            </a:r>
            <a:r>
              <a:rPr lang="en-US" altLang="zh-CN"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24.7</a:t>
            </a:r>
            <a:r>
              <a:rPr lang="zh-CN" altLang="en-US" sz="1200" b="1"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200" b="1">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的</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优质</a:t>
            </a: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商办入市，</a:t>
            </a:r>
            <a:r>
              <a:rPr lang="zh-CN" altLang="en-US" sz="1200" b="1">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但整体需求的</a:t>
            </a:r>
            <a:r>
              <a:rPr lang="zh-CN" altLang="en-US" sz="1200" b="1"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增长极为缓慢；</a:t>
            </a:r>
            <a:endParaRPr lang="zh-CN" altLang="en-US" sz="1000" b="1" dirty="0">
              <a:solidFill>
                <a:srgbClr val="242331"/>
              </a:solidFill>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6" name="表格 5"/>
          <p:cNvGraphicFramePr>
            <a:graphicFrameLocks noGrp="1"/>
          </p:cNvGraphicFramePr>
          <p:nvPr>
            <p:custDataLst>
              <p:tags r:id="rId2"/>
            </p:custDataLst>
          </p:nvPr>
        </p:nvGraphicFramePr>
        <p:xfrm>
          <a:off x="4957445" y="1677035"/>
          <a:ext cx="4433570" cy="1617345"/>
        </p:xfrm>
        <a:graphic>
          <a:graphicData uri="http://schemas.openxmlformats.org/drawingml/2006/table">
            <a:tbl>
              <a:tblPr firstRow="1" bandRow="1">
                <a:tableStyleId>{5C22544A-7EE6-4342-B048-85BDC9FD1C3A}</a:tableStyleId>
              </a:tblPr>
              <a:tblGrid>
                <a:gridCol w="608965"/>
                <a:gridCol w="497840"/>
                <a:gridCol w="749935"/>
                <a:gridCol w="460375"/>
                <a:gridCol w="1527810"/>
                <a:gridCol w="588645"/>
              </a:tblGrid>
              <a:tr h="281940">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项目名称</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土地性质</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户型面积（㎡）</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  产品类型</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    交付标准</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租金价格（元</a:t>
                      </a:r>
                      <a:r>
                        <a:rPr lang="en-US" altLang="zh-CN" sz="900" b="1" i="0" u="none" strike="noStrike" dirty="0">
                          <a:solidFill>
                            <a:schemeClr val="bg1"/>
                          </a:solidFill>
                          <a:effectLst/>
                          <a:latin typeface="微软雅黑" panose="020B0503020204020204" pitchFamily="34" charset="-122"/>
                          <a:ea typeface="微软雅黑" panose="020B0503020204020204" pitchFamily="34" charset="-122"/>
                        </a:rPr>
                        <a:t>/㎡</a:t>
                      </a: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7858" marR="7858" marT="7858" marB="0" anchor="ctr"/>
                </a:tc>
              </a:tr>
              <a:tr h="184785">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赛格电子城</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50-100</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zh-CN" altLang="en-US" sz="800" b="0" i="0" u="none" strike="noStrike" kern="1200">
                          <a:solidFill>
                            <a:schemeClr val="tx1"/>
                          </a:solidFill>
                          <a:effectLst/>
                          <a:latin typeface="微软雅黑" panose="020B0503020204020204" pitchFamily="34" charset="-122"/>
                          <a:ea typeface="微软雅黑" panose="020B0503020204020204" pitchFamily="34" charset="-122"/>
                          <a:cs typeface="+mn-cs"/>
                        </a:rPr>
                        <a:t>非甲写</a:t>
                      </a:r>
                      <a:endParaRPr lang="zh-CN" altLang="en-US" sz="800" b="0" i="0" u="none" strike="noStrike" kern="1200">
                        <a:solidFill>
                          <a:schemeClr val="tx1"/>
                        </a:solidFill>
                        <a:effectLst/>
                        <a:latin typeface="微软雅黑" panose="020B0503020204020204" pitchFamily="34" charset="-122"/>
                        <a:ea typeface="微软雅黑" panose="020B0503020204020204" pitchFamily="34" charset="-122"/>
                        <a:cs typeface="+mn-cs"/>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简装</a:t>
                      </a:r>
                      <a:r>
                        <a:rPr lang="en-US" altLang="zh-CN" sz="800" b="0" i="0" u="none" strike="noStrike">
                          <a:solidFill>
                            <a:srgbClr val="000000"/>
                          </a:solidFill>
                          <a:effectLst/>
                          <a:latin typeface="微软雅黑" panose="020B0503020204020204" pitchFamily="34" charset="-122"/>
                          <a:ea typeface="微软雅黑" panose="020B0503020204020204" pitchFamily="34" charset="-122"/>
                        </a:rPr>
                        <a:t>/</a:t>
                      </a: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现状交付</a:t>
                      </a:r>
                      <a:endParaRPr lang="zh-CN" altLang="en-US" sz="800" b="0" i="0" u="none" strike="noStrike">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25-35</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129540">
                <a:tc>
                  <a:txBody>
                    <a:bodyPr/>
                    <a:lstStyle/>
                    <a:p>
                      <a:pPr algn="ctr" fontAlgn="ct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中锐星悦湾</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en-US" altLang="zh-CN" sz="800" b="0" i="0" u="none" strike="noStrike" kern="1200">
                          <a:solidFill>
                            <a:srgbClr val="000000"/>
                          </a:solidFill>
                          <a:effectLst/>
                          <a:latin typeface="微软雅黑" panose="020B0503020204020204" pitchFamily="34" charset="-122"/>
                          <a:ea typeface="微软雅黑" panose="020B0503020204020204" pitchFamily="34" charset="-122"/>
                          <a:cs typeface="+mn-cs"/>
                        </a:rPr>
                        <a:t>50-130</a:t>
                      </a:r>
                      <a:endParaRPr lang="en-US" altLang="zh-CN" sz="8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en-US" altLang="zh-CN" sz="800" b="0" i="0" u="none" strike="noStrike" kern="1200">
                          <a:solidFill>
                            <a:srgbClr val="000000"/>
                          </a:solidFill>
                          <a:effectLst/>
                          <a:latin typeface="微软雅黑" panose="020B0503020204020204" pitchFamily="34" charset="-122"/>
                          <a:ea typeface="微软雅黑" panose="020B0503020204020204" pitchFamily="34" charset="-122"/>
                          <a:cs typeface="+mn-cs"/>
                        </a:rPr>
                        <a:t> </a:t>
                      </a:r>
                      <a:r>
                        <a:rPr lang="zh-CN" altLang="en-US" sz="800" b="0" i="0" u="none" strike="noStrike" kern="1200">
                          <a:solidFill>
                            <a:srgbClr val="000000"/>
                          </a:solidFill>
                          <a:effectLst/>
                          <a:latin typeface="微软雅黑" panose="020B0503020204020204" pitchFamily="34" charset="-122"/>
                          <a:ea typeface="微软雅黑" panose="020B0503020204020204" pitchFamily="34" charset="-122"/>
                          <a:cs typeface="+mn-cs"/>
                        </a:rPr>
                        <a:t>非甲写</a:t>
                      </a:r>
                      <a:endParaRPr lang="zh-CN" altLang="en-US" sz="8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简装</a:t>
                      </a:r>
                      <a:r>
                        <a:rPr lang="en-US" altLang="zh-CN" sz="800" b="0" i="0" u="none" strike="noStrike">
                          <a:solidFill>
                            <a:srgbClr val="000000"/>
                          </a:solidFill>
                          <a:effectLst/>
                          <a:latin typeface="微软雅黑" panose="020B0503020204020204" pitchFamily="34" charset="-122"/>
                          <a:ea typeface="微软雅黑" panose="020B0503020204020204" pitchFamily="34" charset="-122"/>
                        </a:rPr>
                        <a:t>/</a:t>
                      </a:r>
                      <a:r>
                        <a:rPr lang="zh-CN" altLang="en-US" sz="800" b="0" i="0" u="none" strike="noStrike">
                          <a:solidFill>
                            <a:srgbClr val="000000"/>
                          </a:solidFill>
                          <a:effectLst/>
                          <a:latin typeface="微软雅黑" panose="020B0503020204020204" pitchFamily="34" charset="-122"/>
                          <a:ea typeface="微软雅黑" panose="020B0503020204020204" pitchFamily="34" charset="-122"/>
                        </a:rPr>
                        <a:t>精装</a:t>
                      </a:r>
                      <a:endParaRPr lang="zh-CN" altLang="en-US" sz="800" b="0" i="0" u="none" strike="noStrike">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a:solidFill>
                            <a:srgbClr val="000000"/>
                          </a:solidFill>
                          <a:effectLst/>
                          <a:latin typeface="微软雅黑" panose="020B0503020204020204" pitchFamily="34" charset="-122"/>
                          <a:ea typeface="微软雅黑" panose="020B0503020204020204" pitchFamily="34" charset="-122"/>
                        </a:rPr>
                        <a:t>35-48</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129540">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创新中心</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70-2000</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algn="ctr" defTabSz="914400" rtl="0" eaLnBrk="1" fontAlgn="ctr" latinLnBrk="0" hangingPunct="1"/>
                      <a:r>
                        <a:rPr lang="zh-CN" altLang="en-US" sz="800" b="0" i="0" u="none" strike="noStrike" kern="1200" dirty="0">
                          <a:solidFill>
                            <a:srgbClr val="000000"/>
                          </a:solidFill>
                          <a:effectLst/>
                          <a:latin typeface="微软雅黑" panose="020B0503020204020204" pitchFamily="34" charset="-122"/>
                          <a:ea typeface="微软雅黑" panose="020B0503020204020204" pitchFamily="34" charset="-122"/>
                          <a:cs typeface="+mn-cs"/>
                        </a:rPr>
                        <a:t>非甲写</a:t>
                      </a:r>
                      <a:endParaRPr lang="zh-CN" altLang="en-US" sz="8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简装</a:t>
                      </a: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精装</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a:solidFill>
                            <a:srgbClr val="000000"/>
                          </a:solidFill>
                          <a:effectLst/>
                          <a:latin typeface="微软雅黑" panose="020B0503020204020204" pitchFamily="34" charset="-122"/>
                          <a:ea typeface="微软雅黑" panose="020B0503020204020204" pitchFamily="34" charset="-122"/>
                        </a:rPr>
                        <a:t>35-48</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129540">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润捷广场</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80-500</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algn="ctr" defTabSz="914400" rtl="0" eaLnBrk="1" fontAlgn="ctr" latinLnBrk="0" hangingPunct="1"/>
                      <a:r>
                        <a:rPr lang="zh-CN" altLang="en-US" sz="800" b="0" i="0" u="none" strike="noStrike" kern="1200" dirty="0">
                          <a:solidFill>
                            <a:srgbClr val="000000"/>
                          </a:solidFill>
                          <a:effectLst/>
                          <a:latin typeface="微软雅黑" panose="020B0503020204020204" pitchFamily="34" charset="-122"/>
                          <a:ea typeface="微软雅黑" panose="020B0503020204020204" pitchFamily="34" charset="-122"/>
                          <a:cs typeface="+mn-cs"/>
                        </a:rPr>
                        <a:t>非甲写</a:t>
                      </a:r>
                      <a:endParaRPr lang="zh-CN" altLang="en-US" sz="8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简装</a:t>
                      </a: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精装</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a:solidFill>
                            <a:srgbClr val="000000"/>
                          </a:solidFill>
                          <a:effectLst/>
                          <a:latin typeface="微软雅黑" panose="020B0503020204020204" pitchFamily="34" charset="-122"/>
                          <a:ea typeface="微软雅黑" panose="020B0503020204020204" pitchFamily="34" charset="-122"/>
                        </a:rPr>
                        <a:t>35-55</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129540">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金河大厦</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100-1300</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algn="ctr" defTabSz="914400" rtl="0" eaLnBrk="1" fontAlgn="ctr" latinLnBrk="0" hangingPunct="1"/>
                      <a:r>
                        <a:rPr lang="zh-CN" altLang="en-US" sz="800" b="0" i="0" u="none" strike="noStrike" kern="1200" dirty="0">
                          <a:solidFill>
                            <a:srgbClr val="000000"/>
                          </a:solidFill>
                          <a:effectLst/>
                          <a:latin typeface="微软雅黑" panose="020B0503020204020204" pitchFamily="34" charset="-122"/>
                          <a:ea typeface="微软雅黑" panose="020B0503020204020204" pitchFamily="34" charset="-122"/>
                          <a:cs typeface="+mn-cs"/>
                        </a:rPr>
                        <a:t>甲写</a:t>
                      </a:r>
                      <a:endParaRPr lang="zh-CN" altLang="en-US" sz="8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简装</a:t>
                      </a: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精装</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35-55</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129540">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常润大厦</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a:solidFill>
                            <a:srgbClr val="000000"/>
                          </a:solidFill>
                          <a:effectLst/>
                          <a:latin typeface="微软雅黑" panose="020B0503020204020204" pitchFamily="34" charset="-122"/>
                          <a:ea typeface="微软雅黑" panose="020B0503020204020204" pitchFamily="34" charset="-122"/>
                        </a:rPr>
                        <a:t>70-1600</a:t>
                      </a:r>
                      <a:endParaRPr lang="en-US" altLang="zh-CN" sz="800" b="0" i="0" u="none" strike="noStrike">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chemeClr val="tx1"/>
                          </a:solidFill>
                          <a:effectLst/>
                          <a:latin typeface="微软雅黑" panose="020B0503020204020204" pitchFamily="34" charset="-122"/>
                          <a:ea typeface="微软雅黑" panose="020B0503020204020204" pitchFamily="34" charset="-122"/>
                        </a:rPr>
                        <a:t>非甲写</a:t>
                      </a:r>
                      <a:endParaRPr lang="zh-CN" altLang="en-US" sz="800" b="0" i="0" u="none" strike="noStrike" dirty="0">
                        <a:solidFill>
                          <a:schemeClr val="tx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defRPr/>
                      </a:pP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简装</a:t>
                      </a: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现状交付</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30-35</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251460">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天都大厦</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商办</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60-1500</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0" i="0" u="none" strike="noStrike" dirty="0">
                          <a:solidFill>
                            <a:schemeClr val="accent1"/>
                          </a:solidFill>
                          <a:effectLst/>
                          <a:latin typeface="微软雅黑" panose="020B0503020204020204" pitchFamily="34" charset="-122"/>
                          <a:ea typeface="微软雅黑" panose="020B0503020204020204" pitchFamily="34" charset="-122"/>
                        </a:rPr>
                        <a:t>甲写</a:t>
                      </a:r>
                      <a:endParaRPr lang="zh-CN" altLang="en-US" sz="800" b="0" i="0" u="none" strike="noStrike" dirty="0">
                        <a:solidFill>
                          <a:schemeClr val="accent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1</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：自有招商</a:t>
                      </a:r>
                      <a:r>
                        <a:rPr lang="zh-CN" altLang="en-US" sz="800" b="0" i="0" u="none" strike="noStrike" dirty="0" smtClean="0">
                          <a:solidFill>
                            <a:srgbClr val="000000"/>
                          </a:solidFill>
                          <a:effectLst/>
                          <a:latin typeface="微软雅黑" panose="020B0503020204020204" pitchFamily="34" charset="-122"/>
                          <a:ea typeface="微软雅黑" panose="020B0503020204020204" pitchFamily="34" charset="-122"/>
                        </a:rPr>
                        <a:t>标准含</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空调                  </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2</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：孵化器部分</a:t>
                      </a:r>
                      <a:r>
                        <a:rPr lang="zh-CN" altLang="en-US" sz="800" b="0" i="0" u="none" strike="noStrike" dirty="0" smtClean="0">
                          <a:solidFill>
                            <a:srgbClr val="000000"/>
                          </a:solidFill>
                          <a:effectLst/>
                          <a:latin typeface="微软雅黑" panose="020B0503020204020204" pitchFamily="34" charset="-122"/>
                          <a:ea typeface="微软雅黑" panose="020B0503020204020204" pitchFamily="34" charset="-122"/>
                        </a:rPr>
                        <a:t>精装，</a:t>
                      </a:r>
                      <a:r>
                        <a:rPr lang="zh-CN" altLang="en-US" sz="800" b="0" i="0" u="none" strike="noStrike" dirty="0">
                          <a:solidFill>
                            <a:srgbClr val="000000"/>
                          </a:solidFill>
                          <a:effectLst/>
                          <a:latin typeface="微软雅黑" panose="020B0503020204020204" pitchFamily="34" charset="-122"/>
                          <a:ea typeface="微软雅黑" panose="020B0503020204020204" pitchFamily="34" charset="-122"/>
                        </a:rPr>
                        <a:t>拎包入住</a:t>
                      </a:r>
                      <a:endParaRPr lang="zh-CN" altLang="en-US"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0" i="0" u="none" strike="noStrike" dirty="0">
                          <a:solidFill>
                            <a:srgbClr val="000000"/>
                          </a:solidFill>
                          <a:effectLst/>
                          <a:latin typeface="微软雅黑" panose="020B0503020204020204" pitchFamily="34" charset="-122"/>
                          <a:ea typeface="微软雅黑" panose="020B0503020204020204" pitchFamily="34" charset="-122"/>
                        </a:rPr>
                        <a:t>70-90</a:t>
                      </a:r>
                      <a:endParaRPr lang="en-US" altLang="zh-CN" sz="800" b="0" i="0" u="none" strike="noStrike" dirty="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r h="251460">
                <a:tc>
                  <a:txBody>
                    <a:bodyPr/>
                    <a:lstStyle/>
                    <a:p>
                      <a:pPr algn="ctr" fontAlgn="ctr"/>
                      <a:r>
                        <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rPr>
                        <a:t>苏州XH数创港</a:t>
                      </a:r>
                      <a:endPar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rPr>
                        <a:t>商办</a:t>
                      </a:r>
                      <a:endPar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1" i="0" u="none" strike="noStrike" dirty="0" smtClean="0">
                          <a:solidFill>
                            <a:srgbClr val="000000"/>
                          </a:solidFill>
                          <a:effectLst/>
                          <a:latin typeface="微软雅黑" panose="020B0503020204020204" pitchFamily="34" charset="-122"/>
                          <a:ea typeface="微软雅黑" panose="020B0503020204020204" pitchFamily="34" charset="-122"/>
                        </a:rPr>
                        <a:t>135-930</a:t>
                      </a:r>
                      <a:endParaRPr lang="en-US" altLang="zh-CN" sz="8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marL="0" marR="0" indent="0" algn="ctr" defTabSz="754380" rtl="0" eaLnBrk="1" fontAlgn="ctr" latinLnBrk="0" hangingPunct="1">
                        <a:lnSpc>
                          <a:spcPct val="100000"/>
                        </a:lnSpc>
                        <a:spcBef>
                          <a:spcPts val="0"/>
                        </a:spcBef>
                        <a:spcAft>
                          <a:spcPts val="0"/>
                        </a:spcAft>
                        <a:buClrTx/>
                        <a:buSzTx/>
                        <a:buFontTx/>
                        <a:buNone/>
                        <a:defRPr/>
                      </a:pPr>
                      <a:r>
                        <a:rPr lang="zh-CN" altLang="en-US" sz="800" b="1" i="0" u="none" strike="noStrike" dirty="0" smtClean="0">
                          <a:solidFill>
                            <a:schemeClr val="tx1"/>
                          </a:solidFill>
                          <a:effectLst/>
                          <a:latin typeface="微软雅黑" panose="020B0503020204020204" pitchFamily="34" charset="-122"/>
                          <a:ea typeface="微软雅黑" panose="020B0503020204020204" pitchFamily="34" charset="-122"/>
                        </a:rPr>
                        <a:t>非甲写</a:t>
                      </a:r>
                      <a:endParaRPr lang="zh-CN" altLang="en-US" sz="800" b="1" i="0" u="none" strike="noStrike" dirty="0" smtClean="0">
                        <a:solidFill>
                          <a:schemeClr val="tx1"/>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rPr>
                        <a:t>别墅纯毛坯</a:t>
                      </a:r>
                      <a:r>
                        <a:rPr lang="en-US" altLang="zh-CN" sz="800" b="1" i="0" u="none" strike="noStrike" dirty="0" smtClean="0">
                          <a:solidFill>
                            <a:srgbClr val="000000"/>
                          </a:solidFill>
                          <a:effectLst/>
                          <a:latin typeface="微软雅黑" panose="020B0503020204020204" pitchFamily="34" charset="-122"/>
                          <a:ea typeface="微软雅黑" panose="020B0503020204020204" pitchFamily="34" charset="-122"/>
                        </a:rPr>
                        <a:t>/</a:t>
                      </a:r>
                      <a:r>
                        <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rPr>
                        <a:t>写字楼简装</a:t>
                      </a:r>
                      <a:endParaRPr lang="zh-CN" altLang="en-US" sz="8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c>
                  <a:txBody>
                    <a:bodyPr/>
                    <a:lstStyle/>
                    <a:p>
                      <a:pPr algn="ctr" fontAlgn="ctr"/>
                      <a:r>
                        <a:rPr lang="en-US" altLang="zh-CN" sz="800" b="1" i="0" u="none" strike="noStrike" dirty="0" smtClean="0">
                          <a:solidFill>
                            <a:srgbClr val="000000"/>
                          </a:solidFill>
                          <a:effectLst/>
                          <a:latin typeface="微软雅黑" panose="020B0503020204020204" pitchFamily="34" charset="-122"/>
                          <a:ea typeface="微软雅黑" panose="020B0503020204020204" pitchFamily="34" charset="-122"/>
                        </a:rPr>
                        <a:t>30-45</a:t>
                      </a:r>
                      <a:endParaRPr lang="en-US" altLang="zh-CN" sz="8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7858" marR="7858" marT="7858" marB="0" anchor="ctr"/>
                </a:tc>
              </a:tr>
            </a:tbl>
          </a:graphicData>
        </a:graphic>
      </p:graphicFrame>
      <p:sp>
        <p:nvSpPr>
          <p:cNvPr id="7" name="文本框 6"/>
          <p:cNvSpPr txBox="1"/>
          <p:nvPr/>
        </p:nvSpPr>
        <p:spPr>
          <a:xfrm>
            <a:off x="492760" y="1749425"/>
            <a:ext cx="4453255" cy="1167765"/>
          </a:xfrm>
          <a:prstGeom prst="rect">
            <a:avLst/>
          </a:prstGeom>
          <a:noFill/>
        </p:spPr>
        <p:txBody>
          <a:bodyPr wrap="square" rtlCol="0">
            <a:noAutofit/>
          </a:bodyPr>
          <a:lstStyle/>
          <a:p>
            <a:pPr marL="0" marR="0" lvl="0" indent="0" algn="l" defTabSz="914400" rtl="0" eaLnBrk="1" fontAlgn="auto" latinLnBrk="0" hangingPunct="1">
              <a:lnSpc>
                <a:spcPct val="150000"/>
              </a:lnSpc>
              <a:spcBef>
                <a:spcPts val="0"/>
              </a:spcBef>
              <a:spcAft>
                <a:spcPts val="0"/>
              </a:spcAft>
              <a:buClrTx/>
              <a:buSzTx/>
              <a:buFontTx/>
              <a:buNone/>
              <a:defRPr/>
            </a:pPr>
            <a:endParaRPr kumimoji="0" lang="zh-CN" altLang="en-US" sz="1000" b="0" i="0" u="none" strike="noStrike" kern="1200" cap="none" spc="0" normalizeH="0" baseline="0" noProof="0" dirty="0" smtClean="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4" name="表格 3"/>
          <p:cNvGraphicFramePr>
            <a:graphicFrameLocks noGrp="1"/>
          </p:cNvGraphicFramePr>
          <p:nvPr/>
        </p:nvGraphicFramePr>
        <p:xfrm>
          <a:off x="353060" y="3837305"/>
          <a:ext cx="9355455" cy="1372870"/>
        </p:xfrm>
        <a:graphic>
          <a:graphicData uri="http://schemas.openxmlformats.org/drawingml/2006/table">
            <a:tbl>
              <a:tblPr/>
              <a:tblGrid>
                <a:gridCol w="654050"/>
                <a:gridCol w="753110"/>
                <a:gridCol w="754380"/>
                <a:gridCol w="654050"/>
                <a:gridCol w="653415"/>
                <a:gridCol w="654685"/>
                <a:gridCol w="654050"/>
                <a:gridCol w="654050"/>
                <a:gridCol w="653415"/>
                <a:gridCol w="654050"/>
                <a:gridCol w="428625"/>
                <a:gridCol w="226060"/>
                <a:gridCol w="652780"/>
                <a:gridCol w="654685"/>
                <a:gridCol w="654050"/>
              </a:tblGrid>
              <a:tr h="0">
                <a:tc row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项目</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总可租面积（㎡）</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不含领创自用</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年</a:t>
                      </a:r>
                      <a:endParaRPr lang="en-US" altLang="zh-CN" sz="900" b="1" i="0" u="none" strike="noStrike" dirty="0" smtClean="0">
                        <a:solidFill>
                          <a:srgbClr val="FFFFFF"/>
                        </a:solidFill>
                        <a:effectLst/>
                        <a:latin typeface="微软雅黑" panose="020B0503020204020204" pitchFamily="34" charset="-122"/>
                        <a:ea typeface="微软雅黑" panose="020B0503020204020204" pitchFamily="34" charset="-122"/>
                      </a:endParaRPr>
                    </a:p>
                    <a:p>
                      <a:pPr algn="ctr" rtl="0" fontAlgn="ct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预计租赁</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6">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FFFFFF"/>
                          </a:solidFill>
                          <a:effectLst/>
                          <a:latin typeface="Calibri" panose="020F0502020204030204" pitchFamily="34" charset="0"/>
                          <a:ea typeface="宋体" panose="02010600030101010101" pitchFamily="2" charset="-122"/>
                        </a:rPr>
                        <a:t>2025</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年</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租赁指标（年末</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c gridSpan="6">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FFFFFF"/>
                          </a:solidFill>
                          <a:effectLst/>
                          <a:latin typeface="Calibri" panose="020F0502020204030204" pitchFamily="34" charset="0"/>
                          <a:ea typeface="宋体" panose="02010600030101010101" pitchFamily="2" charset="-122"/>
                        </a:rPr>
                        <a:t>2026</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年</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租赁指标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r>
              <a:tr h="358140">
                <a:tc vMerge="1">
                  <a:tcPr/>
                </a:tc>
                <a:tc vMerge="1">
                  <a:tcPr/>
                </a:tc>
                <a:tc vMerge="1">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签约均价</a:t>
                      </a:r>
                      <a:br>
                        <a:rPr lang="zh-CN" altLang="en-US" sz="900" b="1" i="0" u="none" strike="noStrike">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（元</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期末出租率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平均出租率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租金收入</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目标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租金收入</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续约率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签约均价</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（元</a:t>
                      </a: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新签面积</a:t>
                      </a:r>
                      <a:endPar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期末出租率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平均出租率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租金收入</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226695">
                <a:tc rowSpan="4">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a:solidFill>
                            <a:srgbClr val="000000"/>
                          </a:solidFill>
                          <a:effectLst/>
                          <a:latin typeface="微软雅黑" panose="020B0503020204020204" pitchFamily="34" charset="-122"/>
                          <a:ea typeface="微软雅黑" panose="020B0503020204020204" pitchFamily="34" charset="-122"/>
                        </a:rPr>
                        <a:t>苏州XH</a:t>
                      </a:r>
                      <a:r>
                        <a:rPr lang="en-US" sz="900" b="1" i="0" u="none" strike="noStrike">
                          <a:solidFill>
                            <a:srgbClr val="000000"/>
                          </a:solidFill>
                          <a:effectLst/>
                          <a:latin typeface="微软雅黑" panose="020B0503020204020204" pitchFamily="34" charset="-122"/>
                          <a:ea typeface="微软雅黑" panose="020B0503020204020204" pitchFamily="34" charset="-122"/>
                        </a:rPr>
                        <a:t>WORLD</a:t>
                      </a:r>
                      <a:endParaRPr lang="en-US" sz="900" b="1" i="0" u="none" strike="noStrike">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4">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endPar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endParaRPr>
                    </a:p>
                    <a:p>
                      <a:pPr algn="ctr" rtl="0" fontAlgn="ctr"/>
                      <a:r>
                        <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rPr>
                        <a:t>8,776.93</a:t>
                      </a:r>
                      <a:br>
                        <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rPr>
                      </a:br>
                      <a:endPar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4">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4760.29</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40.01</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FF0000"/>
                          </a:solidFill>
                          <a:effectLst/>
                          <a:latin typeface="微软雅黑" panose="020B0503020204020204" pitchFamily="34" charset="-122"/>
                          <a:ea typeface="微软雅黑" panose="020B0503020204020204" pitchFamily="34" charset="-122"/>
                        </a:rPr>
                        <a:t>69%</a:t>
                      </a:r>
                      <a:endParaRPr lang="en-US" altLang="zh-CN" sz="900" b="1" i="0" u="none" strike="noStrike" dirty="0" smtClean="0">
                        <a:solidFill>
                          <a:srgbClr val="FF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rPr>
                        <a:t>50%</a:t>
                      </a:r>
                      <a:endPar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161.07</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194.45</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33.27</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2,112.24</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FF0000"/>
                          </a:solidFill>
                          <a:effectLst/>
                          <a:latin typeface="微软雅黑" panose="020B0503020204020204" pitchFamily="34" charset="-122"/>
                          <a:ea typeface="微软雅黑" panose="020B0503020204020204" pitchFamily="34" charset="-122"/>
                        </a:rPr>
                        <a:t>95%</a:t>
                      </a:r>
                      <a:endParaRPr lang="en-US" altLang="zh-CN" sz="900" b="1" i="0" u="none" strike="noStrike" dirty="0" smtClean="0">
                        <a:solidFill>
                          <a:srgbClr val="FF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rPr>
                        <a:t>84%</a:t>
                      </a:r>
                      <a:endParaRPr lang="en-US" altLang="zh-CN" sz="9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312.58</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r>
              <a:tr h="147955">
                <a:tc vMerge="1">
                  <a:tcPr/>
                </a:tc>
                <a:tc vMerge="1">
                  <a:tcPr/>
                </a:tc>
                <a:tc vMerge="1">
                  <a:tcPr/>
                </a:tc>
                <a:tc gridSpan="6">
                  <a:txBody>
                    <a:bodyPr/>
                    <a:lstStyle/>
                    <a:p>
                      <a:pPr algn="ctr" rtl="0" fontAlgn="ctr"/>
                      <a:r>
                        <a:rPr lang="en-US" altLang="zh-CN" sz="900" b="1" i="0" u="none" strike="noStrike" dirty="0" smtClean="0">
                          <a:solidFill>
                            <a:srgbClr val="FFFFFF"/>
                          </a:solidFill>
                          <a:effectLst/>
                          <a:latin typeface="Calibri" panose="020F0502020204030204" pitchFamily="34" charset="0"/>
                          <a:ea typeface="宋体" panose="02010600030101010101" pitchFamily="2" charset="-122"/>
                        </a:rPr>
                        <a:t>2025</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年</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经营指标（年末</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c gridSpan="6">
                  <a:txBody>
                    <a:bodyPr/>
                    <a:lstStyle/>
                    <a:p>
                      <a:pPr algn="ctr" rtl="0" fontAlgn="ctr"/>
                      <a:r>
                        <a:rPr lang="en-US" altLang="zh-CN" sz="900" b="1" i="0" u="none" strike="noStrike" dirty="0" smtClean="0">
                          <a:solidFill>
                            <a:srgbClr val="FFFFFF"/>
                          </a:solidFill>
                          <a:effectLst/>
                          <a:latin typeface="Calibri" panose="020F0502020204030204" pitchFamily="34" charset="0"/>
                          <a:ea typeface="宋体" panose="02010600030101010101" pitchFamily="2" charset="-122"/>
                        </a:rPr>
                        <a:t>2026</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年</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经营指标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r>
              <a:tr h="283845">
                <a:tc vMerge="1">
                  <a:tcPr/>
                </a:tc>
                <a:tc vMerge="1">
                  <a:tcPr/>
                </a:tc>
                <a:tc vMerge="1">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经营收入</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marL="9479" marR="9479" marT="94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rtl="0"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NOI</a:t>
                      </a:r>
                      <a:endParaRPr lang="en-US" altLang="zh-CN"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marL="9479" marR="9479" marT="94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月均</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收缴率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累计</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收缴率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经营收入</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目标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marL="11486" marR="11486" marT="1148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rtl="0"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NOI</a:t>
                      </a:r>
                      <a:endParaRPr lang="en-US" altLang="zh-CN"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marL="11486" marR="11486" marT="1148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月均</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收缴率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累计</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收缴率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209550">
                <a:tc vMerge="1">
                  <a:tcPr/>
                </a:tc>
                <a:tc vMerge="1">
                  <a:tcPr/>
                </a:tc>
                <a:tc vMerge="1">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194.65</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marL="9479" marR="9479" marT="94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25.7</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marL="9479" marR="9479" marT="94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94%</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100%</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312.58</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marL="11486" marR="11486" marT="1148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gridSpan="2">
                  <a:txBody>
                    <a:body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83</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hMerge="1">
                  <a:tcPr marL="11486" marR="11486" marT="1148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90%</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defPPr>
                        <a:defRPr lang="en-US">
                          <a:solidFill>
                            <a:schemeClr val="tx1"/>
                          </a:solidFill>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0965" algn="l" defTabSz="914400" rtl="0" eaLnBrk="1" latinLnBrk="0" hangingPunct="1">
                        <a:defRPr sz="1800" kern="1200">
                          <a:solidFill>
                            <a:schemeClr val="tx1"/>
                          </a:solidFill>
                          <a:latin typeface="+mn-lt"/>
                          <a:ea typeface="+mn-ea"/>
                          <a:cs typeface="+mn-cs"/>
                        </a:defRPr>
                      </a:lvl4pPr>
                      <a:lvl5pPr marL="1828165" algn="l" defTabSz="914400" rtl="0" eaLnBrk="1" latinLnBrk="0" hangingPunct="1">
                        <a:defRPr sz="1800" kern="1200">
                          <a:solidFill>
                            <a:schemeClr val="tx1"/>
                          </a:solidFill>
                          <a:latin typeface="+mn-lt"/>
                          <a:ea typeface="+mn-ea"/>
                          <a:cs typeface="+mn-cs"/>
                        </a:defRPr>
                      </a:lvl5pPr>
                      <a:lvl6pPr marL="2285365" algn="l" defTabSz="914400" rtl="0" eaLnBrk="1" latinLnBrk="0" hangingPunct="1">
                        <a:defRPr sz="1800" kern="1200">
                          <a:solidFill>
                            <a:schemeClr val="tx1"/>
                          </a:solidFill>
                          <a:latin typeface="+mn-lt"/>
                          <a:ea typeface="+mn-ea"/>
                          <a:cs typeface="+mn-cs"/>
                        </a:defRPr>
                      </a:lvl6pPr>
                      <a:lvl7pPr marL="2742565" algn="l" defTabSz="914400" rtl="0" eaLnBrk="1" latinLnBrk="0" hangingPunct="1">
                        <a:defRPr sz="1800" kern="1200">
                          <a:solidFill>
                            <a:schemeClr val="tx1"/>
                          </a:solidFill>
                          <a:latin typeface="+mn-lt"/>
                          <a:ea typeface="+mn-ea"/>
                          <a:cs typeface="+mn-cs"/>
                        </a:defRPr>
                      </a:lvl7pPr>
                      <a:lvl8pPr marL="3199765" algn="l" defTabSz="914400" rtl="0" eaLnBrk="1" latinLnBrk="0" hangingPunct="1">
                        <a:defRPr sz="1800" kern="1200">
                          <a:solidFill>
                            <a:schemeClr val="tx1"/>
                          </a:solidFill>
                          <a:latin typeface="+mn-lt"/>
                          <a:ea typeface="+mn-ea"/>
                          <a:cs typeface="+mn-cs"/>
                        </a:defRPr>
                      </a:lvl8pPr>
                      <a:lvl9pPr marL="3656330" algn="l" defTabSz="914400" rtl="0" eaLnBrk="1" latinLnBrk="0" hangingPunct="1">
                        <a:defRPr sz="1800" kern="1200">
                          <a:solidFill>
                            <a:schemeClr val="tx1"/>
                          </a:solidFill>
                          <a:latin typeface="+mn-lt"/>
                          <a:ea typeface="+mn-ea"/>
                          <a:cs typeface="+mn-cs"/>
                        </a:defRPr>
                      </a:lvl9pPr>
                    </a:lstStyle>
                    <a:p>
                      <a:pPr algn="ctr" rtl="0" fontAlgn="ct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100%</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9473" marR="9473" marT="947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r>
            </a:tbl>
          </a:graphicData>
        </a:graphic>
      </p:graphicFrame>
      <p:sp>
        <p:nvSpPr>
          <p:cNvPr id="18" name="矩形 1"/>
          <p:cNvSpPr/>
          <p:nvPr>
            <p:custDataLst>
              <p:tags r:id="rId3"/>
            </p:custDataLst>
          </p:nvPr>
        </p:nvSpPr>
        <p:spPr>
          <a:xfrm>
            <a:off x="205105" y="3099435"/>
            <a:ext cx="2550160" cy="281940"/>
          </a:xfrm>
          <a:prstGeom prst="rect">
            <a:avLst/>
          </a:prstGeom>
          <a:solidFill>
            <a:srgbClr val="595959"/>
          </a:solidFill>
          <a:ln w="9525">
            <a:noFill/>
          </a:ln>
        </p:spPr>
        <p:txBody>
          <a:bodyPr anchor="ctr" anchorCtr="0"/>
          <a:lstStyle/>
          <a:p>
            <a:pPr marL="346075" indent="-346075" defTabSz="1108075" fontAlgn="base">
              <a:spcBef>
                <a:spcPct val="0"/>
              </a:spcBef>
              <a:spcAft>
                <a:spcPct val="0"/>
              </a:spcAft>
              <a:buFont typeface="Wingdings" panose="05000000000000000000" pitchFamily="2" charset="2"/>
              <a:buChar char="p"/>
              <a:defRPr/>
            </a:pPr>
            <a:r>
              <a:rPr lang="en-US" altLang="zh-CN" sz="1600" b="1" dirty="0">
                <a:solidFill>
                  <a:prstClr val="white"/>
                </a:solidFill>
                <a:latin typeface="Arial" panose="020B0604020202020204" pitchFamily="34" charset="0"/>
                <a:ea typeface="微软雅黑" panose="020B0503020204020204" pitchFamily="34" charset="-122"/>
              </a:rPr>
              <a:t>2026</a:t>
            </a:r>
            <a:r>
              <a:rPr lang="zh-CN" altLang="en-US" sz="1600" b="1" dirty="0">
                <a:solidFill>
                  <a:prstClr val="white"/>
                </a:solidFill>
                <a:latin typeface="Arial" panose="020B0604020202020204" pitchFamily="34" charset="0"/>
                <a:ea typeface="微软雅黑" panose="020B0503020204020204" pitchFamily="34" charset="-122"/>
              </a:rPr>
              <a:t>年经营目标</a:t>
            </a:r>
            <a:endParaRPr lang="zh-CN" altLang="en-US" sz="1600" b="1" dirty="0">
              <a:solidFill>
                <a:prstClr val="white"/>
              </a:solidFill>
              <a:latin typeface="Arial" panose="020B0604020202020204" pitchFamily="34" charset="0"/>
              <a:ea typeface="微软雅黑" panose="020B0503020204020204" pitchFamily="34" charset="-122"/>
            </a:endParaRPr>
          </a:p>
        </p:txBody>
      </p:sp>
      <p:sp>
        <p:nvSpPr>
          <p:cNvPr id="8" name="文本框 7"/>
          <p:cNvSpPr txBox="1"/>
          <p:nvPr/>
        </p:nvSpPr>
        <p:spPr>
          <a:xfrm>
            <a:off x="277495" y="3388995"/>
            <a:ext cx="9211945" cy="368300"/>
          </a:xfrm>
          <a:prstGeom prst="rect">
            <a:avLst/>
          </a:prstGeom>
          <a:noFill/>
        </p:spPr>
        <p:txBody>
          <a:bodyPr wrap="square" rtlCol="0" anchor="t">
            <a:spAutoFit/>
          </a:bodyPr>
          <a:p>
            <a:pPr marL="285750" indent="-285750">
              <a:lnSpc>
                <a:spcPct val="150000"/>
              </a:lnSpc>
              <a:buFont typeface="Wingdings" panose="05000000000000000000" charset="0"/>
              <a:buChar char="Ø"/>
            </a:pPr>
            <a:r>
              <a:rPr lang="en-US" altLang="zh-CN" sz="1200" b="1" dirty="0">
                <a:solidFill>
                  <a:prstClr val="black"/>
                </a:solidFill>
                <a:latin typeface="微软雅黑" panose="020B0503020204020204" pitchFamily="34" charset="-122"/>
                <a:ea typeface="微软雅黑" panose="020B0503020204020204" pitchFamily="34" charset="-122"/>
                <a:sym typeface="+mn-ea"/>
              </a:rPr>
              <a:t>2026</a:t>
            </a:r>
            <a:r>
              <a:rPr lang="zh-CN" altLang="en-US" sz="1200" b="1" dirty="0">
                <a:solidFill>
                  <a:prstClr val="black"/>
                </a:solidFill>
                <a:latin typeface="微软雅黑" panose="020B0503020204020204" pitchFamily="34" charset="-122"/>
                <a:ea typeface="微软雅黑" panose="020B0503020204020204" pitchFamily="34" charset="-122"/>
                <a:sym typeface="+mn-ea"/>
              </a:rPr>
              <a:t>年计划新增租赁面积</a:t>
            </a:r>
            <a:r>
              <a:rPr lang="en-US" altLang="zh-CN" sz="1200" b="1" dirty="0">
                <a:solidFill>
                  <a:prstClr val="black"/>
                </a:solidFill>
                <a:latin typeface="微软雅黑" panose="020B0503020204020204" pitchFamily="34" charset="-122"/>
                <a:ea typeface="微软雅黑" panose="020B0503020204020204" pitchFamily="34" charset="-122"/>
                <a:sym typeface="+mn-ea"/>
              </a:rPr>
              <a:t>2112.24</a:t>
            </a:r>
            <a:r>
              <a:rPr lang="zh-CN" altLang="en-US" sz="1200" b="1" dirty="0">
                <a:solidFill>
                  <a:prstClr val="black"/>
                </a:solidFill>
                <a:latin typeface="微软雅黑" panose="020B0503020204020204" pitchFamily="34" charset="-122"/>
                <a:ea typeface="微软雅黑" panose="020B0503020204020204" pitchFamily="34" charset="-122"/>
                <a:sym typeface="+mn-ea"/>
              </a:rPr>
              <a:t>㎡，平均单价</a:t>
            </a:r>
            <a:r>
              <a:rPr lang="en-US" altLang="zh-CN" sz="1200" b="1" dirty="0">
                <a:solidFill>
                  <a:prstClr val="black"/>
                </a:solidFill>
                <a:latin typeface="微软雅黑" panose="020B0503020204020204" pitchFamily="34" charset="-122"/>
                <a:ea typeface="微软雅黑" panose="020B0503020204020204" pitchFamily="34" charset="-122"/>
                <a:sym typeface="+mn-ea"/>
              </a:rPr>
              <a:t>33.27</a:t>
            </a:r>
            <a:r>
              <a:rPr lang="zh-CN" altLang="en-US" sz="1200" b="1" dirty="0">
                <a:solidFill>
                  <a:prstClr val="black"/>
                </a:solidFill>
                <a:latin typeface="微软雅黑" panose="020B0503020204020204" pitchFamily="34" charset="-122"/>
                <a:ea typeface="微软雅黑" panose="020B0503020204020204" pitchFamily="34" charset="-122"/>
                <a:sym typeface="+mn-ea"/>
              </a:rPr>
              <a:t>元</a:t>
            </a:r>
            <a:r>
              <a:rPr lang="en-US" altLang="zh-CN" sz="1200" b="1" dirty="0">
                <a:solidFill>
                  <a:prstClr val="black"/>
                </a:solidFill>
                <a:latin typeface="微软雅黑" panose="020B0503020204020204" pitchFamily="34" charset="-122"/>
                <a:ea typeface="微软雅黑" panose="020B0503020204020204" pitchFamily="34" charset="-122"/>
                <a:sym typeface="+mn-ea"/>
              </a:rPr>
              <a:t>/</a:t>
            </a:r>
            <a:r>
              <a:rPr lang="zh-CN" altLang="en-US" sz="1200" b="1" dirty="0">
                <a:solidFill>
                  <a:prstClr val="black"/>
                </a:solidFill>
                <a:latin typeface="微软雅黑" panose="020B0503020204020204" pitchFamily="34" charset="-122"/>
                <a:ea typeface="微软雅黑" panose="020B0503020204020204" pitchFamily="34" charset="-122"/>
                <a:sym typeface="+mn-ea"/>
              </a:rPr>
              <a:t>㎡；总租金收入</a:t>
            </a:r>
            <a:r>
              <a:rPr lang="en-US" altLang="zh-CN" sz="1200" b="1" dirty="0">
                <a:solidFill>
                  <a:prstClr val="black"/>
                </a:solidFill>
                <a:latin typeface="微软雅黑" panose="020B0503020204020204" pitchFamily="34" charset="-122"/>
                <a:ea typeface="微软雅黑" panose="020B0503020204020204" pitchFamily="34" charset="-122"/>
                <a:sym typeface="+mn-ea"/>
              </a:rPr>
              <a:t>312.58</a:t>
            </a:r>
            <a:r>
              <a:rPr lang="zh-CN" altLang="en-US" sz="1200" b="1" dirty="0">
                <a:solidFill>
                  <a:prstClr val="black"/>
                </a:solidFill>
                <a:latin typeface="微软雅黑" panose="020B0503020204020204" pitchFamily="34" charset="-122"/>
                <a:ea typeface="微软雅黑" panose="020B0503020204020204" pitchFamily="34" charset="-122"/>
                <a:sym typeface="+mn-ea"/>
              </a:rPr>
              <a:t>万元</a:t>
            </a:r>
            <a:r>
              <a:rPr lang="zh-CN" altLang="en-US" sz="1200" dirty="0">
                <a:solidFill>
                  <a:prstClr val="black"/>
                </a:solidFill>
                <a:latin typeface="微软雅黑" panose="020B0503020204020204" pitchFamily="34" charset="-122"/>
                <a:ea typeface="微软雅黑" panose="020B0503020204020204" pitchFamily="34" charset="-122"/>
                <a:sym typeface="+mn-ea"/>
              </a:rPr>
              <a:t>；</a:t>
            </a:r>
            <a:endParaRPr lang="zh-CN" altLang="en-US" sz="1200" dirty="0" smtClean="0">
              <a:solidFill>
                <a:prstClr val="black"/>
              </a:solidFill>
              <a:latin typeface="微软雅黑" panose="020B0503020204020204" pitchFamily="34" charset="-122"/>
              <a:ea typeface="微软雅黑" panose="020B0503020204020204" pitchFamily="34" charset="-122"/>
              <a:sym typeface="+mn-ea"/>
            </a:endParaRPr>
          </a:p>
        </p:txBody>
      </p:sp>
      <p:sp>
        <p:nvSpPr>
          <p:cNvPr id="15" name="文本框 5"/>
          <p:cNvSpPr txBox="1"/>
          <p:nvPr/>
        </p:nvSpPr>
        <p:spPr>
          <a:xfrm>
            <a:off x="565150" y="1680845"/>
            <a:ext cx="4243070" cy="1377315"/>
          </a:xfrm>
          <a:prstGeom prst="rect">
            <a:avLst/>
          </a:prstGeom>
          <a:solidFill>
            <a:schemeClr val="tx2">
              <a:lumMod val="10000"/>
              <a:lumOff val="90000"/>
            </a:schemeClr>
          </a:solidFill>
        </p:spPr>
        <p:txBody>
          <a:bodyPr wrap="square" rtlCol="0">
            <a:noAutofit/>
          </a:bodyPr>
          <a:lstStyle>
            <a:defPPr>
              <a:defRPr lang="zh-CN"/>
            </a:defPPr>
            <a:lvl1pPr marL="107950" indent="-107950" eaLnBrk="1" fontAlgn="auto" hangingPunct="1">
              <a:lnSpc>
                <a:spcPct val="120000"/>
              </a:lnSpc>
              <a:spcBef>
                <a:spcPts val="0"/>
              </a:spcBef>
              <a:spcAft>
                <a:spcPts val="300"/>
              </a:spcAft>
              <a:buFont typeface="Arial" panose="020B0604020202020204" pitchFamily="34" charset="0"/>
              <a:buChar char="•"/>
              <a:defRPr sz="1000" b="1">
                <a:solidFill>
                  <a:srgbClr val="242331"/>
                </a:solidFill>
                <a:latin typeface="微软雅黑" panose="020B0503020204020204" pitchFamily="34" charset="-122"/>
                <a:ea typeface="微软雅黑" panose="020B0503020204020204" pitchFamily="34" charset="-122"/>
              </a:defRPr>
            </a:lvl1pPr>
          </a:lstStyle>
          <a:p>
            <a:pPr marL="0" marR="0" lvl="0" indent="0" algn="l" defTabSz="914400" rtl="0" eaLnBrk="1" fontAlgn="auto" latinLnBrk="0" hangingPunct="1">
              <a:lnSpc>
                <a:spcPct val="150000"/>
              </a:lnSpc>
              <a:spcBef>
                <a:spcPts val="0"/>
              </a:spcBef>
              <a:spcAft>
                <a:spcPts val="0"/>
              </a:spcAft>
              <a:buClrTx/>
              <a:buSzTx/>
              <a:buFontTx/>
              <a:buNone/>
              <a:defRPr/>
            </a:pPr>
            <a:r>
              <a:rPr lang="zh-CN" altLang="en-US" noProof="0" dirty="0">
                <a:ln>
                  <a:noFill/>
                </a:ln>
                <a:effectLst/>
                <a:uLnTx/>
                <a:uFillTx/>
                <a:cs typeface="微软雅黑" panose="020B0503020204020204" pitchFamily="34" charset="-122"/>
                <a:sym typeface="+mn-ea"/>
              </a:rPr>
              <a:t>租赁单价</a:t>
            </a:r>
            <a:r>
              <a:rPr lang="en-US" altLang="zh-CN" noProof="0" dirty="0">
                <a:ln>
                  <a:noFill/>
                </a:ln>
                <a:effectLst/>
                <a:uLnTx/>
                <a:uFillTx/>
                <a:cs typeface="微软雅黑" panose="020B0503020204020204" pitchFamily="34" charset="-122"/>
                <a:sym typeface="+mn-ea"/>
              </a:rPr>
              <a:t>:   </a:t>
            </a:r>
            <a:r>
              <a:rPr lang="zh-CN" altLang="en-US" noProof="0" dirty="0">
                <a:ln>
                  <a:noFill/>
                </a:ln>
                <a:effectLst/>
                <a:uLnTx/>
                <a:uFillTx/>
                <a:cs typeface="微软雅黑" panose="020B0503020204020204" pitchFamily="34" charset="-122"/>
                <a:sym typeface="+mn-ea"/>
              </a:rPr>
              <a:t>项目周边租金价格水平</a:t>
            </a:r>
            <a:r>
              <a:rPr lang="en-US" altLang="zh-CN" noProof="0" dirty="0" smtClean="0">
                <a:ln>
                  <a:noFill/>
                </a:ln>
                <a:solidFill>
                  <a:srgbClr val="C00000"/>
                </a:solidFill>
                <a:effectLst/>
                <a:uLnTx/>
                <a:uFillTx/>
                <a:cs typeface="微软雅黑" panose="020B0503020204020204" pitchFamily="34" charset="-122"/>
                <a:sym typeface="+mn-ea"/>
              </a:rPr>
              <a:t>30-45</a:t>
            </a:r>
            <a:r>
              <a:rPr lang="zh-CN" altLang="en-US" noProof="0" dirty="0" smtClean="0">
                <a:ln>
                  <a:noFill/>
                </a:ln>
                <a:solidFill>
                  <a:srgbClr val="C00000"/>
                </a:solidFill>
                <a:effectLst/>
                <a:uLnTx/>
                <a:uFillTx/>
                <a:cs typeface="微软雅黑" panose="020B0503020204020204" pitchFamily="34" charset="-122"/>
                <a:sym typeface="+mn-ea"/>
              </a:rPr>
              <a:t>元</a:t>
            </a:r>
            <a:r>
              <a:rPr lang="en-US" altLang="zh-CN" noProof="0" dirty="0">
                <a:ln>
                  <a:noFill/>
                </a:ln>
                <a:solidFill>
                  <a:srgbClr val="C00000"/>
                </a:solidFill>
                <a:effectLst/>
                <a:uLnTx/>
                <a:uFillTx/>
                <a:cs typeface="微软雅黑" panose="020B0503020204020204" pitchFamily="34" charset="-122"/>
                <a:sym typeface="+mn-ea"/>
              </a:rPr>
              <a:t>/</a:t>
            </a:r>
            <a:r>
              <a:rPr lang="zh-CN" altLang="en-US" noProof="0" dirty="0">
                <a:ln>
                  <a:noFill/>
                </a:ln>
                <a:solidFill>
                  <a:srgbClr val="C00000"/>
                </a:solidFill>
                <a:effectLst/>
                <a:uLnTx/>
                <a:uFillTx/>
                <a:cs typeface="微软雅黑" panose="020B0503020204020204" pitchFamily="34" charset="-122"/>
                <a:sym typeface="+mn-ea"/>
              </a:rPr>
              <a:t>㎡</a:t>
            </a:r>
            <a:r>
              <a:rPr lang="en-US" altLang="zh-CN" noProof="0" dirty="0">
                <a:ln>
                  <a:noFill/>
                </a:ln>
                <a:solidFill>
                  <a:srgbClr val="C00000"/>
                </a:solidFill>
                <a:effectLst/>
                <a:uLnTx/>
                <a:uFillTx/>
                <a:cs typeface="微软雅黑" panose="020B0503020204020204" pitchFamily="34" charset="-122"/>
                <a:sym typeface="+mn-ea"/>
              </a:rPr>
              <a:t>/</a:t>
            </a:r>
            <a:r>
              <a:rPr lang="zh-CN" altLang="en-US" noProof="0" dirty="0" smtClean="0">
                <a:ln>
                  <a:noFill/>
                </a:ln>
                <a:solidFill>
                  <a:srgbClr val="C00000"/>
                </a:solidFill>
                <a:effectLst/>
                <a:uLnTx/>
                <a:uFillTx/>
                <a:cs typeface="微软雅黑" panose="020B0503020204020204" pitchFamily="34" charset="-122"/>
                <a:sym typeface="+mn-ea"/>
              </a:rPr>
              <a:t>月，</a:t>
            </a:r>
            <a:r>
              <a:rPr lang="zh-CN" altLang="en-US" noProof="0" dirty="0" smtClean="0">
                <a:ln>
                  <a:noFill/>
                </a:ln>
                <a:effectLst/>
                <a:uLnTx/>
                <a:uFillTx/>
                <a:cs typeface="微软雅黑" panose="020B0503020204020204" pitchFamily="34" charset="-122"/>
                <a:sym typeface="+mn-ea"/>
              </a:rPr>
              <a:t>以</a:t>
            </a:r>
            <a:r>
              <a:rPr lang="zh-CN" altLang="en-US" noProof="0" dirty="0">
                <a:ln>
                  <a:noFill/>
                </a:ln>
                <a:effectLst/>
                <a:uLnTx/>
                <a:uFillTx/>
                <a:cs typeface="微软雅黑" panose="020B0503020204020204" pitchFamily="34" charset="-122"/>
                <a:sym typeface="+mn-ea"/>
              </a:rPr>
              <a:t>价换</a:t>
            </a:r>
            <a:r>
              <a:rPr lang="zh-CN" altLang="en-US" noProof="0" dirty="0" smtClean="0">
                <a:ln>
                  <a:noFill/>
                </a:ln>
                <a:effectLst/>
                <a:uLnTx/>
                <a:uFillTx/>
                <a:cs typeface="微软雅黑" panose="020B0503020204020204" pitchFamily="34" charset="-122"/>
                <a:sym typeface="+mn-ea"/>
              </a:rPr>
              <a:t>量</a:t>
            </a:r>
            <a:r>
              <a:rPr lang="zh-CN" altLang="en-US" b="0" noProof="0" dirty="0" smtClean="0">
                <a:ln>
                  <a:noFill/>
                </a:ln>
                <a:effectLst/>
                <a:uLnTx/>
                <a:uFillTx/>
                <a:cs typeface="微软雅黑" panose="020B0503020204020204" pitchFamily="34" charset="-122"/>
                <a:sym typeface="+mn-ea"/>
              </a:rPr>
              <a:t>，</a:t>
            </a:r>
            <a:r>
              <a:rPr lang="en-US" altLang="zh-CN" b="0" noProof="0" dirty="0">
                <a:ln>
                  <a:noFill/>
                </a:ln>
                <a:effectLst/>
                <a:uLnTx/>
                <a:uFillTx/>
                <a:cs typeface="微软雅黑" panose="020B0503020204020204" pitchFamily="34" charset="-122"/>
                <a:sym typeface="+mn-ea"/>
              </a:rPr>
              <a:t>500</a:t>
            </a:r>
            <a:r>
              <a:rPr lang="zh-CN" altLang="en-US" b="0" noProof="0" dirty="0">
                <a:ln>
                  <a:noFill/>
                </a:ln>
                <a:effectLst/>
                <a:uLnTx/>
                <a:uFillTx/>
                <a:cs typeface="微软雅黑" panose="020B0503020204020204" pitchFamily="34" charset="-122"/>
                <a:sym typeface="+mn-ea"/>
              </a:rPr>
              <a:t>㎡以上中大型客户降价幅度较大，同比下降</a:t>
            </a:r>
            <a:r>
              <a:rPr lang="zh-CN" altLang="en-US" b="0" noProof="0" dirty="0" smtClean="0">
                <a:ln>
                  <a:noFill/>
                </a:ln>
                <a:effectLst/>
                <a:uLnTx/>
                <a:uFillTx/>
                <a:cs typeface="微软雅黑" panose="020B0503020204020204" pitchFamily="34" charset="-122"/>
                <a:sym typeface="+mn-ea"/>
              </a:rPr>
              <a:t>近</a:t>
            </a:r>
            <a:r>
              <a:rPr lang="en-US" altLang="zh-CN" b="0" noProof="0" dirty="0" smtClean="0">
                <a:ln>
                  <a:noFill/>
                </a:ln>
                <a:effectLst/>
                <a:uLnTx/>
                <a:uFillTx/>
                <a:cs typeface="微软雅黑" panose="020B0503020204020204" pitchFamily="34" charset="-122"/>
                <a:sym typeface="+mn-ea"/>
              </a:rPr>
              <a:t>20%</a:t>
            </a:r>
            <a:r>
              <a:rPr lang="zh-CN" altLang="en-US" b="0" noProof="0" dirty="0">
                <a:ln>
                  <a:noFill/>
                </a:ln>
                <a:effectLst/>
                <a:uLnTx/>
                <a:uFillTx/>
                <a:cs typeface="微软雅黑" panose="020B0503020204020204" pitchFamily="34" charset="-122"/>
                <a:sym typeface="+mn-ea"/>
              </a:rPr>
              <a:t>。</a:t>
            </a:r>
            <a:endParaRPr kumimoji="0" lang="en-US" altLang="zh-CN" b="0" i="0" u="none" strike="noStrike" kern="1200" cap="none" spc="0" normalizeH="0" baseline="0" noProof="0" dirty="0">
              <a:ln>
                <a:noFill/>
              </a:ln>
              <a:solidFill>
                <a:srgbClr val="242331"/>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defRPr/>
            </a:pPr>
            <a:r>
              <a:rPr lang="zh-CN" altLang="en-US" noProof="0" dirty="0">
                <a:ln>
                  <a:noFill/>
                </a:ln>
                <a:effectLst/>
                <a:uLnTx/>
                <a:uFillTx/>
                <a:cs typeface="微软雅黑" panose="020B0503020204020204" pitchFamily="34" charset="-122"/>
                <a:sym typeface="+mn-ea"/>
              </a:rPr>
              <a:t>客户来源：</a:t>
            </a:r>
            <a:r>
              <a:rPr lang="zh-CN" altLang="en-US" b="0" noProof="0" dirty="0">
                <a:ln>
                  <a:noFill/>
                </a:ln>
                <a:effectLst/>
                <a:uLnTx/>
                <a:uFillTx/>
                <a:cs typeface="微软雅黑" panose="020B0503020204020204" pitchFamily="34" charset="-122"/>
                <a:sym typeface="+mn-ea"/>
              </a:rPr>
              <a:t>本年度增量客户及扩租客户数量较去年有所下降，其中降级置换、缩减成本的客户比例有所上升</a:t>
            </a:r>
            <a:r>
              <a:rPr lang="zh-CN" altLang="en-US" b="0" noProof="0" dirty="0" smtClean="0">
                <a:ln>
                  <a:noFill/>
                </a:ln>
                <a:effectLst/>
                <a:uLnTx/>
                <a:uFillTx/>
                <a:cs typeface="微软雅黑" panose="020B0503020204020204" pitchFamily="34" charset="-122"/>
                <a:sym typeface="+mn-ea"/>
              </a:rPr>
              <a:t>。</a:t>
            </a:r>
            <a:endParaRPr lang="zh-CN" altLang="en-US" b="0" dirty="0">
              <a:solidFill>
                <a:srgbClr val="FF0000"/>
              </a:solidFill>
            </a:endParaRPr>
          </a:p>
        </p:txBody>
      </p:sp>
      <p:sp>
        <p:nvSpPr>
          <p:cNvPr id="9" name="文本框 8"/>
          <p:cNvSpPr txBox="1"/>
          <p:nvPr/>
        </p:nvSpPr>
        <p:spPr>
          <a:xfrm>
            <a:off x="205105" y="5289868"/>
            <a:ext cx="5891213" cy="296863"/>
          </a:xfrm>
          <a:prstGeom prst="rect">
            <a:avLst/>
          </a:prstGeom>
          <a:noFill/>
        </p:spPr>
        <p:txBody>
          <a:bodyPr wrap="none"/>
          <a:lstStyle/>
          <a:p>
            <a:pPr marR="0" defTabSz="914400" eaLnBrk="1" hangingPunct="1">
              <a:buClrTx/>
              <a:buSzTx/>
              <a:buFontTx/>
              <a:buNone/>
              <a:defRPr/>
            </a:pPr>
            <a:r>
              <a:rPr kumimoji="0" lang="zh-CN" altLang="en-US" sz="820" kern="1200" cap="none" spc="0" normalizeH="0" baseline="0" noProof="1" smtClean="0">
                <a:latin typeface="微软雅黑" panose="020B0503020204020204" pitchFamily="34" charset="-122"/>
                <a:ea typeface="微软雅黑" panose="020B0503020204020204" pitchFamily="34" charset="-122"/>
                <a:cs typeface="+mn-cs"/>
              </a:rPr>
              <a:t>备注：</a:t>
            </a:r>
            <a:r>
              <a:rPr kumimoji="0" lang="zh-CN" altLang="en-US" sz="820" kern="1200" cap="none" spc="0" normalizeH="0" baseline="0" noProof="1">
                <a:solidFill>
                  <a:srgbClr val="242331"/>
                </a:solidFill>
                <a:latin typeface="微软雅黑" panose="020B0503020204020204" pitchFamily="34" charset="-122"/>
                <a:ea typeface="微软雅黑" panose="020B0503020204020204" pitchFamily="34" charset="-122"/>
                <a:cs typeface="微软雅黑" panose="020B0503020204020204" pitchFamily="34" charset="-122"/>
              </a:rPr>
              <a:t>上半年成交面积超过</a:t>
            </a:r>
            <a:r>
              <a:rPr kumimoji="0" lang="en-US" altLang="zh-CN" sz="820" kern="1200" cap="none" spc="0" normalizeH="0" baseline="0" noProof="1">
                <a:solidFill>
                  <a:srgbClr val="242331"/>
                </a:solidFill>
                <a:latin typeface="微软雅黑" panose="020B0503020204020204" pitchFamily="34" charset="-122"/>
                <a:ea typeface="微软雅黑" panose="020B0503020204020204" pitchFamily="34" charset="-122"/>
                <a:cs typeface="微软雅黑" panose="020B0503020204020204" pitchFamily="34" charset="-122"/>
              </a:rPr>
              <a:t>5000</a:t>
            </a:r>
            <a:r>
              <a:rPr kumimoji="0" lang="zh-CN" altLang="en-US" sz="820" kern="1200" cap="none" spc="0" normalizeH="0" baseline="0" noProof="1">
                <a:solidFill>
                  <a:srgbClr val="242331"/>
                </a:solidFill>
                <a:latin typeface="微软雅黑" panose="020B0503020204020204" pitchFamily="34" charset="-122"/>
                <a:ea typeface="微软雅黑" panose="020B0503020204020204" pitchFamily="34" charset="-122"/>
                <a:cs typeface="微软雅黑" panose="020B0503020204020204" pitchFamily="34" charset="-122"/>
              </a:rPr>
              <a:t>㎡的</a:t>
            </a:r>
            <a:r>
              <a:rPr kumimoji="0" lang="zh-CN" altLang="en-US" sz="820" kern="1200" cap="none" spc="0" normalizeH="0" baseline="0" noProof="1" smtClean="0">
                <a:solidFill>
                  <a:srgbClr val="242331"/>
                </a:solidFill>
                <a:latin typeface="微软雅黑" panose="020B0503020204020204" pitchFamily="34" charset="-122"/>
                <a:ea typeface="微软雅黑" panose="020B0503020204020204" pitchFamily="34" charset="-122"/>
                <a:cs typeface="微软雅黑" panose="020B0503020204020204" pitchFamily="34" charset="-122"/>
              </a:rPr>
              <a:t>楼宇</a:t>
            </a:r>
            <a:r>
              <a:rPr kumimoji="0" lang="zh-CN" altLang="en-US" sz="820" kern="1200" cap="none" spc="0" normalizeH="0" baseline="0" noProof="1">
                <a:solidFill>
                  <a:srgbClr val="242331"/>
                </a:solidFill>
                <a:latin typeface="微软雅黑" panose="020B0503020204020204" pitchFamily="34" charset="-122"/>
                <a:ea typeface="微软雅黑" panose="020B0503020204020204" pitchFamily="34" charset="-122"/>
                <a:cs typeface="微软雅黑" panose="020B0503020204020204" pitchFamily="34" charset="-122"/>
              </a:rPr>
              <a:t>项目有苏州湾中心、中海大厦、华贸中心、南岸新</a:t>
            </a:r>
            <a:r>
              <a:rPr kumimoji="0" lang="zh-CN" altLang="en-US" sz="820" kern="1200" cap="none" spc="0" normalizeH="0" baseline="0" noProof="1" smtClean="0">
                <a:solidFill>
                  <a:srgbClr val="242331"/>
                </a:solidFill>
                <a:latin typeface="微软雅黑" panose="020B0503020204020204" pitchFamily="34" charset="-122"/>
                <a:ea typeface="微软雅黑" panose="020B0503020204020204" pitchFamily="34" charset="-122"/>
                <a:cs typeface="微软雅黑" panose="020B0503020204020204" pitchFamily="34" charset="-122"/>
              </a:rPr>
              <a:t>地（市场情况）</a:t>
            </a:r>
            <a:endParaRPr kumimoji="0" lang="zh-CN" altLang="en-US" sz="820" kern="1200" cap="none" spc="0" normalizeH="0" baseline="0" noProof="1" smtClean="0">
              <a:solidFill>
                <a:srgbClr val="242331"/>
              </a:solidFill>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1876" y="239421"/>
            <a:ext cx="7555434" cy="431112"/>
          </a:xfrm>
        </p:spPr>
        <p:txBody>
          <a:bodyPr/>
          <a:lstStyle/>
          <a:p>
            <a:pPr>
              <a:defRPr/>
            </a:pPr>
            <a:r>
              <a:rPr lang="zh-CN" altLang="en-US" b="1" dirty="0"/>
              <a:t>第一部分：</a:t>
            </a:r>
            <a:r>
              <a:rPr lang="en-US" altLang="zh-CN" b="1" dirty="0"/>
              <a:t>2026</a:t>
            </a:r>
            <a:r>
              <a:rPr lang="zh-CN" altLang="en-US" b="1" dirty="0"/>
              <a:t>年经营目标（昆山项目）</a:t>
            </a:r>
            <a:endParaRPr lang="zh-CN" altLang="en-US" b="1" dirty="0"/>
          </a:p>
        </p:txBody>
      </p:sp>
      <p:sp>
        <p:nvSpPr>
          <p:cNvPr id="4" name="灯片编号占位符 3"/>
          <p:cNvSpPr txBox="1">
            <a:spLocks noGrp="1"/>
          </p:cNvSpPr>
          <p:nvPr>
            <p:ph type="sldNum" sz="quarter" idx="4"/>
          </p:nvPr>
        </p:nvSpPr>
        <p:spPr>
          <a:noFill/>
        </p:spPr>
        <p:txBody>
          <a:bodyPr vert="horz" lIns="91388" tIns="45694" rIns="91388" bIns="45694" rtlCol="0" anchor="ctr"/>
          <a:lstStyle/>
          <a:p>
            <a:pPr>
              <a:defRPr/>
            </a:pPr>
            <a:r>
              <a:rPr lang="en-US" altLang="zh-CN" sz="825">
                <a:solidFill>
                  <a:prstClr val="black">
                    <a:lumMod val="65000"/>
                    <a:lumOff val="35000"/>
                  </a:prstClr>
                </a:solidFill>
              </a:rPr>
              <a:t>4</a:t>
            </a:r>
            <a:endParaRPr lang="en-US" altLang="zh-CN" sz="825" dirty="0">
              <a:solidFill>
                <a:prstClr val="black">
                  <a:lumMod val="65000"/>
                  <a:lumOff val="35000"/>
                </a:prstClr>
              </a:solidFill>
            </a:endParaRPr>
          </a:p>
        </p:txBody>
      </p:sp>
      <p:sp>
        <p:nvSpPr>
          <p:cNvPr id="9" name="矩形 8"/>
          <p:cNvSpPr/>
          <p:nvPr/>
        </p:nvSpPr>
        <p:spPr>
          <a:xfrm>
            <a:off x="416868" y="639934"/>
            <a:ext cx="9444494" cy="1060450"/>
          </a:xfrm>
          <a:prstGeom prst="rect">
            <a:avLst/>
          </a:prstGeom>
        </p:spPr>
        <p:txBody>
          <a:bodyPr wrap="square">
            <a:spAutoFit/>
          </a:bodyPr>
          <a:lstStyle/>
          <a:p>
            <a:pPr>
              <a:lnSpc>
                <a:spcPct val="150000"/>
              </a:lnSpc>
            </a:pPr>
            <a:r>
              <a:rPr lang="zh-CN" altLang="en-US" sz="1400" b="1" dirty="0">
                <a:solidFill>
                  <a:srgbClr val="242331"/>
                </a:solidFill>
                <a:latin typeface="微软雅黑" panose="020B0503020204020204" pitchFamily="34" charset="-122"/>
                <a:ea typeface="微软雅黑" panose="020B0503020204020204" pitchFamily="34" charset="-122"/>
              </a:rPr>
              <a:t>昆山项目</a:t>
            </a:r>
            <a:r>
              <a:rPr lang="en-US" altLang="zh-CN" sz="1400" b="1" dirty="0">
                <a:solidFill>
                  <a:srgbClr val="242331"/>
                </a:solidFill>
                <a:latin typeface="微软雅黑" panose="020B0503020204020204" pitchFamily="34" charset="-122"/>
                <a:ea typeface="微软雅黑" panose="020B0503020204020204" pitchFamily="34" charset="-122"/>
              </a:rPr>
              <a:t>2025</a:t>
            </a:r>
            <a:r>
              <a:rPr lang="zh-CN" altLang="en-US" sz="1400" b="1" dirty="0" smtClean="0">
                <a:solidFill>
                  <a:srgbClr val="242331"/>
                </a:solidFill>
                <a:latin typeface="微软雅黑" panose="020B0503020204020204" pitchFamily="34" charset="-122"/>
                <a:ea typeface="微软雅黑" panose="020B0503020204020204" pitchFamily="34" charset="-122"/>
              </a:rPr>
              <a:t>年指标</a:t>
            </a:r>
            <a:r>
              <a:rPr lang="zh-CN" altLang="en-US" sz="1400" b="1" dirty="0">
                <a:solidFill>
                  <a:srgbClr val="242331"/>
                </a:solidFill>
                <a:latin typeface="微软雅黑" panose="020B0503020204020204" pitchFamily="34" charset="-122"/>
                <a:ea typeface="微软雅黑" panose="020B0503020204020204" pitchFamily="34" charset="-122"/>
              </a:rPr>
              <a:t>达成</a:t>
            </a:r>
            <a:r>
              <a:rPr lang="zh-CN" altLang="en-US" sz="1400" b="1" dirty="0" smtClean="0">
                <a:solidFill>
                  <a:srgbClr val="242331"/>
                </a:solidFill>
                <a:latin typeface="微软雅黑" panose="020B0503020204020204" pitchFamily="34" charset="-122"/>
                <a:ea typeface="微软雅黑" panose="020B0503020204020204" pitchFamily="34" charset="-122"/>
              </a:rPr>
              <a:t>情况预测</a:t>
            </a:r>
            <a:r>
              <a:rPr lang="zh-CN" altLang="en-US" sz="1400" b="1" dirty="0">
                <a:solidFill>
                  <a:srgbClr val="242331"/>
                </a:solidFill>
                <a:latin typeface="微软雅黑" panose="020B0503020204020204" pitchFamily="34" charset="-122"/>
                <a:ea typeface="微软雅黑" panose="020B0503020204020204" pitchFamily="34" charset="-122"/>
              </a:rPr>
              <a:t>：</a:t>
            </a:r>
            <a:endParaRPr lang="en-US" altLang="zh-CN" sz="1400" b="1" dirty="0">
              <a:solidFill>
                <a:srgbClr val="242331"/>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Font typeface="Wingdings" panose="05000000000000000000" pitchFamily="2" charset="2"/>
              <a:buChar char="n"/>
            </a:pPr>
            <a:r>
              <a:rPr lang="en-US" altLang="zh-CN" sz="1400" b="1" dirty="0" smtClean="0">
                <a:solidFill>
                  <a:srgbClr val="242331"/>
                </a:solidFill>
                <a:latin typeface="微软雅黑" panose="020B0503020204020204" pitchFamily="34" charset="-122"/>
                <a:ea typeface="微软雅黑" panose="020B0503020204020204" pitchFamily="34" charset="-122"/>
              </a:rPr>
              <a:t>2025</a:t>
            </a:r>
            <a:r>
              <a:rPr lang="zh-CN" altLang="en-US" sz="1400" b="1" dirty="0" smtClean="0">
                <a:solidFill>
                  <a:srgbClr val="242331"/>
                </a:solidFill>
                <a:latin typeface="微软雅黑" panose="020B0503020204020204" pitchFamily="34" charset="-122"/>
                <a:ea typeface="微软雅黑" panose="020B0503020204020204" pitchFamily="34" charset="-122"/>
              </a:rPr>
              <a:t>年全年预估：</a:t>
            </a:r>
            <a:r>
              <a:rPr lang="zh-CN" altLang="en-US" sz="1400" b="1" dirty="0" smtClean="0">
                <a:latin typeface="微软雅黑" panose="020B0503020204020204" pitchFamily="34" charset="-122"/>
                <a:ea typeface="微软雅黑" panose="020B0503020204020204" pitchFamily="34" charset="-122"/>
              </a:rPr>
              <a:t>签约</a:t>
            </a:r>
            <a:r>
              <a:rPr lang="zh-CN" altLang="en-US" sz="1400" b="1" dirty="0">
                <a:latin typeface="微软雅黑" panose="020B0503020204020204" pitchFamily="34" charset="-122"/>
                <a:ea typeface="微软雅黑" panose="020B0503020204020204" pitchFamily="34" charset="-122"/>
              </a:rPr>
              <a:t>面积</a:t>
            </a:r>
            <a:r>
              <a:rPr lang="en-US" altLang="zh-CN" sz="1400" b="1" dirty="0">
                <a:latin typeface="微软雅黑" panose="020B0503020204020204" pitchFamily="34" charset="-122"/>
                <a:ea typeface="微软雅黑" panose="020B0503020204020204" pitchFamily="34" charset="-122"/>
              </a:rPr>
              <a:t>12,000</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25</a:t>
            </a:r>
            <a:r>
              <a:rPr lang="zh-CN" altLang="en-US" sz="1400" b="1" dirty="0" smtClean="0">
                <a:latin typeface="微软雅黑" panose="020B0503020204020204" pitchFamily="34" charset="-122"/>
                <a:ea typeface="微软雅黑" panose="020B0503020204020204" pitchFamily="34" charset="-122"/>
              </a:rPr>
              <a:t>年</a:t>
            </a:r>
            <a:r>
              <a:rPr lang="en-US" altLang="zh-CN" sz="1400" b="1" dirty="0" smtClean="0">
                <a:latin typeface="微软雅黑" panose="020B0503020204020204" pitchFamily="34" charset="-122"/>
                <a:ea typeface="微软雅黑" panose="020B0503020204020204" pitchFamily="34" charset="-122"/>
              </a:rPr>
              <a:t>5</a:t>
            </a:r>
            <a:r>
              <a:rPr lang="zh-CN" altLang="en-US" sz="1400" b="1" dirty="0" smtClean="0">
                <a:latin typeface="微软雅黑" panose="020B0503020204020204" pitchFamily="34" charset="-122"/>
                <a:ea typeface="微软雅黑" panose="020B0503020204020204" pitchFamily="34" charset="-122"/>
              </a:rPr>
              <a:t>月正式招商），经营收入</a:t>
            </a:r>
            <a:r>
              <a:rPr lang="en-US" altLang="zh-CN" sz="1400" b="1" dirty="0" smtClean="0">
                <a:latin typeface="微软雅黑" panose="020B0503020204020204" pitchFamily="34" charset="-122"/>
                <a:ea typeface="微软雅黑" panose="020B0503020204020204" pitchFamily="34" charset="-122"/>
              </a:rPr>
              <a:t>987.55</a:t>
            </a:r>
            <a:r>
              <a:rPr lang="zh-CN" altLang="en-US" sz="1400" b="1" dirty="0" smtClean="0">
                <a:latin typeface="微软雅黑" panose="020B0503020204020204" pitchFamily="34" charset="-122"/>
                <a:ea typeface="微软雅黑" panose="020B0503020204020204" pitchFamily="34" charset="-122"/>
              </a:rPr>
              <a:t>万（含管理费</a:t>
            </a:r>
            <a:r>
              <a:rPr lang="en-US" altLang="zh-CN" sz="1400" b="1" dirty="0" smtClean="0">
                <a:latin typeface="微软雅黑" panose="020B0503020204020204" pitchFamily="34" charset="-122"/>
                <a:ea typeface="微软雅黑" panose="020B0503020204020204" pitchFamily="34" charset="-122"/>
              </a:rPr>
              <a:t>900</a:t>
            </a:r>
            <a:r>
              <a:rPr lang="zh-CN" altLang="en-US" sz="1400" b="1" dirty="0" smtClean="0">
                <a:latin typeface="微软雅黑" panose="020B0503020204020204" pitchFamily="34" charset="-122"/>
                <a:ea typeface="微软雅黑" panose="020B0503020204020204" pitchFamily="34" charset="-122"/>
              </a:rPr>
              <a:t>万元，佣金收入</a:t>
            </a:r>
            <a:r>
              <a:rPr lang="en-US" altLang="zh-CN" sz="1400" b="1" dirty="0" smtClean="0">
                <a:latin typeface="微软雅黑" panose="020B0503020204020204" pitchFamily="34" charset="-122"/>
                <a:ea typeface="微软雅黑" panose="020B0503020204020204" pitchFamily="34" charset="-122"/>
              </a:rPr>
              <a:t>87.55</a:t>
            </a:r>
            <a:r>
              <a:rPr lang="zh-CN" altLang="en-US" sz="1400" b="1" dirty="0" smtClean="0">
                <a:latin typeface="微软雅黑" panose="020B0503020204020204" pitchFamily="34" charset="-122"/>
                <a:ea typeface="微软雅黑" panose="020B0503020204020204" pitchFamily="34" charset="-122"/>
              </a:rPr>
              <a:t>万元；）</a:t>
            </a:r>
            <a:r>
              <a:rPr lang="en-US" altLang="zh-CN" sz="1400" b="1" dirty="0" smtClean="0">
                <a:latin typeface="微软雅黑" panose="020B0503020204020204" pitchFamily="34" charset="-122"/>
                <a:ea typeface="微软雅黑" panose="020B0503020204020204" pitchFamily="34" charset="-122"/>
              </a:rPr>
              <a:t> NOI</a:t>
            </a:r>
            <a:r>
              <a:rPr lang="zh-CN" altLang="en-US" sz="1400" b="1" dirty="0" smtClean="0">
                <a:latin typeface="微软雅黑" panose="020B0503020204020204" pitchFamily="34" charset="-122"/>
                <a:ea typeface="微软雅黑" panose="020B0503020204020204" pitchFamily="34" charset="-122"/>
              </a:rPr>
              <a:t>目标为</a:t>
            </a:r>
            <a:r>
              <a:rPr lang="en-US" altLang="zh-CN" sz="1400" b="1" dirty="0" smtClean="0">
                <a:latin typeface="微软雅黑" panose="020B0503020204020204" pitchFamily="34" charset="-122"/>
                <a:ea typeface="微软雅黑" panose="020B0503020204020204" pitchFamily="34" charset="-122"/>
              </a:rPr>
              <a:t>347</a:t>
            </a:r>
            <a:r>
              <a:rPr lang="zh-CN" altLang="en-US" sz="1400" b="1" dirty="0" smtClean="0">
                <a:latin typeface="微软雅黑" panose="020B0503020204020204" pitchFamily="34" charset="-122"/>
                <a:ea typeface="微软雅黑" panose="020B0503020204020204" pitchFamily="34" charset="-122"/>
              </a:rPr>
              <a:t>万；</a:t>
            </a:r>
            <a:endParaRPr lang="en-US" altLang="zh-CN" sz="1400" b="1" dirty="0">
              <a:latin typeface="微软雅黑" panose="020B0503020204020204" pitchFamily="34" charset="-122"/>
              <a:ea typeface="微软雅黑" panose="020B0503020204020204" pitchFamily="34" charset="-122"/>
            </a:endParaRPr>
          </a:p>
        </p:txBody>
      </p:sp>
      <p:graphicFrame>
        <p:nvGraphicFramePr>
          <p:cNvPr id="6" name="表格 5"/>
          <p:cNvGraphicFramePr>
            <a:graphicFrameLocks noGrp="1"/>
          </p:cNvGraphicFramePr>
          <p:nvPr/>
        </p:nvGraphicFramePr>
        <p:xfrm>
          <a:off x="568325" y="2221230"/>
          <a:ext cx="8313420" cy="1076960"/>
        </p:xfrm>
        <a:graphic>
          <a:graphicData uri="http://schemas.openxmlformats.org/drawingml/2006/table">
            <a:tbl>
              <a:tblPr/>
              <a:tblGrid>
                <a:gridCol w="1385570"/>
                <a:gridCol w="1385570"/>
                <a:gridCol w="1385570"/>
                <a:gridCol w="1385570"/>
                <a:gridCol w="1385570"/>
                <a:gridCol w="1385570"/>
              </a:tblGrid>
              <a:tr h="324485">
                <a:tc rowSpan="2">
                  <a:txBody>
                    <a:bodyPr/>
                    <a:lstStyle/>
                    <a:p>
                      <a:pPr algn="ctr" rtl="0" fontAlgn="ctr"/>
                      <a:r>
                        <a:rPr lang="zh-CN" altLang="en-US" sz="910" b="1" i="0" u="none" strike="noStrike" dirty="0">
                          <a:solidFill>
                            <a:srgbClr val="FFFFFF"/>
                          </a:solidFill>
                          <a:effectLst/>
                          <a:latin typeface="微软雅黑" panose="020B0503020204020204" pitchFamily="34" charset="-122"/>
                          <a:ea typeface="微软雅黑" panose="020B0503020204020204" pitchFamily="34" charset="-122"/>
                        </a:rPr>
                        <a:t>项目</a:t>
                      </a:r>
                      <a:endParaRPr lang="zh-CN" altLang="en-US" sz="910" b="1" i="0" u="none" strike="noStrike" dirty="0">
                        <a:solidFill>
                          <a:srgbClr val="FFFFFF"/>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4">
                  <a:txBody>
                    <a:bodyPr/>
                    <a:lstStyle/>
                    <a:p>
                      <a:pPr algn="ctr" rtl="0" fontAlgn="ctr"/>
                      <a:r>
                        <a:rPr lang="en-US" altLang="zh-CN" sz="1650" b="1" i="0" u="none" strike="noStrike" dirty="0">
                          <a:solidFill>
                            <a:srgbClr val="FFFFFF"/>
                          </a:solidFill>
                          <a:effectLst/>
                          <a:latin typeface="Calibri" panose="020F0502020204030204" pitchFamily="34" charset="0"/>
                          <a:ea typeface="宋体" panose="02010600030101010101" pitchFamily="2" charset="-122"/>
                        </a:rPr>
                        <a:t>2026</a:t>
                      </a:r>
                      <a:r>
                        <a:rPr lang="zh-CN" altLang="en-US" sz="1650" b="1" i="0" u="none" strike="noStrike" dirty="0">
                          <a:solidFill>
                            <a:srgbClr val="FFFFFF"/>
                          </a:solidFill>
                          <a:effectLst/>
                          <a:latin typeface="微软雅黑" panose="020B0503020204020204" pitchFamily="34" charset="-122"/>
                          <a:ea typeface="微软雅黑" panose="020B0503020204020204" pitchFamily="34" charset="-122"/>
                        </a:rPr>
                        <a:t>年</a:t>
                      </a:r>
                      <a:r>
                        <a:rPr lang="zh-CN" altLang="en-US" sz="1650" b="1" i="0" u="none" strike="noStrike" dirty="0" smtClean="0">
                          <a:solidFill>
                            <a:srgbClr val="FFFFFF"/>
                          </a:solidFill>
                          <a:effectLst/>
                          <a:latin typeface="微软雅黑" panose="020B0503020204020204" pitchFamily="34" charset="-122"/>
                          <a:ea typeface="微软雅黑" panose="020B0503020204020204" pitchFamily="34" charset="-122"/>
                        </a:rPr>
                        <a:t>租赁经营指标</a:t>
                      </a:r>
                      <a:endParaRPr lang="zh-CN" altLang="en-US" sz="1650" b="1" i="0" u="none" strike="noStrike" dirty="0">
                        <a:solidFill>
                          <a:srgbClr val="FFFFFF"/>
                        </a:solidFill>
                        <a:effectLst/>
                        <a:latin typeface="Calibri" panose="020F0502020204030204" pitchFamily="34" charset="0"/>
                        <a:ea typeface="宋体" panose="02010600030101010101" pitchFamily="2"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a:txBody>
                    <a:bodyPr/>
                    <a:lstStyle/>
                    <a:p>
                      <a:pPr algn="ctr" rtl="0" fontAlgn="ctr"/>
                      <a:endParaRPr lang="zh-CN" altLang="en-US" sz="1650" b="1" i="0" u="none" strike="noStrike" dirty="0">
                        <a:solidFill>
                          <a:srgbClr val="FFFFFF"/>
                        </a:solidFill>
                        <a:effectLst/>
                        <a:latin typeface="Calibri" panose="020F0502020204030204" pitchFamily="34" charset="0"/>
                        <a:ea typeface="宋体" panose="02010600030101010101" pitchFamily="2" charset="-122"/>
                      </a:endParaRPr>
                    </a:p>
                  </a:txBody>
                  <a:tcPr marL="6451" marR="6451" marT="6451"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359410">
                <a:tc vMerge="1">
                  <a:tcPr/>
                </a:tc>
                <a:tc>
                  <a:txBody>
                    <a:bodyPr/>
                    <a:lstStyle/>
                    <a:p>
                      <a:pPr algn="ctr" rtl="0" fontAlgn="ct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签约均价</a:t>
                      </a:r>
                      <a:b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（元</a:t>
                      </a:r>
                      <a:r>
                        <a:rPr lang="en-US" altLang="zh-CN" sz="1155" b="1" i="0" u="none" strike="noStrike" dirty="0">
                          <a:solidFill>
                            <a:srgbClr val="FFFFFF"/>
                          </a:solidFill>
                          <a:effectLst/>
                          <a:latin typeface="微软雅黑" panose="020B0503020204020204" pitchFamily="34" charset="-122"/>
                          <a:ea typeface="微软雅黑" panose="020B0503020204020204" pitchFamily="34" charset="-122"/>
                        </a:rPr>
                        <a:t>/㎡</a:t>
                      </a: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a:t>
                      </a:r>
                      <a:endParaRPr lang="zh-CN" altLang="en-US" sz="1155" b="1" i="0" u="none" strike="noStrike" dirty="0">
                        <a:solidFill>
                          <a:srgbClr val="FFFFFF"/>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签约</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面积（</a:t>
                      </a:r>
                      <a:r>
                        <a:rPr lang="zh-CN" altLang="en-US" sz="1155" b="1" i="0" u="none" strike="noStrike" dirty="0" smtClean="0">
                          <a:solidFill>
                            <a:schemeClr val="bg1"/>
                          </a:solidFill>
                          <a:effectLst/>
                          <a:latin typeface="微软雅黑" panose="020B0503020204020204" pitchFamily="34" charset="-122"/>
                          <a:ea typeface="微软雅黑" panose="020B0503020204020204" pitchFamily="34" charset="-122"/>
                        </a:rPr>
                        <a:t>㎡</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a:t>
                      </a:r>
                      <a:endParaRPr lang="zh-CN" altLang="en-US" sz="1155" b="1" i="0" u="none" strike="noStrike" dirty="0">
                        <a:solidFill>
                          <a:srgbClr val="FFFFFF"/>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管理服务费</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收入</a:t>
                      </a:r>
                      <a:endParaRPr lang="en-US" altLang="zh-CN" sz="1155" b="1" i="0" u="none" strike="noStrike" dirty="0" smtClean="0">
                        <a:solidFill>
                          <a:srgbClr val="FFFFFF"/>
                        </a:solidFill>
                        <a:effectLst/>
                        <a:latin typeface="微软雅黑" panose="020B0503020204020204" pitchFamily="34" charset="-122"/>
                        <a:ea typeface="微软雅黑" panose="020B0503020204020204" pitchFamily="34" charset="-122"/>
                      </a:endParaRPr>
                    </a:p>
                    <a:p>
                      <a:pPr algn="ctr" rtl="0" fontAlgn="ctr"/>
                      <a:r>
                        <a:rPr lang="en-US" altLang="zh-CN" sz="1155" b="1" i="0" u="none" strike="noStrike" dirty="0" smtClean="0">
                          <a:solidFill>
                            <a:srgbClr val="FFFFFF"/>
                          </a:solidFill>
                          <a:effectLst/>
                          <a:latin typeface="微软雅黑" panose="020B0503020204020204" pitchFamily="34" charset="-122"/>
                          <a:ea typeface="微软雅黑" panose="020B0503020204020204" pitchFamily="34" charset="-122"/>
                        </a:rPr>
                        <a:t>/</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万元</a:t>
                      </a:r>
                      <a:endParaRPr lang="zh-CN" altLang="en-US" sz="1155" b="1" i="0" u="none" strike="noStrike" dirty="0">
                        <a:solidFill>
                          <a:srgbClr val="FFFFFF"/>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佣金</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收入</a:t>
                      </a:r>
                      <a:r>
                        <a:rPr lang="en-US" altLang="zh-CN" sz="1155" b="1" i="0" u="none" strike="noStrike" dirty="0" smtClean="0">
                          <a:solidFill>
                            <a:srgbClr val="FFFFFF"/>
                          </a:solidFill>
                          <a:effectLst/>
                          <a:latin typeface="微软雅黑" panose="020B0503020204020204" pitchFamily="34" charset="-122"/>
                          <a:ea typeface="微软雅黑" panose="020B0503020204020204" pitchFamily="34" charset="-122"/>
                        </a:rPr>
                        <a:t>/</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万元</a:t>
                      </a:r>
                      <a:endParaRPr lang="zh-CN" altLang="en-US" sz="1155" b="1" i="0" u="none" strike="noStrike" dirty="0">
                        <a:solidFill>
                          <a:srgbClr val="FFFFFF"/>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t>经营利润</a:t>
                      </a:r>
                      <a:br>
                        <a:rPr lang="zh-CN" altLang="en-US" sz="1155"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目标</a:t>
                      </a:r>
                      <a:r>
                        <a:rPr lang="en-US" altLang="zh-CN" sz="1155" b="1" i="0" u="none" strike="noStrike" dirty="0" smtClean="0">
                          <a:solidFill>
                            <a:srgbClr val="FFFFFF"/>
                          </a:solidFill>
                          <a:effectLst/>
                          <a:latin typeface="微软雅黑" panose="020B0503020204020204" pitchFamily="34" charset="-122"/>
                          <a:ea typeface="微软雅黑" panose="020B0503020204020204" pitchFamily="34" charset="-122"/>
                        </a:rPr>
                        <a:t>/</a:t>
                      </a:r>
                      <a:r>
                        <a:rPr lang="zh-CN" altLang="en-US" sz="1155" b="1" i="0" u="none" strike="noStrike" dirty="0" smtClean="0">
                          <a:solidFill>
                            <a:srgbClr val="FFFFFF"/>
                          </a:solidFill>
                          <a:effectLst/>
                          <a:latin typeface="微软雅黑" panose="020B0503020204020204" pitchFamily="34" charset="-122"/>
                          <a:ea typeface="微软雅黑" panose="020B0503020204020204" pitchFamily="34" charset="-122"/>
                        </a:rPr>
                        <a:t>万元</a:t>
                      </a:r>
                      <a:endParaRPr lang="zh-CN" altLang="en-US" sz="1155" b="1" i="0" u="none" strike="noStrike" dirty="0">
                        <a:solidFill>
                          <a:srgbClr val="FFFFFF"/>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393065">
                <a:tc>
                  <a:txBody>
                    <a:bodyPr/>
                    <a:lstStyle/>
                    <a:p>
                      <a:pPr algn="ctr" rtl="0" fontAlgn="ctr"/>
                      <a:r>
                        <a:rPr lang="zh-CN" altLang="en-US" sz="1155" b="1" i="0" u="none" strike="noStrike" dirty="0">
                          <a:solidFill>
                            <a:srgbClr val="000000"/>
                          </a:solidFill>
                          <a:effectLst/>
                          <a:latin typeface="微软雅黑" panose="020B0503020204020204" pitchFamily="34" charset="-122"/>
                          <a:ea typeface="微软雅黑" panose="020B0503020204020204" pitchFamily="34" charset="-122"/>
                        </a:rPr>
                        <a:t>昆山轻资产项目</a:t>
                      </a:r>
                      <a:endParaRPr lang="en-US" sz="1155" b="1" i="0" u="none" strike="noStrike" dirty="0">
                        <a:solidFill>
                          <a:srgbClr val="000000"/>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320" b="1" i="0" u="none" strike="noStrike" dirty="0">
                          <a:solidFill>
                            <a:srgbClr val="000000"/>
                          </a:solidFill>
                          <a:effectLst/>
                          <a:latin typeface="微软雅黑" panose="020B0503020204020204" pitchFamily="34" charset="-122"/>
                          <a:ea typeface="微软雅黑" panose="020B0503020204020204" pitchFamily="34" charset="-122"/>
                        </a:rPr>
                        <a:t>36</a:t>
                      </a:r>
                      <a:endParaRPr lang="en-US" altLang="zh-CN" sz="1320" b="1" i="0" u="none" strike="noStrike" dirty="0">
                        <a:solidFill>
                          <a:srgbClr val="000000"/>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p>
                      <a:pPr algn="ctr" rtl="0" fontAlgn="ctr"/>
                      <a:r>
                        <a:rPr lang="en-US" altLang="zh-CN" sz="1320" b="1" i="0" u="none" strike="noStrike" dirty="0" smtClean="0">
                          <a:solidFill>
                            <a:srgbClr val="000000"/>
                          </a:solidFill>
                          <a:effectLst/>
                          <a:latin typeface="微软雅黑" panose="020B0503020204020204" pitchFamily="34" charset="-122"/>
                          <a:ea typeface="微软雅黑" panose="020B0503020204020204" pitchFamily="34" charset="-122"/>
                        </a:rPr>
                        <a:t>20,000</a:t>
                      </a:r>
                      <a:endParaRPr lang="en-US" altLang="zh-CN" sz="1320" b="1" i="0" u="none" strike="noStrike" dirty="0">
                        <a:solidFill>
                          <a:srgbClr val="000000"/>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p>
                      <a:pPr algn="ctr" rtl="0" fontAlgn="ctr"/>
                      <a:r>
                        <a:rPr lang="en-US" altLang="zh-CN" sz="1320" b="1" i="0" u="none" strike="noStrike" dirty="0">
                          <a:solidFill>
                            <a:srgbClr val="000000"/>
                          </a:solidFill>
                          <a:effectLst/>
                          <a:latin typeface="微软雅黑" panose="020B0503020204020204" pitchFamily="34" charset="-122"/>
                          <a:ea typeface="微软雅黑" panose="020B0503020204020204" pitchFamily="34" charset="-122"/>
                        </a:rPr>
                        <a:t>800</a:t>
                      </a:r>
                      <a:endParaRPr lang="en-US" altLang="zh-CN" sz="1320" b="1" i="0" u="none" strike="noStrike" dirty="0">
                        <a:solidFill>
                          <a:srgbClr val="000000"/>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p>
                      <a:pPr algn="ctr" rtl="0" fontAlgn="ctr"/>
                      <a:r>
                        <a:rPr lang="en-US" altLang="zh-CN" sz="1320" b="1" i="0" u="none" strike="noStrike" dirty="0">
                          <a:solidFill>
                            <a:srgbClr val="000000"/>
                          </a:solidFill>
                          <a:effectLst/>
                          <a:latin typeface="微软雅黑" panose="020B0503020204020204" pitchFamily="34" charset="-122"/>
                          <a:ea typeface="微软雅黑" panose="020B0503020204020204" pitchFamily="34" charset="-122"/>
                        </a:rPr>
                        <a:t>190.08</a:t>
                      </a:r>
                      <a:endParaRPr lang="en-US" altLang="zh-CN" sz="1320" b="1" i="0" u="none" strike="noStrike" dirty="0">
                        <a:solidFill>
                          <a:srgbClr val="000000"/>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p>
                      <a:pPr algn="ctr" rtl="0" fontAlgn="ctr"/>
                      <a:r>
                        <a:rPr lang="en-US" altLang="zh-CN" sz="1320" b="1" i="0" u="none" strike="noStrike" dirty="0">
                          <a:solidFill>
                            <a:srgbClr val="000000"/>
                          </a:solidFill>
                          <a:effectLst/>
                          <a:latin typeface="微软雅黑" panose="020B0503020204020204" pitchFamily="34" charset="-122"/>
                          <a:ea typeface="微软雅黑" panose="020B0503020204020204" pitchFamily="34" charset="-122"/>
                        </a:rPr>
                        <a:t>126</a:t>
                      </a:r>
                      <a:endParaRPr lang="en-US" altLang="zh-CN" sz="1320" b="1" i="0" u="none" strike="noStrike" dirty="0">
                        <a:solidFill>
                          <a:srgbClr val="000000"/>
                        </a:solidFill>
                        <a:effectLst/>
                        <a:latin typeface="微软雅黑" panose="020B0503020204020204" pitchFamily="34" charset="-122"/>
                        <a:ea typeface="微软雅黑" panose="020B0503020204020204" pitchFamily="34" charset="-122"/>
                      </a:endParaRPr>
                    </a:p>
                  </a:txBody>
                  <a:tcPr marL="6451" marR="6451" marT="645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r>
            </a:tbl>
          </a:graphicData>
        </a:graphic>
      </p:graphicFrame>
      <p:sp>
        <p:nvSpPr>
          <p:cNvPr id="7" name="矩形 6"/>
          <p:cNvSpPr/>
          <p:nvPr/>
        </p:nvSpPr>
        <p:spPr>
          <a:xfrm>
            <a:off x="416868" y="1764040"/>
            <a:ext cx="7901305" cy="306705"/>
          </a:xfrm>
          <a:prstGeom prst="rect">
            <a:avLst/>
          </a:prstGeom>
        </p:spPr>
        <p:txBody>
          <a:bodyPr wrap="none">
            <a:spAutoFit/>
          </a:bodyPr>
          <a:lstStyle/>
          <a:p>
            <a:pPr marL="285750" indent="-285750" eaLnBrk="0" fontAlgn="base" hangingPunct="0">
              <a:spcBef>
                <a:spcPct val="0"/>
              </a:spcBef>
              <a:spcAft>
                <a:spcPct val="0"/>
              </a:spcAft>
              <a:buFont typeface="Wingdings" panose="05000000000000000000" pitchFamily="2" charset="2"/>
              <a:buChar char="n"/>
              <a:defRPr/>
            </a:pPr>
            <a:r>
              <a:rPr lang="en-US" altLang="zh-CN" sz="1400" b="1" dirty="0">
                <a:solidFill>
                  <a:srgbClr val="242331"/>
                </a:solidFill>
                <a:latin typeface="微软雅黑" panose="020B0503020204020204" pitchFamily="34" charset="-122"/>
                <a:ea typeface="微软雅黑" panose="020B0503020204020204" pitchFamily="34" charset="-122"/>
              </a:rPr>
              <a:t>2026</a:t>
            </a:r>
            <a:r>
              <a:rPr lang="zh-CN" altLang="en-US" sz="1400" b="1" dirty="0">
                <a:solidFill>
                  <a:srgbClr val="242331"/>
                </a:solidFill>
                <a:latin typeface="微软雅黑" panose="020B0503020204020204" pitchFamily="34" charset="-122"/>
                <a:ea typeface="微软雅黑" panose="020B0503020204020204" pitchFamily="34" charset="-122"/>
              </a:rPr>
              <a:t>年经营目标</a:t>
            </a:r>
            <a:r>
              <a:rPr lang="zh-CN" altLang="en-US" sz="1400" b="1" dirty="0" smtClean="0">
                <a:solidFill>
                  <a:srgbClr val="242331"/>
                </a:solidFill>
                <a:latin typeface="微软雅黑" panose="020B0503020204020204" pitchFamily="34" charset="-122"/>
                <a:ea typeface="微软雅黑" panose="020B0503020204020204" pitchFamily="34" charset="-122"/>
              </a:rPr>
              <a:t>：</a:t>
            </a:r>
            <a:r>
              <a:rPr lang="zh-CN" altLang="en-US" sz="1400" b="1" dirty="0">
                <a:solidFill>
                  <a:srgbClr val="C00000"/>
                </a:solidFill>
                <a:latin typeface="微软雅黑" panose="020B0503020204020204" pitchFamily="34" charset="-122"/>
                <a:ea typeface="微软雅黑" panose="020B0503020204020204" pitchFamily="34" charset="-122"/>
              </a:rPr>
              <a:t>租赁面积 </a:t>
            </a:r>
            <a:r>
              <a:rPr lang="en-US" altLang="zh-CN" sz="1400" b="1" dirty="0">
                <a:solidFill>
                  <a:srgbClr val="C00000"/>
                </a:solidFill>
                <a:latin typeface="微软雅黑" panose="020B0503020204020204" pitchFamily="34" charset="-122"/>
                <a:ea typeface="微软雅黑" panose="020B0503020204020204" pitchFamily="34" charset="-122"/>
              </a:rPr>
              <a:t>20000 </a:t>
            </a:r>
            <a:r>
              <a:rPr lang="zh-CN" altLang="en-US" sz="1400" b="1" dirty="0" smtClean="0">
                <a:solidFill>
                  <a:srgbClr val="C00000"/>
                </a:solidFill>
                <a:latin typeface="微软雅黑" panose="020B0503020204020204" pitchFamily="34" charset="-122"/>
                <a:ea typeface="微软雅黑" panose="020B0503020204020204" pitchFamily="34" charset="-122"/>
              </a:rPr>
              <a:t>㎡（</a:t>
            </a:r>
            <a:r>
              <a:rPr lang="en-US" altLang="zh-CN" sz="1400" b="1" dirty="0" smtClean="0">
                <a:solidFill>
                  <a:srgbClr val="C00000"/>
                </a:solidFill>
                <a:latin typeface="微软雅黑" panose="020B0503020204020204" pitchFamily="34" charset="-122"/>
                <a:ea typeface="微软雅黑" panose="020B0503020204020204" pitchFamily="34" charset="-122"/>
              </a:rPr>
              <a:t>26</a:t>
            </a:r>
            <a:r>
              <a:rPr lang="zh-CN" altLang="en-US" sz="1400" b="1" dirty="0" smtClean="0">
                <a:solidFill>
                  <a:srgbClr val="C00000"/>
                </a:solidFill>
                <a:latin typeface="微软雅黑" panose="020B0503020204020204" pitchFamily="34" charset="-122"/>
                <a:ea typeface="微软雅黑" panose="020B0503020204020204" pitchFamily="34" charset="-122"/>
              </a:rPr>
              <a:t>年全年），经营</a:t>
            </a:r>
            <a:r>
              <a:rPr lang="zh-CN" altLang="en-US" sz="1400" b="1" dirty="0">
                <a:solidFill>
                  <a:srgbClr val="C00000"/>
                </a:solidFill>
                <a:latin typeface="微软雅黑" panose="020B0503020204020204" pitchFamily="34" charset="-122"/>
                <a:ea typeface="微软雅黑" panose="020B0503020204020204" pitchFamily="34" charset="-122"/>
              </a:rPr>
              <a:t>收入 </a:t>
            </a:r>
            <a:r>
              <a:rPr lang="en-US" altLang="zh-CN" sz="1400" b="1" dirty="0">
                <a:solidFill>
                  <a:srgbClr val="C00000"/>
                </a:solidFill>
                <a:latin typeface="微软雅黑" panose="020B0503020204020204" pitchFamily="34" charset="-122"/>
                <a:ea typeface="微软雅黑" panose="020B0503020204020204" pitchFamily="34" charset="-122"/>
              </a:rPr>
              <a:t>990.08</a:t>
            </a:r>
            <a:r>
              <a:rPr lang="zh-CN" altLang="en-US" sz="1400" b="1" dirty="0">
                <a:solidFill>
                  <a:srgbClr val="C00000"/>
                </a:solidFill>
                <a:latin typeface="微软雅黑" panose="020B0503020204020204" pitchFamily="34" charset="-122"/>
                <a:ea typeface="微软雅黑" panose="020B0503020204020204" pitchFamily="34" charset="-122"/>
              </a:rPr>
              <a:t> 万元</a:t>
            </a:r>
            <a:r>
              <a:rPr lang="zh-CN" altLang="en-US" sz="1400" b="1" dirty="0" smtClean="0">
                <a:solidFill>
                  <a:srgbClr val="C00000"/>
                </a:solidFill>
                <a:latin typeface="微软雅黑" panose="020B0503020204020204" pitchFamily="34" charset="-122"/>
                <a:ea typeface="微软雅黑" panose="020B0503020204020204" pitchFamily="34" charset="-122"/>
              </a:rPr>
              <a:t>，</a:t>
            </a:r>
            <a:r>
              <a:rPr lang="en-US" altLang="zh-CN" sz="1400" b="1" dirty="0" smtClean="0">
                <a:solidFill>
                  <a:srgbClr val="C00000"/>
                </a:solidFill>
                <a:latin typeface="微软雅黑" panose="020B0503020204020204" pitchFamily="34" charset="-122"/>
                <a:ea typeface="微软雅黑" panose="020B0503020204020204" pitchFamily="34" charset="-122"/>
              </a:rPr>
              <a:t>NOI </a:t>
            </a:r>
            <a:r>
              <a:rPr lang="en-US" altLang="zh-CN" sz="1400" b="1" dirty="0">
                <a:solidFill>
                  <a:srgbClr val="C00000"/>
                </a:solidFill>
                <a:latin typeface="微软雅黑" panose="020B0503020204020204" pitchFamily="34" charset="-122"/>
                <a:ea typeface="微软雅黑" panose="020B0503020204020204" pitchFamily="34" charset="-122"/>
              </a:rPr>
              <a:t>126</a:t>
            </a:r>
            <a:r>
              <a:rPr lang="zh-CN" altLang="en-US" sz="1400" b="1" dirty="0">
                <a:solidFill>
                  <a:srgbClr val="C00000"/>
                </a:solidFill>
                <a:latin typeface="微软雅黑" panose="020B0503020204020204" pitchFamily="34" charset="-122"/>
                <a:ea typeface="微软雅黑" panose="020B0503020204020204" pitchFamily="34" charset="-122"/>
              </a:rPr>
              <a:t> </a:t>
            </a:r>
            <a:r>
              <a:rPr lang="zh-CN" altLang="en-US" sz="1400" b="1" dirty="0" smtClean="0">
                <a:solidFill>
                  <a:srgbClr val="C00000"/>
                </a:solidFill>
                <a:latin typeface="微软雅黑" panose="020B0503020204020204" pitchFamily="34" charset="-122"/>
                <a:ea typeface="微软雅黑" panose="020B0503020204020204" pitchFamily="34" charset="-122"/>
              </a:rPr>
              <a:t>万元</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8" name="文本框 7"/>
          <p:cNvSpPr txBox="1"/>
          <p:nvPr/>
        </p:nvSpPr>
        <p:spPr>
          <a:xfrm>
            <a:off x="492886" y="3502277"/>
            <a:ext cx="4732607" cy="294005"/>
          </a:xfrm>
          <a:prstGeom prst="rect">
            <a:avLst/>
          </a:prstGeom>
          <a:noFill/>
        </p:spPr>
        <p:txBody>
          <a:bodyPr wrap="square">
            <a:spAutoFit/>
          </a:bodyPr>
          <a:lstStyle/>
          <a:p>
            <a:r>
              <a:rPr lang="en-US" altLang="zh-CN" sz="1320" b="1" spc="-41" dirty="0">
                <a:solidFill>
                  <a:prstClr val="black">
                    <a:lumMod val="75000"/>
                    <a:lumOff val="25000"/>
                  </a:prstClr>
                </a:solidFill>
                <a:latin typeface="微软雅黑" panose="020B0503020204020204" pitchFamily="34" charset="-122"/>
                <a:ea typeface="微软雅黑" panose="020B0503020204020204" pitchFamily="34" charset="-122"/>
              </a:rPr>
              <a:t>2026</a:t>
            </a:r>
            <a:r>
              <a:rPr lang="zh-CN" altLang="en-US" sz="1320" b="1" spc="-41" dirty="0">
                <a:solidFill>
                  <a:prstClr val="black">
                    <a:lumMod val="75000"/>
                    <a:lumOff val="25000"/>
                  </a:prstClr>
                </a:solidFill>
                <a:latin typeface="微软雅黑" panose="020B0503020204020204" pitchFamily="34" charset="-122"/>
                <a:ea typeface="微软雅黑" panose="020B0503020204020204" pitchFamily="34" charset="-122"/>
              </a:rPr>
              <a:t>年经营目标（</a:t>
            </a:r>
            <a:r>
              <a:rPr lang="zh-CN" altLang="en-US" sz="1320" b="1" spc="-41" dirty="0" smtClean="0">
                <a:solidFill>
                  <a:prstClr val="black">
                    <a:lumMod val="75000"/>
                    <a:lumOff val="25000"/>
                  </a:prstClr>
                </a:solidFill>
                <a:latin typeface="微软雅黑" panose="020B0503020204020204" pitchFamily="34" charset="-122"/>
                <a:ea typeface="微软雅黑" panose="020B0503020204020204" pitchFamily="34" charset="-122"/>
              </a:rPr>
              <a:t>租赁面积）</a:t>
            </a:r>
            <a:r>
              <a:rPr lang="zh-CN" altLang="en-US" sz="1320" b="1" spc="-41" dirty="0">
                <a:solidFill>
                  <a:prstClr val="black">
                    <a:lumMod val="75000"/>
                    <a:lumOff val="25000"/>
                  </a:prstClr>
                </a:solidFill>
                <a:latin typeface="微软雅黑" panose="020B0503020204020204" pitchFamily="34" charset="-122"/>
                <a:ea typeface="微软雅黑" panose="020B0503020204020204" pitchFamily="34" charset="-122"/>
              </a:rPr>
              <a:t>铺排计划：</a:t>
            </a:r>
            <a:endParaRPr lang="zh-CN" altLang="en-US" sz="1320" b="1" spc="-41" dirty="0">
              <a:solidFill>
                <a:prstClr val="black">
                  <a:lumMod val="75000"/>
                  <a:lumOff val="25000"/>
                </a:prstClr>
              </a:solidFill>
              <a:latin typeface="微软雅黑" panose="020B0503020204020204" pitchFamily="34" charset="-122"/>
              <a:ea typeface="微软雅黑" panose="020B0503020204020204" pitchFamily="34" charset="-122"/>
            </a:endParaRPr>
          </a:p>
        </p:txBody>
      </p:sp>
      <p:graphicFrame>
        <p:nvGraphicFramePr>
          <p:cNvPr id="11" name="表格 10"/>
          <p:cNvGraphicFramePr>
            <a:graphicFrameLocks noGrp="1"/>
          </p:cNvGraphicFramePr>
          <p:nvPr/>
        </p:nvGraphicFramePr>
        <p:xfrm>
          <a:off x="524510" y="3900170"/>
          <a:ext cx="8357235" cy="774700"/>
        </p:xfrm>
        <a:graphic>
          <a:graphicData uri="http://schemas.openxmlformats.org/drawingml/2006/table">
            <a:tbl>
              <a:tblPr/>
              <a:tblGrid>
                <a:gridCol w="782955"/>
                <a:gridCol w="631190"/>
                <a:gridCol w="631825"/>
                <a:gridCol w="630555"/>
                <a:gridCol w="631190"/>
                <a:gridCol w="631190"/>
                <a:gridCol w="631190"/>
                <a:gridCol w="631190"/>
                <a:gridCol w="631190"/>
                <a:gridCol w="631190"/>
                <a:gridCol w="631190"/>
                <a:gridCol w="631190"/>
                <a:gridCol w="631190"/>
              </a:tblGrid>
              <a:tr h="191770">
                <a:tc rowSpan="2">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12">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a:t>
                      </a: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1-12</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hMerge="1">
                  <a:tcPr/>
                </a:tc>
                <a:tc hMerge="1">
                  <a:tcPr/>
                </a:tc>
                <a:tc hMerge="1">
                  <a:tcPr/>
                </a:tc>
                <a:tc hMerge="1">
                  <a:tcPr/>
                </a:tc>
                <a:tc hMerge="1">
                  <a:tcPr/>
                </a:tc>
                <a:tc hMerge="1">
                  <a:tcPr/>
                </a:tc>
                <a:tc hMerge="1">
                  <a:tcPr/>
                </a:tc>
                <a:tc hMerge="1">
                  <a:tcPr/>
                </a:tc>
                <a:tc hMerge="1">
                  <a:tcPr/>
                </a:tc>
              </a:tr>
              <a:tr h="325120">
                <a:tc vMerge="1">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1</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3</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4</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6</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7</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8</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9</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10</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11</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12</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月</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257810">
                <a:tc>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20,000</a:t>
                      </a:r>
                      <a:r>
                        <a:rPr lang="zh-CN" altLang="en-US" sz="1000" b="1" i="0" u="none" strike="noStrike" dirty="0" smtClean="0">
                          <a:solidFill>
                            <a:srgbClr val="000000"/>
                          </a:solidFill>
                          <a:effectLst/>
                          <a:latin typeface="微软雅黑" panose="020B0503020204020204" pitchFamily="34" charset="-122"/>
                          <a:ea typeface="微软雅黑" panose="020B0503020204020204" pitchFamily="34" charset="-122"/>
                        </a:rPr>
                        <a:t>㎡</a:t>
                      </a:r>
                      <a:endParaRPr lang="zh-CN" altLang="en-US" sz="1000" b="1"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4979" marR="4979" marT="497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zh-CN" altLang="en-US" sz="1000" b="0" i="0" u="none" strike="noStrike" kern="1200" dirty="0">
                          <a:solidFill>
                            <a:srgbClr val="FF0000"/>
                          </a:solidFill>
                          <a:effectLst/>
                          <a:latin typeface="微软雅黑" panose="020B0503020204020204" pitchFamily="34" charset="-122"/>
                          <a:ea typeface="微软雅黑" panose="020B0503020204020204" pitchFamily="34" charset="-122"/>
                          <a:cs typeface="+mn-cs"/>
                        </a:rPr>
                        <a:t>  </a:t>
                      </a:r>
                      <a:r>
                        <a:rPr lang="en-US" altLang="zh-CN" sz="1000" b="0" i="0" u="none" strike="noStrike" kern="1200" dirty="0">
                          <a:solidFill>
                            <a:srgbClr val="FF0000"/>
                          </a:solidFill>
                          <a:effectLst/>
                          <a:latin typeface="微软雅黑" panose="020B0503020204020204" pitchFamily="34" charset="-122"/>
                          <a:ea typeface="微软雅黑" panose="020B0503020204020204" pitchFamily="34" charset="-122"/>
                          <a:cs typeface="+mn-cs"/>
                        </a:rPr>
                        <a:t>2,500 </a:t>
                      </a:r>
                      <a:endParaRPr lang="en-US" altLang="zh-CN" sz="1000" b="0"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FF0000"/>
                          </a:solidFill>
                          <a:effectLst/>
                          <a:latin typeface="微软雅黑" panose="020B0503020204020204" pitchFamily="34" charset="-122"/>
                          <a:ea typeface="微软雅黑" panose="020B0503020204020204" pitchFamily="34" charset="-122"/>
                          <a:cs typeface="+mn-cs"/>
                        </a:rPr>
                        <a:t>1,800</a:t>
                      </a:r>
                      <a:endParaRPr lang="en-US" altLang="zh-CN" sz="1000" b="0"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2,200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2,500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1,800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1,600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zh-CN" altLang="en-US"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 </a:t>
                      </a: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1,400 </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1,500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1,600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1,100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zh-CN" altLang="en-US"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  </a:t>
                      </a: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1,000 </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buNone/>
                      </a:pPr>
                      <a:r>
                        <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rPr>
                        <a:t>1,000</a:t>
                      </a:r>
                      <a:endParaRPr lang="en-US" altLang="zh-CN" sz="10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2" name="文本框 1"/>
          <p:cNvSpPr txBox="1"/>
          <p:nvPr/>
        </p:nvSpPr>
        <p:spPr>
          <a:xfrm>
            <a:off x="492760" y="4989830"/>
            <a:ext cx="7829550" cy="245110"/>
          </a:xfrm>
          <a:prstGeom prst="rect">
            <a:avLst/>
          </a:prstGeom>
          <a:noFill/>
        </p:spPr>
        <p:txBody>
          <a:bodyPr wrap="square" rtlCol="0" anchor="t">
            <a:spAutoFit/>
          </a:bodyPr>
          <a:p>
            <a:r>
              <a:rPr lang="zh-CN" altLang="en-US" sz="1000" dirty="0" smtClean="0">
                <a:latin typeface="微软雅黑" panose="020B0503020204020204" pitchFamily="34" charset="-122"/>
                <a:ea typeface="微软雅黑" panose="020B0503020204020204" pitchFamily="34" charset="-122"/>
              </a:rPr>
              <a:t>首年</a:t>
            </a:r>
            <a:r>
              <a:rPr lang="en-US" altLang="zh-CN" sz="1000" dirty="0" smtClean="0">
                <a:latin typeface="微软雅黑" panose="020B0503020204020204" pitchFamily="34" charset="-122"/>
                <a:ea typeface="微软雅黑" panose="020B0503020204020204" pitchFamily="34" charset="-122"/>
              </a:rPr>
              <a:t>900</a:t>
            </a:r>
            <a:r>
              <a:rPr lang="zh-CN" altLang="en-US" sz="1000" dirty="0" smtClean="0">
                <a:latin typeface="微软雅黑" panose="020B0503020204020204" pitchFamily="34" charset="-122"/>
                <a:ea typeface="微软雅黑" panose="020B0503020204020204" pitchFamily="34" charset="-122"/>
              </a:rPr>
              <a:t>万</a:t>
            </a:r>
            <a:r>
              <a:rPr lang="en-US" altLang="zh-CN" sz="1000" dirty="0" smtClean="0">
                <a:latin typeface="微软雅黑" panose="020B0503020204020204" pitchFamily="34" charset="-122"/>
                <a:ea typeface="微软雅黑" panose="020B0503020204020204" pitchFamily="34" charset="-122"/>
              </a:rPr>
              <a:t>(</a:t>
            </a:r>
            <a:r>
              <a:rPr lang="zh-CN" altLang="en-US" sz="1000" dirty="0" smtClean="0">
                <a:latin typeface="微软雅黑" panose="020B0503020204020204" pitchFamily="34" charset="-122"/>
                <a:ea typeface="微软雅黑" panose="020B0503020204020204" pitchFamily="34" charset="-122"/>
              </a:rPr>
              <a:t>含开办费</a:t>
            </a:r>
            <a:r>
              <a:rPr lang="en-US" altLang="zh-CN" sz="1000" dirty="0" smtClean="0">
                <a:latin typeface="微软雅黑" panose="020B0503020204020204" pitchFamily="34" charset="-122"/>
                <a:ea typeface="微软雅黑" panose="020B0503020204020204" pitchFamily="34" charset="-122"/>
              </a:rPr>
              <a:t>_450 </a:t>
            </a:r>
            <a:r>
              <a:rPr lang="zh-CN" altLang="en-US" sz="1000" dirty="0" smtClean="0">
                <a:latin typeface="微软雅黑" panose="020B0503020204020204" pitchFamily="34" charset="-122"/>
                <a:ea typeface="微软雅黑" panose="020B0503020204020204" pitchFamily="34" charset="-122"/>
              </a:rPr>
              <a:t>万元</a:t>
            </a:r>
            <a:r>
              <a:rPr lang="en-US" altLang="zh-CN" sz="1000" dirty="0" smtClean="0">
                <a:latin typeface="微软雅黑" panose="020B0503020204020204" pitchFamily="34" charset="-122"/>
                <a:ea typeface="微软雅黑" panose="020B0503020204020204" pitchFamily="34" charset="-122"/>
              </a:rPr>
              <a:t>)</a:t>
            </a:r>
            <a:r>
              <a:rPr lang="zh-CN" altLang="en-US" sz="1000" dirty="0" smtClean="0">
                <a:latin typeface="微软雅黑" panose="020B0503020204020204" pitchFamily="34" charset="-122"/>
                <a:ea typeface="微软雅黑" panose="020B0503020204020204" pitchFamily="34" charset="-122"/>
              </a:rPr>
              <a:t>，第二年</a:t>
            </a:r>
            <a:r>
              <a:rPr lang="en-US" altLang="zh-CN" sz="1000" dirty="0" smtClean="0">
                <a:latin typeface="微软雅黑" panose="020B0503020204020204" pitchFamily="34" charset="-122"/>
                <a:ea typeface="微软雅黑" panose="020B0503020204020204" pitchFamily="34" charset="-122"/>
              </a:rPr>
              <a:t>800</a:t>
            </a:r>
            <a:r>
              <a:rPr lang="zh-CN" altLang="en-US" sz="1000" dirty="0" smtClean="0">
                <a:latin typeface="微软雅黑" panose="020B0503020204020204" pitchFamily="34" charset="-122"/>
                <a:ea typeface="微软雅黑" panose="020B0503020204020204" pitchFamily="34" charset="-122"/>
              </a:rPr>
              <a:t>万元，第三至五年每年</a:t>
            </a:r>
            <a:r>
              <a:rPr lang="en-US" altLang="zh-CN" sz="1000" dirty="0" smtClean="0">
                <a:latin typeface="微软雅黑" panose="020B0503020204020204" pitchFamily="34" charset="-122"/>
                <a:ea typeface="微软雅黑" panose="020B0503020204020204" pitchFamily="34" charset="-122"/>
              </a:rPr>
              <a:t>600</a:t>
            </a:r>
            <a:r>
              <a:rPr lang="zh-CN" altLang="en-US" sz="1000" dirty="0" smtClean="0">
                <a:latin typeface="微软雅黑" panose="020B0503020204020204" pitchFamily="34" charset="-122"/>
                <a:ea typeface="微软雅黑" panose="020B0503020204020204" pitchFamily="34" charset="-122"/>
              </a:rPr>
              <a:t>万元</a:t>
            </a:r>
            <a:r>
              <a:rPr lang="en-US" altLang="zh-CN" sz="1000" dirty="0" smtClean="0">
                <a:latin typeface="微软雅黑" panose="020B0503020204020204" pitchFamily="34" charset="-122"/>
                <a:ea typeface="微软雅黑" panose="020B0503020204020204" pitchFamily="34" charset="-122"/>
              </a:rPr>
              <a:t>(</a:t>
            </a:r>
            <a:r>
              <a:rPr lang="zh-CN" altLang="en-US" sz="1000" dirty="0" smtClean="0">
                <a:latin typeface="微软雅黑" panose="020B0503020204020204" pitchFamily="34" charset="-122"/>
                <a:ea typeface="微软雅黑" panose="020B0503020204020204" pitchFamily="34" charset="-122"/>
              </a:rPr>
              <a:t>共计</a:t>
            </a:r>
            <a:r>
              <a:rPr lang="en-US" altLang="zh-CN" sz="1000" dirty="0" smtClean="0">
                <a:latin typeface="微软雅黑" panose="020B0503020204020204" pitchFamily="34" charset="-122"/>
                <a:ea typeface="微软雅黑" panose="020B0503020204020204" pitchFamily="34" charset="-122"/>
              </a:rPr>
              <a:t>3500</a:t>
            </a:r>
            <a:r>
              <a:rPr lang="zh-CN" altLang="en-US" sz="1000" dirty="0" smtClean="0">
                <a:latin typeface="微软雅黑" panose="020B0503020204020204" pitchFamily="34" charset="-122"/>
                <a:ea typeface="微软雅黑" panose="020B0503020204020204" pitchFamily="34" charset="-122"/>
              </a:rPr>
              <a:t>万元基础服务费用</a:t>
            </a:r>
            <a:r>
              <a:rPr lang="en-US" altLang="zh-CN" sz="1000" dirty="0" smtClean="0">
                <a:latin typeface="微软雅黑" panose="020B0503020204020204" pitchFamily="34" charset="-122"/>
                <a:ea typeface="微软雅黑" panose="020B0503020204020204" pitchFamily="34" charset="-122"/>
              </a:rPr>
              <a:t>)</a:t>
            </a:r>
            <a:r>
              <a:rPr lang="zh-CN" altLang="en-US" sz="1000" dirty="0" smtClean="0">
                <a:latin typeface="微软雅黑" panose="020B0503020204020204" pitchFamily="34" charset="-122"/>
                <a:ea typeface="微软雅黑" panose="020B0503020204020204" pitchFamily="34" charset="-122"/>
              </a:rPr>
              <a:t>。</a:t>
            </a:r>
            <a:endParaRPr lang="zh-CN" altLang="en-US" sz="1000" dirty="0" smtClean="0">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4"/>
          <p:cNvSpPr>
            <a:spLocks noGrp="1"/>
          </p:cNvSpPr>
          <p:nvPr>
            <p:ph type="title"/>
          </p:nvPr>
        </p:nvSpPr>
        <p:spPr>
          <a:xfrm>
            <a:off x="351613" y="239435"/>
            <a:ext cx="7555858" cy="359165"/>
          </a:xfrm>
        </p:spPr>
        <p:txBody>
          <a:bodyPr/>
          <a:lstStyle/>
          <a:p>
            <a:pPr>
              <a:defRPr/>
            </a:pPr>
            <a:r>
              <a:rPr lang="zh-CN" altLang="en-US" b="1" dirty="0"/>
              <a:t>第一部分</a:t>
            </a:r>
            <a:r>
              <a:rPr lang="zh-CN" altLang="en-US" b="1" dirty="0" smtClean="0"/>
              <a:t>：</a:t>
            </a:r>
            <a:r>
              <a:rPr lang="zh-CN" altLang="en-US" b="1" noProof="0" dirty="0" smtClean="0">
                <a:ln>
                  <a:noFill/>
                </a:ln>
                <a:effectLst/>
                <a:uLnTx/>
                <a:uFillTx/>
                <a:sym typeface="+mn-ea"/>
              </a:rPr>
              <a:t>202</a:t>
            </a:r>
            <a:r>
              <a:rPr lang="en-US" altLang="zh-CN" b="1" noProof="0" dirty="0" smtClean="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a:t>
            </a:r>
            <a:r>
              <a:rPr lang="zh-CN" altLang="en-US" b="1" noProof="0" dirty="0" smtClean="0">
                <a:ln>
                  <a:noFill/>
                </a:ln>
                <a:effectLst/>
                <a:uLnTx/>
                <a:uFillTx/>
                <a:sym typeface="+mn-ea"/>
              </a:rPr>
              <a:t>（</a:t>
            </a:r>
            <a:r>
              <a:rPr lang="zh-CN" altLang="en-US" b="1" dirty="0">
                <a:sym typeface="+mn-ea"/>
              </a:rPr>
              <a:t>成都</a:t>
            </a:r>
            <a:r>
              <a:rPr lang="zh-CN" altLang="en-US" b="1" noProof="0" dirty="0" smtClean="0">
                <a:ln>
                  <a:noFill/>
                </a:ln>
                <a:effectLst/>
                <a:uLnTx/>
                <a:uFillTx/>
                <a:sym typeface="+mn-ea"/>
              </a:rPr>
              <a:t>产业</a:t>
            </a:r>
            <a:r>
              <a:rPr lang="zh-CN" altLang="en-US" b="1" noProof="0" dirty="0">
                <a:ln>
                  <a:noFill/>
                </a:ln>
                <a:effectLst/>
                <a:uLnTx/>
                <a:uFillTx/>
                <a:sym typeface="+mn-ea"/>
              </a:rPr>
              <a:t>公司）</a:t>
            </a:r>
            <a:endParaRPr lang="zh-CN" altLang="en-US" b="1" dirty="0">
              <a:sym typeface="+mn-ea"/>
            </a:endParaRPr>
          </a:p>
        </p:txBody>
      </p:sp>
      <p:sp>
        <p:nvSpPr>
          <p:cNvPr id="4" name="矩形 1"/>
          <p:cNvSpPr/>
          <p:nvPr/>
        </p:nvSpPr>
        <p:spPr>
          <a:xfrm>
            <a:off x="204664" y="597471"/>
            <a:ext cx="1944216" cy="287338"/>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kumimoji="0" lang="zh-CN" altLang="en-US"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市场分析</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pic>
        <p:nvPicPr>
          <p:cNvPr id="5" name="图片 4"/>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204664" y="597471"/>
            <a:ext cx="9073008" cy="4948150"/>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1613" y="239435"/>
            <a:ext cx="7555858" cy="359165"/>
          </a:xfrm>
        </p:spPr>
        <p:txBody>
          <a:bodyPr/>
          <a:lstStyle/>
          <a:p>
            <a:pPr>
              <a:defRPr/>
            </a:pPr>
            <a:r>
              <a:rPr lang="zh-CN" altLang="en-US" b="1" dirty="0"/>
              <a:t>第一部分</a:t>
            </a:r>
            <a:r>
              <a:rPr lang="zh-CN" altLang="en-US" b="1" dirty="0" smtClean="0"/>
              <a:t>：</a:t>
            </a:r>
            <a:r>
              <a:rPr lang="zh-CN" altLang="en-US" b="1" noProof="0" dirty="0" smtClean="0">
                <a:ln>
                  <a:noFill/>
                </a:ln>
                <a:effectLst/>
                <a:uLnTx/>
                <a:uFillTx/>
                <a:sym typeface="+mn-ea"/>
              </a:rPr>
              <a:t>202</a:t>
            </a:r>
            <a:r>
              <a:rPr lang="en-US" altLang="zh-CN" b="1" dirty="0" smtClean="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a:t>
            </a:r>
            <a:r>
              <a:rPr lang="zh-CN" altLang="en-US" b="1" noProof="0" dirty="0" smtClean="0">
                <a:ln>
                  <a:noFill/>
                </a:ln>
                <a:effectLst/>
                <a:uLnTx/>
                <a:uFillTx/>
                <a:sym typeface="+mn-ea"/>
              </a:rPr>
              <a:t>（</a:t>
            </a:r>
            <a:r>
              <a:rPr lang="zh-CN" altLang="en-US" b="1" dirty="0">
                <a:sym typeface="+mn-ea"/>
              </a:rPr>
              <a:t>成都</a:t>
            </a:r>
            <a:r>
              <a:rPr lang="zh-CN" altLang="en-US" b="1" noProof="0" dirty="0" smtClean="0">
                <a:ln>
                  <a:noFill/>
                </a:ln>
                <a:effectLst/>
                <a:uLnTx/>
                <a:uFillTx/>
                <a:sym typeface="+mn-ea"/>
              </a:rPr>
              <a:t>产业</a:t>
            </a:r>
            <a:r>
              <a:rPr lang="zh-CN" altLang="en-US" b="1" noProof="0" dirty="0">
                <a:ln>
                  <a:noFill/>
                </a:ln>
                <a:effectLst/>
                <a:uLnTx/>
                <a:uFillTx/>
                <a:sym typeface="+mn-ea"/>
              </a:rPr>
              <a:t>公司）</a:t>
            </a:r>
            <a:endParaRPr lang="zh-CN" altLang="en-US" b="1" dirty="0">
              <a:sym typeface="+mn-ea"/>
            </a:endParaRPr>
          </a:p>
        </p:txBody>
      </p:sp>
      <p:sp>
        <p:nvSpPr>
          <p:cNvPr id="11" name="矩形 1"/>
          <p:cNvSpPr/>
          <p:nvPr/>
        </p:nvSpPr>
        <p:spPr>
          <a:xfrm>
            <a:off x="204664" y="597471"/>
            <a:ext cx="1944216" cy="287338"/>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lang="en-US" altLang="zh-CN" sz="1600" b="1" dirty="0" smtClean="0">
                <a:solidFill>
                  <a:prstClr val="white"/>
                </a:solidFill>
                <a:ea typeface="微软雅黑" panose="020B0503020204020204" pitchFamily="34" charset="-122"/>
              </a:rPr>
              <a:t>2026</a:t>
            </a:r>
            <a:r>
              <a:rPr lang="zh-CN" altLang="en-US" sz="1600" b="1" dirty="0" smtClean="0">
                <a:solidFill>
                  <a:prstClr val="white"/>
                </a:solidFill>
                <a:ea typeface="微软雅黑" panose="020B0503020204020204" pitchFamily="34" charset="-122"/>
              </a:rPr>
              <a:t>年经营目标</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15" name="文本框 14"/>
          <p:cNvSpPr txBox="1"/>
          <p:nvPr/>
        </p:nvSpPr>
        <p:spPr>
          <a:xfrm>
            <a:off x="325370" y="956636"/>
            <a:ext cx="9577064" cy="957883"/>
          </a:xfrm>
          <a:prstGeom prst="rect">
            <a:avLst/>
          </a:prstGeom>
          <a:noFill/>
        </p:spPr>
        <p:txBody>
          <a:bodyPr/>
          <a:lstStyle/>
          <a:p>
            <a:pPr marL="171450" indent="-171450">
              <a:lnSpc>
                <a:spcPct val="150000"/>
              </a:lnSpc>
              <a:buFont typeface="Wingdings" panose="05000000000000000000" pitchFamily="2" charset="2"/>
              <a:buChar char="Ø"/>
              <a:defRPr/>
            </a:pPr>
            <a:r>
              <a:rPr lang="en-US" altLang="zh-CN" sz="1200" dirty="0" smtClean="0">
                <a:latin typeface="微软雅黑" panose="020B0503020204020204" pitchFamily="34" charset="-122"/>
                <a:ea typeface="微软雅黑" panose="020B0503020204020204" pitchFamily="34" charset="-122"/>
              </a:rPr>
              <a:t>2025</a:t>
            </a:r>
            <a:r>
              <a:rPr lang="zh-CN" altLang="en-US" sz="1200" dirty="0" smtClean="0">
                <a:latin typeface="微软雅黑" panose="020B0503020204020204" pitchFamily="34" charset="-122"/>
                <a:ea typeface="微软雅黑" panose="020B0503020204020204" pitchFamily="34" charset="-122"/>
              </a:rPr>
              <a:t>年末可租赁面积</a:t>
            </a:r>
            <a:r>
              <a:rPr lang="en-US" altLang="zh-CN" sz="1200" dirty="0" smtClean="0">
                <a:latin typeface="微软雅黑" panose="020B0503020204020204" pitchFamily="34" charset="-122"/>
                <a:ea typeface="微软雅黑" panose="020B0503020204020204" pitchFamily="34" charset="-122"/>
              </a:rPr>
              <a:t>5573㎡</a:t>
            </a:r>
            <a:r>
              <a:rPr lang="zh-CN" altLang="en-US" sz="1200" dirty="0" smtClean="0">
                <a:latin typeface="微软雅黑" panose="020B0503020204020204" pitchFamily="34" charset="-122"/>
                <a:ea typeface="微软雅黑" panose="020B0503020204020204" pitchFamily="34" charset="-122"/>
              </a:rPr>
              <a:t>；</a:t>
            </a:r>
            <a:r>
              <a:rPr lang="en-US" altLang="zh-CN" sz="1200" dirty="0" smtClean="0">
                <a:latin typeface="微软雅黑" panose="020B0503020204020204" pitchFamily="34" charset="-122"/>
                <a:ea typeface="微软雅黑" panose="020B0503020204020204" pitchFamily="34" charset="-122"/>
              </a:rPr>
              <a:t>2026</a:t>
            </a:r>
            <a:r>
              <a:rPr lang="zh-CN" altLang="en-US" sz="1200" dirty="0" smtClean="0">
                <a:latin typeface="微软雅黑" panose="020B0503020204020204" pitchFamily="34" charset="-122"/>
                <a:ea typeface="微软雅黑" panose="020B0503020204020204" pitchFamily="34" charset="-122"/>
              </a:rPr>
              <a:t>年全年</a:t>
            </a:r>
            <a:r>
              <a:rPr lang="zh-CN" altLang="en-US" sz="1200" b="1" dirty="0" smtClean="0">
                <a:solidFill>
                  <a:srgbClr val="C00000"/>
                </a:solidFill>
                <a:latin typeface="微软雅黑" panose="020B0503020204020204" pitchFamily="34" charset="-122"/>
                <a:ea typeface="微软雅黑" panose="020B0503020204020204" pitchFamily="34" charset="-122"/>
              </a:rPr>
              <a:t>租赁面积</a:t>
            </a:r>
            <a:r>
              <a:rPr lang="en-US" altLang="zh-CN" sz="1200" b="1" dirty="0" smtClean="0">
                <a:solidFill>
                  <a:srgbClr val="C00000"/>
                </a:solidFill>
                <a:latin typeface="微软雅黑" panose="020B0503020204020204" pitchFamily="34" charset="-122"/>
                <a:ea typeface="微软雅黑" panose="020B0503020204020204" pitchFamily="34" charset="-122"/>
              </a:rPr>
              <a:t>5,518</a:t>
            </a:r>
            <a:r>
              <a:rPr lang="zh-CN" altLang="en-US" sz="1200" b="1" dirty="0" smtClean="0">
                <a:solidFill>
                  <a:srgbClr val="C00000"/>
                </a:solidFill>
                <a:latin typeface="微软雅黑" panose="020B0503020204020204" pitchFamily="34" charset="-122"/>
                <a:ea typeface="微软雅黑" panose="020B0503020204020204" pitchFamily="34" charset="-122"/>
              </a:rPr>
              <a:t>㎡，预计退租</a:t>
            </a:r>
            <a:r>
              <a:rPr lang="en-US" altLang="zh-CN" sz="1200" b="1" dirty="0" smtClean="0">
                <a:solidFill>
                  <a:srgbClr val="C00000"/>
                </a:solidFill>
                <a:latin typeface="微软雅黑" panose="020B0503020204020204" pitchFamily="34" charset="-122"/>
                <a:ea typeface="微软雅黑" panose="020B0503020204020204" pitchFamily="34" charset="-122"/>
              </a:rPr>
              <a:t>2,808</a:t>
            </a:r>
            <a:r>
              <a:rPr lang="zh-CN" altLang="en-US" sz="1200" b="1" dirty="0" smtClean="0">
                <a:solidFill>
                  <a:srgbClr val="C00000"/>
                </a:solidFill>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a:t>
            </a:r>
            <a:r>
              <a:rPr lang="en-US" altLang="zh-CN" sz="1200" b="1" dirty="0" smtClean="0">
                <a:solidFill>
                  <a:srgbClr val="C00000"/>
                </a:solidFill>
                <a:latin typeface="微软雅黑" panose="020B0503020204020204" pitchFamily="34" charset="-122"/>
                <a:ea typeface="微软雅黑" panose="020B0503020204020204" pitchFamily="34" charset="-122"/>
              </a:rPr>
              <a:t>2026</a:t>
            </a:r>
            <a:r>
              <a:rPr lang="zh-CN" altLang="en-US" sz="1200" b="1" dirty="0" smtClean="0">
                <a:solidFill>
                  <a:srgbClr val="C00000"/>
                </a:solidFill>
                <a:latin typeface="微软雅黑" panose="020B0503020204020204" pitchFamily="34" charset="-122"/>
                <a:ea typeface="微软雅黑" panose="020B0503020204020204" pitchFamily="34" charset="-122"/>
              </a:rPr>
              <a:t>年末出租率</a:t>
            </a:r>
            <a:r>
              <a:rPr lang="en-US" altLang="zh-CN" sz="1200" b="1" dirty="0" smtClean="0">
                <a:solidFill>
                  <a:srgbClr val="C00000"/>
                </a:solidFill>
                <a:latin typeface="微软雅黑" panose="020B0503020204020204" pitchFamily="34" charset="-122"/>
                <a:ea typeface="微软雅黑" panose="020B0503020204020204" pitchFamily="34" charset="-122"/>
              </a:rPr>
              <a:t>88%</a:t>
            </a:r>
            <a:r>
              <a:rPr lang="zh-CN" altLang="en-US" sz="1200" b="1" dirty="0" smtClean="0">
                <a:solidFill>
                  <a:srgbClr val="C00000"/>
                </a:solidFill>
                <a:latin typeface="微软雅黑" panose="020B0503020204020204" pitchFamily="34" charset="-122"/>
                <a:ea typeface="微软雅黑" panose="020B0503020204020204" pitchFamily="34" charset="-122"/>
              </a:rPr>
              <a:t>。</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pPr marL="171450" indent="-171450">
              <a:lnSpc>
                <a:spcPct val="150000"/>
              </a:lnSpc>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科创</a:t>
            </a:r>
            <a:r>
              <a:rPr lang="zh-CN" altLang="en-US" sz="1200" dirty="0" smtClean="0">
                <a:latin typeface="微软雅黑" panose="020B0503020204020204" pitchFamily="34" charset="-122"/>
                <a:ea typeface="微软雅黑" panose="020B0503020204020204" pitchFamily="34" charset="-122"/>
              </a:rPr>
              <a:t>大厦</a:t>
            </a:r>
            <a:r>
              <a:rPr lang="en-US" altLang="zh-CN" sz="1200" dirty="0" smtClean="0">
                <a:latin typeface="微软雅黑" panose="020B0503020204020204" pitchFamily="34" charset="-122"/>
                <a:ea typeface="微软雅黑" panose="020B0503020204020204" pitchFamily="34" charset="-122"/>
              </a:rPr>
              <a:t>T2</a:t>
            </a:r>
            <a:r>
              <a:rPr lang="zh-CN" altLang="en-US" sz="1200" dirty="0" smtClean="0">
                <a:latin typeface="微软雅黑" panose="020B0503020204020204" pitchFamily="34" charset="-122"/>
                <a:ea typeface="微软雅黑" panose="020B0503020204020204" pitchFamily="34" charset="-122"/>
              </a:rPr>
              <a:t>：</a:t>
            </a:r>
            <a:r>
              <a:rPr lang="en-US" altLang="zh-CN" sz="1200" dirty="0" smtClean="0">
                <a:latin typeface="微软雅黑" panose="020B0503020204020204" pitchFamily="34" charset="-122"/>
                <a:ea typeface="微软雅黑" panose="020B0503020204020204" pitchFamily="34" charset="-122"/>
              </a:rPr>
              <a:t>2026</a:t>
            </a:r>
            <a:r>
              <a:rPr lang="zh-CN" altLang="en-US" sz="1200" dirty="0" smtClean="0">
                <a:latin typeface="微软雅黑" panose="020B0503020204020204" pitchFamily="34" charset="-122"/>
                <a:ea typeface="微软雅黑" panose="020B0503020204020204" pitchFamily="34" charset="-122"/>
              </a:rPr>
              <a:t>年平均</a:t>
            </a:r>
            <a:r>
              <a:rPr lang="zh-CN" altLang="en-US" sz="1200" dirty="0">
                <a:latin typeface="微软雅黑" panose="020B0503020204020204" pitchFamily="34" charset="-122"/>
                <a:ea typeface="微软雅黑" panose="020B0503020204020204" pitchFamily="34" charset="-122"/>
              </a:rPr>
              <a:t>签约单价</a:t>
            </a:r>
            <a:r>
              <a:rPr lang="en-US" altLang="zh-CN" sz="1200" dirty="0" smtClean="0">
                <a:latin typeface="微软雅黑" panose="020B0503020204020204" pitchFamily="34" charset="-122"/>
                <a:ea typeface="微软雅黑" panose="020B0503020204020204" pitchFamily="34" charset="-122"/>
              </a:rPr>
              <a:t>33</a:t>
            </a:r>
            <a:r>
              <a:rPr lang="zh-CN" altLang="en-US" sz="1200" dirty="0" smtClean="0">
                <a:latin typeface="微软雅黑" panose="020B0503020204020204" pitchFamily="34" charset="-122"/>
                <a:ea typeface="微软雅黑" panose="020B0503020204020204" pitchFamily="34" charset="-122"/>
              </a:rPr>
              <a:t>元</a:t>
            </a:r>
            <a:r>
              <a:rPr lang="en-US"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a:t>
            </a:r>
            <a:r>
              <a:rPr lang="en-US"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月，免租期</a:t>
            </a:r>
            <a:r>
              <a:rPr lang="en-US" altLang="zh-CN" sz="1200" dirty="0" smtClean="0">
                <a:latin typeface="微软雅黑" panose="020B0503020204020204" pitchFamily="34" charset="-122"/>
                <a:ea typeface="微软雅黑" panose="020B0503020204020204" pitchFamily="34" charset="-122"/>
              </a:rPr>
              <a:t>4</a:t>
            </a:r>
            <a:r>
              <a:rPr lang="zh-CN" altLang="en-US" sz="1200" dirty="0" smtClean="0">
                <a:latin typeface="微软雅黑" panose="020B0503020204020204" pitchFamily="34" charset="-122"/>
                <a:ea typeface="微软雅黑" panose="020B0503020204020204" pitchFamily="34" charset="-122"/>
              </a:rPr>
              <a:t>个月，</a:t>
            </a:r>
            <a:r>
              <a:rPr lang="zh-CN" altLang="en-US" sz="1200" b="1" dirty="0" smtClean="0">
                <a:latin typeface="微软雅黑" panose="020B0503020204020204" pitchFamily="34" charset="-122"/>
                <a:ea typeface="微软雅黑" panose="020B0503020204020204" pitchFamily="34" charset="-122"/>
              </a:rPr>
              <a:t>新签租赁收入</a:t>
            </a:r>
            <a:r>
              <a:rPr lang="en-US" altLang="zh-CN" sz="1200" b="1" dirty="0" smtClean="0">
                <a:latin typeface="微软雅黑" panose="020B0503020204020204" pitchFamily="34" charset="-122"/>
                <a:ea typeface="微软雅黑" panose="020B0503020204020204" pitchFamily="34" charset="-122"/>
              </a:rPr>
              <a:t>39</a:t>
            </a:r>
            <a:r>
              <a:rPr lang="zh-CN" altLang="en-US" sz="1200" b="1" dirty="0" smtClean="0">
                <a:latin typeface="微软雅黑" panose="020B0503020204020204" pitchFamily="34" charset="-122"/>
                <a:ea typeface="微软雅黑" panose="020B0503020204020204" pitchFamily="34" charset="-122"/>
              </a:rPr>
              <a:t>万</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pPr marL="171450" indent="-171450">
              <a:lnSpc>
                <a:spcPct val="150000"/>
              </a:lnSpc>
              <a:buFont typeface="Wingdings" panose="05000000000000000000" pitchFamily="2" charset="2"/>
              <a:buChar char="Ø"/>
              <a:defRPr/>
            </a:pPr>
            <a:r>
              <a:rPr lang="en-US" altLang="zh-CN" sz="1200" dirty="0" smtClean="0">
                <a:latin typeface="微软雅黑" panose="020B0503020204020204" pitchFamily="34" charset="-122"/>
                <a:ea typeface="微软雅黑" panose="020B0503020204020204" pitchFamily="34" charset="-122"/>
              </a:rPr>
              <a:t>2025</a:t>
            </a:r>
            <a:r>
              <a:rPr lang="zh-CN" altLang="en-US" sz="1200" dirty="0" smtClean="0">
                <a:latin typeface="微软雅黑" panose="020B0503020204020204" pitchFamily="34" charset="-122"/>
                <a:ea typeface="微软雅黑" panose="020B0503020204020204" pitchFamily="34" charset="-122"/>
              </a:rPr>
              <a:t>年已签约合同，带来</a:t>
            </a:r>
            <a:r>
              <a:rPr lang="en-US" altLang="zh-CN" sz="1200" dirty="0" smtClean="0">
                <a:latin typeface="微软雅黑" panose="020B0503020204020204" pitchFamily="34" charset="-122"/>
                <a:ea typeface="微软雅黑" panose="020B0503020204020204" pitchFamily="34" charset="-122"/>
              </a:rPr>
              <a:t>2026</a:t>
            </a:r>
            <a:r>
              <a:rPr lang="zh-CN" altLang="en-US" sz="1200" dirty="0" smtClean="0">
                <a:latin typeface="微软雅黑" panose="020B0503020204020204" pitchFamily="34" charset="-122"/>
                <a:ea typeface="微软雅黑" panose="020B0503020204020204" pitchFamily="34" charset="-122"/>
              </a:rPr>
              <a:t>年收入</a:t>
            </a:r>
            <a:r>
              <a:rPr lang="en-US" altLang="zh-CN" sz="1200" dirty="0" smtClean="0">
                <a:latin typeface="微软雅黑" panose="020B0503020204020204" pitchFamily="34" charset="-122"/>
                <a:ea typeface="微软雅黑" panose="020B0503020204020204" pitchFamily="34" charset="-122"/>
              </a:rPr>
              <a:t>761</a:t>
            </a:r>
            <a:r>
              <a:rPr lang="zh-CN" altLang="en-US" sz="1200" dirty="0" smtClean="0">
                <a:latin typeface="微软雅黑" panose="020B0503020204020204" pitchFamily="34" charset="-122"/>
                <a:ea typeface="微软雅黑" panose="020B0503020204020204" pitchFamily="34" charset="-122"/>
              </a:rPr>
              <a:t>万，退租预计损失</a:t>
            </a:r>
            <a:r>
              <a:rPr lang="en-US" altLang="zh-CN" sz="1200" dirty="0" smtClean="0">
                <a:latin typeface="微软雅黑" panose="020B0503020204020204" pitchFamily="34" charset="-122"/>
                <a:ea typeface="微软雅黑" panose="020B0503020204020204" pitchFamily="34" charset="-122"/>
              </a:rPr>
              <a:t>73</a:t>
            </a:r>
            <a:r>
              <a:rPr lang="zh-CN" altLang="en-US" sz="1200" dirty="0" smtClean="0">
                <a:latin typeface="微软雅黑" panose="020B0503020204020204" pitchFamily="34" charset="-122"/>
                <a:ea typeface="微软雅黑" panose="020B0503020204020204" pitchFamily="34" charset="-122"/>
              </a:rPr>
              <a:t>万；再加上食堂健身房收入</a:t>
            </a:r>
            <a:r>
              <a:rPr lang="en-US" altLang="zh-CN" sz="1200" dirty="0" smtClean="0">
                <a:latin typeface="微软雅黑" panose="020B0503020204020204" pitchFamily="34" charset="-122"/>
                <a:ea typeface="微软雅黑" panose="020B0503020204020204" pitchFamily="34" charset="-122"/>
              </a:rPr>
              <a:t>41</a:t>
            </a:r>
            <a:r>
              <a:rPr lang="zh-CN" altLang="en-US" sz="1200" dirty="0" smtClean="0">
                <a:latin typeface="微软雅黑" panose="020B0503020204020204" pitchFamily="34" charset="-122"/>
                <a:ea typeface="微软雅黑" panose="020B0503020204020204" pitchFamily="34" charset="-122"/>
              </a:rPr>
              <a:t>万，</a:t>
            </a:r>
            <a:r>
              <a:rPr lang="zh-CN" altLang="en-US" sz="1200" b="1" dirty="0" smtClean="0">
                <a:latin typeface="微软雅黑" panose="020B0503020204020204" pitchFamily="34" charset="-122"/>
                <a:ea typeface="微软雅黑" panose="020B0503020204020204" pitchFamily="34" charset="-122"/>
              </a:rPr>
              <a:t>合计</a:t>
            </a:r>
            <a:r>
              <a:rPr lang="en-US" altLang="zh-CN" sz="1200" b="1" dirty="0" smtClean="0">
                <a:latin typeface="微软雅黑" panose="020B0503020204020204" pitchFamily="34" charset="-122"/>
                <a:ea typeface="微软雅黑" panose="020B0503020204020204" pitchFamily="34" charset="-122"/>
              </a:rPr>
              <a:t>768</a:t>
            </a:r>
            <a:r>
              <a:rPr lang="zh-CN" altLang="en-US" sz="1200" b="1" dirty="0" smtClean="0">
                <a:latin typeface="微软雅黑" panose="020B0503020204020204" pitchFamily="34" charset="-122"/>
                <a:ea typeface="微软雅黑" panose="020B0503020204020204" pitchFamily="34" charset="-122"/>
              </a:rPr>
              <a:t>万，</a:t>
            </a:r>
            <a:r>
              <a:rPr lang="en-US" altLang="zh-CN" sz="1200" b="1" dirty="0" smtClean="0">
                <a:latin typeface="微软雅黑" panose="020B0503020204020204" pitchFamily="34" charset="-122"/>
                <a:ea typeface="微软雅黑" panose="020B0503020204020204" pitchFamily="34" charset="-122"/>
              </a:rPr>
              <a:t>NOI 184</a:t>
            </a:r>
            <a:r>
              <a:rPr lang="zh-CN" altLang="en-US" sz="1200" b="1" dirty="0" smtClean="0">
                <a:latin typeface="微软雅黑" panose="020B0503020204020204" pitchFamily="34" charset="-122"/>
                <a:ea typeface="微软雅黑" panose="020B0503020204020204" pitchFamily="34" charset="-122"/>
              </a:rPr>
              <a:t>万。</a:t>
            </a:r>
            <a:endParaRPr lang="en-US" altLang="zh-CN" sz="1200" b="1" dirty="0" smtClean="0">
              <a:latin typeface="微软雅黑" panose="020B0503020204020204" pitchFamily="34" charset="-122"/>
              <a:ea typeface="微软雅黑" panose="020B0503020204020204" pitchFamily="34" charset="-122"/>
            </a:endParaRPr>
          </a:p>
          <a:p>
            <a:pPr>
              <a:lnSpc>
                <a:spcPct val="150000"/>
              </a:lnSpc>
              <a:defRPr/>
            </a:pPr>
            <a:endParaRPr lang="en-US" altLang="zh-CN" sz="1200" b="1" dirty="0">
              <a:latin typeface="微软雅黑" panose="020B0503020204020204" pitchFamily="34" charset="-122"/>
              <a:ea typeface="微软雅黑" panose="020B0503020204020204" pitchFamily="34" charset="-122"/>
            </a:endParaRPr>
          </a:p>
          <a:p>
            <a:pPr>
              <a:lnSpc>
                <a:spcPct val="150000"/>
              </a:lnSpc>
              <a:defRPr/>
            </a:pPr>
            <a:r>
              <a:rPr lang="zh-CN" altLang="en-US" sz="1200" b="1" dirty="0" smtClean="0">
                <a:latin typeface="微软雅黑" panose="020B0503020204020204" pitchFamily="34" charset="-122"/>
                <a:ea typeface="微软雅黑" panose="020B0503020204020204" pitchFamily="34" charset="-122"/>
              </a:rPr>
              <a:t>注，总部大厦写字楼计划</a:t>
            </a:r>
            <a:r>
              <a:rPr lang="en-US" altLang="zh-CN" sz="1200" b="1" dirty="0" smtClean="0">
                <a:latin typeface="微软雅黑" panose="020B0503020204020204" pitchFamily="34" charset="-122"/>
                <a:ea typeface="微软雅黑" panose="020B0503020204020204" pitchFamily="34" charset="-122"/>
              </a:rPr>
              <a:t>2026</a:t>
            </a:r>
            <a:r>
              <a:rPr lang="zh-CN" altLang="en-US" sz="1200" b="1" dirty="0" smtClean="0">
                <a:latin typeface="微软雅黑" panose="020B0503020204020204" pitchFamily="34" charset="-122"/>
                <a:ea typeface="微软雅黑" panose="020B0503020204020204" pitchFamily="34" charset="-122"/>
              </a:rPr>
              <a:t>年</a:t>
            </a:r>
            <a:r>
              <a:rPr lang="en-US" altLang="zh-CN" sz="1200" b="1" dirty="0" smtClean="0">
                <a:latin typeface="微软雅黑" panose="020B0503020204020204" pitchFamily="34" charset="-122"/>
                <a:ea typeface="微软雅黑" panose="020B0503020204020204" pitchFamily="34" charset="-122"/>
              </a:rPr>
              <a:t>12</a:t>
            </a:r>
            <a:r>
              <a:rPr lang="zh-CN" altLang="en-US" sz="1200" b="1" dirty="0" smtClean="0">
                <a:latin typeface="微软雅黑" panose="020B0503020204020204" pitchFamily="34" charset="-122"/>
                <a:ea typeface="微软雅黑" panose="020B0503020204020204" pitchFamily="34" charset="-122"/>
              </a:rPr>
              <a:t>月达到使用条件，</a:t>
            </a:r>
            <a:r>
              <a:rPr lang="en-US" altLang="zh-CN" sz="1200" b="1" dirty="0" smtClean="0">
                <a:latin typeface="微软雅黑" panose="020B0503020204020204" pitchFamily="34" charset="-122"/>
                <a:ea typeface="微软雅黑" panose="020B0503020204020204" pitchFamily="34" charset="-122"/>
              </a:rPr>
              <a:t>2027</a:t>
            </a:r>
            <a:r>
              <a:rPr lang="zh-CN" altLang="en-US" sz="1200" b="1" dirty="0" smtClean="0">
                <a:latin typeface="微软雅黑" panose="020B0503020204020204" pitchFamily="34" charset="-122"/>
                <a:ea typeface="微软雅黑" panose="020B0503020204020204" pitchFamily="34" charset="-122"/>
              </a:rPr>
              <a:t>年</a:t>
            </a:r>
            <a:r>
              <a:rPr lang="en-US" altLang="zh-CN" sz="1200" b="1" dirty="0" smtClean="0">
                <a:latin typeface="微软雅黑" panose="020B0503020204020204" pitchFamily="34" charset="-122"/>
                <a:ea typeface="微软雅黑" panose="020B0503020204020204" pitchFamily="34" charset="-122"/>
              </a:rPr>
              <a:t>3</a:t>
            </a:r>
            <a:r>
              <a:rPr lang="zh-CN" altLang="en-US" sz="1200" b="1" dirty="0" smtClean="0">
                <a:latin typeface="微软雅黑" panose="020B0503020204020204" pitchFamily="34" charset="-122"/>
                <a:ea typeface="微软雅黑" panose="020B0503020204020204" pitchFamily="34" charset="-122"/>
              </a:rPr>
              <a:t>月交付，所以在</a:t>
            </a:r>
            <a:r>
              <a:rPr lang="en-US" altLang="zh-CN" sz="1200" b="1" dirty="0" smtClean="0">
                <a:latin typeface="微软雅黑" panose="020B0503020204020204" pitchFamily="34" charset="-122"/>
                <a:ea typeface="微软雅黑" panose="020B0503020204020204" pitchFamily="34" charset="-122"/>
              </a:rPr>
              <a:t>2026</a:t>
            </a:r>
            <a:r>
              <a:rPr lang="zh-CN" altLang="en-US" sz="1200" b="1" dirty="0" smtClean="0">
                <a:latin typeface="微软雅黑" panose="020B0503020204020204" pitchFamily="34" charset="-122"/>
                <a:ea typeface="微软雅黑" panose="020B0503020204020204" pitchFamily="34" charset="-122"/>
              </a:rPr>
              <a:t>年主要蓄客预招商，</a:t>
            </a:r>
            <a:r>
              <a:rPr lang="en-US" altLang="zh-CN" sz="1200" b="1" dirty="0" smtClean="0">
                <a:latin typeface="微软雅黑" panose="020B0503020204020204" pitchFamily="34" charset="-122"/>
                <a:ea typeface="微软雅黑" panose="020B0503020204020204" pitchFamily="34" charset="-122"/>
              </a:rPr>
              <a:t>2027</a:t>
            </a:r>
            <a:r>
              <a:rPr lang="zh-CN" altLang="en-US" sz="1200" b="1" dirty="0" smtClean="0">
                <a:latin typeface="微软雅黑" panose="020B0503020204020204" pitchFamily="34" charset="-122"/>
                <a:ea typeface="微软雅黑" panose="020B0503020204020204" pitchFamily="34" charset="-122"/>
              </a:rPr>
              <a:t>年开始正式招商；</a:t>
            </a:r>
            <a:endParaRPr lang="en-US" altLang="zh-CN" sz="1200" b="1" dirty="0">
              <a:latin typeface="微软雅黑" panose="020B0503020204020204" pitchFamily="34" charset="-122"/>
              <a:ea typeface="微软雅黑" panose="020B0503020204020204" pitchFamily="34" charset="-122"/>
            </a:endParaRPr>
          </a:p>
          <a:p>
            <a:pPr marL="171450" indent="-171450">
              <a:lnSpc>
                <a:spcPct val="150000"/>
              </a:lnSpc>
              <a:buFont typeface="Wingdings" panose="05000000000000000000" pitchFamily="2" charset="2"/>
              <a:buChar char="Ø"/>
              <a:defRPr/>
            </a:pPr>
            <a:endParaRPr lang="zh-CN" altLang="en-US" sz="1200" b="1" dirty="0">
              <a:solidFill>
                <a:srgbClr val="C00000"/>
              </a:solidFill>
              <a:latin typeface="微软雅黑" panose="020B0503020204020204" pitchFamily="34" charset="-122"/>
              <a:ea typeface="微软雅黑" panose="020B0503020204020204" pitchFamily="34" charset="-122"/>
            </a:endParaRPr>
          </a:p>
        </p:txBody>
      </p:sp>
      <p:graphicFrame>
        <p:nvGraphicFramePr>
          <p:cNvPr id="16" name="表格 15"/>
          <p:cNvGraphicFramePr>
            <a:graphicFrameLocks noGrp="1"/>
          </p:cNvGraphicFramePr>
          <p:nvPr/>
        </p:nvGraphicFramePr>
        <p:xfrm>
          <a:off x="325370" y="2613695"/>
          <a:ext cx="9145022" cy="2448274"/>
        </p:xfrm>
        <a:graphic>
          <a:graphicData uri="http://schemas.openxmlformats.org/drawingml/2006/table">
            <a:tbl>
              <a:tblPr/>
              <a:tblGrid>
                <a:gridCol w="1596587"/>
                <a:gridCol w="545670"/>
                <a:gridCol w="636615"/>
                <a:gridCol w="636615"/>
                <a:gridCol w="636615"/>
                <a:gridCol w="636615"/>
                <a:gridCol w="636615"/>
                <a:gridCol w="636615"/>
                <a:gridCol w="636615"/>
                <a:gridCol w="636615"/>
                <a:gridCol w="636615"/>
                <a:gridCol w="636615"/>
                <a:gridCol w="636615"/>
              </a:tblGrid>
              <a:tr h="488201">
                <a:tc rowSpan="3">
                  <a:txBody>
                    <a:bodyPr/>
                    <a:lstStyle/>
                    <a:p>
                      <a:pPr algn="ctr" rtl="0" fontAlgn="ct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业态</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3">
                  <a:txBody>
                    <a:bodyPr/>
                    <a:lstStyle/>
                    <a:p>
                      <a:pPr algn="ctr" rtl="0" fontAlgn="ct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总可售面积</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en-US" altLang="zh-CN" sz="1000" b="1" i="0" u="none" strike="noStrike" dirty="0" smtClean="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smtClean="0">
                          <a:solidFill>
                            <a:srgbClr val="FFFFFF"/>
                          </a:solidFill>
                          <a:effectLst/>
                          <a:latin typeface="微软雅黑" panose="020B0503020204020204" pitchFamily="34" charset="-122"/>
                          <a:ea typeface="微软雅黑" panose="020B0503020204020204" pitchFamily="34" charset="-122"/>
                        </a:rPr>
                        <a:t>年</a:t>
                      </a:r>
                      <a:endParaRPr lang="en-US" altLang="zh-CN" sz="1000" b="1" i="0" u="none" strike="noStrike" dirty="0" smtClean="0">
                        <a:solidFill>
                          <a:srgbClr val="FFFFFF"/>
                        </a:solidFill>
                        <a:effectLst/>
                        <a:latin typeface="微软雅黑" panose="020B0503020204020204" pitchFamily="34" charset="-122"/>
                        <a:ea typeface="微软雅黑" panose="020B0503020204020204" pitchFamily="34" charset="-122"/>
                      </a:endParaRPr>
                    </a:p>
                    <a:p>
                      <a:pPr algn="ctr" rtl="0" fontAlgn="ctr"/>
                      <a:r>
                        <a:rPr lang="zh-CN" altLang="en-US" sz="1000" b="1" i="0" u="none" strike="noStrike" dirty="0" smtClean="0">
                          <a:solidFill>
                            <a:srgbClr val="FFFFFF"/>
                          </a:solidFill>
                          <a:effectLst/>
                          <a:latin typeface="微软雅黑" panose="020B0503020204020204" pitchFamily="34" charset="-122"/>
                          <a:ea typeface="微软雅黑" panose="020B0503020204020204" pitchFamily="34" charset="-122"/>
                        </a:rPr>
                        <a:t>已</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售</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en-US" altLang="zh-CN" sz="1000" b="1" i="0" u="none" strike="noStrike" dirty="0" smtClean="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年自用</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可租面积</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en-US" altLang="zh-CN" sz="1000" b="1" i="0" u="none" strike="noStrike" dirty="0" smtClean="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年已租</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年末可租赁</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年新增可租赁</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年可租赁合计</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年租赁</a:t>
                      </a: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目标</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D7D31"/>
                    </a:solidFill>
                  </a:tcPr>
                </a:tc>
                <a:tc>
                  <a:txBody>
                    <a:bodyPr/>
                    <a:lstStyle/>
                    <a:p>
                      <a:pPr algn="ctr" rtl="0"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年退租</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年末剩余可租赁</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3">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截止</a:t>
                      </a: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年出租率</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323461">
                <a:tc vMerge="1">
                  <a:tcPr/>
                </a:tc>
                <a:tc vMerge="1">
                  <a:tcPr/>
                </a:tc>
                <a:tc vMerge="1">
                  <a:tcPr/>
                </a:tc>
                <a:tc vMerge="1">
                  <a:tcPr/>
                </a:tc>
                <a:tc vMerge="1">
                  <a:tcPr/>
                </a:tc>
                <a:tc vMerge="1">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①</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②</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③</a:t>
                      </a: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=①+②</a:t>
                      </a:r>
                      <a:endParaRPr lang="en-US" altLang="zh-CN"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④</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D7D31"/>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⑤</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⑥</a:t>
                      </a: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=③-④-⑤</a:t>
                      </a:r>
                      <a:endParaRPr lang="en-US" altLang="zh-CN"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vMerge="1">
                  <a:tcPr/>
                </a:tc>
              </a:tr>
              <a:tr h="362264">
                <a:tc vMerge="1">
                  <a:tcPr/>
                </a:tc>
                <a:tc vMerge="1">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D7D31"/>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vMerge="1">
                  <a:tcPr/>
                </a:tc>
              </a:tr>
              <a:tr h="429510">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科创大厦</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T2</a:t>
                      </a: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写字楼</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35,444</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50" b="1" i="0" u="none" strike="noStrike" dirty="0">
                          <a:solidFill>
                            <a:schemeClr val="tx1"/>
                          </a:solidFill>
                          <a:effectLst/>
                          <a:latin typeface="微软雅黑" panose="020B0503020204020204" pitchFamily="34" charset="-122"/>
                          <a:ea typeface="微软雅黑" panose="020B0503020204020204" pitchFamily="34" charset="-122"/>
                        </a:rPr>
                        <a:t>9,250</a:t>
                      </a:r>
                      <a:endParaRPr lang="en-US" altLang="zh-CN" sz="105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2">
                        <a:lumMod val="20000"/>
                        <a:lumOff val="80000"/>
                      </a:schemeClr>
                    </a:solidFill>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2,719</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23,475</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17,903</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5,573</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a:solidFill>
                            <a:srgbClr val="000000"/>
                          </a:solidFill>
                          <a:effectLst/>
                          <a:latin typeface="微软雅黑" panose="020B0503020204020204" pitchFamily="34" charset="-122"/>
                          <a:ea typeface="微软雅黑" panose="020B0503020204020204" pitchFamily="34" charset="-122"/>
                        </a:rPr>
                        <a:t>5,573</a:t>
                      </a:r>
                      <a:endParaRPr lang="en-US" altLang="zh-CN"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5,518</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a:solidFill>
                            <a:srgbClr val="000000"/>
                          </a:solidFill>
                          <a:effectLst/>
                          <a:latin typeface="微软雅黑" panose="020B0503020204020204" pitchFamily="34" charset="-122"/>
                          <a:ea typeface="微软雅黑" panose="020B0503020204020204" pitchFamily="34" charset="-122"/>
                        </a:rPr>
                        <a:t>2,808</a:t>
                      </a:r>
                      <a:endParaRPr lang="en-US" altLang="zh-CN"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a:solidFill>
                            <a:srgbClr val="000000"/>
                          </a:solidFill>
                          <a:effectLst/>
                          <a:latin typeface="微软雅黑" panose="020B0503020204020204" pitchFamily="34" charset="-122"/>
                          <a:ea typeface="微软雅黑" panose="020B0503020204020204" pitchFamily="34" charset="-122"/>
                        </a:rPr>
                        <a:t>2,863</a:t>
                      </a:r>
                      <a:endParaRPr lang="en-US" altLang="zh-CN"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a:solidFill>
                            <a:srgbClr val="000000"/>
                          </a:solidFill>
                          <a:effectLst/>
                          <a:latin typeface="微软雅黑" panose="020B0503020204020204" pitchFamily="34" charset="-122"/>
                          <a:ea typeface="微软雅黑" panose="020B0503020204020204" pitchFamily="34" charset="-122"/>
                        </a:rPr>
                        <a:t>88%</a:t>
                      </a:r>
                      <a:endParaRPr lang="en-US" altLang="zh-CN"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58855">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总部大厦写字楼（未供货）</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56,454</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85983">
                <a:tc>
                  <a:txBody>
                    <a:bodyPr/>
                    <a:lstStyle/>
                    <a:p>
                      <a:pPr algn="ctr" rtl="0" fontAlgn="ctr"/>
                      <a:r>
                        <a:rPr lang="zh-CN" altLang="en-US" sz="1000" b="1" i="0" u="none" strike="noStrike" dirty="0" smtClean="0">
                          <a:solidFill>
                            <a:srgbClr val="000000"/>
                          </a:solidFill>
                          <a:effectLst/>
                          <a:latin typeface="微软雅黑" panose="020B0503020204020204" pitchFamily="34" charset="-122"/>
                          <a:ea typeface="微软雅黑" panose="020B0503020204020204" pitchFamily="34" charset="-122"/>
                        </a:rPr>
                        <a:t>合计</a:t>
                      </a:r>
                      <a:endParaRPr lang="zh-CN" altLang="en-US"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91,898</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9,250</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2,719</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23,475</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17,903</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5,573</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dirty="0" smtClean="0">
                          <a:solidFill>
                            <a:srgbClr val="000000"/>
                          </a:solidFill>
                          <a:effectLst/>
                          <a:latin typeface="微软雅黑" panose="020B0503020204020204" pitchFamily="34" charset="-122"/>
                          <a:ea typeface="微软雅黑" panose="020B0503020204020204" pitchFamily="34" charset="-122"/>
                        </a:rPr>
                        <a:t>0</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5,573</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5,518</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2,808</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a:solidFill>
                            <a:srgbClr val="000000"/>
                          </a:solidFill>
                          <a:effectLst/>
                          <a:latin typeface="微软雅黑" panose="020B0503020204020204" pitchFamily="34" charset="-122"/>
                          <a:ea typeface="微软雅黑" panose="020B0503020204020204" pitchFamily="34" charset="-122"/>
                        </a:rPr>
                        <a:t>2,863</a:t>
                      </a:r>
                      <a:endParaRPr lang="en-US" altLang="zh-CN" sz="10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c>
                  <a:txBody>
                    <a:bodyPr/>
                    <a:lstStyle/>
                    <a:p>
                      <a:pPr algn="ctr" rtl="0" fontAlgn="ctr"/>
                      <a:r>
                        <a:rPr lang="en-US" altLang="zh-CN" sz="1000" b="1" i="0" u="none" strike="noStrike" dirty="0">
                          <a:solidFill>
                            <a:srgbClr val="000000"/>
                          </a:solidFill>
                          <a:effectLst/>
                          <a:latin typeface="微软雅黑" panose="020B0503020204020204" pitchFamily="34" charset="-122"/>
                          <a:ea typeface="微软雅黑" panose="020B0503020204020204" pitchFamily="34" charset="-122"/>
                        </a:rPr>
                        <a:t>88%</a:t>
                      </a:r>
                      <a:endParaRPr lang="en-US" altLang="zh-CN" sz="10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0B4"/>
                    </a:solidFill>
                  </a:tcPr>
                </a:tc>
              </a:tr>
            </a:tbl>
          </a:graphicData>
        </a:graphic>
      </p:graphicFrame>
      <p:sp>
        <p:nvSpPr>
          <p:cNvPr id="2" name="文本框 1"/>
          <p:cNvSpPr txBox="1"/>
          <p:nvPr/>
        </p:nvSpPr>
        <p:spPr>
          <a:xfrm>
            <a:off x="325120" y="5205730"/>
            <a:ext cx="5029200" cy="213995"/>
          </a:xfrm>
          <a:prstGeom prst="rect">
            <a:avLst/>
          </a:prstGeom>
          <a:noFill/>
        </p:spPr>
        <p:txBody>
          <a:bodyPr wrap="square" rtlCol="0" anchor="t">
            <a:spAutoFit/>
          </a:bodyPr>
          <a:p>
            <a:r>
              <a:rPr lang="zh-CN" altLang="en-US" sz="800" dirty="0" smtClean="0">
                <a:latin typeface="微软雅黑" panose="020B0503020204020204" pitchFamily="34" charset="-122"/>
                <a:ea typeface="微软雅黑" panose="020B0503020204020204" pitchFamily="34" charset="-122"/>
              </a:rPr>
              <a:t>注：成都地产</a:t>
            </a:r>
            <a:r>
              <a:rPr lang="en-US" altLang="zh-CN" sz="800" dirty="0" smtClean="0">
                <a:latin typeface="微软雅黑" panose="020B0503020204020204" pitchFamily="34" charset="-122"/>
                <a:ea typeface="微软雅黑" panose="020B0503020204020204" pitchFamily="34" charset="-122"/>
              </a:rPr>
              <a:t>2327</a:t>
            </a:r>
            <a:r>
              <a:rPr lang="zh-CN" altLang="en-US" sz="800" dirty="0" smtClean="0">
                <a:latin typeface="微软雅黑" panose="020B0503020204020204" pitchFamily="34" charset="-122"/>
                <a:ea typeface="微软雅黑" panose="020B0503020204020204" pitchFamily="34" charset="-122"/>
              </a:rPr>
              <a:t>㎡，领创天下孵化器</a:t>
            </a:r>
            <a:r>
              <a:rPr lang="en-US" altLang="zh-CN" sz="800" dirty="0" smtClean="0">
                <a:latin typeface="微软雅黑" panose="020B0503020204020204" pitchFamily="34" charset="-122"/>
                <a:ea typeface="微软雅黑" panose="020B0503020204020204" pitchFamily="34" charset="-122"/>
              </a:rPr>
              <a:t>392</a:t>
            </a:r>
            <a:r>
              <a:rPr lang="zh-CN" altLang="en-US" sz="800" dirty="0" smtClean="0">
                <a:latin typeface="微软雅黑" panose="020B0503020204020204" pitchFamily="34" charset="-122"/>
                <a:ea typeface="微软雅黑" panose="020B0503020204020204" pitchFamily="34" charset="-122"/>
                <a:sym typeface="+mn-ea"/>
              </a:rPr>
              <a:t>㎡</a:t>
            </a:r>
            <a:endParaRPr lang="zh-CN" altLang="en-US" sz="800" dirty="0" smtClean="0">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a:blip r:embed="rId1"/>
          <a:stretch>
            <a:fillRect/>
          </a:stretch>
        </p:blipFill>
        <p:spPr>
          <a:xfrm>
            <a:off x="6839188" y="2930144"/>
            <a:ext cx="2580608" cy="2666000"/>
          </a:xfrm>
          <a:prstGeom prst="rect">
            <a:avLst/>
          </a:prstGeom>
        </p:spPr>
      </p:pic>
      <p:sp>
        <p:nvSpPr>
          <p:cNvPr id="5" name="标题 4"/>
          <p:cNvSpPr>
            <a:spLocks noGrp="1"/>
          </p:cNvSpPr>
          <p:nvPr>
            <p:ph type="title"/>
          </p:nvPr>
        </p:nvSpPr>
        <p:spPr>
          <a:xfrm>
            <a:off x="350563" y="238694"/>
            <a:ext cx="7557554" cy="359245"/>
          </a:xfrm>
        </p:spPr>
        <p:txBody>
          <a:bodyPr/>
          <a:lstStyle/>
          <a:p>
            <a:pPr>
              <a:defRPr/>
            </a:pPr>
            <a:r>
              <a:rPr lang="zh-CN" altLang="en-US" b="1" dirty="0"/>
              <a:t>第一部分：</a:t>
            </a:r>
            <a:r>
              <a:rPr lang="zh-CN" altLang="en-US" b="1" noProof="0" dirty="0" smtClean="0">
                <a:ln>
                  <a:noFill/>
                </a:ln>
                <a:effectLst/>
                <a:uLnTx/>
                <a:uFillTx/>
                <a:sym typeface="+mn-ea"/>
              </a:rPr>
              <a:t>202</a:t>
            </a:r>
            <a:r>
              <a:rPr lang="en-US" altLang="zh-CN" b="1" dirty="0">
                <a:sym typeface="+mn-ea"/>
              </a:rPr>
              <a:t>6</a:t>
            </a:r>
            <a:r>
              <a:rPr lang="zh-CN" altLang="en-US" b="1" noProof="0" dirty="0" smtClean="0">
                <a:ln>
                  <a:noFill/>
                </a:ln>
                <a:effectLst/>
                <a:uLnTx/>
                <a:uFillTx/>
                <a:sym typeface="+mn-ea"/>
              </a:rPr>
              <a:t>年</a:t>
            </a:r>
            <a:r>
              <a:rPr lang="zh-CN" altLang="en-US" b="1" noProof="0" dirty="0">
                <a:ln>
                  <a:noFill/>
                </a:ln>
                <a:effectLst/>
                <a:uLnTx/>
                <a:uFillTx/>
                <a:sym typeface="+mn-ea"/>
              </a:rPr>
              <a:t>经营目标（惠州产业公司）</a:t>
            </a:r>
            <a:endParaRPr lang="zh-CN" altLang="en-US" b="1" dirty="0">
              <a:solidFill>
                <a:srgbClr val="FF0000"/>
              </a:solidFill>
              <a:sym typeface="+mn-ea"/>
            </a:endParaRPr>
          </a:p>
        </p:txBody>
      </p:sp>
      <p:sp>
        <p:nvSpPr>
          <p:cNvPr id="6" name="文本框 5"/>
          <p:cNvSpPr txBox="1"/>
          <p:nvPr/>
        </p:nvSpPr>
        <p:spPr>
          <a:xfrm>
            <a:off x="205740" y="896620"/>
            <a:ext cx="9852660" cy="829945"/>
          </a:xfrm>
          <a:prstGeom prst="rect">
            <a:avLst/>
          </a:prstGeom>
          <a:noFill/>
        </p:spPr>
        <p:txBody>
          <a:bodyPr wrap="square">
            <a:spAutoFit/>
          </a:bodyPr>
          <a:lstStyle/>
          <a:p>
            <a:pPr marL="207645" indent="-207645" algn="just" defTabSz="1108075" eaLnBrk="0" fontAlgn="base" hangingPunct="0">
              <a:spcBef>
                <a:spcPct val="0"/>
              </a:spcBef>
              <a:spcAft>
                <a:spcPct val="0"/>
              </a:spcAft>
              <a:buClr>
                <a:srgbClr val="000000"/>
              </a:buClr>
              <a:buFont typeface="Wingdings" panose="05000000000000000000" pitchFamily="2" charset="2"/>
              <a:buChar char="n"/>
              <a:defRPr/>
            </a:pP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年宿舍平均出租率预计为</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96%</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，全年租金收入</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274</a:t>
            </a: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2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en-US" altLang="zh-CN" sz="12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endParaRPr>
          </a:p>
          <a:p>
            <a:pPr marL="207645" indent="-207645" algn="just" defTabSz="1108075" eaLnBrk="0" fontAlgn="base" hangingPunct="0">
              <a:spcBef>
                <a:spcPct val="0"/>
              </a:spcBef>
              <a:spcAft>
                <a:spcPct val="0"/>
              </a:spcAft>
              <a:buClr>
                <a:srgbClr val="000000"/>
              </a:buClr>
              <a:buFont typeface="Wingdings" panose="05000000000000000000" pitchFamily="2" charset="2"/>
              <a:buChar char="n"/>
              <a:defRPr/>
            </a:pP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2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年商</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铺预计平均租赁面</a:t>
            </a:r>
            <a:r>
              <a:rPr lang="zh-CN" altLang="en-US" sz="1200" b="1" dirty="0">
                <a:latin typeface="微软雅黑" panose="020B0503020204020204" pitchFamily="34" charset="-122"/>
                <a:ea typeface="微软雅黑" panose="020B0503020204020204" pitchFamily="34" charset="-122"/>
                <a:cs typeface="微软雅黑" panose="020B0503020204020204" pitchFamily="34" charset="-122"/>
                <a:sym typeface="+mn-ea"/>
              </a:rPr>
              <a:t>积</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1,014.01㎡</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，租金单价</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54.23 </a:t>
            </a:r>
            <a:r>
              <a:rPr lang="zh-CN" altLang="en-US" sz="1200"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元</a:t>
            </a:r>
            <a:r>
              <a:rPr lang="zh-CN" altLang="en-US" sz="1200"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2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年厂房</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预计平均租赁面</a:t>
            </a:r>
            <a:r>
              <a:rPr lang="zh-CN" altLang="en-US" sz="1200" b="1" dirty="0">
                <a:latin typeface="微软雅黑" panose="020B0503020204020204" pitchFamily="34" charset="-122"/>
                <a:ea typeface="微软雅黑" panose="020B0503020204020204" pitchFamily="34" charset="-122"/>
                <a:cs typeface="微软雅黑" panose="020B0503020204020204" pitchFamily="34" charset="-122"/>
                <a:sym typeface="+mn-ea"/>
              </a:rPr>
              <a:t>积</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2,652.22㎡</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，租金单价</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10</a:t>
            </a:r>
            <a:r>
              <a:rPr lang="zh-CN" altLang="en-US" sz="1200"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元</a:t>
            </a:r>
            <a:r>
              <a:rPr lang="zh-CN" altLang="en-US" sz="1200"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en-US" altLang="zh-CN" sz="1200" b="1" dirty="0" smtClean="0">
              <a:latin typeface="微软雅黑" panose="020B0503020204020204" pitchFamily="34" charset="-122"/>
              <a:ea typeface="微软雅黑" panose="020B0503020204020204" pitchFamily="34" charset="-122"/>
              <a:cs typeface="微软雅黑" panose="020B0503020204020204" pitchFamily="34" charset="-122"/>
            </a:endParaRPr>
          </a:p>
          <a:p>
            <a:pPr marL="207645" indent="-207645" algn="just" defTabSz="1108075" eaLnBrk="0" fontAlgn="base" hangingPunct="0">
              <a:spcBef>
                <a:spcPct val="0"/>
              </a:spcBef>
              <a:spcAft>
                <a:spcPct val="0"/>
              </a:spcAft>
              <a:buClr>
                <a:srgbClr val="000000"/>
              </a:buClr>
              <a:buFont typeface="Wingdings" panose="05000000000000000000" pitchFamily="2" charset="2"/>
              <a:buChar char="n"/>
              <a:defRPr/>
            </a:pP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年整体租金收入（含厂房</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商铺</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宿舍）</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369.7</a:t>
            </a: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，较</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2025</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年下降</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16.4</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万，主要原因为宿舍租金收入减少</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9</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万，商铺</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租金收入减少</a:t>
            </a:r>
            <a:r>
              <a:rPr lang="en-US" altLang="zh-CN"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7</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endParaRPr>
          </a:p>
          <a:p>
            <a:pPr algn="just" defTabSz="1108075" eaLnBrk="0" fontAlgn="base" hangingPunct="0">
              <a:spcBef>
                <a:spcPct val="0"/>
              </a:spcBef>
              <a:spcAft>
                <a:spcPct val="0"/>
              </a:spcAft>
              <a:buClr>
                <a:srgbClr val="000000"/>
              </a:buClr>
              <a:buFont typeface="Wingdings" panose="05000000000000000000" pitchFamily="2" charset="2"/>
              <a:defRPr/>
            </a:pPr>
            <a:endParaRPr lang="zh-CN" altLang="en-US" sz="12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 name="矩形 14"/>
          <p:cNvSpPr/>
          <p:nvPr/>
        </p:nvSpPr>
        <p:spPr>
          <a:xfrm>
            <a:off x="205883" y="3151743"/>
            <a:ext cx="6478762" cy="2444401"/>
          </a:xfrm>
          <a:prstGeom prst="rect">
            <a:avLst/>
          </a:prstGeom>
          <a:solidFill>
            <a:schemeClr val="bg1">
              <a:lumMod val="95000"/>
            </a:schemeClr>
          </a:solidFill>
        </p:spPr>
        <p:txBody>
          <a:bodyPr wrap="square" lIns="36184" rIns="36184" anchor="ctr" anchorCtr="0">
            <a:noAutofit/>
          </a:bodyPr>
          <a:lstStyle/>
          <a:p>
            <a:pPr lvl="0" eaLnBrk="0" hangingPunct="0">
              <a:lnSpc>
                <a:spcPct val="120000"/>
              </a:lnSpc>
              <a:spcAft>
                <a:spcPts val="600"/>
              </a:spcAft>
              <a:buFont typeface="Wingdings" panose="05000000000000000000" pitchFamily="2" charset="2"/>
              <a:defRPr/>
            </a:pPr>
            <a:r>
              <a:rPr lang="zh-CN" altLang="en-US" sz="1075" b="1" dirty="0" smtClean="0">
                <a:solidFill>
                  <a:prstClr val="black"/>
                </a:solidFill>
                <a:latin typeface="微软雅黑" panose="020B0503020204020204" pitchFamily="34" charset="-122"/>
                <a:ea typeface="微软雅黑" panose="020B0503020204020204" pitchFamily="34" charset="-122"/>
                <a:sym typeface="+mn-ea"/>
              </a:rPr>
              <a:t>XH</a:t>
            </a:r>
            <a:r>
              <a:rPr lang="en-US" altLang="zh-CN" sz="1075" b="1" dirty="0" smtClean="0">
                <a:solidFill>
                  <a:prstClr val="black"/>
                </a:solidFill>
                <a:latin typeface="微软雅黑" panose="020B0503020204020204" pitchFamily="34" charset="-122"/>
                <a:ea typeface="微软雅黑" panose="020B0503020204020204" pitchFamily="34" charset="-122"/>
                <a:sym typeface="+mn-ea"/>
              </a:rPr>
              <a:t>IMC2026</a:t>
            </a:r>
            <a:r>
              <a:rPr lang="zh-CN" altLang="en-US" sz="1075" b="1" dirty="0" smtClean="0">
                <a:solidFill>
                  <a:prstClr val="black"/>
                </a:solidFill>
                <a:latin typeface="微软雅黑" panose="020B0503020204020204" pitchFamily="34" charset="-122"/>
                <a:ea typeface="微软雅黑" panose="020B0503020204020204" pitchFamily="34" charset="-122"/>
                <a:sym typeface="+mn-ea"/>
              </a:rPr>
              <a:t>年物业预计收入</a:t>
            </a:r>
            <a:r>
              <a:rPr lang="en-US" altLang="zh-CN" sz="1075" b="1" dirty="0" smtClean="0">
                <a:solidFill>
                  <a:prstClr val="black"/>
                </a:solidFill>
                <a:latin typeface="微软雅黑" panose="020B0503020204020204" pitchFamily="34" charset="-122"/>
                <a:ea typeface="微软雅黑" panose="020B0503020204020204" pitchFamily="34" charset="-122"/>
                <a:sym typeface="+mn-ea"/>
              </a:rPr>
              <a:t>829.3</a:t>
            </a:r>
            <a:r>
              <a:rPr lang="zh-CN" altLang="en-US" sz="1075" b="1" dirty="0" smtClean="0">
                <a:solidFill>
                  <a:prstClr val="black"/>
                </a:solidFill>
                <a:latin typeface="微软雅黑" panose="020B0503020204020204" pitchFamily="34" charset="-122"/>
                <a:ea typeface="微软雅黑" panose="020B0503020204020204" pitchFamily="34" charset="-122"/>
                <a:sym typeface="+mn-ea"/>
              </a:rPr>
              <a:t>万元，预计</a:t>
            </a:r>
            <a:r>
              <a:rPr lang="en-US" altLang="zh-CN" sz="1075" b="1" dirty="0" smtClean="0">
                <a:solidFill>
                  <a:prstClr val="black"/>
                </a:solidFill>
                <a:latin typeface="微软雅黑" panose="020B0503020204020204" pitchFamily="34" charset="-122"/>
                <a:ea typeface="微软雅黑" panose="020B0503020204020204" pitchFamily="34" charset="-122"/>
                <a:sym typeface="+mn-ea"/>
              </a:rPr>
              <a:t>2025</a:t>
            </a:r>
            <a:r>
              <a:rPr lang="zh-CN" altLang="en-US" sz="1075" b="1" dirty="0" smtClean="0">
                <a:solidFill>
                  <a:prstClr val="black"/>
                </a:solidFill>
                <a:latin typeface="微软雅黑" panose="020B0503020204020204" pitchFamily="34" charset="-122"/>
                <a:ea typeface="微软雅黑" panose="020B0503020204020204" pitchFamily="34" charset="-122"/>
                <a:sym typeface="+mn-ea"/>
              </a:rPr>
              <a:t>年预计收入减少</a:t>
            </a:r>
            <a:r>
              <a:rPr lang="en-US" sz="1075" b="1" dirty="0" smtClean="0">
                <a:solidFill>
                  <a:prstClr val="black"/>
                </a:solidFill>
                <a:latin typeface="微软雅黑" panose="020B0503020204020204" pitchFamily="34" charset="-122"/>
                <a:ea typeface="微软雅黑" panose="020B0503020204020204" pitchFamily="34" charset="-122"/>
                <a:sym typeface="+mn-ea"/>
              </a:rPr>
              <a:t>23.7</a:t>
            </a:r>
            <a:r>
              <a:rPr lang="zh-CN" altLang="en-US" sz="1075" b="1" dirty="0" smtClean="0">
                <a:solidFill>
                  <a:prstClr val="black"/>
                </a:solidFill>
                <a:latin typeface="微软雅黑" panose="020B0503020204020204" pitchFamily="34" charset="-122"/>
                <a:ea typeface="微软雅黑" panose="020B0503020204020204" pitchFamily="34" charset="-122"/>
                <a:sym typeface="+mn-ea"/>
              </a:rPr>
              <a:t>万元，</a:t>
            </a:r>
            <a:r>
              <a:rPr lang="zh-CN" sz="1075" b="1" dirty="0" smtClean="0">
                <a:solidFill>
                  <a:prstClr val="black"/>
                </a:solidFill>
                <a:latin typeface="微软雅黑" panose="020B0503020204020204" pitchFamily="34" charset="-122"/>
                <a:ea typeface="微软雅黑" panose="020B0503020204020204" pitchFamily="34" charset="-122"/>
                <a:sym typeface="+mn-ea"/>
              </a:rPr>
              <a:t>主要原因：</a:t>
            </a:r>
            <a:endParaRPr lang="zh-CN" sz="1075" b="1" dirty="0" smtClean="0">
              <a:solidFill>
                <a:prstClr val="black"/>
              </a:solidFill>
              <a:latin typeface="微软雅黑" panose="020B0503020204020204" pitchFamily="34" charset="-122"/>
              <a:ea typeface="微软雅黑" panose="020B0503020204020204" pitchFamily="34" charset="-122"/>
            </a:endParaRPr>
          </a:p>
          <a:p>
            <a:pPr lvl="0" eaLnBrk="0" hangingPunct="0">
              <a:lnSpc>
                <a:spcPct val="120000"/>
              </a:lnSpc>
              <a:spcAft>
                <a:spcPts val="600"/>
              </a:spcAft>
              <a:buFont typeface="Wingdings" panose="05000000000000000000" pitchFamily="2" charset="2"/>
              <a:defRPr/>
            </a:pPr>
            <a:r>
              <a:rPr lang="en-US" altLang="zh-CN" sz="1075" dirty="0" smtClean="0">
                <a:solidFill>
                  <a:prstClr val="black"/>
                </a:solidFill>
                <a:latin typeface="微软雅黑" panose="020B0503020204020204" pitchFamily="34" charset="-122"/>
                <a:ea typeface="微软雅黑" panose="020B0503020204020204" pitchFamily="34" charset="-122"/>
                <a:sym typeface="+mn-ea"/>
              </a:rPr>
              <a:t>2025</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年因</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B6</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栋企业投产增加用电产生增容服务费收入</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15</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万，</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2026</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年起企业全面投产无增容需求；因市场对电费差价管控趋严，且二期充电桩不考虑续费，电费收入减少</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4</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万，以及</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创维电梯广告项目关停</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减少收入约</a:t>
            </a:r>
            <a:r>
              <a:rPr lang="en-US" altLang="zh-CN" sz="1075" dirty="0" smtClean="0">
                <a:solidFill>
                  <a:prstClr val="black"/>
                </a:solidFill>
                <a:latin typeface="微软雅黑" panose="020B0503020204020204" pitchFamily="34" charset="-122"/>
                <a:ea typeface="微软雅黑" panose="020B0503020204020204" pitchFamily="34" charset="-122"/>
                <a:sym typeface="+mn-ea"/>
              </a:rPr>
              <a:t>2</a:t>
            </a:r>
            <a:r>
              <a:rPr lang="zh-CN" altLang="en-US" sz="1075" dirty="0" smtClean="0">
                <a:solidFill>
                  <a:prstClr val="black"/>
                </a:solidFill>
                <a:latin typeface="微软雅黑" panose="020B0503020204020204" pitchFamily="34" charset="-122"/>
                <a:ea typeface="微软雅黑" panose="020B0503020204020204" pitchFamily="34" charset="-122"/>
                <a:sym typeface="+mn-ea"/>
              </a:rPr>
              <a:t>万。</a:t>
            </a:r>
            <a:endParaRPr lang="zh-CN" altLang="en-US" sz="1075" dirty="0" smtClean="0">
              <a:solidFill>
                <a:prstClr val="black"/>
              </a:solidFill>
              <a:latin typeface="微软雅黑" panose="020B0503020204020204" pitchFamily="34" charset="-122"/>
              <a:ea typeface="微软雅黑" panose="020B0503020204020204" pitchFamily="34" charset="-122"/>
            </a:endParaRPr>
          </a:p>
          <a:p>
            <a:pPr marL="171450" lvl="0" indent="-171450" algn="l" eaLnBrk="0" hangingPunct="0">
              <a:lnSpc>
                <a:spcPct val="120000"/>
              </a:lnSpc>
              <a:spcAft>
                <a:spcPts val="600"/>
              </a:spcAft>
              <a:buClrTx/>
              <a:buSzTx/>
              <a:buFont typeface="Wingdings" panose="05000000000000000000" pitchFamily="2" charset="2"/>
              <a:buChar char="n"/>
              <a:defRPr/>
            </a:pPr>
            <a:r>
              <a:rPr lang="zh-CN" altLang="en-US" sz="1075" b="1" dirty="0">
                <a:solidFill>
                  <a:prstClr val="black"/>
                </a:solidFill>
                <a:latin typeface="微软雅黑" panose="020B0503020204020204" pitchFamily="34" charset="-122"/>
                <a:ea typeface="微软雅黑" panose="020B0503020204020204" pitchFamily="34" charset="-122"/>
                <a:sym typeface="+mn-ea"/>
              </a:rPr>
              <a:t>费用分析，</a:t>
            </a:r>
            <a:r>
              <a:rPr lang="en-US" altLang="zh-CN" sz="1075" b="1" dirty="0">
                <a:solidFill>
                  <a:prstClr val="black"/>
                </a:solidFill>
                <a:latin typeface="微软雅黑" panose="020B0503020204020204" pitchFamily="34" charset="-122"/>
                <a:ea typeface="微软雅黑" panose="020B0503020204020204" pitchFamily="34" charset="-122"/>
                <a:sym typeface="+mn-ea"/>
              </a:rPr>
              <a:t>2026</a:t>
            </a:r>
            <a:r>
              <a:rPr lang="zh-CN" altLang="en-US" sz="1075" b="1" dirty="0">
                <a:solidFill>
                  <a:prstClr val="black"/>
                </a:solidFill>
                <a:latin typeface="微软雅黑" panose="020B0503020204020204" pitchFamily="34" charset="-122"/>
                <a:ea typeface="微软雅黑" panose="020B0503020204020204" pitchFamily="34" charset="-122"/>
                <a:sym typeface="+mn-ea"/>
              </a:rPr>
              <a:t>年费用较202</a:t>
            </a:r>
            <a:r>
              <a:rPr lang="en-US" altLang="zh-CN" sz="1075" b="1" dirty="0">
                <a:solidFill>
                  <a:prstClr val="black"/>
                </a:solidFill>
                <a:latin typeface="微软雅黑" panose="020B0503020204020204" pitchFamily="34" charset="-122"/>
                <a:ea typeface="微软雅黑" panose="020B0503020204020204" pitchFamily="34" charset="-122"/>
                <a:sym typeface="+mn-ea"/>
              </a:rPr>
              <a:t>5</a:t>
            </a:r>
            <a:r>
              <a:rPr lang="zh-CN" altLang="en-US" sz="1075" b="1" dirty="0">
                <a:solidFill>
                  <a:prstClr val="black"/>
                </a:solidFill>
                <a:latin typeface="微软雅黑" panose="020B0503020204020204" pitchFamily="34" charset="-122"/>
                <a:ea typeface="微软雅黑" panose="020B0503020204020204" pitchFamily="34" charset="-122"/>
                <a:sym typeface="+mn-ea"/>
              </a:rPr>
              <a:t>年预计增加约</a:t>
            </a:r>
            <a:r>
              <a:rPr lang="en-US" altLang="zh-CN" sz="1075" b="1" dirty="0">
                <a:solidFill>
                  <a:prstClr val="black"/>
                </a:solidFill>
                <a:latin typeface="微软雅黑" panose="020B0503020204020204" pitchFamily="34" charset="-122"/>
                <a:ea typeface="微软雅黑" panose="020B0503020204020204" pitchFamily="34" charset="-122"/>
                <a:sym typeface="+mn-ea"/>
              </a:rPr>
              <a:t>27</a:t>
            </a:r>
            <a:r>
              <a:rPr lang="zh-CN" altLang="en-US" sz="1075" b="1" dirty="0">
                <a:solidFill>
                  <a:prstClr val="black"/>
                </a:solidFill>
                <a:latin typeface="微软雅黑" panose="020B0503020204020204" pitchFamily="34" charset="-122"/>
                <a:ea typeface="微软雅黑" panose="020B0503020204020204" pitchFamily="34" charset="-122"/>
                <a:sym typeface="+mn-ea"/>
              </a:rPr>
              <a:t>万，主要原因：</a:t>
            </a:r>
            <a:endParaRPr lang="zh-CN" altLang="en-US" sz="1075" b="1" dirty="0">
              <a:solidFill>
                <a:prstClr val="black"/>
              </a:solidFill>
              <a:latin typeface="微软雅黑" panose="020B0503020204020204" pitchFamily="34" charset="-122"/>
              <a:ea typeface="微软雅黑" panose="020B0503020204020204" pitchFamily="34" charset="-122"/>
            </a:endParaRPr>
          </a:p>
          <a:p>
            <a:pPr lvl="0" eaLnBrk="0" hangingPunct="0">
              <a:lnSpc>
                <a:spcPct val="120000"/>
              </a:lnSpc>
              <a:defRPr/>
            </a:pP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、设备运转维护费增加</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33</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a:t>
            </a:r>
            <a:endParaRPr kumimoji="0" lang="zh-CN" altLang="en-US" sz="1075"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eaLnBrk="0" hangingPunct="0">
              <a:lnSpc>
                <a:spcPct val="120000"/>
              </a:lnSpc>
              <a:defRPr/>
            </a:pPr>
            <a:r>
              <a:rPr lang="en-US"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①</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、由于二期电梯</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2025</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9</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月份到期，新增维保电梯</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37</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台（</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350</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元</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月</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台），电梯维保费增加</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14</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a:t>
            </a:r>
            <a:endParaRPr kumimoji="0" lang="zh-CN" altLang="en-US" sz="1075"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eaLnBrk="0" hangingPunct="0">
              <a:lnSpc>
                <a:spcPct val="120000"/>
              </a:lnSpc>
              <a:defRPr/>
            </a:pPr>
            <a:r>
              <a:rPr lang="en-US"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②</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专项检测费增加</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14.6</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万（一二期各</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7</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万），根据国家《电力设备预防性试验规程》高压电气设备预防性试验：</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10KV</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室内电气设备每</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年试验一次，具体检测根据项目情况核定，为确保园区安全生产，</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26</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年一二期均已到检测阶段；</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24</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年一期已做过一次高压电气设备检测，</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25</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年不需要做相关检测；</a:t>
            </a:r>
            <a:endParaRPr kumimoji="0" lang="zh-CN" altLang="en-US" sz="1075"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eaLnBrk="0" hangingPunct="0">
              <a:lnSpc>
                <a:spcPct val="120000"/>
              </a:lnSpc>
              <a:defRPr/>
            </a:pP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、人工成本节省</a:t>
            </a:r>
            <a:r>
              <a:rPr lang="en-US" altLang="zh-CN"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12</a:t>
            </a:r>
            <a:r>
              <a:rPr lang="zh-CN" altLang="en-US" sz="1075"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万：秉持集团紧巴巴用人原则，合理控编，优化人工成本。</a:t>
            </a:r>
            <a:endParaRPr lang="zh-CN" altLang="en-US" sz="1075" dirty="0">
              <a:solidFill>
                <a:prstClr val="black"/>
              </a:solidFill>
              <a:latin typeface="微软雅黑" panose="020B0503020204020204" pitchFamily="34" charset="-122"/>
              <a:ea typeface="微软雅黑" panose="020B0503020204020204" pitchFamily="34" charset="-122"/>
            </a:endParaRPr>
          </a:p>
        </p:txBody>
      </p:sp>
      <p:sp>
        <p:nvSpPr>
          <p:cNvPr id="12" name="文本框 11"/>
          <p:cNvSpPr txBox="1"/>
          <p:nvPr/>
        </p:nvSpPr>
        <p:spPr>
          <a:xfrm>
            <a:off x="6757035" y="1539875"/>
            <a:ext cx="2867660" cy="1232535"/>
          </a:xfrm>
          <a:prstGeom prst="rect">
            <a:avLst/>
          </a:prstGeom>
          <a:noFill/>
          <a:ln w="12700">
            <a:solidFill>
              <a:srgbClr val="C00000"/>
            </a:solidFill>
          </a:ln>
        </p:spPr>
        <p:txBody>
          <a:bodyPr wrap="square" rtlCol="0">
            <a:spAutoFit/>
          </a:bodyPr>
          <a:lstStyle/>
          <a:p>
            <a:pPr algn="just" defTabSz="1108075" eaLnBrk="0" fontAlgn="base" hangingPunct="0">
              <a:lnSpc>
                <a:spcPct val="150000"/>
              </a:lnSpc>
              <a:spcBef>
                <a:spcPct val="0"/>
              </a:spcBef>
              <a:spcAft>
                <a:spcPct val="0"/>
              </a:spcAft>
              <a:buClr>
                <a:srgbClr val="C00000"/>
              </a:buClr>
              <a:defRPr/>
            </a:pPr>
            <a:r>
              <a:rPr lang="zh-CN" altLang="en-US" sz="99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出租说明：</a:t>
            </a:r>
            <a:endParaRPr lang="en-US" altLang="zh-CN" sz="99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207645" indent="-207645" algn="just" defTabSz="1108075" eaLnBrk="0" fontAlgn="base" hangingPunct="0">
              <a:lnSpc>
                <a:spcPct val="150000"/>
              </a:lnSpc>
              <a:spcBef>
                <a:spcPct val="0"/>
              </a:spcBef>
              <a:spcAft>
                <a:spcPct val="0"/>
              </a:spcAft>
              <a:buClr>
                <a:srgbClr val="C00000"/>
              </a:buClr>
              <a:buFont typeface="Wingdings" panose="05000000000000000000" pitchFamily="2" charset="2"/>
              <a:buChar char="l"/>
              <a:defRPr/>
            </a:pPr>
            <a:r>
              <a:rPr lang="en-US" altLang="zh-CN" sz="990" dirty="0" smtClean="0">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990" dirty="0" smtClean="0">
                <a:latin typeface="微软雅黑" panose="020B0503020204020204" pitchFamily="34" charset="-122"/>
                <a:ea typeface="微软雅黑" panose="020B0503020204020204" pitchFamily="34" charset="-122"/>
                <a:cs typeface="微软雅黑" panose="020B0503020204020204" pitchFamily="34" charset="-122"/>
                <a:sym typeface="+mn-ea"/>
              </a:rPr>
              <a:t>年宿舍租赁</a:t>
            </a:r>
            <a:r>
              <a:rPr lang="en-US" altLang="zh-CN" sz="990" dirty="0" smtClean="0">
                <a:latin typeface="微软雅黑" panose="020B0503020204020204" pitchFamily="34" charset="-122"/>
                <a:ea typeface="微软雅黑" panose="020B0503020204020204" pitchFamily="34" charset="-122"/>
                <a:cs typeface="微软雅黑" panose="020B0503020204020204" pitchFamily="34" charset="-122"/>
                <a:sym typeface="+mn-ea"/>
              </a:rPr>
              <a:t>346</a:t>
            </a:r>
            <a:r>
              <a:rPr lang="zh-CN" altLang="en-US" sz="990" dirty="0" smtClean="0">
                <a:latin typeface="微软雅黑" panose="020B0503020204020204" pitchFamily="34" charset="-122"/>
                <a:ea typeface="微软雅黑" panose="020B0503020204020204" pitchFamily="34" charset="-122"/>
                <a:cs typeface="微软雅黑" panose="020B0503020204020204" pitchFamily="34" charset="-122"/>
                <a:sym typeface="+mn-ea"/>
              </a:rPr>
              <a:t>间（受企业购买住宅交付、宿舍维修、企业退租预留</a:t>
            </a:r>
            <a:r>
              <a:rPr lang="zh-CN" altLang="en-US" sz="990" dirty="0">
                <a:latin typeface="微软雅黑" panose="020B0503020204020204" pitchFamily="34" charset="-122"/>
                <a:ea typeface="微软雅黑" panose="020B0503020204020204" pitchFamily="34" charset="-122"/>
                <a:cs typeface="微软雅黑" panose="020B0503020204020204" pitchFamily="34" charset="-122"/>
                <a:sym typeface="+mn-ea"/>
              </a:rPr>
              <a:t>空窗</a:t>
            </a:r>
            <a:r>
              <a:rPr lang="zh-CN" altLang="en-US" sz="990" dirty="0" smtClean="0">
                <a:latin typeface="微软雅黑" panose="020B0503020204020204" pitchFamily="34" charset="-122"/>
                <a:ea typeface="微软雅黑" panose="020B0503020204020204" pitchFamily="34" charset="-122"/>
                <a:cs typeface="微软雅黑" panose="020B0503020204020204" pitchFamily="34" charset="-122"/>
                <a:sym typeface="+mn-ea"/>
              </a:rPr>
              <a:t>期）</a:t>
            </a:r>
            <a:endParaRPr lang="zh-CN" altLang="en-US" sz="990" dirty="0" smtClean="0">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207645" indent="-207645" algn="just" defTabSz="1108075" eaLnBrk="0" fontAlgn="base" hangingPunct="0">
              <a:lnSpc>
                <a:spcPct val="150000"/>
              </a:lnSpc>
              <a:spcBef>
                <a:spcPct val="0"/>
              </a:spcBef>
              <a:spcAft>
                <a:spcPct val="0"/>
              </a:spcAft>
              <a:buClr>
                <a:srgbClr val="C00000"/>
              </a:buClr>
              <a:buFont typeface="Wingdings" panose="05000000000000000000" pitchFamily="2" charset="2"/>
              <a:buChar char="l"/>
              <a:defRPr/>
            </a:pPr>
            <a:r>
              <a:rPr lang="en-US" altLang="zh-CN"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118</a:t>
            </a:r>
            <a:r>
              <a:rPr lang="zh-CN" altLang="en-US"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㎡商铺于</a:t>
            </a:r>
            <a:r>
              <a:rPr lang="en-US" altLang="zh-CN"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a:t>
            </a:r>
            <a:r>
              <a:rPr lang="en-US" altLang="zh-CN"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月</a:t>
            </a:r>
            <a:r>
              <a:rPr lang="en-US" altLang="zh-CN"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15</a:t>
            </a:r>
            <a:r>
              <a:rPr lang="zh-CN" altLang="en-US"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日到期后交由地产销售，未按出租计算收入</a:t>
            </a:r>
            <a:endParaRPr lang="zh-CN" altLang="en-US" sz="99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3" name="矩形 2"/>
          <p:cNvSpPr/>
          <p:nvPr/>
        </p:nvSpPr>
        <p:spPr>
          <a:xfrm>
            <a:off x="8242649" y="3038586"/>
            <a:ext cx="410194" cy="2619899"/>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108075" eaLnBrk="0" fontAlgn="base" hangingPunct="0">
              <a:spcBef>
                <a:spcPct val="0"/>
              </a:spcBef>
              <a:spcAft>
                <a:spcPct val="0"/>
              </a:spcAft>
              <a:defRPr/>
            </a:pPr>
            <a:endParaRPr lang="zh-CN" altLang="en-US" sz="1800">
              <a:solidFill>
                <a:prstClr val="white"/>
              </a:solidFill>
              <a:latin typeface="Calibri" panose="020F0502020204030204"/>
              <a:ea typeface="宋体" panose="02010600030101010101" pitchFamily="2" charset="-122"/>
            </a:endParaRPr>
          </a:p>
        </p:txBody>
      </p:sp>
      <p:sp>
        <p:nvSpPr>
          <p:cNvPr id="13" name="矩形 1"/>
          <p:cNvSpPr/>
          <p:nvPr/>
        </p:nvSpPr>
        <p:spPr>
          <a:xfrm>
            <a:off x="206017" y="597938"/>
            <a:ext cx="2375597" cy="287258"/>
          </a:xfrm>
          <a:prstGeom prst="rect">
            <a:avLst/>
          </a:prstGeom>
          <a:solidFill>
            <a:srgbClr val="595959"/>
          </a:solidFill>
          <a:ln w="9525">
            <a:noFill/>
          </a:ln>
        </p:spPr>
        <p:txBody>
          <a:bodyPr anchor="ctr" anchorCtr="0"/>
          <a:lstStyle/>
          <a:p>
            <a:pPr marL="346075" indent="-346075" defTabSz="1108075" fontAlgn="base">
              <a:spcBef>
                <a:spcPct val="0"/>
              </a:spcBef>
              <a:spcAft>
                <a:spcPct val="0"/>
              </a:spcAft>
              <a:buFont typeface="Wingdings" panose="05000000000000000000" pitchFamily="2" charset="2"/>
              <a:buChar char="p"/>
              <a:defRPr/>
            </a:pPr>
            <a:r>
              <a:rPr lang="en-US" altLang="zh-CN" sz="1600" b="1" dirty="0">
                <a:solidFill>
                  <a:prstClr val="white"/>
                </a:solidFill>
                <a:latin typeface="Arial" panose="020B0604020202020204" pitchFamily="34" charset="0"/>
                <a:ea typeface="微软雅黑" panose="020B0503020204020204" pitchFamily="34" charset="-122"/>
              </a:rPr>
              <a:t>2026</a:t>
            </a:r>
            <a:r>
              <a:rPr lang="zh-CN" altLang="en-US" sz="1600" b="1" dirty="0">
                <a:solidFill>
                  <a:prstClr val="white"/>
                </a:solidFill>
                <a:latin typeface="Arial" panose="020B0604020202020204" pitchFamily="34" charset="0"/>
                <a:ea typeface="微软雅黑" panose="020B0503020204020204" pitchFamily="34" charset="-122"/>
              </a:rPr>
              <a:t>租赁运营目标</a:t>
            </a:r>
            <a:endParaRPr lang="zh-CN" altLang="en-US" sz="1600" b="1" dirty="0">
              <a:solidFill>
                <a:prstClr val="white"/>
              </a:solidFill>
              <a:latin typeface="Arial" panose="020B0604020202020204" pitchFamily="34" charset="0"/>
              <a:ea typeface="微软雅黑" panose="020B0503020204020204" pitchFamily="34" charset="-122"/>
            </a:endParaRPr>
          </a:p>
        </p:txBody>
      </p:sp>
      <p:sp>
        <p:nvSpPr>
          <p:cNvPr id="16" name="矩形 1"/>
          <p:cNvSpPr/>
          <p:nvPr/>
        </p:nvSpPr>
        <p:spPr>
          <a:xfrm>
            <a:off x="205740" y="2809240"/>
            <a:ext cx="2828290" cy="287020"/>
          </a:xfrm>
          <a:prstGeom prst="rect">
            <a:avLst/>
          </a:prstGeom>
          <a:solidFill>
            <a:srgbClr val="595959"/>
          </a:solidFill>
          <a:ln w="9525">
            <a:noFill/>
          </a:ln>
        </p:spPr>
        <p:txBody>
          <a:bodyPr anchor="ctr" anchorCtr="0"/>
          <a:lstStyle/>
          <a:p>
            <a:pPr marL="346075" indent="-346075" defTabSz="1108075" fontAlgn="base">
              <a:spcBef>
                <a:spcPct val="0"/>
              </a:spcBef>
              <a:spcAft>
                <a:spcPct val="0"/>
              </a:spcAft>
              <a:buFont typeface="Wingdings" panose="05000000000000000000" pitchFamily="2" charset="2"/>
              <a:buChar char="p"/>
              <a:defRPr/>
            </a:pPr>
            <a:r>
              <a:rPr lang="en-US" altLang="zh-CN" sz="1600" b="1" dirty="0">
                <a:solidFill>
                  <a:prstClr val="white"/>
                </a:solidFill>
                <a:latin typeface="Arial" panose="020B0604020202020204" pitchFamily="34" charset="0"/>
                <a:ea typeface="微软雅黑" panose="020B0503020204020204" pitchFamily="34" charset="-122"/>
              </a:rPr>
              <a:t>2026</a:t>
            </a:r>
            <a:r>
              <a:rPr lang="zh-CN" altLang="en-US" sz="1600" b="1" dirty="0">
                <a:solidFill>
                  <a:prstClr val="white"/>
                </a:solidFill>
                <a:latin typeface="Arial" panose="020B0604020202020204" pitchFamily="34" charset="0"/>
                <a:ea typeface="微软雅黑" panose="020B0503020204020204" pitchFamily="34" charset="-122"/>
              </a:rPr>
              <a:t>年物业经营目标</a:t>
            </a:r>
            <a:endParaRPr lang="zh-CN" altLang="en-US" sz="1600" b="1" dirty="0">
              <a:solidFill>
                <a:prstClr val="white"/>
              </a:solidFill>
              <a:latin typeface="Arial" panose="020B0604020202020204" pitchFamily="34" charset="0"/>
              <a:ea typeface="微软雅黑" panose="020B0503020204020204" pitchFamily="34" charset="-122"/>
            </a:endParaRPr>
          </a:p>
        </p:txBody>
      </p:sp>
      <p:graphicFrame>
        <p:nvGraphicFramePr>
          <p:cNvPr id="4" name="表格 3"/>
          <p:cNvGraphicFramePr>
            <a:graphicFrameLocks noGrp="1"/>
          </p:cNvGraphicFramePr>
          <p:nvPr/>
        </p:nvGraphicFramePr>
        <p:xfrm>
          <a:off x="204747" y="1609911"/>
          <a:ext cx="6262370" cy="1160145"/>
        </p:xfrm>
        <a:graphic>
          <a:graphicData uri="http://schemas.openxmlformats.org/drawingml/2006/table">
            <a:tbl>
              <a:tblPr firstRow="1" bandRow="1">
                <a:tableStyleId>{5C22544A-7EE6-4342-B048-85BDC9FD1C3A}</a:tableStyleId>
              </a:tblPr>
              <a:tblGrid>
                <a:gridCol w="431800"/>
                <a:gridCol w="2087245"/>
                <a:gridCol w="1080135"/>
                <a:gridCol w="1295400"/>
                <a:gridCol w="1367790"/>
              </a:tblGrid>
              <a:tr h="0">
                <a:tc gridSpan="2">
                  <a:txBody>
                    <a:bodyPr/>
                    <a:lstStyle/>
                    <a:p>
                      <a:pPr indent="0" algn="ctr">
                        <a:buNone/>
                      </a:pPr>
                      <a:r>
                        <a:rPr lang="zh-CN" sz="990" b="1" dirty="0">
                          <a:solidFill>
                            <a:schemeClr val="bg1"/>
                          </a:solidFill>
                          <a:latin typeface="微软雅黑" panose="020B0503020204020204" pitchFamily="34" charset="-122"/>
                          <a:ea typeface="微软雅黑" panose="020B0503020204020204" pitchFamily="34" charset="-122"/>
                        </a:rPr>
                        <a:t>项目</a:t>
                      </a:r>
                      <a:endParaRPr lang="zh-CN" altLang="en-US" sz="990" b="1" dirty="0">
                        <a:solidFill>
                          <a:schemeClr val="bg1"/>
                        </a:solidFill>
                        <a:latin typeface="微软雅黑" panose="020B0503020204020204" pitchFamily="34" charset="-122"/>
                        <a:ea typeface="微软雅黑" panose="020B0503020204020204" pitchFamily="34" charset="-122"/>
                      </a:endParaRPr>
                    </a:p>
                  </a:txBody>
                  <a:tcPr marL="0" marR="0" marT="0"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hMerge="1">
                  <a:tcPr marL="0" marR="0" marT="0"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c>
                  <a:txBody>
                    <a:bodyPr/>
                    <a:lstStyle>
                      <a:defPPr>
                        <a:defRPr lang="en-US" b="1">
                          <a:solidFill>
                            <a:schemeClr val="lt1"/>
                          </a:solidFill>
                        </a:defRPr>
                      </a:defPPr>
                      <a:lvl1pPr marL="0" algn="l" defTabSz="754380" rtl="0" eaLnBrk="1" latinLnBrk="0" hangingPunct="1">
                        <a:defRPr sz="1485" b="1" kern="1200">
                          <a:solidFill>
                            <a:schemeClr val="lt1"/>
                          </a:solidFill>
                          <a:latin typeface="+mn-lt"/>
                          <a:ea typeface="+mn-ea"/>
                          <a:cs typeface="+mn-cs"/>
                        </a:defRPr>
                      </a:lvl1pPr>
                      <a:lvl2pPr marL="377190" algn="l" defTabSz="754380" rtl="0" eaLnBrk="1" latinLnBrk="0" hangingPunct="1">
                        <a:defRPr sz="1485" b="1" kern="1200">
                          <a:solidFill>
                            <a:schemeClr val="lt1"/>
                          </a:solidFill>
                          <a:latin typeface="+mn-lt"/>
                          <a:ea typeface="+mn-ea"/>
                          <a:cs typeface="+mn-cs"/>
                        </a:defRPr>
                      </a:lvl2pPr>
                      <a:lvl3pPr marL="754380" algn="l" defTabSz="754380" rtl="0" eaLnBrk="1" latinLnBrk="0" hangingPunct="1">
                        <a:defRPr sz="1485" b="1" kern="1200">
                          <a:solidFill>
                            <a:schemeClr val="lt1"/>
                          </a:solidFill>
                          <a:latin typeface="+mn-lt"/>
                          <a:ea typeface="+mn-ea"/>
                          <a:cs typeface="+mn-cs"/>
                        </a:defRPr>
                      </a:lvl3pPr>
                      <a:lvl4pPr marL="1131570" algn="l" defTabSz="754380" rtl="0" eaLnBrk="1" latinLnBrk="0" hangingPunct="1">
                        <a:defRPr sz="1485" b="1" kern="1200">
                          <a:solidFill>
                            <a:schemeClr val="lt1"/>
                          </a:solidFill>
                          <a:latin typeface="+mn-lt"/>
                          <a:ea typeface="+mn-ea"/>
                          <a:cs typeface="+mn-cs"/>
                        </a:defRPr>
                      </a:lvl4pPr>
                      <a:lvl5pPr marL="1508760" algn="l" defTabSz="754380" rtl="0" eaLnBrk="1" latinLnBrk="0" hangingPunct="1">
                        <a:defRPr sz="1485" b="1" kern="1200">
                          <a:solidFill>
                            <a:schemeClr val="lt1"/>
                          </a:solidFill>
                          <a:latin typeface="+mn-lt"/>
                          <a:ea typeface="+mn-ea"/>
                          <a:cs typeface="+mn-cs"/>
                        </a:defRPr>
                      </a:lvl5pPr>
                      <a:lvl6pPr marL="1885950" algn="l" defTabSz="754380" rtl="0" eaLnBrk="1" latinLnBrk="0" hangingPunct="1">
                        <a:defRPr sz="1485" b="1" kern="1200">
                          <a:solidFill>
                            <a:schemeClr val="lt1"/>
                          </a:solidFill>
                          <a:latin typeface="+mn-lt"/>
                          <a:ea typeface="+mn-ea"/>
                          <a:cs typeface="+mn-cs"/>
                        </a:defRPr>
                      </a:lvl6pPr>
                      <a:lvl7pPr marL="2263140" algn="l" defTabSz="754380" rtl="0" eaLnBrk="1" latinLnBrk="0" hangingPunct="1">
                        <a:defRPr sz="1485" b="1" kern="1200">
                          <a:solidFill>
                            <a:schemeClr val="lt1"/>
                          </a:solidFill>
                          <a:latin typeface="+mn-lt"/>
                          <a:ea typeface="+mn-ea"/>
                          <a:cs typeface="+mn-cs"/>
                        </a:defRPr>
                      </a:lvl7pPr>
                      <a:lvl8pPr marL="2640330" algn="l" defTabSz="754380" rtl="0" eaLnBrk="1" latinLnBrk="0" hangingPunct="1">
                        <a:defRPr sz="1485" b="1" kern="1200">
                          <a:solidFill>
                            <a:schemeClr val="lt1"/>
                          </a:solidFill>
                          <a:latin typeface="+mn-lt"/>
                          <a:ea typeface="+mn-ea"/>
                          <a:cs typeface="+mn-cs"/>
                        </a:defRPr>
                      </a:lvl8pPr>
                      <a:lvl9pPr marL="3017520" algn="l" defTabSz="754380" rtl="0" eaLnBrk="1" latinLnBrk="0" hangingPunct="1">
                        <a:defRPr sz="1485" b="1" kern="1200">
                          <a:solidFill>
                            <a:schemeClr val="lt1"/>
                          </a:solidFill>
                          <a:latin typeface="+mn-lt"/>
                          <a:ea typeface="+mn-ea"/>
                          <a:cs typeface="+mn-cs"/>
                        </a:defRPr>
                      </a:lvl9pPr>
                    </a:lstStyle>
                    <a:p>
                      <a:pPr indent="0" algn="ctr">
                        <a:buNone/>
                      </a:pPr>
                      <a:r>
                        <a:rPr lang="zh-CN" sz="99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可租数量/面积</a:t>
                      </a:r>
                      <a:endParaRPr lang="zh-CN" altLang="en-US" sz="99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0" marR="0" marT="0"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defPPr>
                        <a:defRPr lang="en-US" b="1">
                          <a:solidFill>
                            <a:schemeClr val="lt1"/>
                          </a:solidFill>
                        </a:defRPr>
                      </a:defPPr>
                      <a:lvl1pPr marL="0" algn="l" defTabSz="754380" rtl="0" eaLnBrk="1" latinLnBrk="0" hangingPunct="1">
                        <a:defRPr sz="1485" b="1" kern="1200">
                          <a:solidFill>
                            <a:schemeClr val="lt1"/>
                          </a:solidFill>
                          <a:latin typeface="+mn-lt"/>
                          <a:ea typeface="+mn-ea"/>
                          <a:cs typeface="+mn-cs"/>
                        </a:defRPr>
                      </a:lvl1pPr>
                      <a:lvl2pPr marL="377190" algn="l" defTabSz="754380" rtl="0" eaLnBrk="1" latinLnBrk="0" hangingPunct="1">
                        <a:defRPr sz="1485" b="1" kern="1200">
                          <a:solidFill>
                            <a:schemeClr val="lt1"/>
                          </a:solidFill>
                          <a:latin typeface="+mn-lt"/>
                          <a:ea typeface="+mn-ea"/>
                          <a:cs typeface="+mn-cs"/>
                        </a:defRPr>
                      </a:lvl2pPr>
                      <a:lvl3pPr marL="754380" algn="l" defTabSz="754380" rtl="0" eaLnBrk="1" latinLnBrk="0" hangingPunct="1">
                        <a:defRPr sz="1485" b="1" kern="1200">
                          <a:solidFill>
                            <a:schemeClr val="lt1"/>
                          </a:solidFill>
                          <a:latin typeface="+mn-lt"/>
                          <a:ea typeface="+mn-ea"/>
                          <a:cs typeface="+mn-cs"/>
                        </a:defRPr>
                      </a:lvl3pPr>
                      <a:lvl4pPr marL="1131570" algn="l" defTabSz="754380" rtl="0" eaLnBrk="1" latinLnBrk="0" hangingPunct="1">
                        <a:defRPr sz="1485" b="1" kern="1200">
                          <a:solidFill>
                            <a:schemeClr val="lt1"/>
                          </a:solidFill>
                          <a:latin typeface="+mn-lt"/>
                          <a:ea typeface="+mn-ea"/>
                          <a:cs typeface="+mn-cs"/>
                        </a:defRPr>
                      </a:lvl4pPr>
                      <a:lvl5pPr marL="1508760" algn="l" defTabSz="754380" rtl="0" eaLnBrk="1" latinLnBrk="0" hangingPunct="1">
                        <a:defRPr sz="1485" b="1" kern="1200">
                          <a:solidFill>
                            <a:schemeClr val="lt1"/>
                          </a:solidFill>
                          <a:latin typeface="+mn-lt"/>
                          <a:ea typeface="+mn-ea"/>
                          <a:cs typeface="+mn-cs"/>
                        </a:defRPr>
                      </a:lvl5pPr>
                      <a:lvl6pPr marL="1885950" algn="l" defTabSz="754380" rtl="0" eaLnBrk="1" latinLnBrk="0" hangingPunct="1">
                        <a:defRPr sz="1485" b="1" kern="1200">
                          <a:solidFill>
                            <a:schemeClr val="lt1"/>
                          </a:solidFill>
                          <a:latin typeface="+mn-lt"/>
                          <a:ea typeface="+mn-ea"/>
                          <a:cs typeface="+mn-cs"/>
                        </a:defRPr>
                      </a:lvl6pPr>
                      <a:lvl7pPr marL="2263140" algn="l" defTabSz="754380" rtl="0" eaLnBrk="1" latinLnBrk="0" hangingPunct="1">
                        <a:defRPr sz="1485" b="1" kern="1200">
                          <a:solidFill>
                            <a:schemeClr val="lt1"/>
                          </a:solidFill>
                          <a:latin typeface="+mn-lt"/>
                          <a:ea typeface="+mn-ea"/>
                          <a:cs typeface="+mn-cs"/>
                        </a:defRPr>
                      </a:lvl7pPr>
                      <a:lvl8pPr marL="2640330" algn="l" defTabSz="754380" rtl="0" eaLnBrk="1" latinLnBrk="0" hangingPunct="1">
                        <a:defRPr sz="1485" b="1" kern="1200">
                          <a:solidFill>
                            <a:schemeClr val="lt1"/>
                          </a:solidFill>
                          <a:latin typeface="+mn-lt"/>
                          <a:ea typeface="+mn-ea"/>
                          <a:cs typeface="+mn-cs"/>
                        </a:defRPr>
                      </a:lvl8pPr>
                      <a:lvl9pPr marL="3017520" algn="l" defTabSz="754380" rtl="0" eaLnBrk="1" latinLnBrk="0" hangingPunct="1">
                        <a:defRPr sz="1485" b="1" kern="1200">
                          <a:solidFill>
                            <a:schemeClr val="lt1"/>
                          </a:solidFill>
                          <a:latin typeface="+mn-lt"/>
                          <a:ea typeface="+mn-ea"/>
                          <a:cs typeface="+mn-cs"/>
                        </a:defRPr>
                      </a:lvl9pPr>
                    </a:lstStyle>
                    <a:p>
                      <a:pPr indent="0" algn="ctr">
                        <a:buNone/>
                      </a:pPr>
                      <a:r>
                        <a:rPr lang="en-US" altLang="zh-CN"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年预计</a:t>
                      </a:r>
                      <a:endParaRPr lang="zh-CN" altLang="en-US"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defPPr>
                        <a:defRPr lang="en-US" b="1">
                          <a:solidFill>
                            <a:schemeClr val="lt1"/>
                          </a:solidFill>
                        </a:defRPr>
                      </a:defPPr>
                      <a:lvl1pPr marL="0" algn="l" defTabSz="754380" rtl="0" eaLnBrk="1" latinLnBrk="0" hangingPunct="1">
                        <a:defRPr sz="1485" b="1" kern="1200">
                          <a:solidFill>
                            <a:schemeClr val="lt1"/>
                          </a:solidFill>
                          <a:latin typeface="+mn-lt"/>
                          <a:ea typeface="+mn-ea"/>
                          <a:cs typeface="+mn-cs"/>
                        </a:defRPr>
                      </a:lvl1pPr>
                      <a:lvl2pPr marL="377190" algn="l" defTabSz="754380" rtl="0" eaLnBrk="1" latinLnBrk="0" hangingPunct="1">
                        <a:defRPr sz="1485" b="1" kern="1200">
                          <a:solidFill>
                            <a:schemeClr val="lt1"/>
                          </a:solidFill>
                          <a:latin typeface="+mn-lt"/>
                          <a:ea typeface="+mn-ea"/>
                          <a:cs typeface="+mn-cs"/>
                        </a:defRPr>
                      </a:lvl2pPr>
                      <a:lvl3pPr marL="754380" algn="l" defTabSz="754380" rtl="0" eaLnBrk="1" latinLnBrk="0" hangingPunct="1">
                        <a:defRPr sz="1485" b="1" kern="1200">
                          <a:solidFill>
                            <a:schemeClr val="lt1"/>
                          </a:solidFill>
                          <a:latin typeface="+mn-lt"/>
                          <a:ea typeface="+mn-ea"/>
                          <a:cs typeface="+mn-cs"/>
                        </a:defRPr>
                      </a:lvl3pPr>
                      <a:lvl4pPr marL="1131570" algn="l" defTabSz="754380" rtl="0" eaLnBrk="1" latinLnBrk="0" hangingPunct="1">
                        <a:defRPr sz="1485" b="1" kern="1200">
                          <a:solidFill>
                            <a:schemeClr val="lt1"/>
                          </a:solidFill>
                          <a:latin typeface="+mn-lt"/>
                          <a:ea typeface="+mn-ea"/>
                          <a:cs typeface="+mn-cs"/>
                        </a:defRPr>
                      </a:lvl4pPr>
                      <a:lvl5pPr marL="1508760" algn="l" defTabSz="754380" rtl="0" eaLnBrk="1" latinLnBrk="0" hangingPunct="1">
                        <a:defRPr sz="1485" b="1" kern="1200">
                          <a:solidFill>
                            <a:schemeClr val="lt1"/>
                          </a:solidFill>
                          <a:latin typeface="+mn-lt"/>
                          <a:ea typeface="+mn-ea"/>
                          <a:cs typeface="+mn-cs"/>
                        </a:defRPr>
                      </a:lvl5pPr>
                      <a:lvl6pPr marL="1885950" algn="l" defTabSz="754380" rtl="0" eaLnBrk="1" latinLnBrk="0" hangingPunct="1">
                        <a:defRPr sz="1485" b="1" kern="1200">
                          <a:solidFill>
                            <a:schemeClr val="lt1"/>
                          </a:solidFill>
                          <a:latin typeface="+mn-lt"/>
                          <a:ea typeface="+mn-ea"/>
                          <a:cs typeface="+mn-cs"/>
                        </a:defRPr>
                      </a:lvl6pPr>
                      <a:lvl7pPr marL="2263140" algn="l" defTabSz="754380" rtl="0" eaLnBrk="1" latinLnBrk="0" hangingPunct="1">
                        <a:defRPr sz="1485" b="1" kern="1200">
                          <a:solidFill>
                            <a:schemeClr val="lt1"/>
                          </a:solidFill>
                          <a:latin typeface="+mn-lt"/>
                          <a:ea typeface="+mn-ea"/>
                          <a:cs typeface="+mn-cs"/>
                        </a:defRPr>
                      </a:lvl7pPr>
                      <a:lvl8pPr marL="2640330" algn="l" defTabSz="754380" rtl="0" eaLnBrk="1" latinLnBrk="0" hangingPunct="1">
                        <a:defRPr sz="1485" b="1" kern="1200">
                          <a:solidFill>
                            <a:schemeClr val="lt1"/>
                          </a:solidFill>
                          <a:latin typeface="+mn-lt"/>
                          <a:ea typeface="+mn-ea"/>
                          <a:cs typeface="+mn-cs"/>
                        </a:defRPr>
                      </a:lvl8pPr>
                      <a:lvl9pPr marL="3017520" algn="l" defTabSz="754380" rtl="0" eaLnBrk="1" latinLnBrk="0" hangingPunct="1">
                        <a:defRPr sz="1485" b="1" kern="1200">
                          <a:solidFill>
                            <a:schemeClr val="lt1"/>
                          </a:solidFill>
                          <a:latin typeface="+mn-lt"/>
                          <a:ea typeface="+mn-ea"/>
                          <a:cs typeface="+mn-cs"/>
                        </a:defRPr>
                      </a:lvl9pPr>
                    </a:lstStyle>
                    <a:p>
                      <a:pPr indent="0" algn="ctr">
                        <a:buNone/>
                      </a:pPr>
                      <a:r>
                        <a:rPr lang="zh-CN"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a:t>
                      </a:r>
                      <a:r>
                        <a:rPr lang="zh-CN" altLang="en-US" sz="990" b="1"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预算</a:t>
                      </a:r>
                      <a:endParaRPr lang="zh-CN" altLang="en-US" sz="99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0" marR="0" marT="0"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r>
              <a:tr h="195580">
                <a:tc rowSpan="4">
                  <a:txBody>
                    <a:bodyPr/>
                    <a:lstStyle/>
                    <a:p>
                      <a:pPr indent="0" algn="ctr">
                        <a:buNone/>
                      </a:pPr>
                      <a:r>
                        <a:rPr lang="zh-CN" altLang="en-US" sz="990" b="1" dirty="0" smtClean="0">
                          <a:solidFill>
                            <a:srgbClr val="000000"/>
                          </a:solidFill>
                          <a:latin typeface="微软雅黑" panose="020B0503020204020204" pitchFamily="34" charset="-122"/>
                          <a:ea typeface="微软雅黑" panose="020B0503020204020204" pitchFamily="34" charset="-122"/>
                        </a:rPr>
                        <a:t>宿舍</a:t>
                      </a:r>
                      <a:endParaRPr lang="zh-CN" altLang="en-US" sz="990" b="1" dirty="0">
                        <a:solidFill>
                          <a:srgbClr val="000000"/>
                        </a:solidFill>
                        <a:latin typeface="微软雅黑" panose="020B0503020204020204" pitchFamily="34" charset="-122"/>
                        <a:ea typeface="微软雅黑" panose="020B0503020204020204" pitchFamily="34" charset="-122"/>
                      </a:endParaRPr>
                    </a:p>
                  </a:txBody>
                  <a:tcPr marL="0" marR="0" marT="0"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buNone/>
                      </a:pPr>
                      <a:r>
                        <a:rPr lang="zh-CN" sz="990" b="1" dirty="0">
                          <a:solidFill>
                            <a:srgbClr val="000000"/>
                          </a:solidFill>
                          <a:latin typeface="微软雅黑" panose="020B0503020204020204" pitchFamily="34" charset="-122"/>
                          <a:ea typeface="微软雅黑" panose="020B0503020204020204" pitchFamily="34" charset="-122"/>
                        </a:rPr>
                        <a:t>出租率</a:t>
                      </a:r>
                      <a:endParaRPr lang="zh-CN" altLang="en-US" sz="990" b="1" dirty="0">
                        <a:solidFill>
                          <a:srgbClr val="000000"/>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marL="0" marR="0" lvl="0" indent="0" algn="ctr" defTabSz="754380" rtl="0" eaLnBrk="1" fontAlgn="auto" latinLnBrk="0" hangingPunct="1">
                        <a:lnSpc>
                          <a:spcPct val="120000"/>
                        </a:lnSpc>
                        <a:spcBef>
                          <a:spcPts val="0"/>
                        </a:spcBef>
                        <a:spcAft>
                          <a:spcPts val="0"/>
                        </a:spcAft>
                        <a:buClrTx/>
                        <a:buSzTx/>
                        <a:buFontTx/>
                        <a:buNone/>
                        <a:defRPr/>
                      </a:pPr>
                      <a:r>
                        <a:rPr lang="en-US" altLang="zh-CN" sz="990" b="0" spc="120" dirty="0" smtClean="0">
                          <a:solidFill>
                            <a:srgbClr val="404040"/>
                          </a:solidFill>
                          <a:latin typeface="微软雅黑" panose="020B0503020204020204" pitchFamily="34" charset="-122"/>
                          <a:ea typeface="微软雅黑" panose="020B0503020204020204" pitchFamily="34" charset="-122"/>
                        </a:rPr>
                        <a:t>——</a:t>
                      </a:r>
                      <a:endParaRPr lang="en-US" altLang="en-US" sz="990" b="0" spc="120" dirty="0" smtClean="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zh-CN" sz="990" b="0" spc="120" dirty="0">
                          <a:solidFill>
                            <a:srgbClr val="404040"/>
                          </a:solidFill>
                          <a:latin typeface="微软雅黑" panose="020B0503020204020204" pitchFamily="34" charset="-122"/>
                          <a:ea typeface="微软雅黑" panose="020B0503020204020204" pitchFamily="34" charset="-122"/>
                        </a:rPr>
                        <a:t>99.37%</a:t>
                      </a:r>
                      <a:endParaRPr lang="en-US" altLang="zh-CN"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zh-CN" sz="990" b="1" spc="120" dirty="0" smtClean="0">
                          <a:solidFill>
                            <a:srgbClr val="404040"/>
                          </a:solidFill>
                          <a:latin typeface="微软雅黑" panose="020B0503020204020204" pitchFamily="34" charset="-122"/>
                          <a:ea typeface="微软雅黑" panose="020B0503020204020204" pitchFamily="34" charset="-122"/>
                          <a:sym typeface="+mn-ea"/>
                        </a:rPr>
                        <a:t>96</a:t>
                      </a:r>
                      <a:r>
                        <a:rPr lang="en-US" sz="990" b="1" spc="120" dirty="0">
                          <a:solidFill>
                            <a:srgbClr val="404040"/>
                          </a:solidFill>
                          <a:latin typeface="微软雅黑" panose="020B0503020204020204" pitchFamily="34" charset="-122"/>
                          <a:ea typeface="微软雅黑" panose="020B0503020204020204" pitchFamily="34" charset="-122"/>
                        </a:rPr>
                        <a:t>%</a:t>
                      </a:r>
                      <a:endParaRPr lang="en-US" altLang="en-US" sz="990" b="1"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195580">
                <a:tc vMerge="1">
                  <a:tcPr marL="0" marR="0" marT="0"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buNone/>
                      </a:pPr>
                      <a:r>
                        <a:rPr lang="zh-CN" sz="990" b="1" dirty="0" smtClean="0">
                          <a:solidFill>
                            <a:srgbClr val="000000"/>
                          </a:solidFill>
                          <a:latin typeface="微软雅黑" panose="020B0503020204020204" pitchFamily="34" charset="-122"/>
                          <a:ea typeface="微软雅黑" panose="020B0503020204020204" pitchFamily="34" charset="-122"/>
                        </a:rPr>
                        <a:t>数量</a:t>
                      </a:r>
                      <a:r>
                        <a:rPr lang="zh-CN" altLang="en-US" sz="990" b="1" dirty="0" smtClean="0">
                          <a:solidFill>
                            <a:srgbClr val="000000"/>
                          </a:solidFill>
                          <a:latin typeface="微软雅黑" panose="020B0503020204020204" pitchFamily="34" charset="-122"/>
                          <a:ea typeface="微软雅黑" panose="020B0503020204020204" pitchFamily="34" charset="-122"/>
                        </a:rPr>
                        <a:t>（间）</a:t>
                      </a:r>
                      <a:endParaRPr lang="zh-CN" altLang="en-US" sz="990" b="1" dirty="0">
                        <a:solidFill>
                          <a:srgbClr val="000000"/>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en-US" sz="990" b="0" spc="120" dirty="0" smtClean="0">
                          <a:solidFill>
                            <a:srgbClr val="404040"/>
                          </a:solidFill>
                          <a:latin typeface="微软雅黑" panose="020B0503020204020204" pitchFamily="34" charset="-122"/>
                          <a:ea typeface="微软雅黑" panose="020B0503020204020204" pitchFamily="34" charset="-122"/>
                        </a:rPr>
                        <a:t>360</a:t>
                      </a:r>
                      <a:endParaRPr lang="en-US"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en-US" sz="990" b="0" spc="120" dirty="0">
                          <a:solidFill>
                            <a:srgbClr val="404040"/>
                          </a:solidFill>
                          <a:latin typeface="微软雅黑" panose="020B0503020204020204" pitchFamily="34" charset="-122"/>
                          <a:ea typeface="微软雅黑" panose="020B0503020204020204" pitchFamily="34" charset="-122"/>
                        </a:rPr>
                        <a:t>357</a:t>
                      </a:r>
                      <a:endParaRPr lang="en-US"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sz="990" b="1" spc="120" dirty="0" smtClean="0">
                          <a:solidFill>
                            <a:srgbClr val="404040"/>
                          </a:solidFill>
                          <a:latin typeface="微软雅黑" panose="020B0503020204020204" pitchFamily="34" charset="-122"/>
                          <a:ea typeface="微软雅黑" panose="020B0503020204020204" pitchFamily="34" charset="-122"/>
                          <a:sym typeface="+mn-ea"/>
                        </a:rPr>
                        <a:t>346</a:t>
                      </a:r>
                      <a:endParaRPr lang="en-US" altLang="en-US" sz="990" b="1" spc="120" dirty="0" smtClean="0">
                        <a:solidFill>
                          <a:srgbClr val="404040"/>
                        </a:solidFill>
                        <a:latin typeface="微软雅黑" panose="020B0503020204020204" pitchFamily="34" charset="-122"/>
                        <a:ea typeface="微软雅黑" panose="020B0503020204020204" pitchFamily="34" charset="-122"/>
                        <a:sym typeface="+mn-ea"/>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195580">
                <a:tc vMerge="1">
                  <a:tcPr marL="0" marR="0" marT="0"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buNone/>
                      </a:pPr>
                      <a:r>
                        <a:rPr lang="zh-CN" sz="990" b="1" dirty="0">
                          <a:solidFill>
                            <a:srgbClr val="000000"/>
                          </a:solidFill>
                          <a:latin typeface="微软雅黑" panose="020B0503020204020204" pitchFamily="34" charset="-122"/>
                          <a:ea typeface="微软雅黑" panose="020B0503020204020204" pitchFamily="34" charset="-122"/>
                        </a:rPr>
                        <a:t>面积（㎡）</a:t>
                      </a:r>
                      <a:endParaRPr lang="zh-CN" altLang="en-US" sz="990" b="1" dirty="0">
                        <a:solidFill>
                          <a:srgbClr val="000000"/>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sz="990" b="0" spc="120" dirty="0" smtClean="0">
                          <a:solidFill>
                            <a:srgbClr val="404040"/>
                          </a:solidFill>
                          <a:latin typeface="微软雅黑" panose="020B0503020204020204" pitchFamily="34" charset="-122"/>
                          <a:ea typeface="微软雅黑" panose="020B0503020204020204" pitchFamily="34" charset="-122"/>
                        </a:rPr>
                        <a:t>13,612.41</a:t>
                      </a:r>
                      <a:endParaRPr lang="en-US"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marL="0" marR="0" lvl="0" indent="0" algn="ctr" defTabSz="754380" rtl="0" eaLnBrk="1" fontAlgn="auto" latinLnBrk="0" hangingPunct="1">
                        <a:lnSpc>
                          <a:spcPct val="120000"/>
                        </a:lnSpc>
                        <a:spcBef>
                          <a:spcPts val="0"/>
                        </a:spcBef>
                        <a:spcAft>
                          <a:spcPts val="0"/>
                        </a:spcAft>
                        <a:buClrTx/>
                        <a:buSzTx/>
                        <a:buFontTx/>
                        <a:buNone/>
                        <a:defRPr/>
                      </a:pPr>
                      <a:r>
                        <a:rPr lang="en-US" altLang="zh-CN" sz="990" b="0" spc="120" dirty="0" smtClean="0">
                          <a:solidFill>
                            <a:srgbClr val="404040"/>
                          </a:solidFill>
                          <a:latin typeface="微软雅黑" panose="020B0503020204020204" pitchFamily="34" charset="-122"/>
                          <a:ea typeface="微软雅黑" panose="020B0503020204020204" pitchFamily="34" charset="-122"/>
                        </a:rPr>
                        <a:t>13,527.33</a:t>
                      </a:r>
                      <a:r>
                        <a:rPr lang="zh-CN" altLang="en-US" sz="990" b="0" spc="120" dirty="0" smtClean="0">
                          <a:solidFill>
                            <a:srgbClr val="404040"/>
                          </a:solidFill>
                          <a:latin typeface="微软雅黑" panose="020B0503020204020204" pitchFamily="34" charset="-122"/>
                          <a:ea typeface="微软雅黑" panose="020B0503020204020204" pitchFamily="34" charset="-122"/>
                        </a:rPr>
                        <a:t>㎡</a:t>
                      </a:r>
                      <a:endParaRPr lang="zh-CN" altLang="en-US" sz="990" b="0" spc="120" dirty="0" smtClean="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marL="0" marR="0" lvl="0" indent="0" algn="ctr" defTabSz="754380" rtl="0" eaLnBrk="1" fontAlgn="auto" latinLnBrk="0" hangingPunct="1">
                        <a:lnSpc>
                          <a:spcPct val="120000"/>
                        </a:lnSpc>
                        <a:spcBef>
                          <a:spcPts val="0"/>
                        </a:spcBef>
                        <a:spcAft>
                          <a:spcPts val="0"/>
                        </a:spcAft>
                        <a:buClrTx/>
                        <a:buSzTx/>
                        <a:buFontTx/>
                        <a:buNone/>
                        <a:defRPr/>
                      </a:pPr>
                      <a:r>
                        <a:rPr lang="en-US" altLang="en-US" sz="990" b="1" spc="120" dirty="0" smtClean="0">
                          <a:solidFill>
                            <a:srgbClr val="404040"/>
                          </a:solidFill>
                          <a:latin typeface="微软雅黑" panose="020B0503020204020204" pitchFamily="34" charset="-122"/>
                          <a:ea typeface="微软雅黑" panose="020B0503020204020204" pitchFamily="34" charset="-122"/>
                          <a:sym typeface="+mn-ea"/>
                        </a:rPr>
                        <a:t>13,082.26</a:t>
                      </a:r>
                      <a:r>
                        <a:rPr lang="en-US" altLang="zh-CN" sz="990" b="1" spc="120" dirty="0" smtClean="0">
                          <a:solidFill>
                            <a:srgbClr val="404040"/>
                          </a:solidFill>
                          <a:latin typeface="微软雅黑" panose="020B0503020204020204" pitchFamily="34" charset="-122"/>
                          <a:ea typeface="微软雅黑" panose="020B0503020204020204" pitchFamily="34" charset="-122"/>
                          <a:sym typeface="+mn-ea"/>
                        </a:rPr>
                        <a:t>㎡</a:t>
                      </a:r>
                      <a:endParaRPr lang="en-US" altLang="en-US" sz="990" b="1"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195580">
                <a:tc vMerge="1">
                  <a:tcPr marL="0" marR="0" marT="0"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buNone/>
                      </a:pPr>
                      <a:r>
                        <a:rPr lang="zh-CN" sz="990" b="1" dirty="0">
                          <a:solidFill>
                            <a:srgbClr val="000000"/>
                          </a:solidFill>
                          <a:latin typeface="微软雅黑" panose="020B0503020204020204" pitchFamily="34" charset="-122"/>
                          <a:ea typeface="微软雅黑" panose="020B0503020204020204" pitchFamily="34" charset="-122"/>
                        </a:rPr>
                        <a:t>租金收入（宿舍）</a:t>
                      </a:r>
                      <a:endParaRPr lang="zh-CN" altLang="en-US" sz="990" b="1" dirty="0">
                        <a:solidFill>
                          <a:srgbClr val="000000"/>
                        </a:solidFill>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sz="990" b="0" spc="120" dirty="0">
                          <a:solidFill>
                            <a:srgbClr val="404040"/>
                          </a:solidFill>
                          <a:latin typeface="微软雅黑" panose="020B0503020204020204" pitchFamily="34" charset="-122"/>
                          <a:ea typeface="微软雅黑" panose="020B0503020204020204" pitchFamily="34" charset="-122"/>
                        </a:rPr>
                        <a:t>——</a:t>
                      </a:r>
                      <a:endParaRPr lang="en-US"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zh-CN" sz="990" b="0" spc="120" dirty="0">
                          <a:solidFill>
                            <a:srgbClr val="404040"/>
                          </a:solidFill>
                          <a:latin typeface="微软雅黑" panose="020B0503020204020204" pitchFamily="34" charset="-122"/>
                          <a:ea typeface="微软雅黑" panose="020B0503020204020204" pitchFamily="34" charset="-122"/>
                        </a:rPr>
                        <a:t>283.69</a:t>
                      </a:r>
                      <a:r>
                        <a:rPr lang="zh-CN" altLang="en-US" sz="990" b="0" spc="120" dirty="0">
                          <a:solidFill>
                            <a:srgbClr val="404040"/>
                          </a:solidFill>
                          <a:latin typeface="微软雅黑" panose="020B0503020204020204" pitchFamily="34" charset="-122"/>
                          <a:ea typeface="微软雅黑" panose="020B0503020204020204" pitchFamily="34" charset="-122"/>
                        </a:rPr>
                        <a:t>万</a:t>
                      </a:r>
                      <a:endParaRPr lang="zh-CN"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zh-CN" sz="990" b="1" spc="120" dirty="0" smtClean="0">
                          <a:solidFill>
                            <a:srgbClr val="404040"/>
                          </a:solidFill>
                          <a:latin typeface="微软雅黑" panose="020B0503020204020204" pitchFamily="34" charset="-122"/>
                          <a:ea typeface="微软雅黑" panose="020B0503020204020204" pitchFamily="34" charset="-122"/>
                          <a:sym typeface="+mn-ea"/>
                        </a:rPr>
                        <a:t>274.26</a:t>
                      </a:r>
                      <a:r>
                        <a:rPr lang="zh-CN" altLang="en-US" sz="990" b="1" spc="120" dirty="0" smtClean="0">
                          <a:solidFill>
                            <a:srgbClr val="404040"/>
                          </a:solidFill>
                          <a:latin typeface="微软雅黑" panose="020B0503020204020204" pitchFamily="34" charset="-122"/>
                          <a:ea typeface="微软雅黑" panose="020B0503020204020204" pitchFamily="34" charset="-122"/>
                          <a:sym typeface="+mn-ea"/>
                        </a:rPr>
                        <a:t>万</a:t>
                      </a:r>
                      <a:endParaRPr lang="zh-CN" altLang="en-US" sz="990" b="1" spc="120" dirty="0" smtClean="0">
                        <a:solidFill>
                          <a:srgbClr val="404040"/>
                        </a:solidFill>
                        <a:latin typeface="微软雅黑" panose="020B0503020204020204" pitchFamily="34" charset="-122"/>
                        <a:ea typeface="微软雅黑" panose="020B0503020204020204" pitchFamily="34" charset="-122"/>
                        <a:sym typeface="+mn-ea"/>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227330">
                <a:tc gridSpan="2">
                  <a:txBody>
                    <a:bodyPr/>
                    <a:lstStyle/>
                    <a:p>
                      <a:pPr indent="0" algn="ctr">
                        <a:buNone/>
                      </a:pPr>
                      <a:r>
                        <a:rPr lang="zh-CN" altLang="en-US" sz="990" b="1" dirty="0">
                          <a:solidFill>
                            <a:srgbClr val="000000"/>
                          </a:solidFill>
                          <a:latin typeface="微软雅黑" panose="020B0503020204020204" pitchFamily="34" charset="-122"/>
                          <a:ea typeface="微软雅黑" panose="020B0503020204020204" pitchFamily="34" charset="-122"/>
                        </a:rPr>
                        <a:t>租金收入总计（厂房、商铺、宿舍）</a:t>
                      </a:r>
                      <a:endParaRPr lang="zh-CN" altLang="en-US" sz="990" b="1" dirty="0">
                        <a:solidFill>
                          <a:srgbClr val="000000"/>
                        </a:solidFill>
                        <a:latin typeface="微软雅黑" panose="020B0503020204020204" pitchFamily="34" charset="-122"/>
                        <a:ea typeface="微软雅黑" panose="020B0503020204020204" pitchFamily="34" charset="-122"/>
                      </a:endParaRPr>
                    </a:p>
                  </a:txBody>
                  <a:tcPr marL="0" marR="0" marT="0"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sz="990" spc="120" dirty="0">
                          <a:solidFill>
                            <a:srgbClr val="404040"/>
                          </a:solidFill>
                          <a:latin typeface="微软雅黑" panose="020B0503020204020204" pitchFamily="34" charset="-122"/>
                          <a:ea typeface="微软雅黑" panose="020B0503020204020204" pitchFamily="34" charset="-122"/>
                          <a:sym typeface="+mn-ea"/>
                        </a:rPr>
                        <a:t>——</a:t>
                      </a:r>
                      <a:endParaRPr lang="en-US"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algn="ctr">
                        <a:lnSpc>
                          <a:spcPct val="120000"/>
                        </a:lnSpc>
                        <a:spcBef>
                          <a:spcPts val="0"/>
                        </a:spcBef>
                        <a:spcAft>
                          <a:spcPts val="0"/>
                        </a:spcAft>
                        <a:buClrTx/>
                        <a:buSzTx/>
                        <a:buFontTx/>
                        <a:buNone/>
                      </a:pPr>
                      <a:r>
                        <a:rPr lang="en-US" altLang="zh-CN" sz="990" b="0" spc="120" dirty="0">
                          <a:solidFill>
                            <a:srgbClr val="404040"/>
                          </a:solidFill>
                          <a:latin typeface="微软雅黑" panose="020B0503020204020204" pitchFamily="34" charset="-122"/>
                          <a:ea typeface="微软雅黑" panose="020B0503020204020204" pitchFamily="34" charset="-122"/>
                        </a:rPr>
                        <a:t>386.17</a:t>
                      </a:r>
                      <a:r>
                        <a:rPr lang="zh-CN" altLang="en-US" sz="990" b="0" spc="120" dirty="0">
                          <a:solidFill>
                            <a:srgbClr val="404040"/>
                          </a:solidFill>
                          <a:latin typeface="微软雅黑" panose="020B0503020204020204" pitchFamily="34" charset="-122"/>
                          <a:ea typeface="微软雅黑" panose="020B0503020204020204" pitchFamily="34" charset="-122"/>
                        </a:rPr>
                        <a:t>万</a:t>
                      </a:r>
                      <a:endParaRPr lang="zh-CN" altLang="en-US" sz="990" b="0" spc="120" dirty="0">
                        <a:solidFill>
                          <a:srgbClr val="404040"/>
                        </a:solidFill>
                        <a:latin typeface="微软雅黑" panose="020B0503020204020204" pitchFamily="34" charset="-122"/>
                        <a:ea typeface="微软雅黑" panose="020B0503020204020204" pitchFamily="34" charset="-122"/>
                      </a:endParaRPr>
                    </a:p>
                  </a:txBody>
                  <a:tcPr marL="25392" marR="25392" marT="6348" marB="6348"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defPPr>
                        <a:defRPr lang="en-US">
                          <a:solidFill>
                            <a:schemeClr val="dk1"/>
                          </a:solidFill>
                        </a:defRPr>
                      </a:defPPr>
                      <a:lvl1pPr marL="0" algn="l" defTabSz="754380" rtl="0" eaLnBrk="1" latinLnBrk="0" hangingPunct="1">
                        <a:defRPr sz="1485" kern="1200">
                          <a:solidFill>
                            <a:schemeClr val="dk1"/>
                          </a:solidFill>
                          <a:latin typeface="+mn-lt"/>
                          <a:ea typeface="+mn-ea"/>
                          <a:cs typeface="+mn-cs"/>
                        </a:defRPr>
                      </a:lvl1pPr>
                      <a:lvl2pPr marL="377190" algn="l" defTabSz="754380" rtl="0" eaLnBrk="1" latinLnBrk="0" hangingPunct="1">
                        <a:defRPr sz="1485" kern="1200">
                          <a:solidFill>
                            <a:schemeClr val="dk1"/>
                          </a:solidFill>
                          <a:latin typeface="+mn-lt"/>
                          <a:ea typeface="+mn-ea"/>
                          <a:cs typeface="+mn-cs"/>
                        </a:defRPr>
                      </a:lvl2pPr>
                      <a:lvl3pPr marL="754380" algn="l" defTabSz="754380" rtl="0" eaLnBrk="1" latinLnBrk="0" hangingPunct="1">
                        <a:defRPr sz="1485" kern="1200">
                          <a:solidFill>
                            <a:schemeClr val="dk1"/>
                          </a:solidFill>
                          <a:latin typeface="+mn-lt"/>
                          <a:ea typeface="+mn-ea"/>
                          <a:cs typeface="+mn-cs"/>
                        </a:defRPr>
                      </a:lvl3pPr>
                      <a:lvl4pPr marL="1131570" algn="l" defTabSz="754380" rtl="0" eaLnBrk="1" latinLnBrk="0" hangingPunct="1">
                        <a:defRPr sz="1485" kern="1200">
                          <a:solidFill>
                            <a:schemeClr val="dk1"/>
                          </a:solidFill>
                          <a:latin typeface="+mn-lt"/>
                          <a:ea typeface="+mn-ea"/>
                          <a:cs typeface="+mn-cs"/>
                        </a:defRPr>
                      </a:lvl4pPr>
                      <a:lvl5pPr marL="1508760" algn="l" defTabSz="754380" rtl="0" eaLnBrk="1" latinLnBrk="0" hangingPunct="1">
                        <a:defRPr sz="1485" kern="1200">
                          <a:solidFill>
                            <a:schemeClr val="dk1"/>
                          </a:solidFill>
                          <a:latin typeface="+mn-lt"/>
                          <a:ea typeface="+mn-ea"/>
                          <a:cs typeface="+mn-cs"/>
                        </a:defRPr>
                      </a:lvl5pPr>
                      <a:lvl6pPr marL="1885950" algn="l" defTabSz="754380" rtl="0" eaLnBrk="1" latinLnBrk="0" hangingPunct="1">
                        <a:defRPr sz="1485" kern="1200">
                          <a:solidFill>
                            <a:schemeClr val="dk1"/>
                          </a:solidFill>
                          <a:latin typeface="+mn-lt"/>
                          <a:ea typeface="+mn-ea"/>
                          <a:cs typeface="+mn-cs"/>
                        </a:defRPr>
                      </a:lvl6pPr>
                      <a:lvl7pPr marL="2263140" algn="l" defTabSz="754380" rtl="0" eaLnBrk="1" latinLnBrk="0" hangingPunct="1">
                        <a:defRPr sz="1485" kern="1200">
                          <a:solidFill>
                            <a:schemeClr val="dk1"/>
                          </a:solidFill>
                          <a:latin typeface="+mn-lt"/>
                          <a:ea typeface="+mn-ea"/>
                          <a:cs typeface="+mn-cs"/>
                        </a:defRPr>
                      </a:lvl7pPr>
                      <a:lvl8pPr marL="2640330" algn="l" defTabSz="754380" rtl="0" eaLnBrk="1" latinLnBrk="0" hangingPunct="1">
                        <a:defRPr sz="1485" kern="1200">
                          <a:solidFill>
                            <a:schemeClr val="dk1"/>
                          </a:solidFill>
                          <a:latin typeface="+mn-lt"/>
                          <a:ea typeface="+mn-ea"/>
                          <a:cs typeface="+mn-cs"/>
                        </a:defRPr>
                      </a:lvl8pPr>
                      <a:lvl9pPr marL="3017520" algn="l" defTabSz="754380" rtl="0" eaLnBrk="1" latinLnBrk="0" hangingPunct="1">
                        <a:defRPr sz="1485" kern="1200">
                          <a:solidFill>
                            <a:schemeClr val="dk1"/>
                          </a:solidFill>
                          <a:latin typeface="+mn-lt"/>
                          <a:ea typeface="+mn-ea"/>
                          <a:cs typeface="+mn-cs"/>
                        </a:defRPr>
                      </a:lvl9pPr>
                    </a:lstStyle>
                    <a:p>
                      <a:pPr indent="0" algn="ctr">
                        <a:lnSpc>
                          <a:spcPct val="120000"/>
                        </a:lnSpc>
                        <a:spcBef>
                          <a:spcPts val="0"/>
                        </a:spcBef>
                        <a:spcAft>
                          <a:spcPts val="0"/>
                        </a:spcAft>
                        <a:buNone/>
                      </a:pPr>
                      <a:r>
                        <a:rPr lang="en-US" altLang="en-US" sz="990" b="1" spc="120" dirty="0" smtClean="0">
                          <a:solidFill>
                            <a:srgbClr val="404040"/>
                          </a:solidFill>
                          <a:latin typeface="微软雅黑" panose="020B0503020204020204" pitchFamily="34" charset="-122"/>
                          <a:ea typeface="微软雅黑" panose="020B0503020204020204" pitchFamily="34" charset="-122"/>
                          <a:sym typeface="+mn-ea"/>
                        </a:rPr>
                        <a:t>369.73</a:t>
                      </a:r>
                      <a:r>
                        <a:rPr lang="zh-CN" altLang="en-US" sz="990" b="1" spc="120" dirty="0" smtClean="0">
                          <a:solidFill>
                            <a:srgbClr val="404040"/>
                          </a:solidFill>
                          <a:latin typeface="微软雅黑" panose="020B0503020204020204" pitchFamily="34" charset="-122"/>
                          <a:ea typeface="微软雅黑" panose="020B0503020204020204" pitchFamily="34" charset="-122"/>
                          <a:sym typeface="+mn-ea"/>
                        </a:rPr>
                        <a:t>万</a:t>
                      </a:r>
                      <a:endParaRPr lang="zh-CN" altLang="en-US" sz="990" b="1" spc="120" dirty="0" smtClean="0">
                        <a:solidFill>
                          <a:srgbClr val="404040"/>
                        </a:solidFill>
                        <a:latin typeface="微软雅黑" panose="020B0503020204020204" pitchFamily="34" charset="-122"/>
                        <a:ea typeface="微软雅黑" panose="020B0503020204020204" pitchFamily="34" charset="-122"/>
                        <a:sym typeface="+mn-ea"/>
                      </a:endParaRPr>
                    </a:p>
                  </a:txBody>
                  <a:tcPr marL="25392" marR="25392" marT="6348" marB="634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4"/>
          <p:cNvSpPr txBox="1"/>
          <p:nvPr/>
        </p:nvSpPr>
        <p:spPr>
          <a:xfrm>
            <a:off x="350563" y="238853"/>
            <a:ext cx="7557554" cy="359245"/>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defTabSz="754380">
              <a:defRPr/>
            </a:pPr>
            <a:r>
              <a:rPr lang="zh-CN" altLang="en-US" sz="1800" b="1" dirty="0">
                <a:solidFill>
                  <a:sysClr val="windowText" lastClr="000000">
                    <a:lumMod val="75000"/>
                    <a:lumOff val="25000"/>
                  </a:sysClr>
                </a:solidFill>
              </a:rPr>
              <a:t>第一部分</a:t>
            </a:r>
            <a:r>
              <a:rPr lang="zh-CN" altLang="en-US" sz="1800" b="1" dirty="0" smtClean="0">
                <a:solidFill>
                  <a:sysClr val="windowText" lastClr="000000">
                    <a:lumMod val="75000"/>
                    <a:lumOff val="25000"/>
                  </a:sysClr>
                </a:solidFill>
              </a:rPr>
              <a:t>：</a:t>
            </a:r>
            <a:r>
              <a:rPr lang="zh-CN" altLang="en-US" sz="1800" b="1" dirty="0" smtClean="0">
                <a:solidFill>
                  <a:sysClr val="windowText" lastClr="000000">
                    <a:lumMod val="75000"/>
                    <a:lumOff val="25000"/>
                  </a:sysClr>
                </a:solidFill>
                <a:sym typeface="+mn-ea"/>
              </a:rPr>
              <a:t>202</a:t>
            </a:r>
            <a:r>
              <a:rPr lang="en-US" altLang="zh-CN" b="1" dirty="0" smtClean="0">
                <a:solidFill>
                  <a:sysClr val="windowText" lastClr="000000">
                    <a:lumMod val="75000"/>
                    <a:lumOff val="25000"/>
                  </a:sysClr>
                </a:solidFill>
                <a:sym typeface="+mn-ea"/>
              </a:rPr>
              <a:t>6</a:t>
            </a:r>
            <a:r>
              <a:rPr lang="zh-CN" altLang="en-US" sz="1800" b="1" dirty="0" smtClean="0">
                <a:solidFill>
                  <a:sysClr val="windowText" lastClr="000000">
                    <a:lumMod val="75000"/>
                    <a:lumOff val="25000"/>
                  </a:sysClr>
                </a:solidFill>
                <a:sym typeface="+mn-ea"/>
              </a:rPr>
              <a:t>年</a:t>
            </a:r>
            <a:r>
              <a:rPr lang="zh-CN" altLang="en-US" sz="1800" b="1" dirty="0">
                <a:solidFill>
                  <a:sysClr val="windowText" lastClr="000000">
                    <a:lumMod val="75000"/>
                    <a:lumOff val="25000"/>
                  </a:sysClr>
                </a:solidFill>
                <a:sym typeface="+mn-ea"/>
              </a:rPr>
              <a:t>经营目标（博文研究院）</a:t>
            </a:r>
            <a:endParaRPr lang="zh-CN" altLang="en-US" sz="1800" b="1" dirty="0">
              <a:solidFill>
                <a:srgbClr val="FF0000"/>
              </a:solidFill>
              <a:sym typeface="+mn-ea"/>
            </a:endParaRPr>
          </a:p>
        </p:txBody>
      </p:sp>
      <p:sp>
        <p:nvSpPr>
          <p:cNvPr id="2" name="矩形 1"/>
          <p:cNvSpPr/>
          <p:nvPr/>
        </p:nvSpPr>
        <p:spPr>
          <a:xfrm>
            <a:off x="361489" y="1793731"/>
            <a:ext cx="3948881" cy="598064"/>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t>以</a:t>
            </a:r>
            <a:r>
              <a:rPr lang="zh-CN" altLang="en-US" sz="1400" b="1" dirty="0"/>
              <a:t>创业营</a:t>
            </a:r>
            <a:r>
              <a:rPr lang="zh-CN" altLang="en-US" sz="1400" dirty="0"/>
              <a:t>作为重要抓手，全力打通“</a:t>
            </a:r>
            <a:r>
              <a:rPr lang="zh-CN" altLang="en-US" sz="1400" b="1" dirty="0"/>
              <a:t>投孵联动</a:t>
            </a:r>
            <a:r>
              <a:rPr lang="zh-CN" altLang="en-US" sz="1400" dirty="0"/>
              <a:t>”的</a:t>
            </a:r>
            <a:r>
              <a:rPr lang="zh-CN" altLang="en-US" sz="1400" dirty="0" smtClean="0"/>
              <a:t>关键路径；</a:t>
            </a:r>
            <a:endParaRPr lang="en-US" altLang="zh-CN" sz="1400" dirty="0" smtClean="0"/>
          </a:p>
        </p:txBody>
      </p:sp>
      <p:sp>
        <p:nvSpPr>
          <p:cNvPr id="4" name="矩形 1"/>
          <p:cNvSpPr/>
          <p:nvPr/>
        </p:nvSpPr>
        <p:spPr>
          <a:xfrm>
            <a:off x="350563" y="669479"/>
            <a:ext cx="2145012" cy="287258"/>
          </a:xfrm>
          <a:prstGeom prst="rect">
            <a:avLst/>
          </a:prstGeom>
          <a:solidFill>
            <a:srgbClr val="595959"/>
          </a:solidFill>
          <a:ln w="9525">
            <a:noFill/>
          </a:ln>
        </p:spPr>
        <p:txBody>
          <a:bodyPr anchor="ctr" anchorCtr="0"/>
          <a:lstStyle/>
          <a:p>
            <a:pPr marL="285750" indent="-285750" defTabSz="914400" eaLnBrk="1" hangingPunct="1">
              <a:buFont typeface="Wingdings" panose="05000000000000000000" pitchFamily="2" charset="2"/>
              <a:buChar char="p"/>
              <a:defRPr/>
            </a:pPr>
            <a:r>
              <a:rPr lang="en-US" altLang="zh-CN" sz="1320" b="1" dirty="0" smtClean="0">
                <a:solidFill>
                  <a:prstClr val="white"/>
                </a:solidFill>
                <a:ea typeface="微软雅黑" panose="020B0503020204020204" pitchFamily="34" charset="-122"/>
              </a:rPr>
              <a:t>2026</a:t>
            </a:r>
            <a:r>
              <a:rPr lang="zh-CN" altLang="en-US" sz="1320" b="1" dirty="0" smtClean="0">
                <a:solidFill>
                  <a:prstClr val="white"/>
                </a:solidFill>
                <a:ea typeface="微软雅黑" panose="020B0503020204020204" pitchFamily="34" charset="-122"/>
              </a:rPr>
              <a:t>年</a:t>
            </a:r>
            <a:r>
              <a:rPr lang="zh-CN" altLang="en-US" sz="1320" b="1" dirty="0">
                <a:solidFill>
                  <a:prstClr val="white"/>
                </a:solidFill>
                <a:ea typeface="微软雅黑" panose="020B0503020204020204" pitchFamily="34" charset="-122"/>
              </a:rPr>
              <a:t>经营目标</a:t>
            </a:r>
            <a:endParaRPr lang="zh-CN" altLang="en-US" sz="1320" b="1" dirty="0">
              <a:solidFill>
                <a:prstClr val="white"/>
              </a:solidFill>
              <a:ea typeface="微软雅黑" panose="020B0503020204020204" pitchFamily="34" charset="-122"/>
            </a:endParaRPr>
          </a:p>
        </p:txBody>
      </p:sp>
      <p:sp>
        <p:nvSpPr>
          <p:cNvPr id="5" name="文本框 4"/>
          <p:cNvSpPr txBox="1"/>
          <p:nvPr/>
        </p:nvSpPr>
        <p:spPr>
          <a:xfrm>
            <a:off x="5099582" y="2490212"/>
            <a:ext cx="4034074" cy="491490"/>
          </a:xfrm>
          <a:prstGeom prst="rect">
            <a:avLst/>
          </a:prstGeom>
          <a:noFill/>
          <a:ln w="19050">
            <a:solidFill>
              <a:srgbClr val="963634"/>
            </a:solidFill>
          </a:ln>
        </p:spPr>
        <p:txBody>
          <a:bodyPr wrap="square" rtlCol="0">
            <a:spAutoFit/>
          </a:bodyPr>
          <a:lstStyle/>
          <a:p>
            <a:r>
              <a:rPr lang="en-US" altLang="zh-CN" sz="1200" b="1" u="sng" dirty="0" smtClean="0">
                <a:latin typeface="+mn-ea"/>
                <a:ea typeface="+mn-ea"/>
              </a:rPr>
              <a:t>2026</a:t>
            </a:r>
            <a:r>
              <a:rPr lang="zh-CN" altLang="en-US" sz="1200" b="1" u="sng" dirty="0" smtClean="0">
                <a:latin typeface="+mn-ea"/>
                <a:ea typeface="+mn-ea"/>
              </a:rPr>
              <a:t>年经营</a:t>
            </a:r>
            <a:r>
              <a:rPr lang="zh-CN" altLang="en-US" sz="1200" b="1" u="sng" dirty="0" smtClean="0">
                <a:latin typeface="+mn-ea"/>
                <a:ea typeface="+mn-ea"/>
              </a:rPr>
              <a:t>目标（经营目标）：</a:t>
            </a:r>
            <a:endParaRPr lang="en-US" altLang="zh-CN" sz="1200" b="1" u="sng" dirty="0" smtClean="0">
              <a:latin typeface="+mn-ea"/>
              <a:ea typeface="+mn-ea"/>
            </a:endParaRPr>
          </a:p>
          <a:p>
            <a:r>
              <a:rPr lang="zh-CN" altLang="en-US" sz="1200" b="1" dirty="0" smtClean="0">
                <a:latin typeface="+mn-ea"/>
                <a:ea typeface="+mn-ea"/>
              </a:rPr>
              <a:t>全年经营收入</a:t>
            </a:r>
            <a:r>
              <a:rPr lang="en-US" altLang="zh-CN" sz="1400" b="1" dirty="0" smtClean="0">
                <a:solidFill>
                  <a:srgbClr val="C00000"/>
                </a:solidFill>
                <a:latin typeface="+mn-ea"/>
                <a:ea typeface="+mn-ea"/>
              </a:rPr>
              <a:t>1,286</a:t>
            </a:r>
            <a:r>
              <a:rPr lang="zh-CN" altLang="en-US" sz="1400" b="1" dirty="0" smtClean="0">
                <a:solidFill>
                  <a:srgbClr val="C00000"/>
                </a:solidFill>
                <a:latin typeface="+mn-ea"/>
                <a:ea typeface="+mn-ea"/>
              </a:rPr>
              <a:t>万元</a:t>
            </a:r>
            <a:r>
              <a:rPr lang="zh-CN" altLang="en-US" sz="1200" b="1" dirty="0" smtClean="0">
                <a:latin typeface="+mn-ea"/>
                <a:ea typeface="+mn-ea"/>
              </a:rPr>
              <a:t>，</a:t>
            </a:r>
            <a:r>
              <a:rPr lang="en-US" altLang="zh-CN" sz="1200" b="1" dirty="0" smtClean="0">
                <a:latin typeface="+mn-ea"/>
                <a:ea typeface="+mn-ea"/>
              </a:rPr>
              <a:t>NOI </a:t>
            </a:r>
            <a:r>
              <a:rPr lang="en-US" altLang="zh-CN" sz="1400" b="1" dirty="0" smtClean="0">
                <a:solidFill>
                  <a:srgbClr val="C00000"/>
                </a:solidFill>
                <a:latin typeface="+mn-ea"/>
                <a:ea typeface="+mn-ea"/>
              </a:rPr>
              <a:t>424</a:t>
            </a:r>
            <a:r>
              <a:rPr lang="zh-CN" altLang="en-US" sz="1400" b="1" dirty="0" smtClean="0">
                <a:solidFill>
                  <a:srgbClr val="C00000"/>
                </a:solidFill>
                <a:latin typeface="+mn-ea"/>
                <a:ea typeface="+mn-ea"/>
              </a:rPr>
              <a:t>万元</a:t>
            </a:r>
            <a:endParaRPr lang="zh-CN" altLang="en-US" sz="1200" b="1" dirty="0">
              <a:solidFill>
                <a:srgbClr val="C00000"/>
              </a:solidFill>
              <a:latin typeface="+mn-ea"/>
              <a:ea typeface="+mn-ea"/>
            </a:endParaRPr>
          </a:p>
        </p:txBody>
      </p:sp>
      <p:graphicFrame>
        <p:nvGraphicFramePr>
          <p:cNvPr id="6" name="表格 5"/>
          <p:cNvGraphicFramePr>
            <a:graphicFrameLocks noGrp="1"/>
          </p:cNvGraphicFramePr>
          <p:nvPr/>
        </p:nvGraphicFramePr>
        <p:xfrm>
          <a:off x="5090160" y="3155950"/>
          <a:ext cx="4073525" cy="1898015"/>
        </p:xfrm>
        <a:graphic>
          <a:graphicData uri="http://schemas.openxmlformats.org/drawingml/2006/table">
            <a:tbl>
              <a:tblPr firstRow="1" bandRow="1">
                <a:tableStyleId>{5C22544A-7EE6-4342-B048-85BDC9FD1C3A}</a:tableStyleId>
              </a:tblPr>
              <a:tblGrid>
                <a:gridCol w="969645"/>
                <a:gridCol w="1139190"/>
                <a:gridCol w="1072515"/>
                <a:gridCol w="892175"/>
              </a:tblGrid>
              <a:tr h="256540">
                <a:tc>
                  <a:txBody>
                    <a:bodyPr/>
                    <a:lstStyle/>
                    <a:p>
                      <a:pPr indent="0" algn="ctr">
                        <a:buNone/>
                      </a:pPr>
                      <a:r>
                        <a:rPr lang="zh-CN" altLang="en-US" sz="1000" b="1" dirty="0" smtClean="0">
                          <a:solidFill>
                            <a:schemeClr val="bg1"/>
                          </a:solidFill>
                          <a:latin typeface="微软雅黑" panose="020B0503020204020204" pitchFamily="34" charset="-122"/>
                          <a:ea typeface="微软雅黑" panose="020B0503020204020204" pitchFamily="34" charset="-122"/>
                        </a:rPr>
                        <a:t>经营指标</a:t>
                      </a:r>
                      <a:endParaRPr lang="en-US" altLang="en-US" sz="1000" b="1" dirty="0">
                        <a:solidFill>
                          <a:schemeClr val="bg1"/>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1000" b="1" dirty="0" smtClean="0">
                          <a:solidFill>
                            <a:schemeClr val="bg1"/>
                          </a:solidFill>
                          <a:latin typeface="微软雅黑" panose="020B0503020204020204" pitchFamily="34" charset="-122"/>
                          <a:ea typeface="微软雅黑" panose="020B0503020204020204" pitchFamily="34" charset="-122"/>
                        </a:rPr>
                        <a:t>2025</a:t>
                      </a:r>
                      <a:r>
                        <a:rPr lang="zh-CN" altLang="en-US" sz="1000" b="1" dirty="0" smtClean="0">
                          <a:solidFill>
                            <a:schemeClr val="bg1"/>
                          </a:solidFill>
                          <a:latin typeface="微软雅黑" panose="020B0503020204020204" pitchFamily="34" charset="-122"/>
                          <a:ea typeface="微软雅黑" panose="020B0503020204020204" pitchFamily="34" charset="-122"/>
                        </a:rPr>
                        <a:t>年目标</a:t>
                      </a:r>
                      <a:endParaRPr lang="en-US" altLang="zh-CN" sz="1000" b="1" dirty="0">
                        <a:solidFill>
                          <a:schemeClr val="bg1"/>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1000" b="1" dirty="0" smtClean="0">
                          <a:solidFill>
                            <a:schemeClr val="bg1"/>
                          </a:solidFill>
                          <a:latin typeface="微软雅黑" panose="020B0503020204020204" pitchFamily="34" charset="-122"/>
                          <a:ea typeface="微软雅黑" panose="020B0503020204020204" pitchFamily="34" charset="-122"/>
                        </a:rPr>
                        <a:t>2026</a:t>
                      </a:r>
                      <a:r>
                        <a:rPr lang="zh-CN" altLang="en-US" sz="1000" b="1" dirty="0" smtClean="0">
                          <a:solidFill>
                            <a:schemeClr val="bg1"/>
                          </a:solidFill>
                          <a:latin typeface="微软雅黑" panose="020B0503020204020204" pitchFamily="34" charset="-122"/>
                          <a:ea typeface="微软雅黑" panose="020B0503020204020204" pitchFamily="34" charset="-122"/>
                        </a:rPr>
                        <a:t>年目标</a:t>
                      </a:r>
                      <a:endParaRPr lang="en-US" altLang="zh-CN" sz="1000" b="1" dirty="0">
                        <a:solidFill>
                          <a:schemeClr val="bg1"/>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sz="1000" b="1" dirty="0" smtClean="0">
                          <a:solidFill>
                            <a:schemeClr val="bg1"/>
                          </a:solidFill>
                          <a:latin typeface="微软雅黑" panose="020B0503020204020204" pitchFamily="34" charset="-122"/>
                          <a:ea typeface="微软雅黑" panose="020B0503020204020204" pitchFamily="34" charset="-122"/>
                        </a:rPr>
                        <a:t>对比</a:t>
                      </a:r>
                      <a:endParaRPr lang="en-US" altLang="zh-CN" sz="1000" b="1" dirty="0">
                        <a:solidFill>
                          <a:schemeClr val="bg1"/>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r>
              <a:tr h="322580">
                <a:tc>
                  <a:txBody>
                    <a:bodyPr/>
                    <a:lstStyle/>
                    <a:p>
                      <a:pPr indent="0" algn="ctr">
                        <a:buNone/>
                      </a:pPr>
                      <a:r>
                        <a:rPr lang="zh-CN" sz="1000" b="1" dirty="0">
                          <a:solidFill>
                            <a:srgbClr val="000000"/>
                          </a:solidFill>
                          <a:latin typeface="微软雅黑" panose="020B0503020204020204" pitchFamily="34" charset="-122"/>
                          <a:ea typeface="微软雅黑" panose="020B0503020204020204" pitchFamily="34" charset="-122"/>
                        </a:rPr>
                        <a:t>经营收入</a:t>
                      </a:r>
                      <a:endParaRPr lang="en-US" altLang="en-US" sz="1000" b="1"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1000" b="0" dirty="0" smtClean="0">
                          <a:solidFill>
                            <a:srgbClr val="000000"/>
                          </a:solidFill>
                          <a:latin typeface="微软雅黑" panose="020B0503020204020204" pitchFamily="34" charset="-122"/>
                          <a:ea typeface="微软雅黑" panose="020B0503020204020204" pitchFamily="34" charset="-122"/>
                        </a:rPr>
                        <a:t>1251</a:t>
                      </a:r>
                      <a:r>
                        <a:rPr lang="zh-CN" altLang="en-US" sz="1000" b="0" dirty="0" smtClean="0">
                          <a:solidFill>
                            <a:srgbClr val="000000"/>
                          </a:solidFill>
                          <a:latin typeface="微软雅黑" panose="020B0503020204020204" pitchFamily="34" charset="-122"/>
                          <a:ea typeface="微软雅黑" panose="020B0503020204020204" pitchFamily="34" charset="-122"/>
                        </a:rPr>
                        <a:t>万元</a:t>
                      </a:r>
                      <a:endParaRPr lang="en-US" altLang="zh-CN" sz="1000" b="0"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1000" b="1" dirty="0" smtClean="0">
                          <a:solidFill>
                            <a:srgbClr val="000000"/>
                          </a:solidFill>
                          <a:latin typeface="微软雅黑" panose="020B0503020204020204" pitchFamily="34" charset="-122"/>
                          <a:ea typeface="微软雅黑" panose="020B0503020204020204" pitchFamily="34" charset="-122"/>
                        </a:rPr>
                        <a:t>1286</a:t>
                      </a:r>
                      <a:r>
                        <a:rPr lang="zh-CN" altLang="en-US" sz="1000" b="1" dirty="0" smtClean="0">
                          <a:solidFill>
                            <a:srgbClr val="000000"/>
                          </a:solidFill>
                          <a:latin typeface="微软雅黑" panose="020B0503020204020204" pitchFamily="34" charset="-122"/>
                          <a:ea typeface="微软雅黑" panose="020B0503020204020204" pitchFamily="34" charset="-122"/>
                        </a:rPr>
                        <a:t>万元</a:t>
                      </a:r>
                      <a:endParaRPr lang="en-US" altLang="zh-CN" sz="1000" b="1"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algn="ctr" fontAlgn="ctr"/>
                      <a:r>
                        <a:rPr lang="en-US" altLang="zh-CN" sz="1000" b="0" i="0" u="none" strike="noStrike" dirty="0" smtClean="0">
                          <a:solidFill>
                            <a:srgbClr val="000000"/>
                          </a:solidFill>
                          <a:effectLst/>
                          <a:latin typeface="微软雅黑" panose="020B0503020204020204" pitchFamily="34" charset="-122"/>
                          <a:ea typeface="微软雅黑" panose="020B0503020204020204" pitchFamily="34" charset="-122"/>
                        </a:rPr>
                        <a:t>+2.80</a:t>
                      </a: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378460">
                <a:tc>
                  <a:txBody>
                    <a:bodyPr/>
                    <a:lstStyle/>
                    <a:p>
                      <a:pPr indent="0" algn="ctr">
                        <a:buNone/>
                      </a:pPr>
                      <a:r>
                        <a:rPr lang="en-US" altLang="en-US" sz="1000" b="1" dirty="0">
                          <a:solidFill>
                            <a:srgbClr val="000000"/>
                          </a:solidFill>
                          <a:latin typeface="微软雅黑" panose="020B0503020204020204" pitchFamily="34" charset="-122"/>
                          <a:ea typeface="微软雅黑" panose="020B0503020204020204" pitchFamily="34" charset="-122"/>
                        </a:rPr>
                        <a:t>NOI</a:t>
                      </a:r>
                      <a:endParaRPr lang="en-US" altLang="en-US" sz="1000" b="1"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indent="0" algn="ctr">
                        <a:buNone/>
                      </a:pPr>
                      <a:r>
                        <a:rPr lang="en-US" altLang="zh-CN" sz="1000" b="0" dirty="0" smtClean="0">
                          <a:solidFill>
                            <a:srgbClr val="000000"/>
                          </a:solidFill>
                          <a:latin typeface="微软雅黑" panose="020B0503020204020204" pitchFamily="34" charset="-122"/>
                          <a:ea typeface="微软雅黑" panose="020B0503020204020204" pitchFamily="34" charset="-122"/>
                        </a:rPr>
                        <a:t>421</a:t>
                      </a:r>
                      <a:r>
                        <a:rPr lang="zh-CN" altLang="en-US" sz="1000" b="0" dirty="0" smtClean="0">
                          <a:solidFill>
                            <a:srgbClr val="000000"/>
                          </a:solidFill>
                          <a:latin typeface="微软雅黑" panose="020B0503020204020204" pitchFamily="34" charset="-122"/>
                          <a:ea typeface="微软雅黑" panose="020B0503020204020204" pitchFamily="34" charset="-122"/>
                        </a:rPr>
                        <a:t>万元</a:t>
                      </a:r>
                      <a:endParaRPr lang="zh-CN" sz="1000" b="0"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indent="0" algn="ctr">
                        <a:buNone/>
                      </a:pPr>
                      <a:r>
                        <a:rPr lang="en-US" altLang="zh-CN" sz="1000" b="1" dirty="0" smtClean="0">
                          <a:solidFill>
                            <a:srgbClr val="000000"/>
                          </a:solidFill>
                          <a:latin typeface="微软雅黑" panose="020B0503020204020204" pitchFamily="34" charset="-122"/>
                          <a:ea typeface="微软雅黑" panose="020B0503020204020204" pitchFamily="34" charset="-122"/>
                        </a:rPr>
                        <a:t>424</a:t>
                      </a:r>
                      <a:r>
                        <a:rPr lang="zh-CN" altLang="en-US" sz="1000" b="1" dirty="0" smtClean="0">
                          <a:solidFill>
                            <a:srgbClr val="000000"/>
                          </a:solidFill>
                          <a:latin typeface="微软雅黑" panose="020B0503020204020204" pitchFamily="34" charset="-122"/>
                          <a:ea typeface="微软雅黑" panose="020B0503020204020204" pitchFamily="34" charset="-122"/>
                        </a:rPr>
                        <a:t>万元</a:t>
                      </a:r>
                      <a:endParaRPr lang="zh-CN" sz="1000" b="1"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algn="ctr" fontAlgn="ctr"/>
                      <a:r>
                        <a:rPr lang="zh-CN" altLang="en-US" sz="1000" b="0" i="0" u="none" strike="noStrike" dirty="0">
                          <a:solidFill>
                            <a:srgbClr val="000000"/>
                          </a:solidFill>
                          <a:effectLst/>
                          <a:latin typeface="微软雅黑" panose="020B0503020204020204" pitchFamily="34" charset="-122"/>
                          <a:ea typeface="微软雅黑" panose="020B0503020204020204" pitchFamily="34" charset="-122"/>
                        </a:rPr>
                        <a:t>基本一致</a:t>
                      </a:r>
                      <a:endParaRPr lang="zh-CN" altLang="en-US"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389890">
                <a:tc>
                  <a:txBody>
                    <a:bodyPr/>
                    <a:lstStyle/>
                    <a:p>
                      <a:pPr indent="0" algn="ctr">
                        <a:buNone/>
                      </a:pPr>
                      <a:r>
                        <a:rPr lang="zh-CN" sz="1000" b="1" dirty="0">
                          <a:solidFill>
                            <a:srgbClr val="000000"/>
                          </a:solidFill>
                          <a:latin typeface="微软雅黑" panose="020B0503020204020204" pitchFamily="34" charset="-122"/>
                          <a:ea typeface="微软雅黑" panose="020B0503020204020204" pitchFamily="34" charset="-122"/>
                        </a:rPr>
                        <a:t>空间利用率</a:t>
                      </a:r>
                      <a:endParaRPr lang="en-US" altLang="en-US" sz="1000" b="1"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indent="0" algn="ctr">
                        <a:buNone/>
                      </a:pPr>
                      <a:r>
                        <a:rPr lang="zh-CN" altLang="en-US" sz="1000" b="0" dirty="0" smtClean="0">
                          <a:solidFill>
                            <a:srgbClr val="000000"/>
                          </a:solidFill>
                          <a:latin typeface="微软雅黑" panose="020B0503020204020204" pitchFamily="34" charset="-122"/>
                          <a:ea typeface="微软雅黑" panose="020B0503020204020204" pitchFamily="34" charset="-122"/>
                        </a:rPr>
                        <a:t>出租率</a:t>
                      </a:r>
                      <a:r>
                        <a:rPr lang="en-US" altLang="zh-CN" sz="1000" b="0" dirty="0" smtClean="0">
                          <a:solidFill>
                            <a:srgbClr val="000000"/>
                          </a:solidFill>
                          <a:latin typeface="微软雅黑" panose="020B0503020204020204" pitchFamily="34" charset="-122"/>
                          <a:ea typeface="微软雅黑" panose="020B0503020204020204" pitchFamily="34" charset="-122"/>
                        </a:rPr>
                        <a:t>93.6</a:t>
                      </a:r>
                      <a:r>
                        <a:rPr lang="en-US" altLang="zh-CN" sz="1000" b="0" dirty="0" smtClean="0">
                          <a:solidFill>
                            <a:srgbClr val="000000"/>
                          </a:solidFill>
                          <a:latin typeface="微软雅黑" panose="020B0503020204020204" pitchFamily="34" charset="-122"/>
                          <a:ea typeface="微软雅黑" panose="020B0503020204020204" pitchFamily="34" charset="-122"/>
                        </a:rPr>
                        <a:t>%</a:t>
                      </a:r>
                      <a:endParaRPr lang="en-US" altLang="zh-CN" sz="1000" b="0" dirty="0" smtClean="0">
                        <a:solidFill>
                          <a:srgbClr val="000000"/>
                        </a:solidFill>
                        <a:latin typeface="微软雅黑" panose="020B0503020204020204" pitchFamily="34" charset="-122"/>
                        <a:ea typeface="微软雅黑" panose="020B0503020204020204" pitchFamily="34" charset="-122"/>
                      </a:endParaRPr>
                    </a:p>
                    <a:p>
                      <a:pPr indent="0" algn="ctr">
                        <a:buNone/>
                      </a:pPr>
                      <a:r>
                        <a:rPr lang="zh-CN" altLang="en-US" sz="700" b="0" dirty="0" smtClean="0">
                          <a:solidFill>
                            <a:srgbClr val="000000"/>
                          </a:solidFill>
                          <a:latin typeface="微软雅黑" panose="020B0503020204020204" pitchFamily="34" charset="-122"/>
                          <a:ea typeface="微软雅黑" panose="020B0503020204020204" pitchFamily="34" charset="-122"/>
                        </a:rPr>
                        <a:t>（截止</a:t>
                      </a:r>
                      <a:r>
                        <a:rPr lang="en-US" altLang="zh-CN" sz="700" b="0" dirty="0" smtClean="0">
                          <a:solidFill>
                            <a:srgbClr val="000000"/>
                          </a:solidFill>
                          <a:latin typeface="微软雅黑" panose="020B0503020204020204" pitchFamily="34" charset="-122"/>
                          <a:ea typeface="微软雅黑" panose="020B0503020204020204" pitchFamily="34" charset="-122"/>
                        </a:rPr>
                        <a:t>10</a:t>
                      </a:r>
                      <a:r>
                        <a:rPr lang="zh-CN" altLang="en-US" sz="700" b="0" dirty="0" smtClean="0">
                          <a:solidFill>
                            <a:srgbClr val="000000"/>
                          </a:solidFill>
                          <a:latin typeface="微软雅黑" panose="020B0503020204020204" pitchFamily="34" charset="-122"/>
                          <a:ea typeface="微软雅黑" panose="020B0503020204020204" pitchFamily="34" charset="-122"/>
                        </a:rPr>
                        <a:t>月底）</a:t>
                      </a:r>
                      <a:endParaRPr lang="zh-CN" altLang="zh-CN" sz="700" b="0" dirty="0" smtClean="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indent="0" algn="ctr">
                        <a:buNone/>
                      </a:pPr>
                      <a:r>
                        <a:rPr lang="zh-CN" altLang="en-US" sz="1000" b="1" dirty="0" smtClean="0">
                          <a:solidFill>
                            <a:srgbClr val="000000"/>
                          </a:solidFill>
                          <a:latin typeface="微软雅黑" panose="020B0503020204020204" pitchFamily="34" charset="-122"/>
                          <a:ea typeface="微软雅黑" panose="020B0503020204020204" pitchFamily="34" charset="-122"/>
                        </a:rPr>
                        <a:t>出租率</a:t>
                      </a:r>
                      <a:r>
                        <a:rPr lang="en-US" altLang="zh-CN" sz="1000" b="1" dirty="0" smtClean="0">
                          <a:solidFill>
                            <a:srgbClr val="000000"/>
                          </a:solidFill>
                          <a:latin typeface="微软雅黑" panose="020B0503020204020204" pitchFamily="34" charset="-122"/>
                          <a:ea typeface="微软雅黑" panose="020B0503020204020204" pitchFamily="34" charset="-122"/>
                        </a:rPr>
                        <a:t>94%</a:t>
                      </a:r>
                      <a:endParaRPr lang="en-US" altLang="zh-CN" sz="1000" b="1" dirty="0" smtClean="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indent="0" algn="ctr">
                        <a:buNone/>
                      </a:pPr>
                      <a:r>
                        <a:rPr lang="zh-CN" altLang="en-US" sz="1000" b="0" dirty="0" smtClean="0">
                          <a:solidFill>
                            <a:srgbClr val="000000"/>
                          </a:solidFill>
                          <a:latin typeface="微软雅黑" panose="020B0503020204020204" pitchFamily="34" charset="-122"/>
                          <a:ea typeface="微软雅黑" panose="020B0503020204020204" pitchFamily="34" charset="-122"/>
                        </a:rPr>
                        <a:t>稳定不降</a:t>
                      </a:r>
                      <a:endParaRPr lang="zh-CN" altLang="zh-CN" sz="1000" b="0" dirty="0" smtClean="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550545">
                <a:tc>
                  <a:txBody>
                    <a:bodyPr/>
                    <a:lstStyle/>
                    <a:p>
                      <a:pPr marL="0" marR="0" lvl="0" indent="0" algn="ctr" defTabSz="754380" rtl="0" eaLnBrk="1" fontAlgn="auto" latinLnBrk="0" hangingPunct="1">
                        <a:lnSpc>
                          <a:spcPct val="100000"/>
                        </a:lnSpc>
                        <a:spcBef>
                          <a:spcPts val="0"/>
                        </a:spcBef>
                        <a:spcAft>
                          <a:spcPts val="0"/>
                        </a:spcAft>
                        <a:buClrTx/>
                        <a:buSzTx/>
                        <a:buFontTx/>
                        <a:buNone/>
                        <a:defRPr/>
                      </a:pPr>
                      <a:r>
                        <a:rPr lang="zh-CN" altLang="en-US" sz="1000" b="1" dirty="0" smtClean="0">
                          <a:solidFill>
                            <a:srgbClr val="000000"/>
                          </a:solidFill>
                          <a:latin typeface="微软雅黑" panose="020B0503020204020204" pitchFamily="34" charset="-122"/>
                          <a:ea typeface="微软雅黑" panose="020B0503020204020204" pitchFamily="34" charset="-122"/>
                        </a:rPr>
                        <a:t>收入收缴率</a:t>
                      </a:r>
                      <a:endParaRPr lang="en-US" altLang="en-US" sz="1000" b="1" dirty="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gridSpan="2">
                  <a:txBody>
                    <a:bodyPr/>
                    <a:lstStyle/>
                    <a:p>
                      <a:pPr indent="0" algn="ctr">
                        <a:buNone/>
                      </a:pPr>
                      <a:r>
                        <a:rPr lang="zh-CN" altLang="en-US" sz="1000" b="0" dirty="0" smtClean="0">
                          <a:solidFill>
                            <a:srgbClr val="000000"/>
                          </a:solidFill>
                          <a:latin typeface="微软雅黑" panose="020B0503020204020204" pitchFamily="34" charset="-122"/>
                          <a:ea typeface="微软雅黑" panose="020B0503020204020204" pitchFamily="34" charset="-122"/>
                        </a:rPr>
                        <a:t>月均综合收入收缴率</a:t>
                      </a:r>
                      <a:r>
                        <a:rPr lang="en-US" altLang="zh-CN" sz="1000" b="0" dirty="0" smtClean="0">
                          <a:solidFill>
                            <a:srgbClr val="000000"/>
                          </a:solidFill>
                          <a:latin typeface="微软雅黑" panose="020B0503020204020204" pitchFamily="34" charset="-122"/>
                          <a:ea typeface="微软雅黑" panose="020B0503020204020204" pitchFamily="34" charset="-122"/>
                        </a:rPr>
                        <a:t>90%</a:t>
                      </a:r>
                      <a:endParaRPr lang="en-US" altLang="zh-CN" sz="1000" b="0" dirty="0" smtClean="0">
                        <a:solidFill>
                          <a:srgbClr val="000000"/>
                        </a:solidFill>
                        <a:latin typeface="微软雅黑" panose="020B0503020204020204" pitchFamily="34" charset="-122"/>
                        <a:ea typeface="微软雅黑" panose="020B0503020204020204" pitchFamily="34" charset="-122"/>
                      </a:endParaRPr>
                    </a:p>
                    <a:p>
                      <a:pPr indent="0" algn="ctr">
                        <a:buNone/>
                      </a:pPr>
                      <a:r>
                        <a:rPr lang="zh-CN" altLang="en-US" sz="1000" b="0" dirty="0" smtClean="0">
                          <a:solidFill>
                            <a:srgbClr val="000000"/>
                          </a:solidFill>
                          <a:latin typeface="微软雅黑" panose="020B0503020204020204" pitchFamily="34" charset="-122"/>
                          <a:ea typeface="微软雅黑" panose="020B0503020204020204" pitchFamily="34" charset="-122"/>
                        </a:rPr>
                        <a:t>累计综合收入收缴率</a:t>
                      </a:r>
                      <a:r>
                        <a:rPr lang="en-US" altLang="zh-CN" sz="1000" b="0" dirty="0" smtClean="0">
                          <a:solidFill>
                            <a:srgbClr val="000000"/>
                          </a:solidFill>
                          <a:latin typeface="微软雅黑" panose="020B0503020204020204" pitchFamily="34" charset="-122"/>
                          <a:ea typeface="微软雅黑" panose="020B0503020204020204" pitchFamily="34" charset="-122"/>
                        </a:rPr>
                        <a:t>99%</a:t>
                      </a:r>
                      <a:endParaRPr lang="zh-CN" altLang="en-US" sz="1000" b="0" dirty="0" smtClean="0">
                        <a:solidFill>
                          <a:srgbClr val="000000"/>
                        </a:solidFill>
                        <a:latin typeface="微软雅黑" panose="020B0503020204020204" pitchFamily="34" charset="-122"/>
                        <a:ea typeface="微软雅黑" panose="020B0503020204020204" pitchFamily="34" charset="-122"/>
                      </a:endParaRPr>
                    </a:p>
                  </a:txBody>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cPr marL="15390" marR="15390" marT="15390" marB="5540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indent="0" algn="ctr" defTabSz="754380" rtl="0" eaLnBrk="1" fontAlgn="auto" latinLnBrk="0" hangingPunct="1">
                        <a:lnSpc>
                          <a:spcPct val="100000"/>
                        </a:lnSpc>
                        <a:spcBef>
                          <a:spcPts val="0"/>
                        </a:spcBef>
                        <a:spcAft>
                          <a:spcPts val="0"/>
                        </a:spcAft>
                        <a:buClrTx/>
                        <a:buSzTx/>
                        <a:buFontTx/>
                        <a:buNone/>
                        <a:defRPr/>
                      </a:pPr>
                      <a:r>
                        <a:rPr lang="en-US" altLang="zh-CN" sz="1000" b="0" dirty="0" smtClean="0">
                          <a:solidFill>
                            <a:srgbClr val="000000"/>
                          </a:solidFill>
                          <a:latin typeface="微软雅黑" panose="020B0503020204020204" pitchFamily="34" charset="-122"/>
                          <a:ea typeface="+mn-ea"/>
                        </a:rPr>
                        <a:t>——</a:t>
                      </a:r>
                      <a:endParaRPr lang="zh-CN" altLang="zh-CN" sz="1000" b="0" dirty="0" smtClean="0">
                        <a:solidFill>
                          <a:srgbClr val="000000"/>
                        </a:solidFill>
                        <a:latin typeface="微软雅黑" panose="020B0503020204020204" pitchFamily="34" charset="-122"/>
                        <a:ea typeface="+mn-ea"/>
                      </a:endParaRPr>
                    </a:p>
                  </a:txBody>
                  <a:tcPr marL="15390" marR="15390" marT="15390" marB="55405"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7" name="文本占位符 3"/>
          <p:cNvSpPr txBox="1"/>
          <p:nvPr/>
        </p:nvSpPr>
        <p:spPr>
          <a:xfrm>
            <a:off x="204664" y="1051050"/>
            <a:ext cx="9035946" cy="482525"/>
          </a:xfrm>
          <a:prstGeom prst="rect">
            <a:avLst/>
          </a:prstGeom>
        </p:spPr>
        <p:txBody>
          <a:bodyPr/>
          <a:lstStyle>
            <a:lvl1pPr marL="188595" indent="-188595" algn="l" defTabSz="754380" rtl="0" eaLnBrk="1" latinLnBrk="0" hangingPunct="1">
              <a:lnSpc>
                <a:spcPct val="90000"/>
              </a:lnSpc>
              <a:spcBef>
                <a:spcPts val="825"/>
              </a:spcBef>
              <a:buFont typeface="Arial" panose="020B0604020202020204" pitchFamily="34" charset="0"/>
              <a:buChar char="•"/>
              <a:defRPr sz="2310" kern="1200">
                <a:solidFill>
                  <a:schemeClr val="tx1"/>
                </a:solidFill>
                <a:latin typeface="+mn-lt"/>
                <a:ea typeface="+mn-ea"/>
                <a:cs typeface="+mn-cs"/>
              </a:defRPr>
            </a:lvl1pPr>
            <a:lvl2pPr marL="565785" indent="-188595" algn="l" defTabSz="754380" rtl="0" eaLnBrk="1" latinLnBrk="0" hangingPunct="1">
              <a:lnSpc>
                <a:spcPct val="90000"/>
              </a:lnSpc>
              <a:spcBef>
                <a:spcPts val="415"/>
              </a:spcBef>
              <a:buFont typeface="Arial" panose="020B0604020202020204" pitchFamily="34" charset="0"/>
              <a:buChar char="•"/>
              <a:defRPr sz="1980" kern="1200">
                <a:solidFill>
                  <a:schemeClr val="tx1"/>
                </a:solidFill>
                <a:latin typeface="+mn-lt"/>
                <a:ea typeface="+mn-ea"/>
                <a:cs typeface="+mn-cs"/>
              </a:defRPr>
            </a:lvl2pPr>
            <a:lvl3pPr marL="942975" indent="-188595" algn="l" defTabSz="754380" rtl="0" eaLnBrk="1" latinLnBrk="0" hangingPunct="1">
              <a:lnSpc>
                <a:spcPct val="90000"/>
              </a:lnSpc>
              <a:spcBef>
                <a:spcPts val="415"/>
              </a:spcBef>
              <a:buFont typeface="Arial" panose="020B0604020202020204" pitchFamily="34" charset="0"/>
              <a:buChar char="•"/>
              <a:defRPr sz="1650" kern="1200">
                <a:solidFill>
                  <a:schemeClr val="tx1"/>
                </a:solidFill>
                <a:latin typeface="+mn-lt"/>
                <a:ea typeface="+mn-ea"/>
                <a:cs typeface="+mn-cs"/>
              </a:defRPr>
            </a:lvl3pPr>
            <a:lvl4pPr marL="131953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4pPr>
            <a:lvl5pPr marL="169672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5pPr>
            <a:lvl6pPr marL="207391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6pPr>
            <a:lvl7pPr marL="245110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7pPr>
            <a:lvl8pPr marL="282829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8pPr>
            <a:lvl9pPr marL="3205480" indent="-188595" algn="l" defTabSz="754380" rtl="0" eaLnBrk="1" latinLnBrk="0" hangingPunct="1">
              <a:lnSpc>
                <a:spcPct val="90000"/>
              </a:lnSpc>
              <a:spcBef>
                <a:spcPts val="415"/>
              </a:spcBef>
              <a:buFont typeface="Arial" panose="020B0604020202020204" pitchFamily="34" charset="0"/>
              <a:buChar char="•"/>
              <a:defRPr sz="1485" kern="1200">
                <a:solidFill>
                  <a:schemeClr val="tx1"/>
                </a:solidFill>
                <a:latin typeface="+mn-lt"/>
                <a:ea typeface="+mn-ea"/>
                <a:cs typeface="+mn-cs"/>
              </a:defRPr>
            </a:lvl9pPr>
          </a:lstStyle>
          <a:p>
            <a:pPr marL="0" indent="0" fontAlgn="auto">
              <a:spcAft>
                <a:spcPts val="0"/>
              </a:spcAft>
              <a:buNone/>
            </a:pPr>
            <a:r>
              <a:rPr lang="zh-CN" altLang="en-US" sz="1400" b="1" dirty="0">
                <a:solidFill>
                  <a:srgbClr val="242331"/>
                </a:solidFill>
                <a:latin typeface="微软雅黑" panose="020B0503020204020204" pitchFamily="34" charset="-122"/>
                <a:ea typeface="微软雅黑" panose="020B0503020204020204" pitchFamily="34" charset="-122"/>
              </a:rPr>
              <a:t>落实深圳领创的发展模式：聚力打造“</a:t>
            </a:r>
            <a:r>
              <a:rPr lang="zh-CN" altLang="en-US" sz="1400" b="1" dirty="0">
                <a:solidFill>
                  <a:srgbClr val="C00000"/>
                </a:solidFill>
                <a:latin typeface="微软雅黑" panose="020B0503020204020204" pitchFamily="34" charset="-122"/>
                <a:ea typeface="微软雅黑" panose="020B0503020204020204" pitchFamily="34" charset="-122"/>
              </a:rPr>
              <a:t>面向全球创新赛道的投资型创新孵化平台”</a:t>
            </a:r>
            <a:r>
              <a:rPr lang="zh-CN" altLang="en-US" sz="1400" b="1" dirty="0">
                <a:solidFill>
                  <a:srgbClr val="242331"/>
                </a:solidFill>
                <a:latin typeface="微软雅黑" panose="020B0503020204020204" pitchFamily="34" charset="-122"/>
                <a:ea typeface="微软雅黑" panose="020B0503020204020204" pitchFamily="34" charset="-122"/>
              </a:rPr>
              <a:t>，以“</a:t>
            </a:r>
            <a:r>
              <a:rPr lang="zh-CN" altLang="en-US" sz="1400" b="1" dirty="0">
                <a:solidFill>
                  <a:srgbClr val="C00000"/>
                </a:solidFill>
                <a:latin typeface="微软雅黑" panose="020B0503020204020204" pitchFamily="34" charset="-122"/>
                <a:ea typeface="微软雅黑" panose="020B0503020204020204" pitchFamily="34" charset="-122"/>
              </a:rPr>
              <a:t>基金</a:t>
            </a:r>
            <a:r>
              <a:rPr lang="en-US" altLang="zh-CN" sz="1400" b="1" dirty="0">
                <a:solidFill>
                  <a:srgbClr val="C00000"/>
                </a:solidFill>
                <a:latin typeface="微软雅黑" panose="020B0503020204020204" pitchFamily="34" charset="-122"/>
                <a:ea typeface="微软雅黑" panose="020B0503020204020204" pitchFamily="34" charset="-122"/>
              </a:rPr>
              <a:t>+</a:t>
            </a:r>
            <a:r>
              <a:rPr lang="zh-CN" altLang="en-US" sz="1400" b="1" dirty="0">
                <a:solidFill>
                  <a:srgbClr val="C00000"/>
                </a:solidFill>
                <a:latin typeface="微软雅黑" panose="020B0503020204020204" pitchFamily="34" charset="-122"/>
                <a:ea typeface="微软雅黑" panose="020B0503020204020204" pitchFamily="34" charset="-122"/>
              </a:rPr>
              <a:t>基地”</a:t>
            </a:r>
            <a:r>
              <a:rPr lang="zh-CN" altLang="en-US" sz="1400" b="1" dirty="0">
                <a:solidFill>
                  <a:srgbClr val="242331"/>
                </a:solidFill>
                <a:latin typeface="微软雅黑" panose="020B0503020204020204" pitchFamily="34" charset="-122"/>
                <a:ea typeface="微软雅黑" panose="020B0503020204020204" pitchFamily="34" charset="-122"/>
              </a:rPr>
              <a:t>为核心模式，搭建</a:t>
            </a:r>
            <a:r>
              <a:rPr lang="zh-CN" altLang="en-US" sz="1400" b="1" dirty="0">
                <a:solidFill>
                  <a:srgbClr val="C00000"/>
                </a:solidFill>
                <a:latin typeface="微软雅黑" panose="020B0503020204020204" pitchFamily="34" charset="-122"/>
                <a:ea typeface="微软雅黑" panose="020B0503020204020204" pitchFamily="34" charset="-122"/>
              </a:rPr>
              <a:t>投资为核，孵化为辅，投孵联动的盈利增长模式</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p>
        </p:txBody>
      </p:sp>
      <p:grpSp>
        <p:nvGrpSpPr>
          <p:cNvPr id="9" name="组合 8"/>
          <p:cNvGrpSpPr/>
          <p:nvPr/>
        </p:nvGrpSpPr>
        <p:grpSpPr>
          <a:xfrm>
            <a:off x="379165" y="3405783"/>
            <a:ext cx="4221851" cy="1872208"/>
            <a:chOff x="561340" y="1709689"/>
            <a:chExt cx="4768057" cy="2121203"/>
          </a:xfrm>
        </p:grpSpPr>
        <p:cxnSp>
          <p:nvCxnSpPr>
            <p:cNvPr id="11" name="直接连接符 113"/>
            <p:cNvCxnSpPr/>
            <p:nvPr/>
          </p:nvCxnSpPr>
          <p:spPr>
            <a:xfrm>
              <a:off x="2556940" y="2391873"/>
              <a:ext cx="819609" cy="0"/>
            </a:xfrm>
            <a:prstGeom prst="line">
              <a:avLst/>
            </a:prstGeom>
            <a:ln>
              <a:solidFill>
                <a:srgbClr val="C00000">
                  <a:alpha val="50000"/>
                </a:srgbClr>
              </a:solidFill>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561340" y="1709689"/>
              <a:ext cx="4768057" cy="2121203"/>
              <a:chOff x="561340" y="1709689"/>
              <a:chExt cx="4768057" cy="2121203"/>
            </a:xfrm>
          </p:grpSpPr>
          <p:grpSp>
            <p:nvGrpSpPr>
              <p:cNvPr id="13" name="组合 12"/>
              <p:cNvGrpSpPr/>
              <p:nvPr/>
            </p:nvGrpSpPr>
            <p:grpSpPr>
              <a:xfrm>
                <a:off x="561340" y="1709689"/>
                <a:ext cx="4768057" cy="2121203"/>
                <a:chOff x="561340" y="1709689"/>
                <a:chExt cx="4768057" cy="2121203"/>
              </a:xfrm>
            </p:grpSpPr>
            <p:grpSp>
              <p:nvGrpSpPr>
                <p:cNvPr id="16" name="组合 15"/>
                <p:cNvGrpSpPr/>
                <p:nvPr/>
              </p:nvGrpSpPr>
              <p:grpSpPr>
                <a:xfrm>
                  <a:off x="561340" y="1709689"/>
                  <a:ext cx="4768057" cy="2121203"/>
                  <a:chOff x="441633" y="1307798"/>
                  <a:chExt cx="10844332" cy="4826302"/>
                </a:xfrm>
              </p:grpSpPr>
              <p:grpSp>
                <p:nvGrpSpPr>
                  <p:cNvPr id="28" name="组合 27"/>
                  <p:cNvGrpSpPr/>
                  <p:nvPr/>
                </p:nvGrpSpPr>
                <p:grpSpPr>
                  <a:xfrm>
                    <a:off x="796054" y="1662219"/>
                    <a:ext cx="4117461" cy="4117461"/>
                    <a:chOff x="474220" y="1079166"/>
                    <a:chExt cx="5621780" cy="5621780"/>
                  </a:xfrm>
                </p:grpSpPr>
                <p:sp>
                  <p:nvSpPr>
                    <p:cNvPr id="65" name="椭圆 64"/>
                    <p:cNvSpPr/>
                    <p:nvPr/>
                  </p:nvSpPr>
                  <p:spPr>
                    <a:xfrm>
                      <a:off x="474220" y="1079166"/>
                      <a:ext cx="5621780" cy="5621780"/>
                    </a:xfrm>
                    <a:prstGeom prst="ellipse">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p:cNvSpPr/>
                    <p:nvPr/>
                  </p:nvSpPr>
                  <p:spPr>
                    <a:xfrm>
                      <a:off x="893335" y="1498281"/>
                      <a:ext cx="4783550" cy="4783552"/>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椭圆 66"/>
                    <p:cNvSpPr/>
                    <p:nvPr/>
                  </p:nvSpPr>
                  <p:spPr>
                    <a:xfrm>
                      <a:off x="1305850" y="1910796"/>
                      <a:ext cx="3958520" cy="395852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9" name="矩形 28"/>
                  <p:cNvSpPr/>
                  <p:nvPr/>
                </p:nvSpPr>
                <p:spPr>
                  <a:xfrm>
                    <a:off x="1675272" y="2785711"/>
                    <a:ext cx="2359026" cy="1680657"/>
                  </a:xfrm>
                  <a:prstGeom prst="rect">
                    <a:avLst/>
                  </a:prstGeom>
                </p:spPr>
                <p:txBody>
                  <a:bodyPr wrap="square" anchor="b" anchorCtr="0">
                    <a:spAutoFit/>
                  </a:bodyPr>
                  <a:lstStyle/>
                  <a:p>
                    <a:pPr algn="ctr">
                      <a:buSzPct val="25000"/>
                    </a:pPr>
                    <a:r>
                      <a:rPr lang="zh-CN" altLang="en-US" sz="1400" b="1" dirty="0">
                        <a:solidFill>
                          <a:srgbClr val="FFFFFF"/>
                        </a:solidFill>
                        <a:latin typeface="Arial Black" panose="020B0A04020102020204" pitchFamily="34" charset="0"/>
                        <a:ea typeface="微软雅黑" panose="020B0503020204020204" pitchFamily="34" charset="-122"/>
                      </a:rPr>
                      <a:t>特色产业投后孵化服务基地</a:t>
                    </a:r>
                    <a:endParaRPr lang="en-US" altLang="zh-CN" sz="1400" b="1" dirty="0">
                      <a:solidFill>
                        <a:srgbClr val="FFFFFF"/>
                      </a:solidFill>
                      <a:latin typeface="Arial Black" panose="020B0A04020102020204" pitchFamily="34" charset="0"/>
                      <a:ea typeface="微软雅黑" panose="020B0503020204020204" pitchFamily="34" charset="-122"/>
                    </a:endParaRPr>
                  </a:p>
                </p:txBody>
              </p:sp>
              <p:sp>
                <p:nvSpPr>
                  <p:cNvPr id="30" name="弧形 51"/>
                  <p:cNvSpPr/>
                  <p:nvPr/>
                </p:nvSpPr>
                <p:spPr>
                  <a:xfrm>
                    <a:off x="441633" y="1307798"/>
                    <a:ext cx="4826302" cy="4826302"/>
                  </a:xfrm>
                  <a:prstGeom prst="arc">
                    <a:avLst>
                      <a:gd name="adj1" fmla="val 16200000"/>
                      <a:gd name="adj2" fmla="val 4972270"/>
                    </a:avLst>
                  </a:prstGeom>
                  <a:noFill/>
                  <a:ln>
                    <a:solidFill>
                      <a:srgbClr val="C0000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1" name="组合 30"/>
                  <p:cNvGrpSpPr/>
                  <p:nvPr/>
                </p:nvGrpSpPr>
                <p:grpSpPr>
                  <a:xfrm>
                    <a:off x="5094219" y="3497648"/>
                    <a:ext cx="6191746" cy="743701"/>
                    <a:chOff x="5094219" y="3450041"/>
                    <a:chExt cx="6191746" cy="743701"/>
                  </a:xfrm>
                </p:grpSpPr>
                <p:grpSp>
                  <p:nvGrpSpPr>
                    <p:cNvPr id="56" name="组合 55"/>
                    <p:cNvGrpSpPr/>
                    <p:nvPr/>
                  </p:nvGrpSpPr>
                  <p:grpSpPr>
                    <a:xfrm>
                      <a:off x="5094219" y="3642694"/>
                      <a:ext cx="1987648" cy="358401"/>
                      <a:chOff x="4360179" y="1960863"/>
                      <a:chExt cx="1987648" cy="358401"/>
                    </a:xfrm>
                  </p:grpSpPr>
                  <p:grpSp>
                    <p:nvGrpSpPr>
                      <p:cNvPr id="61" name="组合 60"/>
                      <p:cNvGrpSpPr/>
                      <p:nvPr/>
                    </p:nvGrpSpPr>
                    <p:grpSpPr>
                      <a:xfrm flipV="1">
                        <a:off x="4360179" y="1960863"/>
                        <a:ext cx="358401" cy="358401"/>
                        <a:chOff x="474220" y="-1601288"/>
                        <a:chExt cx="5621780" cy="5621780"/>
                      </a:xfrm>
                    </p:grpSpPr>
                    <p:sp>
                      <p:nvSpPr>
                        <p:cNvPr id="63" name="椭圆 62"/>
                        <p:cNvSpPr/>
                        <p:nvPr/>
                      </p:nvSpPr>
                      <p:spPr>
                        <a:xfrm>
                          <a:off x="474220" y="-1601288"/>
                          <a:ext cx="5621780" cy="5621780"/>
                        </a:xfrm>
                        <a:prstGeom prst="ellipse">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椭圆 63"/>
                        <p:cNvSpPr/>
                        <p:nvPr/>
                      </p:nvSpPr>
                      <p:spPr>
                        <a:xfrm>
                          <a:off x="1916596" y="-158927"/>
                          <a:ext cx="2736991" cy="273702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62" name="直接连接符 83"/>
                      <p:cNvCxnSpPr/>
                      <p:nvPr/>
                    </p:nvCxnSpPr>
                    <p:spPr>
                      <a:xfrm>
                        <a:off x="4483732" y="2139438"/>
                        <a:ext cx="1864095" cy="0"/>
                      </a:xfrm>
                      <a:prstGeom prst="line">
                        <a:avLst/>
                      </a:prstGeom>
                      <a:ln>
                        <a:solidFill>
                          <a:srgbClr val="C00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57" name="组合 56"/>
                    <p:cNvGrpSpPr/>
                    <p:nvPr/>
                  </p:nvGrpSpPr>
                  <p:grpSpPr>
                    <a:xfrm>
                      <a:off x="6523465" y="3450041"/>
                      <a:ext cx="4762500" cy="743701"/>
                      <a:chOff x="5084390" y="1879028"/>
                      <a:chExt cx="4762500" cy="743701"/>
                    </a:xfrm>
                  </p:grpSpPr>
                  <p:sp>
                    <p:nvSpPr>
                      <p:cNvPr id="58" name="矩形: 圆角 79"/>
                      <p:cNvSpPr/>
                      <p:nvPr/>
                    </p:nvSpPr>
                    <p:spPr>
                      <a:xfrm>
                        <a:off x="5084390" y="1879028"/>
                        <a:ext cx="4762500" cy="743701"/>
                      </a:xfrm>
                      <a:prstGeom prst="roundRect">
                        <a:avLst>
                          <a:gd name="adj" fmla="val 50000"/>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文本框 58"/>
                      <p:cNvSpPr txBox="1"/>
                      <p:nvPr/>
                    </p:nvSpPr>
                    <p:spPr>
                      <a:xfrm>
                        <a:off x="5968560" y="1951611"/>
                        <a:ext cx="3878328" cy="614129"/>
                      </a:xfrm>
                      <a:prstGeom prst="rect">
                        <a:avLst/>
                      </a:prstGeom>
                      <a:noFill/>
                      <a:ln>
                        <a:noFill/>
                      </a:ln>
                    </p:spPr>
                    <p:txBody>
                      <a:bodyPr wrap="square" lIns="91440" tIns="45720" rIns="91440" bIns="45720" anchor="ctr" anchorCtr="0">
                        <a:normAutofit fontScale="92500" lnSpcReduction="10000"/>
                      </a:bodyPr>
                      <a:lstStyle/>
                      <a:p>
                        <a:pPr>
                          <a:buSzPct val="25000"/>
                        </a:pPr>
                        <a:r>
                          <a:rPr lang="zh-CN" altLang="en-US" sz="1100" b="1" dirty="0">
                            <a:latin typeface="+mj-ea"/>
                            <a:ea typeface="+mj-ea"/>
                          </a:rPr>
                          <a:t>精准高效的供应链搭建</a:t>
                        </a:r>
                        <a:endParaRPr lang="en-US" altLang="zh-CN" sz="1100" b="1" dirty="0">
                          <a:latin typeface="+mj-ea"/>
                          <a:ea typeface="+mj-ea"/>
                        </a:endParaRPr>
                      </a:p>
                    </p:txBody>
                  </p:sp>
                  <p:sp>
                    <p:nvSpPr>
                      <p:cNvPr id="60" name="椭圆 59"/>
                      <p:cNvSpPr/>
                      <p:nvPr/>
                    </p:nvSpPr>
                    <p:spPr>
                      <a:xfrm>
                        <a:off x="5257997" y="1951611"/>
                        <a:ext cx="598532" cy="598533"/>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32" name="任意多边形: 形状 53"/>
                  <p:cNvSpPr/>
                  <p:nvPr/>
                </p:nvSpPr>
                <p:spPr>
                  <a:xfrm>
                    <a:off x="6927845" y="3760229"/>
                    <a:ext cx="162386" cy="178002"/>
                  </a:xfrm>
                  <a:custGeom>
                    <a:avLst/>
                    <a:gdLst>
                      <a:gd name="connsiteX0" fmla="*/ 248770 w 495300"/>
                      <a:gd name="connsiteY0" fmla="*/ 621 h 542925"/>
                      <a:gd name="connsiteX1" fmla="*/ 496420 w 495300"/>
                      <a:gd name="connsiteY1" fmla="*/ 248271 h 542925"/>
                      <a:gd name="connsiteX2" fmla="*/ 323827 w 495300"/>
                      <a:gd name="connsiteY2" fmla="*/ 484396 h 542925"/>
                      <a:gd name="connsiteX3" fmla="*/ 346973 w 495300"/>
                      <a:gd name="connsiteY3" fmla="*/ 524496 h 542925"/>
                      <a:gd name="connsiteX4" fmla="*/ 420220 w 495300"/>
                      <a:gd name="connsiteY4" fmla="*/ 524496 h 542925"/>
                      <a:gd name="connsiteX5" fmla="*/ 420220 w 495300"/>
                      <a:gd name="connsiteY5" fmla="*/ 543546 h 542925"/>
                      <a:gd name="connsiteX6" fmla="*/ 77320 w 495300"/>
                      <a:gd name="connsiteY6" fmla="*/ 543546 h 542925"/>
                      <a:gd name="connsiteX7" fmla="*/ 77320 w 495300"/>
                      <a:gd name="connsiteY7" fmla="*/ 524496 h 542925"/>
                      <a:gd name="connsiteX8" fmla="*/ 150567 w 495300"/>
                      <a:gd name="connsiteY8" fmla="*/ 524496 h 542925"/>
                      <a:gd name="connsiteX9" fmla="*/ 173713 w 495300"/>
                      <a:gd name="connsiteY9" fmla="*/ 484396 h 542925"/>
                      <a:gd name="connsiteX10" fmla="*/ 1120 w 495300"/>
                      <a:gd name="connsiteY10" fmla="*/ 248271 h 542925"/>
                      <a:gd name="connsiteX11" fmla="*/ 248770 w 495300"/>
                      <a:gd name="connsiteY11" fmla="*/ 621 h 542925"/>
                      <a:gd name="connsiteX12" fmla="*/ 192763 w 495300"/>
                      <a:gd name="connsiteY12" fmla="*/ 489539 h 542925"/>
                      <a:gd name="connsiteX13" fmla="*/ 172570 w 495300"/>
                      <a:gd name="connsiteY13" fmla="*/ 524496 h 542925"/>
                      <a:gd name="connsiteX14" fmla="*/ 324970 w 495300"/>
                      <a:gd name="connsiteY14" fmla="*/ 524496 h 542925"/>
                      <a:gd name="connsiteX15" fmla="*/ 304777 w 495300"/>
                      <a:gd name="connsiteY15" fmla="*/ 489539 h 542925"/>
                      <a:gd name="connsiteX16" fmla="*/ 248770 w 495300"/>
                      <a:gd name="connsiteY16" fmla="*/ 495921 h 542925"/>
                      <a:gd name="connsiteX17" fmla="*/ 192763 w 495300"/>
                      <a:gd name="connsiteY17" fmla="*/ 489539 h 542925"/>
                      <a:gd name="connsiteX18" fmla="*/ 248770 w 495300"/>
                      <a:gd name="connsiteY18" fmla="*/ 143496 h 542925"/>
                      <a:gd name="connsiteX19" fmla="*/ 143995 w 495300"/>
                      <a:gd name="connsiteY19" fmla="*/ 248271 h 542925"/>
                      <a:gd name="connsiteX20" fmla="*/ 248770 w 495300"/>
                      <a:gd name="connsiteY20" fmla="*/ 353046 h 542925"/>
                      <a:gd name="connsiteX21" fmla="*/ 353545 w 495300"/>
                      <a:gd name="connsiteY21" fmla="*/ 248271 h 542925"/>
                      <a:gd name="connsiteX22" fmla="*/ 248770 w 495300"/>
                      <a:gd name="connsiteY22" fmla="*/ 143496 h 542925"/>
                      <a:gd name="connsiteX23" fmla="*/ 367833 w 495300"/>
                      <a:gd name="connsiteY23" fmla="*/ 114921 h 542925"/>
                      <a:gd name="connsiteX24" fmla="*/ 353545 w 495300"/>
                      <a:gd name="connsiteY24" fmla="*/ 129209 h 542925"/>
                      <a:gd name="connsiteX25" fmla="*/ 367833 w 495300"/>
                      <a:gd name="connsiteY25" fmla="*/ 143496 h 542925"/>
                      <a:gd name="connsiteX26" fmla="*/ 382120 w 495300"/>
                      <a:gd name="connsiteY26" fmla="*/ 129209 h 542925"/>
                      <a:gd name="connsiteX27" fmla="*/ 367833 w 495300"/>
                      <a:gd name="connsiteY27" fmla="*/ 11492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5300" h="542925">
                        <a:moveTo>
                          <a:pt x="248770" y="621"/>
                        </a:moveTo>
                        <a:cubicBezTo>
                          <a:pt x="385549" y="621"/>
                          <a:pt x="496420" y="111492"/>
                          <a:pt x="496420" y="248271"/>
                        </a:cubicBezTo>
                        <a:cubicBezTo>
                          <a:pt x="496420" y="358856"/>
                          <a:pt x="423935" y="452582"/>
                          <a:pt x="323827" y="484396"/>
                        </a:cubicBezTo>
                        <a:lnTo>
                          <a:pt x="346973" y="524496"/>
                        </a:lnTo>
                        <a:lnTo>
                          <a:pt x="420220" y="524496"/>
                        </a:lnTo>
                        <a:lnTo>
                          <a:pt x="420220" y="543546"/>
                        </a:lnTo>
                        <a:lnTo>
                          <a:pt x="77320" y="543546"/>
                        </a:lnTo>
                        <a:lnTo>
                          <a:pt x="77320" y="524496"/>
                        </a:lnTo>
                        <a:lnTo>
                          <a:pt x="150567" y="524496"/>
                        </a:lnTo>
                        <a:lnTo>
                          <a:pt x="173713" y="484396"/>
                        </a:lnTo>
                        <a:cubicBezTo>
                          <a:pt x="73605" y="452582"/>
                          <a:pt x="1120" y="358856"/>
                          <a:pt x="1120" y="248271"/>
                        </a:cubicBezTo>
                        <a:cubicBezTo>
                          <a:pt x="1120" y="111492"/>
                          <a:pt x="111991" y="621"/>
                          <a:pt x="248770" y="621"/>
                        </a:cubicBezTo>
                        <a:close/>
                        <a:moveTo>
                          <a:pt x="192763" y="489539"/>
                        </a:moveTo>
                        <a:lnTo>
                          <a:pt x="172570" y="524496"/>
                        </a:lnTo>
                        <a:lnTo>
                          <a:pt x="324970" y="524496"/>
                        </a:lnTo>
                        <a:lnTo>
                          <a:pt x="304777" y="489539"/>
                        </a:lnTo>
                        <a:cubicBezTo>
                          <a:pt x="286775" y="493730"/>
                          <a:pt x="268010" y="495921"/>
                          <a:pt x="248770" y="495921"/>
                        </a:cubicBezTo>
                        <a:cubicBezTo>
                          <a:pt x="229530" y="495921"/>
                          <a:pt x="210765" y="493730"/>
                          <a:pt x="192763" y="489539"/>
                        </a:cubicBezTo>
                        <a:close/>
                        <a:moveTo>
                          <a:pt x="248770" y="143496"/>
                        </a:moveTo>
                        <a:cubicBezTo>
                          <a:pt x="190858" y="143496"/>
                          <a:pt x="143995" y="190359"/>
                          <a:pt x="143995" y="248271"/>
                        </a:cubicBezTo>
                        <a:cubicBezTo>
                          <a:pt x="143995" y="306183"/>
                          <a:pt x="190858" y="353046"/>
                          <a:pt x="248770" y="353046"/>
                        </a:cubicBezTo>
                        <a:cubicBezTo>
                          <a:pt x="306682" y="353046"/>
                          <a:pt x="353545" y="306183"/>
                          <a:pt x="353545" y="248271"/>
                        </a:cubicBezTo>
                        <a:cubicBezTo>
                          <a:pt x="353545" y="190359"/>
                          <a:pt x="306682" y="143496"/>
                          <a:pt x="248770" y="143496"/>
                        </a:cubicBezTo>
                        <a:close/>
                        <a:moveTo>
                          <a:pt x="367833" y="114921"/>
                        </a:moveTo>
                        <a:cubicBezTo>
                          <a:pt x="359927" y="114921"/>
                          <a:pt x="353545" y="121303"/>
                          <a:pt x="353545" y="129209"/>
                        </a:cubicBezTo>
                        <a:cubicBezTo>
                          <a:pt x="353545" y="137114"/>
                          <a:pt x="359927" y="143496"/>
                          <a:pt x="367833" y="143496"/>
                        </a:cubicBezTo>
                        <a:cubicBezTo>
                          <a:pt x="375738" y="143496"/>
                          <a:pt x="382120" y="137114"/>
                          <a:pt x="382120" y="129209"/>
                        </a:cubicBezTo>
                        <a:cubicBezTo>
                          <a:pt x="382120" y="121303"/>
                          <a:pt x="375738" y="114921"/>
                          <a:pt x="367833" y="114921"/>
                        </a:cubicBezTo>
                        <a:close/>
                      </a:path>
                    </a:pathLst>
                  </a:custGeom>
                  <a:solidFill>
                    <a:srgbClr val="FFFFFF"/>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25000" lnSpcReduction="2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400"/>
                    <a:endParaRPr lang="zh-CN" altLang="en-US" sz="2000" b="1" dirty="0">
                      <a:solidFill>
                        <a:schemeClr val="bg1"/>
                      </a:solidFill>
                    </a:endParaRPr>
                  </a:p>
                </p:txBody>
              </p:sp>
              <p:grpSp>
                <p:nvGrpSpPr>
                  <p:cNvPr id="33" name="组合 32"/>
                  <p:cNvGrpSpPr/>
                  <p:nvPr/>
                </p:nvGrpSpPr>
                <p:grpSpPr>
                  <a:xfrm>
                    <a:off x="3984669" y="1308170"/>
                    <a:ext cx="6191746" cy="743701"/>
                    <a:chOff x="3984669" y="1308170"/>
                    <a:chExt cx="6191746" cy="743701"/>
                  </a:xfrm>
                </p:grpSpPr>
                <p:grpSp>
                  <p:nvGrpSpPr>
                    <p:cNvPr id="45" name="组合 44"/>
                    <p:cNvGrpSpPr/>
                    <p:nvPr/>
                  </p:nvGrpSpPr>
                  <p:grpSpPr>
                    <a:xfrm>
                      <a:off x="3984669" y="1500824"/>
                      <a:ext cx="1987650" cy="358401"/>
                      <a:chOff x="3984669" y="1529913"/>
                      <a:chExt cx="1987650" cy="358401"/>
                    </a:xfrm>
                  </p:grpSpPr>
                  <p:grpSp>
                    <p:nvGrpSpPr>
                      <p:cNvPr id="52" name="组合 51"/>
                      <p:cNvGrpSpPr/>
                      <p:nvPr/>
                    </p:nvGrpSpPr>
                    <p:grpSpPr>
                      <a:xfrm flipV="1">
                        <a:off x="3984669" y="1529913"/>
                        <a:ext cx="358401" cy="358401"/>
                        <a:chOff x="-5415948" y="5158488"/>
                        <a:chExt cx="5621780" cy="5621780"/>
                      </a:xfrm>
                    </p:grpSpPr>
                    <p:sp>
                      <p:nvSpPr>
                        <p:cNvPr id="54" name="椭圆 53"/>
                        <p:cNvSpPr/>
                        <p:nvPr/>
                      </p:nvSpPr>
                      <p:spPr>
                        <a:xfrm>
                          <a:off x="-5415948" y="5158488"/>
                          <a:ext cx="5621780" cy="5621780"/>
                        </a:xfrm>
                        <a:prstGeom prst="ellipse">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椭圆 54"/>
                        <p:cNvSpPr/>
                        <p:nvPr/>
                      </p:nvSpPr>
                      <p:spPr>
                        <a:xfrm>
                          <a:off x="-3973561" y="6600871"/>
                          <a:ext cx="2737042" cy="2737013"/>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53" name="直接连接符 74"/>
                      <p:cNvCxnSpPr/>
                      <p:nvPr/>
                    </p:nvCxnSpPr>
                    <p:spPr>
                      <a:xfrm>
                        <a:off x="4108222" y="1708488"/>
                        <a:ext cx="1864097" cy="0"/>
                      </a:xfrm>
                      <a:prstGeom prst="line">
                        <a:avLst/>
                      </a:prstGeom>
                      <a:ln>
                        <a:solidFill>
                          <a:srgbClr val="C00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46" name="组合 45"/>
                    <p:cNvGrpSpPr/>
                    <p:nvPr/>
                  </p:nvGrpSpPr>
                  <p:grpSpPr>
                    <a:xfrm>
                      <a:off x="5413915" y="1308170"/>
                      <a:ext cx="4762500" cy="743701"/>
                      <a:chOff x="4892425" y="1203272"/>
                      <a:chExt cx="4762500" cy="743701"/>
                    </a:xfrm>
                  </p:grpSpPr>
                  <p:grpSp>
                    <p:nvGrpSpPr>
                      <p:cNvPr id="47" name="组合 46"/>
                      <p:cNvGrpSpPr/>
                      <p:nvPr/>
                    </p:nvGrpSpPr>
                    <p:grpSpPr>
                      <a:xfrm>
                        <a:off x="4892425" y="1203272"/>
                        <a:ext cx="4762500" cy="743701"/>
                        <a:chOff x="4708880" y="1448077"/>
                        <a:chExt cx="4762500" cy="743701"/>
                      </a:xfrm>
                    </p:grpSpPr>
                    <p:sp>
                      <p:nvSpPr>
                        <p:cNvPr id="49" name="矩形: 圆角 70"/>
                        <p:cNvSpPr/>
                        <p:nvPr/>
                      </p:nvSpPr>
                      <p:spPr>
                        <a:xfrm>
                          <a:off x="4708880" y="1448077"/>
                          <a:ext cx="4762500" cy="743701"/>
                        </a:xfrm>
                        <a:prstGeom prst="roundRect">
                          <a:avLst>
                            <a:gd name="adj" fmla="val 50000"/>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文本框 49"/>
                        <p:cNvSpPr txBox="1"/>
                        <p:nvPr/>
                      </p:nvSpPr>
                      <p:spPr>
                        <a:xfrm>
                          <a:off x="5593051" y="1520660"/>
                          <a:ext cx="3878329" cy="614129"/>
                        </a:xfrm>
                        <a:prstGeom prst="rect">
                          <a:avLst/>
                        </a:prstGeom>
                        <a:noFill/>
                        <a:ln>
                          <a:noFill/>
                        </a:ln>
                      </p:spPr>
                      <p:txBody>
                        <a:bodyPr wrap="square" lIns="91440" tIns="45720" rIns="91440" bIns="45720" anchor="ctr" anchorCtr="0">
                          <a:normAutofit fontScale="92500" lnSpcReduction="10000"/>
                        </a:bodyPr>
                        <a:lstStyle/>
                        <a:p>
                          <a:pPr>
                            <a:buSzPct val="25000"/>
                          </a:pPr>
                          <a:r>
                            <a:rPr lang="zh-CN" altLang="en-US" sz="1100" b="1" dirty="0">
                              <a:latin typeface="+mj-ea"/>
                              <a:ea typeface="+mj-ea"/>
                            </a:rPr>
                            <a:t>持续推广的媒体传播</a:t>
                          </a:r>
                          <a:endParaRPr lang="en-US" altLang="zh-CN" sz="1100" b="1" dirty="0">
                            <a:latin typeface="+mj-ea"/>
                            <a:ea typeface="+mj-ea"/>
                          </a:endParaRPr>
                        </a:p>
                      </p:txBody>
                    </p:sp>
                    <p:sp>
                      <p:nvSpPr>
                        <p:cNvPr id="51" name="椭圆 50"/>
                        <p:cNvSpPr/>
                        <p:nvPr/>
                      </p:nvSpPr>
                      <p:spPr>
                        <a:xfrm>
                          <a:off x="4882487" y="1520665"/>
                          <a:ext cx="598533" cy="598532"/>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48" name="任意多边形: 形状 69"/>
                      <p:cNvSpPr/>
                      <p:nvPr/>
                    </p:nvSpPr>
                    <p:spPr>
                      <a:xfrm>
                        <a:off x="5276298" y="1508376"/>
                        <a:ext cx="178001" cy="133499"/>
                      </a:xfrm>
                      <a:custGeom>
                        <a:avLst/>
                        <a:gdLst>
                          <a:gd name="connsiteX0" fmla="*/ 505433 w 533400"/>
                          <a:gd name="connsiteY0" fmla="*/ 621 h 400050"/>
                          <a:gd name="connsiteX1" fmla="*/ 534008 w 533400"/>
                          <a:gd name="connsiteY1" fmla="*/ 29196 h 400050"/>
                          <a:gd name="connsiteX2" fmla="*/ 534008 w 533400"/>
                          <a:gd name="connsiteY2" fmla="*/ 372096 h 400050"/>
                          <a:gd name="connsiteX3" fmla="*/ 505433 w 533400"/>
                          <a:gd name="connsiteY3" fmla="*/ 400671 h 400050"/>
                          <a:gd name="connsiteX4" fmla="*/ 29183 w 533400"/>
                          <a:gd name="connsiteY4" fmla="*/ 400671 h 400050"/>
                          <a:gd name="connsiteX5" fmla="*/ 608 w 533400"/>
                          <a:gd name="connsiteY5" fmla="*/ 372096 h 400050"/>
                          <a:gd name="connsiteX6" fmla="*/ 608 w 533400"/>
                          <a:gd name="connsiteY6" fmla="*/ 29196 h 400050"/>
                          <a:gd name="connsiteX7" fmla="*/ 29183 w 533400"/>
                          <a:gd name="connsiteY7" fmla="*/ 621 h 400050"/>
                          <a:gd name="connsiteX8" fmla="*/ 505433 w 533400"/>
                          <a:gd name="connsiteY8" fmla="*/ 621 h 400050"/>
                          <a:gd name="connsiteX9" fmla="*/ 391419 w 533400"/>
                          <a:gd name="connsiteY9" fmla="*/ 198646 h 400050"/>
                          <a:gd name="connsiteX10" fmla="*/ 351414 w 533400"/>
                          <a:gd name="connsiteY10" fmla="*/ 204170 h 400050"/>
                          <a:gd name="connsiteX11" fmla="*/ 351414 w 533400"/>
                          <a:gd name="connsiteY11" fmla="*/ 204170 h 400050"/>
                          <a:gd name="connsiteX12" fmla="*/ 267118 w 533400"/>
                          <a:gd name="connsiteY12" fmla="*/ 315613 h 400050"/>
                          <a:gd name="connsiteX13" fmla="*/ 264641 w 533400"/>
                          <a:gd name="connsiteY13" fmla="*/ 318470 h 400050"/>
                          <a:gd name="connsiteX14" fmla="*/ 224255 w 533400"/>
                          <a:gd name="connsiteY14" fmla="*/ 318756 h 400050"/>
                          <a:gd name="connsiteX15" fmla="*/ 224255 w 533400"/>
                          <a:gd name="connsiteY15" fmla="*/ 318756 h 400050"/>
                          <a:gd name="connsiteX16" fmla="*/ 162152 w 533400"/>
                          <a:gd name="connsiteY16" fmla="*/ 257415 h 400050"/>
                          <a:gd name="connsiteX17" fmla="*/ 160247 w 533400"/>
                          <a:gd name="connsiteY17" fmla="*/ 255701 h 400050"/>
                          <a:gd name="connsiteX18" fmla="*/ 120052 w 533400"/>
                          <a:gd name="connsiteY18" fmla="*/ 259606 h 400050"/>
                          <a:gd name="connsiteX19" fmla="*/ 120052 w 533400"/>
                          <a:gd name="connsiteY19" fmla="*/ 259606 h 400050"/>
                          <a:gd name="connsiteX20" fmla="*/ 32517 w 533400"/>
                          <a:gd name="connsiteY20" fmla="*/ 366095 h 400050"/>
                          <a:gd name="connsiteX21" fmla="*/ 30326 w 533400"/>
                          <a:gd name="connsiteY21" fmla="*/ 372096 h 400050"/>
                          <a:gd name="connsiteX22" fmla="*/ 39851 w 533400"/>
                          <a:gd name="connsiteY22" fmla="*/ 381621 h 400050"/>
                          <a:gd name="connsiteX23" fmla="*/ 39851 w 533400"/>
                          <a:gd name="connsiteY23" fmla="*/ 381621 h 400050"/>
                          <a:gd name="connsiteX24" fmla="*/ 497242 w 533400"/>
                          <a:gd name="connsiteY24" fmla="*/ 381621 h 400050"/>
                          <a:gd name="connsiteX25" fmla="*/ 502480 w 533400"/>
                          <a:gd name="connsiteY25" fmla="*/ 380002 h 400050"/>
                          <a:gd name="connsiteX26" fmla="*/ 505147 w 533400"/>
                          <a:gd name="connsiteY26" fmla="*/ 366762 h 400050"/>
                          <a:gd name="connsiteX27" fmla="*/ 505147 w 533400"/>
                          <a:gd name="connsiteY27" fmla="*/ 366762 h 400050"/>
                          <a:gd name="connsiteX28" fmla="*/ 397991 w 533400"/>
                          <a:gd name="connsiteY28" fmla="*/ 205504 h 400050"/>
                          <a:gd name="connsiteX29" fmla="*/ 391419 w 533400"/>
                          <a:gd name="connsiteY29" fmla="*/ 198646 h 400050"/>
                          <a:gd name="connsiteX30" fmla="*/ 95858 w 533400"/>
                          <a:gd name="connsiteY30" fmla="*/ 57771 h 400050"/>
                          <a:gd name="connsiteX31" fmla="*/ 57758 w 533400"/>
                          <a:gd name="connsiteY31" fmla="*/ 95871 h 400050"/>
                          <a:gd name="connsiteX32" fmla="*/ 95858 w 533400"/>
                          <a:gd name="connsiteY32" fmla="*/ 133971 h 400050"/>
                          <a:gd name="connsiteX33" fmla="*/ 133958 w 533400"/>
                          <a:gd name="connsiteY33" fmla="*/ 95871 h 400050"/>
                          <a:gd name="connsiteX34" fmla="*/ 95858 w 533400"/>
                          <a:gd name="connsiteY34" fmla="*/ 5777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33400" h="400050">
                            <a:moveTo>
                              <a:pt x="505433" y="621"/>
                            </a:moveTo>
                            <a:cubicBezTo>
                              <a:pt x="521245" y="621"/>
                              <a:pt x="534008" y="13385"/>
                              <a:pt x="534008" y="29196"/>
                            </a:cubicBezTo>
                            <a:lnTo>
                              <a:pt x="534008" y="372096"/>
                            </a:lnTo>
                            <a:cubicBezTo>
                              <a:pt x="534008" y="387907"/>
                              <a:pt x="521245" y="400671"/>
                              <a:pt x="505433" y="400671"/>
                            </a:cubicBezTo>
                            <a:lnTo>
                              <a:pt x="29183" y="400671"/>
                            </a:lnTo>
                            <a:cubicBezTo>
                              <a:pt x="13371" y="400671"/>
                              <a:pt x="608" y="387907"/>
                              <a:pt x="608" y="372096"/>
                            </a:cubicBezTo>
                            <a:lnTo>
                              <a:pt x="608" y="29196"/>
                            </a:lnTo>
                            <a:cubicBezTo>
                              <a:pt x="608" y="13385"/>
                              <a:pt x="13371" y="621"/>
                              <a:pt x="29183" y="621"/>
                            </a:cubicBezTo>
                            <a:lnTo>
                              <a:pt x="505433" y="621"/>
                            </a:lnTo>
                            <a:close/>
                            <a:moveTo>
                              <a:pt x="391419" y="198646"/>
                            </a:moveTo>
                            <a:cubicBezTo>
                              <a:pt x="378846" y="189121"/>
                              <a:pt x="360939" y="191597"/>
                              <a:pt x="351414" y="204170"/>
                            </a:cubicBezTo>
                            <a:lnTo>
                              <a:pt x="351414" y="204170"/>
                            </a:lnTo>
                            <a:lnTo>
                              <a:pt x="267118" y="315613"/>
                            </a:lnTo>
                            <a:cubicBezTo>
                              <a:pt x="266355" y="316660"/>
                              <a:pt x="265498" y="317518"/>
                              <a:pt x="264641" y="318470"/>
                            </a:cubicBezTo>
                            <a:cubicBezTo>
                              <a:pt x="253592" y="329710"/>
                              <a:pt x="235495" y="329805"/>
                              <a:pt x="224255" y="318756"/>
                            </a:cubicBezTo>
                            <a:lnTo>
                              <a:pt x="224255" y="318756"/>
                            </a:lnTo>
                            <a:lnTo>
                              <a:pt x="162152" y="257415"/>
                            </a:lnTo>
                            <a:cubicBezTo>
                              <a:pt x="161485" y="256844"/>
                              <a:pt x="160914" y="256177"/>
                              <a:pt x="160247" y="255701"/>
                            </a:cubicBezTo>
                            <a:cubicBezTo>
                              <a:pt x="148055" y="245699"/>
                              <a:pt x="130053" y="247414"/>
                              <a:pt x="120052" y="259606"/>
                            </a:cubicBezTo>
                            <a:lnTo>
                              <a:pt x="120052" y="259606"/>
                            </a:lnTo>
                            <a:lnTo>
                              <a:pt x="32517" y="366095"/>
                            </a:lnTo>
                            <a:cubicBezTo>
                              <a:pt x="31088" y="367810"/>
                              <a:pt x="30326" y="369905"/>
                              <a:pt x="30326" y="372096"/>
                            </a:cubicBezTo>
                            <a:cubicBezTo>
                              <a:pt x="30326" y="377335"/>
                              <a:pt x="34612" y="381621"/>
                              <a:pt x="39851" y="381621"/>
                            </a:cubicBezTo>
                            <a:lnTo>
                              <a:pt x="39851" y="381621"/>
                            </a:lnTo>
                            <a:lnTo>
                              <a:pt x="497242" y="381621"/>
                            </a:lnTo>
                            <a:cubicBezTo>
                              <a:pt x="499146" y="381621"/>
                              <a:pt x="500956" y="381050"/>
                              <a:pt x="502480" y="380002"/>
                            </a:cubicBezTo>
                            <a:cubicBezTo>
                              <a:pt x="506862" y="377049"/>
                              <a:pt x="508005" y="371144"/>
                              <a:pt x="505147" y="366762"/>
                            </a:cubicBezTo>
                            <a:lnTo>
                              <a:pt x="505147" y="366762"/>
                            </a:lnTo>
                            <a:lnTo>
                              <a:pt x="397991" y="205504"/>
                            </a:lnTo>
                            <a:cubicBezTo>
                              <a:pt x="396181" y="202932"/>
                              <a:pt x="393990" y="200551"/>
                              <a:pt x="391419" y="198646"/>
                            </a:cubicBezTo>
                            <a:close/>
                            <a:moveTo>
                              <a:pt x="95858" y="57771"/>
                            </a:moveTo>
                            <a:cubicBezTo>
                              <a:pt x="74808" y="57771"/>
                              <a:pt x="57758" y="74821"/>
                              <a:pt x="57758" y="95871"/>
                            </a:cubicBezTo>
                            <a:cubicBezTo>
                              <a:pt x="57758" y="116921"/>
                              <a:pt x="74808" y="133971"/>
                              <a:pt x="95858" y="133971"/>
                            </a:cubicBezTo>
                            <a:cubicBezTo>
                              <a:pt x="116908" y="133971"/>
                              <a:pt x="133958" y="116921"/>
                              <a:pt x="133958" y="95871"/>
                            </a:cubicBezTo>
                            <a:cubicBezTo>
                              <a:pt x="133958" y="74821"/>
                              <a:pt x="116908" y="57771"/>
                              <a:pt x="95858" y="57771"/>
                            </a:cubicBezTo>
                            <a:close/>
                          </a:path>
                        </a:pathLst>
                      </a:custGeom>
                      <a:solidFill>
                        <a:srgbClr val="FFFFFF"/>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25000" lnSpcReduction="2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400"/>
                        <a:endParaRPr lang="zh-CN" altLang="en-US" sz="2000" b="1" dirty="0">
                          <a:solidFill>
                            <a:schemeClr val="bg1"/>
                          </a:solidFill>
                        </a:endParaRPr>
                      </a:p>
                    </p:txBody>
                  </p:sp>
                </p:grpSp>
              </p:grpSp>
              <p:grpSp>
                <p:nvGrpSpPr>
                  <p:cNvPr id="34" name="组合 33"/>
                  <p:cNvGrpSpPr/>
                  <p:nvPr/>
                </p:nvGrpSpPr>
                <p:grpSpPr>
                  <a:xfrm>
                    <a:off x="3975851" y="5364972"/>
                    <a:ext cx="6191747" cy="743701"/>
                    <a:chOff x="3975851" y="5364972"/>
                    <a:chExt cx="6191747" cy="743701"/>
                  </a:xfrm>
                </p:grpSpPr>
                <p:grpSp>
                  <p:nvGrpSpPr>
                    <p:cNvPr id="36" name="组合 35"/>
                    <p:cNvGrpSpPr/>
                    <p:nvPr/>
                  </p:nvGrpSpPr>
                  <p:grpSpPr>
                    <a:xfrm>
                      <a:off x="3975851" y="5557625"/>
                      <a:ext cx="1987658" cy="358401"/>
                      <a:chOff x="3975851" y="2069661"/>
                      <a:chExt cx="1987658" cy="358401"/>
                    </a:xfrm>
                  </p:grpSpPr>
                  <p:grpSp>
                    <p:nvGrpSpPr>
                      <p:cNvPr id="41" name="组合 40"/>
                      <p:cNvGrpSpPr/>
                      <p:nvPr/>
                    </p:nvGrpSpPr>
                    <p:grpSpPr>
                      <a:xfrm flipV="1">
                        <a:off x="3975851" y="2069661"/>
                        <a:ext cx="358401" cy="358401"/>
                        <a:chOff x="-5554254" y="-3307839"/>
                        <a:chExt cx="5621780" cy="5621780"/>
                      </a:xfrm>
                    </p:grpSpPr>
                    <p:sp>
                      <p:nvSpPr>
                        <p:cNvPr id="43" name="椭圆 42"/>
                        <p:cNvSpPr/>
                        <p:nvPr/>
                      </p:nvSpPr>
                      <p:spPr>
                        <a:xfrm>
                          <a:off x="-5554254" y="-3307839"/>
                          <a:ext cx="5621780" cy="5621780"/>
                        </a:xfrm>
                        <a:prstGeom prst="ellipse">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椭圆 43"/>
                        <p:cNvSpPr/>
                        <p:nvPr/>
                      </p:nvSpPr>
                      <p:spPr>
                        <a:xfrm>
                          <a:off x="-4111867" y="-1865420"/>
                          <a:ext cx="2737042" cy="2737013"/>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42" name="直接连接符 63"/>
                      <p:cNvCxnSpPr/>
                      <p:nvPr/>
                    </p:nvCxnSpPr>
                    <p:spPr>
                      <a:xfrm>
                        <a:off x="4099404" y="2248234"/>
                        <a:ext cx="1864105" cy="0"/>
                      </a:xfrm>
                      <a:prstGeom prst="line">
                        <a:avLst/>
                      </a:prstGeom>
                      <a:ln>
                        <a:solidFill>
                          <a:srgbClr val="C00000">
                            <a:alpha val="50000"/>
                          </a:srgbClr>
                        </a:solidFill>
                      </a:ln>
                    </p:spPr>
                    <p:style>
                      <a:lnRef idx="1">
                        <a:schemeClr val="accent1"/>
                      </a:lnRef>
                      <a:fillRef idx="0">
                        <a:schemeClr val="accent1"/>
                      </a:fillRef>
                      <a:effectRef idx="0">
                        <a:schemeClr val="accent1"/>
                      </a:effectRef>
                      <a:fontRef idx="minor">
                        <a:schemeClr val="tx1"/>
                      </a:fontRef>
                    </p:style>
                  </p:cxnSp>
                </p:grpSp>
                <p:grpSp>
                  <p:nvGrpSpPr>
                    <p:cNvPr id="37" name="组合 36"/>
                    <p:cNvGrpSpPr/>
                    <p:nvPr/>
                  </p:nvGrpSpPr>
                  <p:grpSpPr>
                    <a:xfrm>
                      <a:off x="5405096" y="5364972"/>
                      <a:ext cx="4762502" cy="743701"/>
                      <a:chOff x="4700061" y="1987826"/>
                      <a:chExt cx="4762502" cy="743701"/>
                    </a:xfrm>
                  </p:grpSpPr>
                  <p:sp>
                    <p:nvSpPr>
                      <p:cNvPr id="38" name="矩形: 圆角 59"/>
                      <p:cNvSpPr/>
                      <p:nvPr/>
                    </p:nvSpPr>
                    <p:spPr>
                      <a:xfrm>
                        <a:off x="4700061" y="1987826"/>
                        <a:ext cx="4762499" cy="743701"/>
                      </a:xfrm>
                      <a:prstGeom prst="roundRect">
                        <a:avLst>
                          <a:gd name="adj" fmla="val 50000"/>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文本框 38"/>
                      <p:cNvSpPr txBox="1"/>
                      <p:nvPr/>
                    </p:nvSpPr>
                    <p:spPr>
                      <a:xfrm>
                        <a:off x="5584232" y="2060409"/>
                        <a:ext cx="3878331" cy="614129"/>
                      </a:xfrm>
                      <a:prstGeom prst="rect">
                        <a:avLst/>
                      </a:prstGeom>
                      <a:noFill/>
                      <a:ln>
                        <a:noFill/>
                      </a:ln>
                    </p:spPr>
                    <p:txBody>
                      <a:bodyPr wrap="square" lIns="91440" tIns="45720" rIns="91440" bIns="45720" anchor="ctr" anchorCtr="0">
                        <a:normAutofit fontScale="92500" lnSpcReduction="10000"/>
                      </a:bodyPr>
                      <a:lstStyle/>
                      <a:p>
                        <a:pPr>
                          <a:buSzPct val="25000"/>
                        </a:pPr>
                        <a:r>
                          <a:rPr lang="zh-CN" altLang="en-US" sz="1100" b="1" dirty="0">
                            <a:latin typeface="+mj-ea"/>
                            <a:ea typeface="+mj-ea"/>
                          </a:rPr>
                          <a:t>优惠适配的办公空间</a:t>
                        </a:r>
                        <a:endParaRPr lang="en-US" altLang="zh-CN" sz="1100" b="1" dirty="0">
                          <a:latin typeface="+mj-ea"/>
                          <a:ea typeface="+mj-ea"/>
                        </a:endParaRPr>
                      </a:p>
                    </p:txBody>
                  </p:sp>
                  <p:sp>
                    <p:nvSpPr>
                      <p:cNvPr id="40" name="椭圆 39"/>
                      <p:cNvSpPr/>
                      <p:nvPr/>
                    </p:nvSpPr>
                    <p:spPr>
                      <a:xfrm>
                        <a:off x="4873669" y="2060409"/>
                        <a:ext cx="598533" cy="598532"/>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sp>
                <p:nvSpPr>
                  <p:cNvPr id="35" name="任意多边形: 形状 56"/>
                  <p:cNvSpPr/>
                  <p:nvPr/>
                </p:nvSpPr>
                <p:spPr>
                  <a:xfrm>
                    <a:off x="5803593" y="5669532"/>
                    <a:ext cx="178001" cy="148188"/>
                  </a:xfrm>
                  <a:custGeom>
                    <a:avLst/>
                    <a:gdLst>
                      <a:gd name="connsiteX0" fmla="*/ 483573 w 526297"/>
                      <a:gd name="connsiteY0" fmla="*/ 133971 h 438150"/>
                      <a:gd name="connsiteX1" fmla="*/ 527674 w 526297"/>
                      <a:gd name="connsiteY1" fmla="*/ 178072 h 438150"/>
                      <a:gd name="connsiteX2" fmla="*/ 527579 w 526297"/>
                      <a:gd name="connsiteY2" fmla="*/ 181501 h 438150"/>
                      <a:gd name="connsiteX3" fmla="*/ 514244 w 526297"/>
                      <a:gd name="connsiteY3" fmla="*/ 355237 h 438150"/>
                      <a:gd name="connsiteX4" fmla="*/ 485764 w 526297"/>
                      <a:gd name="connsiteY4" fmla="*/ 381621 h 438150"/>
                      <a:gd name="connsiteX5" fmla="*/ 454998 w 526297"/>
                      <a:gd name="connsiteY5" fmla="*/ 381621 h 438150"/>
                      <a:gd name="connsiteX6" fmla="*/ 454998 w 526297"/>
                      <a:gd name="connsiteY6" fmla="*/ 438771 h 438150"/>
                      <a:gd name="connsiteX7" fmla="*/ 435948 w 526297"/>
                      <a:gd name="connsiteY7" fmla="*/ 438771 h 438150"/>
                      <a:gd name="connsiteX8" fmla="*/ 435948 w 526297"/>
                      <a:gd name="connsiteY8" fmla="*/ 381621 h 438150"/>
                      <a:gd name="connsiteX9" fmla="*/ 93048 w 526297"/>
                      <a:gd name="connsiteY9" fmla="*/ 381621 h 438150"/>
                      <a:gd name="connsiteX10" fmla="*/ 93048 w 526297"/>
                      <a:gd name="connsiteY10" fmla="*/ 438771 h 438150"/>
                      <a:gd name="connsiteX11" fmla="*/ 73998 w 526297"/>
                      <a:gd name="connsiteY11" fmla="*/ 438771 h 438150"/>
                      <a:gd name="connsiteX12" fmla="*/ 73998 w 526297"/>
                      <a:gd name="connsiteY12" fmla="*/ 381621 h 438150"/>
                      <a:gd name="connsiteX13" fmla="*/ 43328 w 526297"/>
                      <a:gd name="connsiteY13" fmla="*/ 381621 h 438150"/>
                      <a:gd name="connsiteX14" fmla="*/ 14848 w 526297"/>
                      <a:gd name="connsiteY14" fmla="*/ 355237 h 438150"/>
                      <a:gd name="connsiteX15" fmla="*/ 1513 w 526297"/>
                      <a:gd name="connsiteY15" fmla="*/ 181501 h 438150"/>
                      <a:gd name="connsiteX16" fmla="*/ 42089 w 526297"/>
                      <a:gd name="connsiteY16" fmla="*/ 134162 h 438150"/>
                      <a:gd name="connsiteX17" fmla="*/ 45518 w 526297"/>
                      <a:gd name="connsiteY17" fmla="*/ 134066 h 438150"/>
                      <a:gd name="connsiteX18" fmla="*/ 101906 w 526297"/>
                      <a:gd name="connsiteY18" fmla="*/ 180834 h 438150"/>
                      <a:gd name="connsiteX19" fmla="*/ 121623 w 526297"/>
                      <a:gd name="connsiteY19" fmla="*/ 286371 h 438150"/>
                      <a:gd name="connsiteX20" fmla="*/ 407373 w 526297"/>
                      <a:gd name="connsiteY20" fmla="*/ 286371 h 438150"/>
                      <a:gd name="connsiteX21" fmla="*/ 427185 w 526297"/>
                      <a:gd name="connsiteY21" fmla="*/ 180739 h 438150"/>
                      <a:gd name="connsiteX22" fmla="*/ 483573 w 526297"/>
                      <a:gd name="connsiteY22" fmla="*/ 133971 h 438150"/>
                      <a:gd name="connsiteX23" fmla="*/ 416898 w 526297"/>
                      <a:gd name="connsiteY23" fmla="*/ 621 h 438150"/>
                      <a:gd name="connsiteX24" fmla="*/ 483573 w 526297"/>
                      <a:gd name="connsiteY24" fmla="*/ 67296 h 438150"/>
                      <a:gd name="connsiteX25" fmla="*/ 483573 w 526297"/>
                      <a:gd name="connsiteY25" fmla="*/ 115397 h 438150"/>
                      <a:gd name="connsiteX26" fmla="*/ 476429 w 526297"/>
                      <a:gd name="connsiteY26" fmla="*/ 114921 h 438150"/>
                      <a:gd name="connsiteX27" fmla="*/ 412040 w 526297"/>
                      <a:gd name="connsiteY27" fmla="*/ 166451 h 438150"/>
                      <a:gd name="connsiteX28" fmla="*/ 411564 w 526297"/>
                      <a:gd name="connsiteY28" fmla="*/ 168737 h 438150"/>
                      <a:gd name="connsiteX29" fmla="*/ 393086 w 526297"/>
                      <a:gd name="connsiteY29" fmla="*/ 267321 h 438150"/>
                      <a:gd name="connsiteX30" fmla="*/ 135911 w 526297"/>
                      <a:gd name="connsiteY30" fmla="*/ 267321 h 438150"/>
                      <a:gd name="connsiteX31" fmla="*/ 117432 w 526297"/>
                      <a:gd name="connsiteY31" fmla="*/ 168737 h 438150"/>
                      <a:gd name="connsiteX32" fmla="*/ 52567 w 526297"/>
                      <a:gd name="connsiteY32" fmla="*/ 114921 h 438150"/>
                      <a:gd name="connsiteX33" fmla="*/ 54948 w 526297"/>
                      <a:gd name="connsiteY33" fmla="*/ 67296 h 438150"/>
                      <a:gd name="connsiteX34" fmla="*/ 121623 w 526297"/>
                      <a:gd name="connsiteY34" fmla="*/ 621 h 438150"/>
                      <a:gd name="connsiteX35" fmla="*/ 416898 w 526297"/>
                      <a:gd name="connsiteY35" fmla="*/ 621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6297" h="438150">
                        <a:moveTo>
                          <a:pt x="483573" y="133971"/>
                        </a:moveTo>
                        <a:cubicBezTo>
                          <a:pt x="507957" y="133971"/>
                          <a:pt x="527674" y="153688"/>
                          <a:pt x="527674" y="178072"/>
                        </a:cubicBezTo>
                        <a:cubicBezTo>
                          <a:pt x="527674" y="179215"/>
                          <a:pt x="527674" y="180358"/>
                          <a:pt x="527579" y="181501"/>
                        </a:cubicBezTo>
                        <a:lnTo>
                          <a:pt x="514244" y="355237"/>
                        </a:lnTo>
                        <a:cubicBezTo>
                          <a:pt x="513101" y="370096"/>
                          <a:pt x="500718" y="381621"/>
                          <a:pt x="485764" y="381621"/>
                        </a:cubicBezTo>
                        <a:lnTo>
                          <a:pt x="454998" y="381621"/>
                        </a:lnTo>
                        <a:lnTo>
                          <a:pt x="454998" y="438771"/>
                        </a:lnTo>
                        <a:lnTo>
                          <a:pt x="435948" y="438771"/>
                        </a:lnTo>
                        <a:lnTo>
                          <a:pt x="435948" y="381621"/>
                        </a:lnTo>
                        <a:lnTo>
                          <a:pt x="93048" y="381621"/>
                        </a:lnTo>
                        <a:lnTo>
                          <a:pt x="93048" y="438771"/>
                        </a:lnTo>
                        <a:lnTo>
                          <a:pt x="73998" y="438771"/>
                        </a:lnTo>
                        <a:lnTo>
                          <a:pt x="73998" y="381621"/>
                        </a:lnTo>
                        <a:lnTo>
                          <a:pt x="43328" y="381621"/>
                        </a:lnTo>
                        <a:cubicBezTo>
                          <a:pt x="28373" y="381621"/>
                          <a:pt x="15991" y="370096"/>
                          <a:pt x="14848" y="355237"/>
                        </a:cubicBezTo>
                        <a:lnTo>
                          <a:pt x="1513" y="181501"/>
                        </a:lnTo>
                        <a:cubicBezTo>
                          <a:pt x="-392" y="157212"/>
                          <a:pt x="17801" y="135971"/>
                          <a:pt x="42089" y="134162"/>
                        </a:cubicBezTo>
                        <a:cubicBezTo>
                          <a:pt x="43232" y="134066"/>
                          <a:pt x="44375" y="134066"/>
                          <a:pt x="45518" y="134066"/>
                        </a:cubicBezTo>
                        <a:cubicBezTo>
                          <a:pt x="73141" y="134066"/>
                          <a:pt x="96858" y="153688"/>
                          <a:pt x="101906" y="180834"/>
                        </a:cubicBezTo>
                        <a:lnTo>
                          <a:pt x="121623" y="286371"/>
                        </a:lnTo>
                        <a:lnTo>
                          <a:pt x="407373" y="286371"/>
                        </a:lnTo>
                        <a:lnTo>
                          <a:pt x="427185" y="180739"/>
                        </a:lnTo>
                        <a:cubicBezTo>
                          <a:pt x="432233" y="153592"/>
                          <a:pt x="455951" y="133971"/>
                          <a:pt x="483573" y="133971"/>
                        </a:cubicBezTo>
                        <a:close/>
                        <a:moveTo>
                          <a:pt x="416898" y="621"/>
                        </a:moveTo>
                        <a:cubicBezTo>
                          <a:pt x="453760" y="621"/>
                          <a:pt x="483573" y="30434"/>
                          <a:pt x="483573" y="67296"/>
                        </a:cubicBezTo>
                        <a:lnTo>
                          <a:pt x="483573" y="115397"/>
                        </a:lnTo>
                        <a:cubicBezTo>
                          <a:pt x="481192" y="115112"/>
                          <a:pt x="478811" y="114921"/>
                          <a:pt x="476429" y="114921"/>
                        </a:cubicBezTo>
                        <a:cubicBezTo>
                          <a:pt x="445473" y="114921"/>
                          <a:pt x="418803" y="136448"/>
                          <a:pt x="412040" y="166451"/>
                        </a:cubicBezTo>
                        <a:lnTo>
                          <a:pt x="411564" y="168737"/>
                        </a:lnTo>
                        <a:lnTo>
                          <a:pt x="393086" y="267321"/>
                        </a:lnTo>
                        <a:lnTo>
                          <a:pt x="135911" y="267321"/>
                        </a:lnTo>
                        <a:lnTo>
                          <a:pt x="117432" y="168737"/>
                        </a:lnTo>
                        <a:cubicBezTo>
                          <a:pt x="111622" y="137495"/>
                          <a:pt x="84285" y="114921"/>
                          <a:pt x="52567" y="114921"/>
                        </a:cubicBezTo>
                        <a:lnTo>
                          <a:pt x="54948" y="67296"/>
                        </a:lnTo>
                        <a:cubicBezTo>
                          <a:pt x="54948" y="30434"/>
                          <a:pt x="84761" y="621"/>
                          <a:pt x="121623" y="621"/>
                        </a:cubicBezTo>
                        <a:lnTo>
                          <a:pt x="416898" y="621"/>
                        </a:lnTo>
                        <a:close/>
                      </a:path>
                    </a:pathLst>
                  </a:custGeom>
                  <a:solidFill>
                    <a:srgbClr val="FFFFFF"/>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25000" lnSpcReduction="2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400"/>
                    <a:endParaRPr lang="zh-CN" altLang="en-US" sz="2000" b="1" dirty="0">
                      <a:solidFill>
                        <a:schemeClr val="bg1"/>
                      </a:solidFill>
                    </a:endParaRPr>
                  </a:p>
                </p:txBody>
              </p:sp>
            </p:grpSp>
            <p:sp>
              <p:nvSpPr>
                <p:cNvPr id="17" name="椭圆 16"/>
                <p:cNvSpPr/>
                <p:nvPr/>
              </p:nvSpPr>
              <p:spPr>
                <a:xfrm flipV="1">
                  <a:off x="2502616" y="2313388"/>
                  <a:ext cx="157582" cy="157520"/>
                </a:xfrm>
                <a:prstGeom prst="ellipse">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p:cNvSpPr/>
                <p:nvPr/>
              </p:nvSpPr>
              <p:spPr>
                <a:xfrm flipV="1">
                  <a:off x="2543047" y="2353803"/>
                  <a:ext cx="76720" cy="7669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圆角 114"/>
                <p:cNvSpPr/>
                <p:nvPr/>
              </p:nvSpPr>
              <p:spPr>
                <a:xfrm>
                  <a:off x="3131030" y="2228717"/>
                  <a:ext cx="2093985" cy="326863"/>
                </a:xfrm>
                <a:prstGeom prst="roundRect">
                  <a:avLst>
                    <a:gd name="adj" fmla="val 50000"/>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文本框 19"/>
                <p:cNvSpPr txBox="1"/>
                <p:nvPr/>
              </p:nvSpPr>
              <p:spPr>
                <a:xfrm>
                  <a:off x="3519784" y="2260618"/>
                  <a:ext cx="1705231" cy="269915"/>
                </a:xfrm>
                <a:prstGeom prst="rect">
                  <a:avLst/>
                </a:prstGeom>
                <a:noFill/>
                <a:ln>
                  <a:noFill/>
                </a:ln>
              </p:spPr>
              <p:txBody>
                <a:bodyPr wrap="square" lIns="91440" tIns="45720" rIns="91440" bIns="45720" anchor="ctr" anchorCtr="0">
                  <a:normAutofit fontScale="92500" lnSpcReduction="10000"/>
                </a:bodyPr>
                <a:lstStyle/>
                <a:p>
                  <a:pPr>
                    <a:buSzPct val="25000"/>
                  </a:pPr>
                  <a:r>
                    <a:rPr lang="zh-CN" altLang="en-US" sz="1100" b="1" dirty="0">
                      <a:latin typeface="+mj-ea"/>
                      <a:ea typeface="+mj-ea"/>
                    </a:rPr>
                    <a:t>量身定制的融资对接</a:t>
                  </a:r>
                  <a:endParaRPr lang="en-US" altLang="zh-CN" sz="1100" b="1" dirty="0">
                    <a:latin typeface="+mj-ea"/>
                    <a:ea typeface="+mj-ea"/>
                  </a:endParaRPr>
                </a:p>
              </p:txBody>
            </p:sp>
            <p:sp>
              <p:nvSpPr>
                <p:cNvPr id="21" name="椭圆 20"/>
                <p:cNvSpPr/>
                <p:nvPr/>
              </p:nvSpPr>
              <p:spPr>
                <a:xfrm>
                  <a:off x="3207362" y="2260618"/>
                  <a:ext cx="263164" cy="26306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2" name="椭圆 21"/>
                <p:cNvSpPr/>
                <p:nvPr/>
              </p:nvSpPr>
              <p:spPr>
                <a:xfrm flipV="1">
                  <a:off x="2506833" y="3209607"/>
                  <a:ext cx="157582" cy="157520"/>
                </a:xfrm>
                <a:prstGeom prst="ellipse">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p:cNvSpPr/>
                <p:nvPr/>
              </p:nvSpPr>
              <p:spPr>
                <a:xfrm flipV="1">
                  <a:off x="2547264" y="3250022"/>
                  <a:ext cx="76720" cy="7669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4" name="直接连接符 119"/>
                <p:cNvCxnSpPr/>
                <p:nvPr/>
              </p:nvCxnSpPr>
              <p:spPr>
                <a:xfrm>
                  <a:off x="2561157" y="3288092"/>
                  <a:ext cx="819609" cy="0"/>
                </a:xfrm>
                <a:prstGeom prst="line">
                  <a:avLst/>
                </a:prstGeom>
                <a:ln>
                  <a:solidFill>
                    <a:srgbClr val="C00000">
                      <a:alpha val="50000"/>
                    </a:srgbClr>
                  </a:solidFill>
                </a:ln>
              </p:spPr>
              <p:style>
                <a:lnRef idx="1">
                  <a:schemeClr val="accent1"/>
                </a:lnRef>
                <a:fillRef idx="0">
                  <a:schemeClr val="accent1"/>
                </a:fillRef>
                <a:effectRef idx="0">
                  <a:schemeClr val="accent1"/>
                </a:effectRef>
                <a:fontRef idx="minor">
                  <a:schemeClr val="tx1"/>
                </a:fontRef>
              </p:style>
            </p:cxnSp>
            <p:sp>
              <p:nvSpPr>
                <p:cNvPr id="25" name="矩形: 圆角 120"/>
                <p:cNvSpPr/>
                <p:nvPr/>
              </p:nvSpPr>
              <p:spPr>
                <a:xfrm>
                  <a:off x="3135247" y="3124936"/>
                  <a:ext cx="2093985" cy="326863"/>
                </a:xfrm>
                <a:prstGeom prst="roundRect">
                  <a:avLst>
                    <a:gd name="adj" fmla="val 50000"/>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p:cNvSpPr txBox="1"/>
                <p:nvPr/>
              </p:nvSpPr>
              <p:spPr>
                <a:xfrm>
                  <a:off x="3524001" y="3156837"/>
                  <a:ext cx="1705231" cy="269915"/>
                </a:xfrm>
                <a:prstGeom prst="rect">
                  <a:avLst/>
                </a:prstGeom>
                <a:noFill/>
                <a:ln>
                  <a:noFill/>
                </a:ln>
              </p:spPr>
              <p:txBody>
                <a:bodyPr wrap="square" lIns="91440" tIns="45720" rIns="91440" bIns="45720" anchor="ctr" anchorCtr="0">
                  <a:normAutofit fontScale="92500" lnSpcReduction="10000"/>
                </a:bodyPr>
                <a:lstStyle/>
                <a:p>
                  <a:pPr>
                    <a:buSzPct val="25000"/>
                  </a:pPr>
                  <a:r>
                    <a:rPr lang="zh-CN" altLang="en-US" sz="1100" b="1" dirty="0">
                      <a:latin typeface="+mj-ea"/>
                      <a:ea typeface="+mj-ea"/>
                    </a:rPr>
                    <a:t>数智驱动的市场拓展</a:t>
                  </a:r>
                  <a:endParaRPr lang="en-US" altLang="zh-CN" sz="1100" b="1" dirty="0">
                    <a:latin typeface="+mj-ea"/>
                    <a:ea typeface="+mj-ea"/>
                  </a:endParaRPr>
                </a:p>
              </p:txBody>
            </p:sp>
            <p:sp>
              <p:nvSpPr>
                <p:cNvPr id="27" name="椭圆 26"/>
                <p:cNvSpPr/>
                <p:nvPr/>
              </p:nvSpPr>
              <p:spPr>
                <a:xfrm>
                  <a:off x="3211579" y="3156837"/>
                  <a:ext cx="263164" cy="26306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14" name="任意多边形: 形状 126"/>
              <p:cNvSpPr/>
              <p:nvPr/>
            </p:nvSpPr>
            <p:spPr>
              <a:xfrm>
                <a:off x="3300227" y="2358544"/>
                <a:ext cx="80023" cy="73049"/>
              </a:xfrm>
              <a:custGeom>
                <a:avLst/>
                <a:gdLst>
                  <a:gd name="connsiteX0" fmla="*/ 486767 w 514350"/>
                  <a:gd name="connsiteY0" fmla="*/ 621 h 409575"/>
                  <a:gd name="connsiteX1" fmla="*/ 515342 w 514350"/>
                  <a:gd name="connsiteY1" fmla="*/ 29196 h 409575"/>
                  <a:gd name="connsiteX2" fmla="*/ 515342 w 514350"/>
                  <a:gd name="connsiteY2" fmla="*/ 324471 h 409575"/>
                  <a:gd name="connsiteX3" fmla="*/ 486767 w 514350"/>
                  <a:gd name="connsiteY3" fmla="*/ 353046 h 409575"/>
                  <a:gd name="connsiteX4" fmla="*/ 192159 w 514350"/>
                  <a:gd name="connsiteY4" fmla="*/ 353046 h 409575"/>
                  <a:gd name="connsiteX5" fmla="*/ 115387 w 514350"/>
                  <a:gd name="connsiteY5" fmla="*/ 410196 h 409575"/>
                  <a:gd name="connsiteX6" fmla="*/ 115387 w 514350"/>
                  <a:gd name="connsiteY6" fmla="*/ 353046 h 409575"/>
                  <a:gd name="connsiteX7" fmla="*/ 29567 w 514350"/>
                  <a:gd name="connsiteY7" fmla="*/ 353046 h 409575"/>
                  <a:gd name="connsiteX8" fmla="*/ 992 w 514350"/>
                  <a:gd name="connsiteY8" fmla="*/ 324471 h 409575"/>
                  <a:gd name="connsiteX9" fmla="*/ 992 w 514350"/>
                  <a:gd name="connsiteY9" fmla="*/ 29196 h 409575"/>
                  <a:gd name="connsiteX10" fmla="*/ 29567 w 514350"/>
                  <a:gd name="connsiteY10" fmla="*/ 621 h 409575"/>
                  <a:gd name="connsiteX11" fmla="*/ 486767 w 514350"/>
                  <a:gd name="connsiteY11" fmla="*/ 621 h 409575"/>
                  <a:gd name="connsiteX12" fmla="*/ 124817 w 514350"/>
                  <a:gd name="connsiteY12" fmla="*/ 143496 h 409575"/>
                  <a:gd name="connsiteX13" fmla="*/ 91480 w 514350"/>
                  <a:gd name="connsiteY13" fmla="*/ 176834 h 409575"/>
                  <a:gd name="connsiteX14" fmla="*/ 124817 w 514350"/>
                  <a:gd name="connsiteY14" fmla="*/ 210171 h 409575"/>
                  <a:gd name="connsiteX15" fmla="*/ 158155 w 514350"/>
                  <a:gd name="connsiteY15" fmla="*/ 176834 h 409575"/>
                  <a:gd name="connsiteX16" fmla="*/ 124817 w 514350"/>
                  <a:gd name="connsiteY16" fmla="*/ 143496 h 409575"/>
                  <a:gd name="connsiteX17" fmla="*/ 258167 w 514350"/>
                  <a:gd name="connsiteY17" fmla="*/ 143496 h 409575"/>
                  <a:gd name="connsiteX18" fmla="*/ 224830 w 514350"/>
                  <a:gd name="connsiteY18" fmla="*/ 176834 h 409575"/>
                  <a:gd name="connsiteX19" fmla="*/ 258167 w 514350"/>
                  <a:gd name="connsiteY19" fmla="*/ 210171 h 409575"/>
                  <a:gd name="connsiteX20" fmla="*/ 291505 w 514350"/>
                  <a:gd name="connsiteY20" fmla="*/ 176834 h 409575"/>
                  <a:gd name="connsiteX21" fmla="*/ 258167 w 514350"/>
                  <a:gd name="connsiteY21" fmla="*/ 143496 h 409575"/>
                  <a:gd name="connsiteX22" fmla="*/ 391517 w 514350"/>
                  <a:gd name="connsiteY22" fmla="*/ 143496 h 409575"/>
                  <a:gd name="connsiteX23" fmla="*/ 358180 w 514350"/>
                  <a:gd name="connsiteY23" fmla="*/ 176834 h 409575"/>
                  <a:gd name="connsiteX24" fmla="*/ 391517 w 514350"/>
                  <a:gd name="connsiteY24" fmla="*/ 210171 h 409575"/>
                  <a:gd name="connsiteX25" fmla="*/ 424855 w 514350"/>
                  <a:gd name="connsiteY25" fmla="*/ 176834 h 409575"/>
                  <a:gd name="connsiteX26" fmla="*/ 391517 w 514350"/>
                  <a:gd name="connsiteY26" fmla="*/ 14349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4350" h="409575">
                    <a:moveTo>
                      <a:pt x="486767" y="621"/>
                    </a:moveTo>
                    <a:cubicBezTo>
                      <a:pt x="502579" y="621"/>
                      <a:pt x="515342" y="13385"/>
                      <a:pt x="515342" y="29196"/>
                    </a:cubicBezTo>
                    <a:lnTo>
                      <a:pt x="515342" y="324471"/>
                    </a:lnTo>
                    <a:cubicBezTo>
                      <a:pt x="515342" y="340282"/>
                      <a:pt x="502579" y="353046"/>
                      <a:pt x="486767" y="353046"/>
                    </a:cubicBezTo>
                    <a:lnTo>
                      <a:pt x="192159" y="353046"/>
                    </a:lnTo>
                    <a:lnTo>
                      <a:pt x="115387" y="410196"/>
                    </a:lnTo>
                    <a:lnTo>
                      <a:pt x="115387" y="353046"/>
                    </a:lnTo>
                    <a:lnTo>
                      <a:pt x="29567" y="353046"/>
                    </a:lnTo>
                    <a:cubicBezTo>
                      <a:pt x="13755" y="353046"/>
                      <a:pt x="992" y="340282"/>
                      <a:pt x="992" y="324471"/>
                    </a:cubicBezTo>
                    <a:lnTo>
                      <a:pt x="992" y="29196"/>
                    </a:lnTo>
                    <a:cubicBezTo>
                      <a:pt x="992" y="13385"/>
                      <a:pt x="13755" y="621"/>
                      <a:pt x="29567" y="621"/>
                    </a:cubicBezTo>
                    <a:lnTo>
                      <a:pt x="486767" y="621"/>
                    </a:lnTo>
                    <a:close/>
                    <a:moveTo>
                      <a:pt x="124817" y="143496"/>
                    </a:moveTo>
                    <a:cubicBezTo>
                      <a:pt x="106434" y="143496"/>
                      <a:pt x="91480" y="158450"/>
                      <a:pt x="91480" y="176834"/>
                    </a:cubicBezTo>
                    <a:cubicBezTo>
                      <a:pt x="91480" y="195217"/>
                      <a:pt x="106434" y="210171"/>
                      <a:pt x="124817" y="210171"/>
                    </a:cubicBezTo>
                    <a:cubicBezTo>
                      <a:pt x="143200" y="210171"/>
                      <a:pt x="158155" y="195217"/>
                      <a:pt x="158155" y="176834"/>
                    </a:cubicBezTo>
                    <a:cubicBezTo>
                      <a:pt x="158155" y="158450"/>
                      <a:pt x="143200" y="143496"/>
                      <a:pt x="124817" y="143496"/>
                    </a:cubicBezTo>
                    <a:close/>
                    <a:moveTo>
                      <a:pt x="258167" y="143496"/>
                    </a:moveTo>
                    <a:cubicBezTo>
                      <a:pt x="239784" y="143496"/>
                      <a:pt x="224830" y="158450"/>
                      <a:pt x="224830" y="176834"/>
                    </a:cubicBezTo>
                    <a:cubicBezTo>
                      <a:pt x="224830" y="195217"/>
                      <a:pt x="239784" y="210171"/>
                      <a:pt x="258167" y="210171"/>
                    </a:cubicBezTo>
                    <a:cubicBezTo>
                      <a:pt x="276550" y="210171"/>
                      <a:pt x="291505" y="195217"/>
                      <a:pt x="291505" y="176834"/>
                    </a:cubicBezTo>
                    <a:cubicBezTo>
                      <a:pt x="291505" y="158450"/>
                      <a:pt x="276550" y="143496"/>
                      <a:pt x="258167" y="143496"/>
                    </a:cubicBezTo>
                    <a:close/>
                    <a:moveTo>
                      <a:pt x="391517" y="143496"/>
                    </a:moveTo>
                    <a:cubicBezTo>
                      <a:pt x="373134" y="143496"/>
                      <a:pt x="358180" y="158450"/>
                      <a:pt x="358180" y="176834"/>
                    </a:cubicBezTo>
                    <a:cubicBezTo>
                      <a:pt x="358180" y="195217"/>
                      <a:pt x="373134" y="210171"/>
                      <a:pt x="391517" y="210171"/>
                    </a:cubicBezTo>
                    <a:cubicBezTo>
                      <a:pt x="409900" y="210171"/>
                      <a:pt x="424855" y="195217"/>
                      <a:pt x="424855" y="176834"/>
                    </a:cubicBezTo>
                    <a:cubicBezTo>
                      <a:pt x="424855" y="158450"/>
                      <a:pt x="409900" y="143496"/>
                      <a:pt x="391517" y="143496"/>
                    </a:cubicBezTo>
                    <a:close/>
                  </a:path>
                </a:pathLst>
              </a:custGeom>
              <a:solidFill>
                <a:srgbClr val="FFFFFF"/>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25000" lnSpcReduction="2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400"/>
                <a:endParaRPr lang="zh-CN" altLang="en-US" sz="2000" b="1" dirty="0">
                  <a:solidFill>
                    <a:schemeClr val="bg1"/>
                  </a:solidFill>
                </a:endParaRPr>
              </a:p>
            </p:txBody>
          </p:sp>
          <p:sp>
            <p:nvSpPr>
              <p:cNvPr id="15" name="任意多边形: 形状 2051"/>
              <p:cNvSpPr/>
              <p:nvPr/>
            </p:nvSpPr>
            <p:spPr>
              <a:xfrm>
                <a:off x="3295479" y="3251473"/>
                <a:ext cx="95442" cy="73124"/>
              </a:xfrm>
              <a:custGeom>
                <a:avLst/>
                <a:gdLst>
                  <a:gd name="connsiteX0" fmla="*/ 343764 w 533400"/>
                  <a:gd name="connsiteY0" fmla="*/ 276846 h 523875"/>
                  <a:gd name="connsiteX1" fmla="*/ 372339 w 533400"/>
                  <a:gd name="connsiteY1" fmla="*/ 305421 h 523875"/>
                  <a:gd name="connsiteX2" fmla="*/ 372339 w 533400"/>
                  <a:gd name="connsiteY2" fmla="*/ 495921 h 523875"/>
                  <a:gd name="connsiteX3" fmla="*/ 343764 w 533400"/>
                  <a:gd name="connsiteY3" fmla="*/ 524496 h 523875"/>
                  <a:gd name="connsiteX4" fmla="*/ 191364 w 533400"/>
                  <a:gd name="connsiteY4" fmla="*/ 524496 h 523875"/>
                  <a:gd name="connsiteX5" fmla="*/ 162789 w 533400"/>
                  <a:gd name="connsiteY5" fmla="*/ 495921 h 523875"/>
                  <a:gd name="connsiteX6" fmla="*/ 162789 w 533400"/>
                  <a:gd name="connsiteY6" fmla="*/ 305421 h 523875"/>
                  <a:gd name="connsiteX7" fmla="*/ 191364 w 533400"/>
                  <a:gd name="connsiteY7" fmla="*/ 276846 h 523875"/>
                  <a:gd name="connsiteX8" fmla="*/ 343764 w 533400"/>
                  <a:gd name="connsiteY8" fmla="*/ 276846 h 523875"/>
                  <a:gd name="connsiteX9" fmla="*/ 143739 w 533400"/>
                  <a:gd name="connsiteY9" fmla="*/ 114921 h 523875"/>
                  <a:gd name="connsiteX10" fmla="*/ 179934 w 533400"/>
                  <a:gd name="connsiteY10" fmla="*/ 153021 h 523875"/>
                  <a:gd name="connsiteX11" fmla="*/ 181839 w 533400"/>
                  <a:gd name="connsiteY11" fmla="*/ 153021 h 523875"/>
                  <a:gd name="connsiteX12" fmla="*/ 353289 w 533400"/>
                  <a:gd name="connsiteY12" fmla="*/ 153021 h 523875"/>
                  <a:gd name="connsiteX13" fmla="*/ 391389 w 533400"/>
                  <a:gd name="connsiteY13" fmla="*/ 116826 h 523875"/>
                  <a:gd name="connsiteX14" fmla="*/ 391389 w 533400"/>
                  <a:gd name="connsiteY14" fmla="*/ 114921 h 523875"/>
                  <a:gd name="connsiteX15" fmla="*/ 505689 w 533400"/>
                  <a:gd name="connsiteY15" fmla="*/ 114921 h 523875"/>
                  <a:gd name="connsiteX16" fmla="*/ 534264 w 533400"/>
                  <a:gd name="connsiteY16" fmla="*/ 143496 h 523875"/>
                  <a:gd name="connsiteX17" fmla="*/ 534264 w 533400"/>
                  <a:gd name="connsiteY17" fmla="*/ 381621 h 523875"/>
                  <a:gd name="connsiteX18" fmla="*/ 505689 w 533400"/>
                  <a:gd name="connsiteY18" fmla="*/ 410196 h 523875"/>
                  <a:gd name="connsiteX19" fmla="*/ 391389 w 533400"/>
                  <a:gd name="connsiteY19" fmla="*/ 410196 h 523875"/>
                  <a:gd name="connsiteX20" fmla="*/ 391389 w 533400"/>
                  <a:gd name="connsiteY20" fmla="*/ 295896 h 523875"/>
                  <a:gd name="connsiteX21" fmla="*/ 355194 w 533400"/>
                  <a:gd name="connsiteY21" fmla="*/ 257796 h 523875"/>
                  <a:gd name="connsiteX22" fmla="*/ 353289 w 533400"/>
                  <a:gd name="connsiteY22" fmla="*/ 257796 h 523875"/>
                  <a:gd name="connsiteX23" fmla="*/ 181839 w 533400"/>
                  <a:gd name="connsiteY23" fmla="*/ 257796 h 523875"/>
                  <a:gd name="connsiteX24" fmla="*/ 143739 w 533400"/>
                  <a:gd name="connsiteY24" fmla="*/ 293991 h 523875"/>
                  <a:gd name="connsiteX25" fmla="*/ 143739 w 533400"/>
                  <a:gd name="connsiteY25" fmla="*/ 295896 h 523875"/>
                  <a:gd name="connsiteX26" fmla="*/ 143739 w 533400"/>
                  <a:gd name="connsiteY26" fmla="*/ 410196 h 523875"/>
                  <a:gd name="connsiteX27" fmla="*/ 29439 w 533400"/>
                  <a:gd name="connsiteY27" fmla="*/ 410196 h 523875"/>
                  <a:gd name="connsiteX28" fmla="*/ 864 w 533400"/>
                  <a:gd name="connsiteY28" fmla="*/ 381621 h 523875"/>
                  <a:gd name="connsiteX29" fmla="*/ 864 w 533400"/>
                  <a:gd name="connsiteY29" fmla="*/ 201408 h 523875"/>
                  <a:gd name="connsiteX30" fmla="*/ 11151 w 533400"/>
                  <a:gd name="connsiteY30" fmla="*/ 175405 h 523875"/>
                  <a:gd name="connsiteX31" fmla="*/ 56300 w 533400"/>
                  <a:gd name="connsiteY31" fmla="*/ 127018 h 523875"/>
                  <a:gd name="connsiteX32" fmla="*/ 84112 w 533400"/>
                  <a:gd name="connsiteY32" fmla="*/ 114921 h 523875"/>
                  <a:gd name="connsiteX33" fmla="*/ 143739 w 533400"/>
                  <a:gd name="connsiteY33" fmla="*/ 114921 h 523875"/>
                  <a:gd name="connsiteX34" fmla="*/ 462827 w 533400"/>
                  <a:gd name="connsiteY34" fmla="*/ 172071 h 523875"/>
                  <a:gd name="connsiteX35" fmla="*/ 448539 w 533400"/>
                  <a:gd name="connsiteY35" fmla="*/ 186359 h 523875"/>
                  <a:gd name="connsiteX36" fmla="*/ 462827 w 533400"/>
                  <a:gd name="connsiteY36" fmla="*/ 200646 h 523875"/>
                  <a:gd name="connsiteX37" fmla="*/ 477114 w 533400"/>
                  <a:gd name="connsiteY37" fmla="*/ 186359 h 523875"/>
                  <a:gd name="connsiteX38" fmla="*/ 462827 w 533400"/>
                  <a:gd name="connsiteY38" fmla="*/ 172071 h 523875"/>
                  <a:gd name="connsiteX39" fmla="*/ 343764 w 533400"/>
                  <a:gd name="connsiteY39" fmla="*/ 621 h 523875"/>
                  <a:gd name="connsiteX40" fmla="*/ 372339 w 533400"/>
                  <a:gd name="connsiteY40" fmla="*/ 29196 h 523875"/>
                  <a:gd name="connsiteX41" fmla="*/ 372339 w 533400"/>
                  <a:gd name="connsiteY41" fmla="*/ 105396 h 523875"/>
                  <a:gd name="connsiteX42" fmla="*/ 343764 w 533400"/>
                  <a:gd name="connsiteY42" fmla="*/ 133971 h 523875"/>
                  <a:gd name="connsiteX43" fmla="*/ 191364 w 533400"/>
                  <a:gd name="connsiteY43" fmla="*/ 133971 h 523875"/>
                  <a:gd name="connsiteX44" fmla="*/ 162789 w 533400"/>
                  <a:gd name="connsiteY44" fmla="*/ 105396 h 523875"/>
                  <a:gd name="connsiteX45" fmla="*/ 162789 w 533400"/>
                  <a:gd name="connsiteY45" fmla="*/ 29196 h 523875"/>
                  <a:gd name="connsiteX46" fmla="*/ 191364 w 533400"/>
                  <a:gd name="connsiteY46" fmla="*/ 621 h 523875"/>
                  <a:gd name="connsiteX47" fmla="*/ 343764 w 533400"/>
                  <a:gd name="connsiteY47" fmla="*/ 621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33400" h="523875">
                    <a:moveTo>
                      <a:pt x="343764" y="276846"/>
                    </a:moveTo>
                    <a:cubicBezTo>
                      <a:pt x="359576" y="276846"/>
                      <a:pt x="372339" y="289610"/>
                      <a:pt x="372339" y="305421"/>
                    </a:cubicBezTo>
                    <a:lnTo>
                      <a:pt x="372339" y="495921"/>
                    </a:lnTo>
                    <a:cubicBezTo>
                      <a:pt x="372339" y="511732"/>
                      <a:pt x="359576" y="524496"/>
                      <a:pt x="343764" y="524496"/>
                    </a:cubicBezTo>
                    <a:lnTo>
                      <a:pt x="191364" y="524496"/>
                    </a:lnTo>
                    <a:cubicBezTo>
                      <a:pt x="175552" y="524496"/>
                      <a:pt x="162789" y="511732"/>
                      <a:pt x="162789" y="495921"/>
                    </a:cubicBezTo>
                    <a:lnTo>
                      <a:pt x="162789" y="305421"/>
                    </a:lnTo>
                    <a:cubicBezTo>
                      <a:pt x="162789" y="289610"/>
                      <a:pt x="175552" y="276846"/>
                      <a:pt x="191364" y="276846"/>
                    </a:cubicBezTo>
                    <a:lnTo>
                      <a:pt x="343764" y="276846"/>
                    </a:lnTo>
                    <a:close/>
                    <a:moveTo>
                      <a:pt x="143739" y="114921"/>
                    </a:moveTo>
                    <a:cubicBezTo>
                      <a:pt x="143739" y="135305"/>
                      <a:pt x="159741" y="151973"/>
                      <a:pt x="179934" y="153021"/>
                    </a:cubicBezTo>
                    <a:lnTo>
                      <a:pt x="181839" y="153021"/>
                    </a:lnTo>
                    <a:lnTo>
                      <a:pt x="353289" y="153021"/>
                    </a:lnTo>
                    <a:cubicBezTo>
                      <a:pt x="373673" y="153021"/>
                      <a:pt x="390341" y="137019"/>
                      <a:pt x="391389" y="116826"/>
                    </a:cubicBezTo>
                    <a:lnTo>
                      <a:pt x="391389" y="114921"/>
                    </a:lnTo>
                    <a:lnTo>
                      <a:pt x="505689" y="114921"/>
                    </a:lnTo>
                    <a:cubicBezTo>
                      <a:pt x="521501" y="114921"/>
                      <a:pt x="534264" y="127685"/>
                      <a:pt x="534264" y="143496"/>
                    </a:cubicBezTo>
                    <a:lnTo>
                      <a:pt x="534264" y="381621"/>
                    </a:lnTo>
                    <a:cubicBezTo>
                      <a:pt x="534264" y="397432"/>
                      <a:pt x="521501" y="410196"/>
                      <a:pt x="505689" y="410196"/>
                    </a:cubicBezTo>
                    <a:lnTo>
                      <a:pt x="391389" y="410196"/>
                    </a:lnTo>
                    <a:lnTo>
                      <a:pt x="391389" y="295896"/>
                    </a:lnTo>
                    <a:cubicBezTo>
                      <a:pt x="391389" y="275512"/>
                      <a:pt x="375387" y="258844"/>
                      <a:pt x="355194" y="257796"/>
                    </a:cubicBezTo>
                    <a:lnTo>
                      <a:pt x="353289" y="257796"/>
                    </a:lnTo>
                    <a:lnTo>
                      <a:pt x="181839" y="257796"/>
                    </a:lnTo>
                    <a:cubicBezTo>
                      <a:pt x="161455" y="257796"/>
                      <a:pt x="144787" y="273798"/>
                      <a:pt x="143739" y="293991"/>
                    </a:cubicBezTo>
                    <a:lnTo>
                      <a:pt x="143739" y="295896"/>
                    </a:lnTo>
                    <a:lnTo>
                      <a:pt x="143739" y="410196"/>
                    </a:lnTo>
                    <a:lnTo>
                      <a:pt x="29439" y="410196"/>
                    </a:lnTo>
                    <a:cubicBezTo>
                      <a:pt x="13627" y="410196"/>
                      <a:pt x="864" y="397432"/>
                      <a:pt x="864" y="381621"/>
                    </a:cubicBezTo>
                    <a:lnTo>
                      <a:pt x="864" y="201408"/>
                    </a:lnTo>
                    <a:cubicBezTo>
                      <a:pt x="864" y="191788"/>
                      <a:pt x="4484" y="182454"/>
                      <a:pt x="11151" y="175405"/>
                    </a:cubicBezTo>
                    <a:lnTo>
                      <a:pt x="56300" y="127018"/>
                    </a:lnTo>
                    <a:cubicBezTo>
                      <a:pt x="63538" y="119303"/>
                      <a:pt x="73635" y="114921"/>
                      <a:pt x="84112" y="114921"/>
                    </a:cubicBezTo>
                    <a:lnTo>
                      <a:pt x="143739" y="114921"/>
                    </a:lnTo>
                    <a:close/>
                    <a:moveTo>
                      <a:pt x="462827" y="172071"/>
                    </a:moveTo>
                    <a:cubicBezTo>
                      <a:pt x="454921" y="172071"/>
                      <a:pt x="448539" y="178453"/>
                      <a:pt x="448539" y="186359"/>
                    </a:cubicBezTo>
                    <a:cubicBezTo>
                      <a:pt x="448539" y="194264"/>
                      <a:pt x="454921" y="200646"/>
                      <a:pt x="462827" y="200646"/>
                    </a:cubicBezTo>
                    <a:cubicBezTo>
                      <a:pt x="470732" y="200646"/>
                      <a:pt x="477114" y="194264"/>
                      <a:pt x="477114" y="186359"/>
                    </a:cubicBezTo>
                    <a:cubicBezTo>
                      <a:pt x="477114" y="178453"/>
                      <a:pt x="470732" y="172071"/>
                      <a:pt x="462827" y="172071"/>
                    </a:cubicBezTo>
                    <a:close/>
                    <a:moveTo>
                      <a:pt x="343764" y="621"/>
                    </a:moveTo>
                    <a:cubicBezTo>
                      <a:pt x="359576" y="621"/>
                      <a:pt x="372339" y="13385"/>
                      <a:pt x="372339" y="29196"/>
                    </a:cubicBezTo>
                    <a:lnTo>
                      <a:pt x="372339" y="105396"/>
                    </a:lnTo>
                    <a:cubicBezTo>
                      <a:pt x="372339" y="121207"/>
                      <a:pt x="359576" y="133971"/>
                      <a:pt x="343764" y="133971"/>
                    </a:cubicBezTo>
                    <a:lnTo>
                      <a:pt x="191364" y="133971"/>
                    </a:lnTo>
                    <a:cubicBezTo>
                      <a:pt x="175552" y="133971"/>
                      <a:pt x="162789" y="121207"/>
                      <a:pt x="162789" y="105396"/>
                    </a:cubicBezTo>
                    <a:lnTo>
                      <a:pt x="162789" y="29196"/>
                    </a:lnTo>
                    <a:cubicBezTo>
                      <a:pt x="162789" y="13385"/>
                      <a:pt x="175552" y="621"/>
                      <a:pt x="191364" y="621"/>
                    </a:cubicBezTo>
                    <a:lnTo>
                      <a:pt x="343764" y="621"/>
                    </a:lnTo>
                    <a:close/>
                  </a:path>
                </a:pathLst>
              </a:custGeom>
              <a:solidFill>
                <a:srgbClr val="FFFFFF"/>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fontScale="25000" lnSpcReduction="2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ctr" defTabSz="914400"/>
                <a:endParaRPr lang="zh-CN" altLang="en-US" sz="2000" b="1" dirty="0">
                  <a:solidFill>
                    <a:schemeClr val="bg1"/>
                  </a:solidFill>
                </a:endParaRPr>
              </a:p>
            </p:txBody>
          </p:sp>
        </p:grpSp>
      </p:grpSp>
      <p:sp>
        <p:nvSpPr>
          <p:cNvPr id="68" name="矩形 67"/>
          <p:cNvSpPr/>
          <p:nvPr/>
        </p:nvSpPr>
        <p:spPr>
          <a:xfrm>
            <a:off x="5101208" y="1793731"/>
            <a:ext cx="4032448" cy="598064"/>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200" b="1" dirty="0">
                <a:latin typeface="微软雅黑" panose="020B0503020204020204" pitchFamily="34" charset="-122"/>
              </a:rPr>
              <a:t>以</a:t>
            </a:r>
            <a:r>
              <a:rPr lang="zh-CN" altLang="en-US" sz="1200" b="1" dirty="0" smtClean="0">
                <a:latin typeface="微软雅黑" panose="020B0503020204020204" pitchFamily="34" charset="-122"/>
              </a:rPr>
              <a:t>产业资本</a:t>
            </a:r>
            <a:r>
              <a:rPr lang="zh-CN" altLang="en-US" sz="1200" b="1" dirty="0">
                <a:latin typeface="微软雅黑" panose="020B0503020204020204" pitchFamily="34" charset="-122"/>
              </a:rPr>
              <a:t>赋</a:t>
            </a:r>
            <a:r>
              <a:rPr lang="zh-CN" altLang="en-US" sz="1200" b="1" dirty="0" smtClean="0">
                <a:latin typeface="微软雅黑" panose="020B0503020204020204" pitchFamily="34" charset="-122"/>
              </a:rPr>
              <a:t>能投</a:t>
            </a:r>
            <a:r>
              <a:rPr lang="zh-CN" altLang="en-US" sz="1200" b="1" dirty="0">
                <a:latin typeface="微软雅黑" panose="020B0503020204020204" pitchFamily="34" charset="-122"/>
              </a:rPr>
              <a:t>融资服务</a:t>
            </a:r>
            <a:r>
              <a:rPr lang="zh-CN" altLang="en-US" sz="1200" dirty="0">
                <a:latin typeface="微软雅黑" panose="020B0503020204020204" pitchFamily="34" charset="-122"/>
              </a:rPr>
              <a:t>，吸引优质的项目</a:t>
            </a:r>
            <a:r>
              <a:rPr lang="zh-CN" altLang="en-US" sz="1200" dirty="0" smtClean="0">
                <a:latin typeface="微软雅黑" panose="020B0503020204020204" pitchFamily="34" charset="-122"/>
              </a:rPr>
              <a:t>入驻</a:t>
            </a:r>
            <a:r>
              <a:rPr lang="en-US" altLang="zh-CN" sz="1200" dirty="0" smtClean="0">
                <a:latin typeface="微软雅黑" panose="020B0503020204020204" pitchFamily="34" charset="-122"/>
              </a:rPr>
              <a:t>;</a:t>
            </a:r>
            <a:endParaRPr lang="en-US" altLang="zh-CN" sz="1200" dirty="0" smtClean="0">
              <a:latin typeface="微软雅黑" panose="020B0503020204020204" pitchFamily="34" charset="-122"/>
            </a:endParaRPr>
          </a:p>
          <a:p>
            <a:pPr algn="ctr"/>
            <a:r>
              <a:rPr lang="zh-CN" altLang="en-US" sz="1200" b="1" dirty="0" smtClean="0">
                <a:latin typeface="微软雅黑" panose="020B0503020204020204" pitchFamily="34" charset="-122"/>
              </a:rPr>
              <a:t>经营</a:t>
            </a:r>
            <a:r>
              <a:rPr lang="zh-CN" altLang="en-US" sz="1200" b="1" dirty="0">
                <a:latin typeface="微软雅黑" panose="020B0503020204020204" pitchFamily="34" charset="-122"/>
              </a:rPr>
              <a:t>策略灵活</a:t>
            </a:r>
            <a:r>
              <a:rPr lang="zh-CN" altLang="en-US" sz="1200" b="1" dirty="0" smtClean="0">
                <a:latin typeface="微软雅黑" panose="020B0503020204020204" pitchFamily="34" charset="-122"/>
              </a:rPr>
              <a:t>弹性</a:t>
            </a:r>
            <a:r>
              <a:rPr lang="zh-CN" altLang="en-US" sz="1200" dirty="0" smtClean="0">
                <a:latin typeface="微软雅黑" panose="020B0503020204020204" pitchFamily="34" charset="-122"/>
              </a:rPr>
              <a:t>，稳商留商，确保</a:t>
            </a:r>
            <a:r>
              <a:rPr lang="zh-CN" altLang="en-US" sz="1200" dirty="0">
                <a:latin typeface="微软雅黑" panose="020B0503020204020204" pitchFamily="34" charset="-122"/>
              </a:rPr>
              <a:t>整体</a:t>
            </a:r>
            <a:r>
              <a:rPr lang="zh-CN" altLang="en-US" sz="1200" dirty="0" smtClean="0">
                <a:latin typeface="微软雅黑" panose="020B0503020204020204" pitchFamily="34" charset="-122"/>
              </a:rPr>
              <a:t>经营稳定</a:t>
            </a:r>
            <a:r>
              <a:rPr lang="zh-CN" altLang="en-US" sz="1200" dirty="0" smtClean="0"/>
              <a:t>；</a:t>
            </a:r>
            <a:endParaRPr lang="en-US" altLang="zh-CN" sz="1200" dirty="0" smtClean="0"/>
          </a:p>
        </p:txBody>
      </p:sp>
      <p:sp>
        <p:nvSpPr>
          <p:cNvPr id="69" name="矩形 68"/>
          <p:cNvSpPr/>
          <p:nvPr/>
        </p:nvSpPr>
        <p:spPr>
          <a:xfrm>
            <a:off x="356868" y="2413269"/>
            <a:ext cx="3953501" cy="645160"/>
          </a:xfrm>
          <a:prstGeom prst="rect">
            <a:avLst/>
          </a:prstGeom>
          <a:ln w="19050">
            <a:solidFill>
              <a:srgbClr val="C00000"/>
            </a:solidFill>
          </a:ln>
        </p:spPr>
        <p:txBody>
          <a:bodyPr wrap="square">
            <a:spAutoFit/>
          </a:bodyPr>
          <a:lstStyle/>
          <a:p>
            <a:r>
              <a:rPr lang="en-US" altLang="zh-CN" sz="1200" b="1" u="sng" dirty="0" smtClean="0">
                <a:latin typeface="微软雅黑" panose="020B0503020204020204" pitchFamily="34" charset="-122"/>
                <a:ea typeface="微软雅黑" panose="020B0503020204020204" pitchFamily="34" charset="-122"/>
                <a:sym typeface="+mn-ea"/>
              </a:rPr>
              <a:t>2026</a:t>
            </a:r>
            <a:r>
              <a:rPr lang="zh-CN" altLang="en-US" sz="1200" b="1" u="sng" dirty="0" smtClean="0">
                <a:latin typeface="微软雅黑" panose="020B0503020204020204" pitchFamily="34" charset="-122"/>
                <a:ea typeface="微软雅黑" panose="020B0503020204020204" pitchFamily="34" charset="-122"/>
                <a:sym typeface="+mn-ea"/>
              </a:rPr>
              <a:t>年经营目标</a:t>
            </a:r>
            <a:r>
              <a:rPr lang="zh-CN" altLang="en-US" sz="1200" b="1" u="sng" dirty="0" smtClean="0">
                <a:latin typeface="微软雅黑" panose="020B0503020204020204" pitchFamily="34" charset="-122"/>
                <a:ea typeface="微软雅黑" panose="020B0503020204020204" pitchFamily="34" charset="-122"/>
                <a:sym typeface="+mn-ea"/>
              </a:rPr>
              <a:t>（投研目标）</a:t>
            </a:r>
            <a:r>
              <a:rPr lang="zh-CN" altLang="en-US" sz="1200" b="1" u="sng" dirty="0" smtClean="0">
                <a:latin typeface="微软雅黑" panose="020B0503020204020204" pitchFamily="34" charset="-122"/>
                <a:ea typeface="微软雅黑" panose="020B0503020204020204" pitchFamily="34" charset="-122"/>
                <a:sym typeface="+mn-ea"/>
              </a:rPr>
              <a:t>：</a:t>
            </a:r>
            <a:endParaRPr lang="en-US" altLang="zh-CN" sz="1200" b="1" u="sng" dirty="0" smtClean="0">
              <a:latin typeface="微软雅黑" panose="020B0503020204020204" pitchFamily="34" charset="-122"/>
              <a:ea typeface="微软雅黑" panose="020B0503020204020204" pitchFamily="34" charset="-122"/>
              <a:sym typeface="+mn-ea"/>
            </a:endParaRPr>
          </a:p>
          <a:p>
            <a:r>
              <a:rPr lang="zh-CN" altLang="en-US" sz="1200" b="1" dirty="0" smtClean="0">
                <a:latin typeface="微软雅黑" panose="020B0503020204020204" pitchFamily="34" charset="-122"/>
                <a:ea typeface="微软雅黑" panose="020B0503020204020204" pitchFamily="34" charset="-122"/>
                <a:sym typeface="+mn-ea"/>
              </a:rPr>
              <a:t>推荐</a:t>
            </a:r>
            <a:r>
              <a:rPr lang="en-US" altLang="zh-CN" sz="1200" b="1" dirty="0" smtClean="0">
                <a:latin typeface="微软雅黑" panose="020B0503020204020204" pitchFamily="34" charset="-122"/>
                <a:ea typeface="微软雅黑" panose="020B0503020204020204" pitchFamily="34" charset="-122"/>
                <a:sym typeface="+mn-ea"/>
              </a:rPr>
              <a:t>2</a:t>
            </a:r>
            <a:r>
              <a:rPr lang="zh-CN" altLang="en-US" sz="1200" b="1" dirty="0" smtClean="0">
                <a:latin typeface="微软雅黑" panose="020B0503020204020204" pitchFamily="34" charset="-122"/>
                <a:ea typeface="微软雅黑" panose="020B0503020204020204" pitchFamily="34" charset="-122"/>
                <a:sym typeface="+mn-ea"/>
              </a:rPr>
              <a:t>个</a:t>
            </a:r>
            <a:r>
              <a:rPr lang="zh-CN" altLang="en-US" sz="1200" b="1" dirty="0">
                <a:latin typeface="微软雅黑" panose="020B0503020204020204" pitchFamily="34" charset="-122"/>
                <a:ea typeface="微软雅黑" panose="020B0503020204020204" pitchFamily="34" charset="-122"/>
                <a:sym typeface="+mn-ea"/>
              </a:rPr>
              <a:t>项目上XH资本投资立项</a:t>
            </a:r>
            <a:r>
              <a:rPr lang="zh-CN" altLang="en-US" sz="1200" b="1" dirty="0" smtClean="0">
                <a:latin typeface="微软雅黑" panose="020B0503020204020204" pitchFamily="34" charset="-122"/>
                <a:ea typeface="微软雅黑" panose="020B0503020204020204" pitchFamily="34" charset="-122"/>
                <a:sym typeface="+mn-ea"/>
              </a:rPr>
              <a:t>会</a:t>
            </a:r>
            <a:r>
              <a:rPr lang="zh-CN" altLang="en-US" sz="1200" dirty="0" smtClean="0">
                <a:latin typeface="微软雅黑" panose="020B0503020204020204" pitchFamily="34" charset="-122"/>
                <a:ea typeface="微软雅黑" panose="020B0503020204020204" pitchFamily="34" charset="-122"/>
                <a:sym typeface="+mn-ea"/>
              </a:rPr>
              <a:t>或推荐</a:t>
            </a:r>
            <a:r>
              <a:rPr lang="zh-CN" altLang="en-US" sz="1200" dirty="0">
                <a:latin typeface="微软雅黑" panose="020B0503020204020204" pitchFamily="34" charset="-122"/>
                <a:ea typeface="微软雅黑" panose="020B0503020204020204" pitchFamily="34" charset="-122"/>
                <a:sym typeface="+mn-ea"/>
              </a:rPr>
              <a:t>投资标的项目</a:t>
            </a:r>
            <a:r>
              <a:rPr lang="en-US" altLang="zh-CN" sz="1200" dirty="0">
                <a:latin typeface="微软雅黑" panose="020B0503020204020204" pitchFamily="34" charset="-122"/>
                <a:ea typeface="微软雅黑" panose="020B0503020204020204" pitchFamily="34" charset="-122"/>
                <a:sym typeface="+mn-ea"/>
              </a:rPr>
              <a:t>15</a:t>
            </a:r>
            <a:r>
              <a:rPr lang="zh-CN" altLang="en-US" sz="1200" dirty="0">
                <a:latin typeface="微软雅黑" panose="020B0503020204020204" pitchFamily="34" charset="-122"/>
                <a:ea typeface="微软雅黑" panose="020B0503020204020204" pitchFamily="34" charset="-122"/>
                <a:sym typeface="+mn-ea"/>
              </a:rPr>
              <a:t>个至XH</a:t>
            </a:r>
            <a:r>
              <a:rPr lang="zh-CN" altLang="en-US" sz="1200" dirty="0" smtClean="0">
                <a:latin typeface="微软雅黑" panose="020B0503020204020204" pitchFamily="34" charset="-122"/>
                <a:ea typeface="微软雅黑" panose="020B0503020204020204" pitchFamily="34" charset="-122"/>
                <a:sym typeface="+mn-ea"/>
              </a:rPr>
              <a:t>资本，两</a:t>
            </a:r>
            <a:r>
              <a:rPr lang="zh-CN" altLang="en-US" sz="1200" dirty="0">
                <a:latin typeface="微软雅黑" panose="020B0503020204020204" pitchFamily="34" charset="-122"/>
                <a:ea typeface="微软雅黑" panose="020B0503020204020204" pitchFamily="34" charset="-122"/>
                <a:sym typeface="+mn-ea"/>
              </a:rPr>
              <a:t>项任务完成其中一项</a:t>
            </a:r>
            <a:endParaRPr lang="zh-CN" altLang="en-US" sz="1200"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4"/>
          <p:cNvSpPr>
            <a:spLocks noGrp="1"/>
          </p:cNvSpPr>
          <p:nvPr/>
        </p:nvSpPr>
        <p:spPr>
          <a:xfrm>
            <a:off x="60648" y="165090"/>
            <a:ext cx="7559675" cy="359346"/>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latinLnBrk="0">
              <a:buClrTx/>
              <a:buSzTx/>
              <a:buFontTx/>
              <a:buNone/>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第一部分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lang="zh-CN" altLang="en-US" b="1" dirty="0">
                <a:solidFill>
                  <a:srgbClr val="002060"/>
                </a:solidFill>
                <a:sym typeface="+mn-ea"/>
              </a:rPr>
              <a:t>租赁板块</a:t>
            </a:r>
            <a:r>
              <a:rPr lang="en-US" altLang="zh-CN" b="1" dirty="0">
                <a:solidFill>
                  <a:srgbClr val="002060"/>
                </a:solidFill>
                <a:sym typeface="+mn-ea"/>
              </a:rPr>
              <a:t>--</a:t>
            </a:r>
            <a:r>
              <a:rPr lang="zh-CN" altLang="en-US" sz="1400" b="1" dirty="0">
                <a:solidFill>
                  <a:srgbClr val="002060"/>
                </a:solidFill>
                <a:sym typeface="+mn-ea"/>
              </a:rPr>
              <a:t>管理面积</a:t>
            </a:r>
            <a:r>
              <a:rPr lang="en-US" altLang="zh-CN" sz="1400" b="1" dirty="0">
                <a:solidFill>
                  <a:srgbClr val="002060"/>
                </a:solidFill>
                <a:sym typeface="+mn-ea"/>
              </a:rPr>
              <a:t>187</a:t>
            </a:r>
            <a:r>
              <a:rPr lang="zh-CN" altLang="en-US" sz="1400" b="1" dirty="0">
                <a:solidFill>
                  <a:srgbClr val="002060"/>
                </a:solidFill>
                <a:sym typeface="+mn-ea"/>
              </a:rPr>
              <a:t>万方，可出租面积</a:t>
            </a:r>
            <a:r>
              <a:rPr lang="en-US" altLang="zh-CN" sz="1400" b="1" dirty="0">
                <a:solidFill>
                  <a:srgbClr val="002060"/>
                </a:solidFill>
                <a:sym typeface="+mn-ea"/>
              </a:rPr>
              <a:t>136</a:t>
            </a:r>
            <a:r>
              <a:rPr lang="zh-CN" altLang="en-US" sz="1400" b="1" dirty="0">
                <a:solidFill>
                  <a:srgbClr val="002060"/>
                </a:solidFill>
                <a:sym typeface="+mn-ea"/>
              </a:rPr>
              <a:t>万，产权面积</a:t>
            </a:r>
            <a:r>
              <a:rPr lang="en-US" altLang="zh-CN" sz="1400" b="1" dirty="0">
                <a:solidFill>
                  <a:srgbClr val="002060"/>
                </a:solidFill>
                <a:sym typeface="+mn-ea"/>
              </a:rPr>
              <a:t>114</a:t>
            </a:r>
            <a:r>
              <a:rPr lang="zh-CN" altLang="en-US" sz="1400" b="1" dirty="0">
                <a:solidFill>
                  <a:srgbClr val="002060"/>
                </a:solidFill>
                <a:sym typeface="+mn-ea"/>
              </a:rPr>
              <a:t>万</a:t>
            </a:r>
            <a:endParaRPr lang="zh-CN" altLang="en-US" sz="1400" b="1" dirty="0">
              <a:solidFill>
                <a:srgbClr val="002060"/>
              </a:solidFill>
              <a:sym typeface="+mn-ea"/>
            </a:endParaRPr>
          </a:p>
        </p:txBody>
      </p:sp>
      <p:graphicFrame>
        <p:nvGraphicFramePr>
          <p:cNvPr id="4" name="表格 3"/>
          <p:cNvGraphicFramePr/>
          <p:nvPr>
            <p:custDataLst>
              <p:tags r:id="rId1"/>
            </p:custDataLst>
          </p:nvPr>
        </p:nvGraphicFramePr>
        <p:xfrm>
          <a:off x="80645" y="669290"/>
          <a:ext cx="9629140" cy="3888740"/>
        </p:xfrm>
        <a:graphic>
          <a:graphicData uri="http://schemas.openxmlformats.org/drawingml/2006/table">
            <a:tbl>
              <a:tblPr/>
              <a:tblGrid>
                <a:gridCol w="1392555"/>
                <a:gridCol w="473710"/>
                <a:gridCol w="555625"/>
                <a:gridCol w="570230"/>
                <a:gridCol w="515620"/>
                <a:gridCol w="534035"/>
                <a:gridCol w="589280"/>
                <a:gridCol w="554990"/>
                <a:gridCol w="554990"/>
                <a:gridCol w="619125"/>
                <a:gridCol w="553085"/>
                <a:gridCol w="553720"/>
                <a:gridCol w="539115"/>
                <a:gridCol w="544830"/>
                <a:gridCol w="518160"/>
                <a:gridCol w="560070"/>
              </a:tblGrid>
              <a:tr h="563880">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项目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总面积 （㎡）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可出租面积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年预算目标全口径收入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年预计全口径收入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年预算全口径收入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收入增幅</a:t>
                      </a:r>
                      <a:r>
                        <a:rPr lang="en-US" altLang="zh-CN" sz="800" b="1" i="0">
                          <a:solidFill>
                            <a:srgbClr val="FFFFFF"/>
                          </a:solidFill>
                          <a:latin typeface="微软雅黑" panose="020B0503020204020204" pitchFamily="34" charset="-122"/>
                          <a:ea typeface="微软雅黑" panose="020B0503020204020204" pitchFamily="34" charset="-122"/>
                        </a:rPr>
                        <a:t>%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年租金均价（元</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年租金均价（元</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年签约均价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年签约均价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a:t>
                      </a:r>
                      <a:r>
                        <a:rPr lang="en-US" altLang="zh-CN" sz="800" b="1" i="0">
                          <a:solidFill>
                            <a:srgbClr val="FFFFFF"/>
                          </a:solidFill>
                          <a:latin typeface="微软雅黑" panose="020B0503020204020204" pitchFamily="34" charset="-122"/>
                          <a:ea typeface="微软雅黑" panose="020B0503020204020204" pitchFamily="34" charset="-122"/>
                        </a:rPr>
                        <a:t>10</a:t>
                      </a:r>
                      <a:r>
                        <a:rPr lang="zh-CN" altLang="en-US" sz="800" b="1" i="0">
                          <a:solidFill>
                            <a:srgbClr val="FFFFFF"/>
                          </a:solidFill>
                          <a:latin typeface="微软雅黑" panose="020B0503020204020204" pitchFamily="34" charset="-122"/>
                          <a:ea typeface="微软雅黑" panose="020B0503020204020204" pitchFamily="34" charset="-122"/>
                        </a:rPr>
                        <a:t>月末期末出租率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a:t>
                      </a:r>
                      <a:r>
                        <a:rPr lang="en-US" altLang="zh-CN" sz="800" b="1" i="0">
                          <a:solidFill>
                            <a:srgbClr val="FFFFFF"/>
                          </a:solidFill>
                          <a:latin typeface="微软雅黑" panose="020B0503020204020204" pitchFamily="34" charset="-122"/>
                          <a:ea typeface="微软雅黑" panose="020B0503020204020204" pitchFamily="34" charset="-122"/>
                        </a:rPr>
                        <a:t>1-10</a:t>
                      </a:r>
                      <a:r>
                        <a:rPr lang="zh-CN" altLang="en-US" sz="800" b="1" i="0">
                          <a:solidFill>
                            <a:srgbClr val="FFFFFF"/>
                          </a:solidFill>
                          <a:latin typeface="微软雅黑" panose="020B0503020204020204" pitchFamily="34" charset="-122"/>
                          <a:ea typeface="微软雅黑" panose="020B0503020204020204" pitchFamily="34" charset="-122"/>
                        </a:rPr>
                        <a:t>月平均出租率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年目标平均出租率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年目标平均出租率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年末出租率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r>
              <a:tr h="25717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XH</a:t>
                      </a:r>
                      <a:r>
                        <a:rPr lang="en-US" altLang="zh-CN" sz="800" b="0" i="0">
                          <a:solidFill>
                            <a:srgbClr val="000000"/>
                          </a:solidFill>
                          <a:latin typeface="微软雅黑" panose="020B0503020204020204" pitchFamily="34" charset="-122"/>
                          <a:ea typeface="微软雅黑" panose="020B0503020204020204" pitchFamily="34" charset="-122"/>
                        </a:rPr>
                        <a:t>WORLD123</a:t>
                      </a:r>
                      <a:r>
                        <a:rPr lang="zh-CN" altLang="en-US" sz="800" b="0" i="0">
                          <a:solidFill>
                            <a:srgbClr val="000000"/>
                          </a:solidFill>
                          <a:latin typeface="微软雅黑" panose="020B0503020204020204" pitchFamily="34" charset="-122"/>
                          <a:ea typeface="微软雅黑" panose="020B0503020204020204" pitchFamily="34" charset="-122"/>
                        </a:rPr>
                        <a:t>期</a:t>
                      </a:r>
                      <a:endParaRPr lang="zh-CN" altLang="en-US" sz="800" b="0" i="0">
                        <a:solidFill>
                          <a:srgbClr val="000000"/>
                        </a:solidFill>
                        <a:latin typeface="微软雅黑" panose="020B0503020204020204" pitchFamily="34" charset="-122"/>
                        <a:ea typeface="微软雅黑" panose="020B0503020204020204" pitchFamily="34" charset="-122"/>
                      </a:endParaRPr>
                    </a:p>
                    <a:p>
                      <a:pPr algn="l" fontAlgn="ctr"/>
                      <a:r>
                        <a:rPr lang="zh-CN" altLang="en-US" sz="800" b="0" i="0">
                          <a:solidFill>
                            <a:srgbClr val="000000"/>
                          </a:solidFill>
                          <a:latin typeface="微软雅黑" panose="020B0503020204020204" pitchFamily="34" charset="-122"/>
                          <a:ea typeface="微软雅黑" panose="020B0503020204020204" pitchFamily="34" charset="-122"/>
                        </a:rPr>
                        <a:t>写字楼</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商铺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344,903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343,841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43,279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43,097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39,640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93.5%</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97.4%</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r>
              <a:tr h="25590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XH</a:t>
                      </a:r>
                      <a:r>
                        <a:rPr lang="en-US" altLang="zh-CN" sz="800" b="0" i="0">
                          <a:solidFill>
                            <a:srgbClr val="000000"/>
                          </a:solidFill>
                          <a:latin typeface="微软雅黑" panose="020B0503020204020204" pitchFamily="34" charset="-122"/>
                          <a:ea typeface="微软雅黑" panose="020B0503020204020204" pitchFamily="34" charset="-122"/>
                        </a:rPr>
                        <a:t>WORLD</a:t>
                      </a:r>
                      <a:r>
                        <a:rPr lang="zh-CN" altLang="en-US" sz="800" b="0" i="0">
                          <a:solidFill>
                            <a:srgbClr val="000000"/>
                          </a:solidFill>
                          <a:latin typeface="微软雅黑" panose="020B0503020204020204" pitchFamily="34" charset="-122"/>
                          <a:ea typeface="微软雅黑" panose="020B0503020204020204" pitchFamily="34" charset="-122"/>
                        </a:rPr>
                        <a:t>联合办公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696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1033.3</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卡位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1000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卡位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1033.3</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卡位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1000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卡位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86.6%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86.2%</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88.1%</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4986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宿舍</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五号公社</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15,166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13,382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2161</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2161</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94.5%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91.2%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91.8%</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84.0%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8288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宿舍</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二期宿舍</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3,553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3,102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-14.8%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2251</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2240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84.1%</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79.0%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7843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宿舍</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领创天下宿舍</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1594</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1614</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97.5%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95.8%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93.8%</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88.0%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48590">
                <a:tc>
                  <a:txBody>
                    <a:bodyPr/>
                    <a:p>
                      <a:pPr algn="l" fontAlgn="ctr"/>
                      <a:r>
                        <a:rPr lang="en-US" altLang="zh-CN" sz="800" b="1" i="0">
                          <a:solidFill>
                            <a:srgbClr val="000000"/>
                          </a:solidFill>
                          <a:latin typeface="微软雅黑" panose="020B0503020204020204" pitchFamily="34" charset="-122"/>
                          <a:ea typeface="微软雅黑" panose="020B0503020204020204" pitchFamily="34" charset="-122"/>
                        </a:rPr>
                        <a:t>123</a:t>
                      </a:r>
                      <a:r>
                        <a:rPr lang="zh-CN" altLang="en-US" sz="800" b="1" i="0">
                          <a:solidFill>
                            <a:srgbClr val="000000"/>
                          </a:solidFill>
                          <a:latin typeface="微软雅黑" panose="020B0503020204020204" pitchFamily="34" charset="-122"/>
                          <a:ea typeface="微软雅黑" panose="020B0503020204020204" pitchFamily="34" charset="-122"/>
                        </a:rPr>
                        <a:t>期小计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384,487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378,632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44,868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44,625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41,127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46050">
                <a:tc>
                  <a:txBody>
                    <a:bodyPr/>
                    <a:p>
                      <a:pPr algn="l" fontAlgn="ctr"/>
                      <a:r>
                        <a:rPr lang="zh-CN" sz="800">
                          <a:solidFill>
                            <a:srgbClr val="000000"/>
                          </a:solidFill>
                          <a:latin typeface="微软雅黑" panose="020B0503020204020204" pitchFamily="34" charset="-122"/>
                          <a:ea typeface="微软雅黑" panose="020B0503020204020204" pitchFamily="34" charset="-122"/>
                          <a:sym typeface="+mn-ea"/>
                        </a:rPr>
                        <a:t>双塔</a:t>
                      </a:r>
                      <a:r>
                        <a:rPr lang="zh-CN" sz="800" b="0" i="0">
                          <a:solidFill>
                            <a:srgbClr val="000000"/>
                          </a:solidFill>
                          <a:latin typeface="微软雅黑" panose="020B0503020204020204" pitchFamily="34" charset="-122"/>
                          <a:ea typeface="微软雅黑" panose="020B0503020204020204" pitchFamily="34" charset="-122"/>
                        </a:rPr>
                        <a:t>西塔</a:t>
                      </a:r>
                      <a:endParaRPr 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184,051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179,195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5">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25,001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5">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25,470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5">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30,579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5">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129.8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76.0%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74.7%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74.3%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81.9%</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84.8%</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63195">
                <a:tc>
                  <a:txBody>
                    <a:bodyPr/>
                    <a:p>
                      <a:pPr algn="l" fontAlgn="ctr"/>
                      <a:r>
                        <a:rPr lang="zh-CN" sz="800" b="0" i="0">
                          <a:solidFill>
                            <a:srgbClr val="000000"/>
                          </a:solidFill>
                          <a:latin typeface="微软雅黑" panose="020B0503020204020204" pitchFamily="34" charset="-122"/>
                          <a:ea typeface="微软雅黑" panose="020B0503020204020204" pitchFamily="34" charset="-122"/>
                        </a:rPr>
                        <a:t>双塔东塔</a:t>
                      </a:r>
                      <a:endParaRPr 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180,006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175,527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44.3%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28.5%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61.7%</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78.2%</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339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其中：西塔</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东塔小计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364,056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354,722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54.1%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51.7%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71.9%</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81.5%</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33350">
                <a:tc>
                  <a:txBody>
                    <a:bodyPr/>
                    <a:p>
                      <a:pPr algn="l" fontAlgn="ctr"/>
                      <a:r>
                        <a:rPr lang="zh-CN" sz="800" b="0" i="0">
                          <a:solidFill>
                            <a:srgbClr val="000000"/>
                          </a:solidFill>
                          <a:latin typeface="微软雅黑" panose="020B0503020204020204" pitchFamily="34" charset="-122"/>
                          <a:ea typeface="微软雅黑" panose="020B0503020204020204" pitchFamily="34" charset="-122"/>
                        </a:rPr>
                        <a:t>生态大厦写字楼</a:t>
                      </a:r>
                      <a:endParaRPr 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32,144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32,144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106.9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95.4%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93.9%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93.4%</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94.1%</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33985">
                <a:tc>
                  <a:txBody>
                    <a:bodyPr/>
                    <a:p>
                      <a:pPr algn="l" fontAlgn="ctr"/>
                      <a:r>
                        <a:rPr lang="en-US" sz="800" b="0" i="0">
                          <a:solidFill>
                            <a:srgbClr val="000000"/>
                          </a:solidFill>
                          <a:latin typeface="微软雅黑" panose="020B0503020204020204" pitchFamily="34" charset="-122"/>
                          <a:ea typeface="微软雅黑" panose="020B0503020204020204" pitchFamily="34" charset="-122"/>
                        </a:rPr>
                        <a:t>IEO</a:t>
                      </a:r>
                      <a:endParaRPr 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15,315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14,984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16.2%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46.9%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38.2%</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48.1%</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75260">
                <a:tc>
                  <a:txBody>
                    <a:bodyPr/>
                    <a:p>
                      <a:pPr algn="l" fontAlgn="ctr"/>
                      <a:r>
                        <a:rPr lang="zh-CN" sz="800" b="1" i="0">
                          <a:solidFill>
                            <a:srgbClr val="000000"/>
                          </a:solidFill>
                          <a:latin typeface="微软雅黑" panose="020B0503020204020204" pitchFamily="34" charset="-122"/>
                          <a:ea typeface="微软雅黑" panose="020B0503020204020204" pitchFamily="34" charset="-122"/>
                        </a:rPr>
                        <a:t>双子塔、生态大厦、</a:t>
                      </a:r>
                      <a:r>
                        <a:rPr lang="en-US" altLang="zh-CN" sz="800" b="1" i="0">
                          <a:solidFill>
                            <a:srgbClr val="000000"/>
                          </a:solidFill>
                          <a:latin typeface="微软雅黑" panose="020B0503020204020204" pitchFamily="34" charset="-122"/>
                          <a:ea typeface="微软雅黑" panose="020B0503020204020204" pitchFamily="34" charset="-122"/>
                        </a:rPr>
                        <a:t>IEO</a:t>
                      </a:r>
                      <a:r>
                        <a:rPr lang="zh-CN" altLang="en-US" sz="800" b="1" i="0">
                          <a:solidFill>
                            <a:srgbClr val="000000"/>
                          </a:solidFill>
                          <a:latin typeface="微软雅黑" panose="020B0503020204020204" pitchFamily="34" charset="-122"/>
                          <a:ea typeface="微软雅黑" panose="020B0503020204020204" pitchFamily="34" charset="-122"/>
                        </a:rPr>
                        <a:t>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434,079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422,308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25,001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25,470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30,579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59.8%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56.8%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54.7%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72.3%</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80.8%</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66370">
                <a:tc>
                  <a:txBody>
                    <a:bodyPr/>
                    <a:p>
                      <a:pPr algn="l" fontAlgn="ctr"/>
                      <a:r>
                        <a:rPr lang="zh-CN" sz="800" b="1" i="0">
                          <a:solidFill>
                            <a:srgbClr val="000000"/>
                          </a:solidFill>
                          <a:latin typeface="微软雅黑" panose="020B0503020204020204" pitchFamily="34" charset="-122"/>
                          <a:ea typeface="微软雅黑" panose="020B0503020204020204" pitchFamily="34" charset="-122"/>
                        </a:rPr>
                        <a:t>XH时代大厦</a:t>
                      </a:r>
                      <a:endParaRPr 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12,630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12,630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62.7%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35.1%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45.7%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75.7%</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89.9%</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7145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XH中心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写字楼</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40,539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40,539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7,531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7,611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7,106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83.0%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88.2%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85.9%</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90.1%</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6637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XH中心联合办公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1,982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1,982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73.5%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79.2%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84.9%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81.1%</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85.6%</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6065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XH中心小计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42,573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42,573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8,055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8,062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7,557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82.5%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87.7%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85.7%</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89.9%</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049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XH世纪</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5,604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5,604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940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1,002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886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-11.6%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99.1%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95.4%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98.2%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4859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银海项目</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155,625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139,400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3,763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3,735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3,192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-14.5%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96.8%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92.7%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95.7%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1130">
                <a:tc>
                  <a:txBody>
                    <a:bodyPr/>
                    <a:p>
                      <a:pPr algn="l" fontAlgn="ctr">
                        <a:buNone/>
                      </a:pPr>
                      <a:r>
                        <a:rPr lang="zh-CN" altLang="en-US" sz="800" b="1" i="0">
                          <a:solidFill>
                            <a:srgbClr val="000000"/>
                          </a:solidFill>
                          <a:latin typeface="微软雅黑" panose="020B0503020204020204" pitchFamily="34" charset="-122"/>
                          <a:ea typeface="微软雅黑" panose="020B0503020204020204" pitchFamily="34" charset="-122"/>
                        </a:rPr>
                        <a:t>开市客写字楼</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36,644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36,644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22.7%</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40.8%</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113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南京XH</a:t>
                      </a:r>
                      <a:r>
                        <a:rPr lang="en-US" altLang="zh-CN" sz="800" b="1" i="0">
                          <a:solidFill>
                            <a:srgbClr val="000000"/>
                          </a:solidFill>
                          <a:latin typeface="微软雅黑" panose="020B0503020204020204" pitchFamily="34" charset="-122"/>
                          <a:ea typeface="微软雅黑" panose="020B0503020204020204" pitchFamily="34" charset="-122"/>
                        </a:rPr>
                        <a:t>WORLD</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46,976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46,161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4,567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4,352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3,458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-20.5%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93.9%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95.1%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77.9%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bl>
          </a:graphicData>
        </a:graphic>
      </p:graphicFrame>
      <p:sp>
        <p:nvSpPr>
          <p:cNvPr id="24" name="文本框 23"/>
          <p:cNvSpPr txBox="1"/>
          <p:nvPr/>
        </p:nvSpPr>
        <p:spPr>
          <a:xfrm>
            <a:off x="80645" y="4558030"/>
            <a:ext cx="9681845" cy="933450"/>
          </a:xfrm>
          <a:prstGeom prst="rect">
            <a:avLst/>
          </a:prstGeom>
          <a:noFill/>
        </p:spPr>
        <p:txBody>
          <a:bodyPr wrap="square" rtlCol="0">
            <a:noAutofit/>
          </a:bodyPr>
          <a:p>
            <a:r>
              <a:rPr lang="en-US" altLang="zh-CN" sz="900" b="1" dirty="0" smtClean="0">
                <a:latin typeface="微软雅黑" panose="020B0503020204020204" pitchFamily="34" charset="-122"/>
                <a:ea typeface="微软雅黑" panose="020B0503020204020204" pitchFamily="34" charset="-122"/>
              </a:rPr>
              <a:t>123</a:t>
            </a:r>
            <a:r>
              <a:rPr lang="zh-CN" altLang="en-US" sz="900" b="1" dirty="0" smtClean="0">
                <a:latin typeface="微软雅黑" panose="020B0503020204020204" pitchFamily="34" charset="-122"/>
                <a:ea typeface="微软雅黑" panose="020B0503020204020204" pitchFamily="34" charset="-122"/>
              </a:rPr>
              <a:t>期：</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年目标新签免租期：</a:t>
            </a:r>
            <a:r>
              <a:rPr lang="en-US" altLang="zh-CN" sz="900" dirty="0" smtClean="0">
                <a:latin typeface="微软雅黑" panose="020B0503020204020204" pitchFamily="34" charset="-122"/>
                <a:ea typeface="微软雅黑" panose="020B0503020204020204" pitchFamily="34" charset="-122"/>
              </a:rPr>
              <a:t>4</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(3+1)</a:t>
            </a:r>
            <a:r>
              <a:rPr lang="zh-CN" altLang="en-US" sz="900" dirty="0" smtClean="0">
                <a:latin typeface="微软雅黑" panose="020B0503020204020204" pitchFamily="34" charset="-122"/>
                <a:ea typeface="微软雅黑" panose="020B0503020204020204" pitchFamily="34" charset="-122"/>
              </a:rPr>
              <a:t>，续租免租期：</a:t>
            </a:r>
            <a:r>
              <a:rPr lang="en-US" altLang="zh-CN" sz="900" dirty="0" smtClean="0">
                <a:latin typeface="微软雅黑" panose="020B0503020204020204" pitchFamily="34" charset="-122"/>
                <a:ea typeface="微软雅黑" panose="020B0503020204020204" pitchFamily="34" charset="-122"/>
              </a:rPr>
              <a:t>3</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(2+1)</a:t>
            </a:r>
            <a:r>
              <a:rPr lang="zh-CN" altLang="en-US" sz="900" dirty="0" smtClean="0">
                <a:latin typeface="微软雅黑" panose="020B0503020204020204" pitchFamily="34" charset="-122"/>
                <a:ea typeface="微软雅黑" panose="020B0503020204020204" pitchFamily="34" charset="-122"/>
              </a:rPr>
              <a:t>。</a:t>
            </a:r>
            <a:r>
              <a:rPr lang="zh-CN" altLang="en-US" sz="900" b="1" dirty="0" smtClean="0">
                <a:latin typeface="微软雅黑" panose="020B0503020204020204" pitchFamily="34" charset="-122"/>
                <a:ea typeface="微软雅黑" panose="020B0503020204020204" pitchFamily="34" charset="-122"/>
              </a:rPr>
              <a:t>双塔：</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年目标新签免租期：</a:t>
            </a:r>
            <a:r>
              <a:rPr lang="en-US" altLang="zh-CN" sz="900" dirty="0" smtClean="0">
                <a:latin typeface="微软雅黑" panose="020B0503020204020204" pitchFamily="34" charset="-122"/>
                <a:ea typeface="微软雅黑" panose="020B0503020204020204" pitchFamily="34" charset="-122"/>
              </a:rPr>
              <a:t>8</a:t>
            </a:r>
            <a:r>
              <a:rPr lang="zh-CN" altLang="en-US" sz="900" dirty="0" smtClean="0">
                <a:latin typeface="微软雅黑" panose="020B0503020204020204" pitchFamily="34" charset="-122"/>
                <a:ea typeface="微软雅黑" panose="020B0503020204020204" pitchFamily="34" charset="-122"/>
              </a:rPr>
              <a:t>个月，续租免租期：</a:t>
            </a:r>
            <a:r>
              <a:rPr lang="en-US" altLang="zh-CN" sz="900" dirty="0" smtClean="0">
                <a:latin typeface="微软雅黑" panose="020B0503020204020204" pitchFamily="34" charset="-122"/>
                <a:ea typeface="微软雅黑" panose="020B0503020204020204" pitchFamily="34" charset="-122"/>
              </a:rPr>
              <a:t>2 </a:t>
            </a:r>
            <a:r>
              <a:rPr lang="zh-CN" altLang="en-US" sz="900" dirty="0" smtClean="0">
                <a:latin typeface="微软雅黑" panose="020B0503020204020204" pitchFamily="34" charset="-122"/>
                <a:ea typeface="微软雅黑" panose="020B0503020204020204" pitchFamily="34" charset="-122"/>
              </a:rPr>
              <a:t>个月。</a:t>
            </a:r>
            <a:endParaRPr lang="zh-CN" altLang="en-US" sz="900" dirty="0" smtClean="0">
              <a:latin typeface="微软雅黑" panose="020B0503020204020204" pitchFamily="34" charset="-122"/>
              <a:ea typeface="微软雅黑" panose="020B0503020204020204" pitchFamily="34" charset="-122"/>
            </a:endParaRPr>
          </a:p>
          <a:p>
            <a:r>
              <a:rPr lang="zh-CN" altLang="en-US" sz="900" b="1" dirty="0" smtClean="0">
                <a:latin typeface="微软雅黑" panose="020B0503020204020204" pitchFamily="34" charset="-122"/>
                <a:ea typeface="微软雅黑" panose="020B0503020204020204" pitchFamily="34" charset="-122"/>
              </a:rPr>
              <a:t>XH中心：</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年目标新签免租期：</a:t>
            </a:r>
            <a:r>
              <a:rPr lang="en-US" altLang="zh-CN" sz="900" dirty="0" smtClean="0">
                <a:latin typeface="微软雅黑" panose="020B0503020204020204" pitchFamily="34" charset="-122"/>
                <a:ea typeface="微软雅黑" panose="020B0503020204020204" pitchFamily="34" charset="-122"/>
              </a:rPr>
              <a:t>6 </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(2+2+2)</a:t>
            </a:r>
            <a:r>
              <a:rPr lang="zh-CN" altLang="en-US" sz="900" dirty="0" smtClean="0">
                <a:latin typeface="微软雅黑" panose="020B0503020204020204" pitchFamily="34" charset="-122"/>
                <a:ea typeface="微软雅黑" panose="020B0503020204020204" pitchFamily="34" charset="-122"/>
              </a:rPr>
              <a:t>，续租免租期：</a:t>
            </a:r>
            <a:r>
              <a:rPr lang="en-US" altLang="zh-CN" sz="900" dirty="0" smtClean="0">
                <a:latin typeface="微软雅黑" panose="020B0503020204020204" pitchFamily="34" charset="-122"/>
                <a:ea typeface="微软雅黑" panose="020B0503020204020204" pitchFamily="34" charset="-122"/>
              </a:rPr>
              <a:t>6</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(2+2+2)</a:t>
            </a:r>
            <a:r>
              <a:rPr lang="zh-CN" altLang="en-US" sz="900" dirty="0" smtClean="0">
                <a:latin typeface="微软雅黑" panose="020B0503020204020204" pitchFamily="34" charset="-122"/>
                <a:ea typeface="微软雅黑" panose="020B0503020204020204" pitchFamily="34" charset="-122"/>
              </a:rPr>
              <a:t>。</a:t>
            </a:r>
            <a:r>
              <a:rPr lang="zh-CN" altLang="en-US" sz="900" b="1" dirty="0" smtClean="0">
                <a:latin typeface="微软雅黑" panose="020B0503020204020204" pitchFamily="34" charset="-122"/>
                <a:ea typeface="微软雅黑" panose="020B0503020204020204" pitchFamily="34" charset="-122"/>
              </a:rPr>
              <a:t>XH</a:t>
            </a:r>
            <a:r>
              <a:rPr lang="zh-CN" altLang="en-US" sz="900" b="1" dirty="0" smtClean="0">
                <a:latin typeface="微软雅黑" panose="020B0503020204020204" pitchFamily="34" charset="-122"/>
                <a:ea typeface="微软雅黑" panose="020B0503020204020204" pitchFamily="34" charset="-122"/>
              </a:rPr>
              <a:t>世纪：</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年目标新签免租期：</a:t>
            </a:r>
            <a:r>
              <a:rPr lang="en-US" altLang="zh-CN" sz="900" dirty="0" smtClean="0">
                <a:latin typeface="微软雅黑" panose="020B0503020204020204" pitchFamily="34" charset="-122"/>
                <a:ea typeface="微软雅黑" panose="020B0503020204020204" pitchFamily="34" charset="-122"/>
              </a:rPr>
              <a:t>  3 </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1+1+1</a:t>
            </a:r>
            <a:r>
              <a:rPr lang="zh-CN" altLang="en-US" sz="900" dirty="0" smtClean="0">
                <a:latin typeface="微软雅黑" panose="020B0503020204020204" pitchFamily="34" charset="-122"/>
                <a:ea typeface="微软雅黑" panose="020B0503020204020204" pitchFamily="34" charset="-122"/>
              </a:rPr>
              <a:t>），续租免租期：</a:t>
            </a:r>
            <a:r>
              <a:rPr lang="en-US" altLang="zh-CN" sz="900" dirty="0" smtClean="0">
                <a:latin typeface="微软雅黑" panose="020B0503020204020204" pitchFamily="34" charset="-122"/>
                <a:ea typeface="微软雅黑" panose="020B0503020204020204" pitchFamily="34" charset="-122"/>
              </a:rPr>
              <a:t>3 </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1+1+1</a:t>
            </a:r>
            <a:r>
              <a:rPr lang="zh-CN" altLang="en-US" sz="900" dirty="0" smtClean="0">
                <a:latin typeface="微软雅黑" panose="020B0503020204020204" pitchFamily="34" charset="-122"/>
                <a:ea typeface="微软雅黑" panose="020B0503020204020204" pitchFamily="34" charset="-122"/>
              </a:rPr>
              <a:t>）（按原合同条款续租，</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年到期续租客户原合同均</a:t>
            </a:r>
            <a:r>
              <a:rPr lang="en-US" altLang="zh-CN" sz="900" dirty="0" smtClean="0">
                <a:latin typeface="微软雅黑" panose="020B0503020204020204" pitchFamily="34" charset="-122"/>
                <a:ea typeface="微软雅黑" panose="020B0503020204020204" pitchFamily="34" charset="-122"/>
              </a:rPr>
              <a:t>3</a:t>
            </a:r>
            <a:r>
              <a:rPr lang="zh-CN" altLang="en-US" sz="900" dirty="0" smtClean="0">
                <a:latin typeface="微软雅黑" panose="020B0503020204020204" pitchFamily="34" charset="-122"/>
                <a:ea typeface="微软雅黑" panose="020B0503020204020204" pitchFamily="34" charset="-122"/>
              </a:rPr>
              <a:t>个月免租期）。</a:t>
            </a:r>
            <a:endParaRPr lang="zh-CN" altLang="en-US" sz="900" dirty="0" smtClean="0">
              <a:latin typeface="微软雅黑" panose="020B0503020204020204" pitchFamily="34" charset="-122"/>
              <a:ea typeface="微软雅黑" panose="020B0503020204020204" pitchFamily="34" charset="-122"/>
            </a:endParaRPr>
          </a:p>
          <a:p>
            <a:r>
              <a:rPr lang="zh-CN" altLang="en-US" sz="900" b="1" dirty="0" smtClean="0">
                <a:latin typeface="微软雅黑" panose="020B0503020204020204" pitchFamily="34" charset="-122"/>
                <a:ea typeface="微软雅黑" panose="020B0503020204020204" pitchFamily="34" charset="-122"/>
              </a:rPr>
              <a:t>银海项目：</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年目标新签免租期：</a:t>
            </a:r>
            <a:r>
              <a:rPr lang="en-US" altLang="zh-CN" sz="900" dirty="0" smtClean="0">
                <a:latin typeface="微软雅黑" panose="020B0503020204020204" pitchFamily="34" charset="-122"/>
                <a:ea typeface="微软雅黑" panose="020B0503020204020204" pitchFamily="34" charset="-122"/>
              </a:rPr>
              <a:t>1.2-2.5</a:t>
            </a:r>
            <a:r>
              <a:rPr lang="zh-CN" altLang="en-US" sz="900" dirty="0" smtClean="0">
                <a:latin typeface="微软雅黑" panose="020B0503020204020204" pitchFamily="34" charset="-122"/>
                <a:ea typeface="微软雅黑" panose="020B0503020204020204" pitchFamily="34" charset="-122"/>
              </a:rPr>
              <a:t>个月，续租免租期：</a:t>
            </a:r>
            <a:r>
              <a:rPr lang="en-US" altLang="zh-CN" sz="900" dirty="0" smtClean="0">
                <a:latin typeface="微软雅黑" panose="020B0503020204020204" pitchFamily="34" charset="-122"/>
                <a:ea typeface="微软雅黑" panose="020B0503020204020204" pitchFamily="34" charset="-122"/>
              </a:rPr>
              <a:t> 1.2</a:t>
            </a:r>
            <a:r>
              <a:rPr lang="zh-CN" altLang="en-US" sz="900" dirty="0" smtClean="0">
                <a:latin typeface="微软雅黑" panose="020B0503020204020204" pitchFamily="34" charset="-122"/>
                <a:ea typeface="微软雅黑" panose="020B0503020204020204" pitchFamily="34" charset="-122"/>
              </a:rPr>
              <a:t>个月。</a:t>
            </a:r>
            <a:endParaRPr lang="zh-CN" altLang="en-US" sz="900" dirty="0" smtClean="0">
              <a:latin typeface="微软雅黑" panose="020B0503020204020204" pitchFamily="34" charset="-122"/>
              <a:ea typeface="微软雅黑" panose="020B0503020204020204" pitchFamily="34" charset="-122"/>
            </a:endParaRPr>
          </a:p>
          <a:p>
            <a:r>
              <a:rPr lang="zh-CN" altLang="en-US" sz="900" b="1" dirty="0" smtClean="0">
                <a:latin typeface="微软雅黑" panose="020B0503020204020204" pitchFamily="34" charset="-122"/>
                <a:ea typeface="微软雅黑" panose="020B0503020204020204" pitchFamily="34" charset="-122"/>
              </a:rPr>
              <a:t>XH时代大厦：</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年预算新签年租期</a:t>
            </a:r>
            <a:r>
              <a:rPr lang="en-US" altLang="zh-CN" sz="900" dirty="0" smtClean="0">
                <a:latin typeface="微软雅黑" panose="020B0503020204020204" pitchFamily="34" charset="-122"/>
                <a:ea typeface="微软雅黑" panose="020B0503020204020204" pitchFamily="34" charset="-122"/>
              </a:rPr>
              <a:t>10</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6+2+2</a:t>
            </a:r>
            <a:r>
              <a:rPr lang="zh-CN" altLang="en-US" sz="900" dirty="0" smtClean="0">
                <a:latin typeface="微软雅黑" panose="020B0503020204020204" pitchFamily="34" charset="-122"/>
                <a:ea typeface="微软雅黑" panose="020B0503020204020204" pitchFamily="34" charset="-122"/>
              </a:rPr>
              <a:t>）；开市客</a:t>
            </a:r>
            <a:r>
              <a:rPr lang="en-US" altLang="zh-CN" sz="900" dirty="0" smtClean="0">
                <a:latin typeface="微软雅黑" panose="020B0503020204020204" pitchFamily="34" charset="-122"/>
                <a:ea typeface="微软雅黑" panose="020B0503020204020204" pitchFamily="34" charset="-122"/>
              </a:rPr>
              <a:t>26</a:t>
            </a:r>
            <a:r>
              <a:rPr lang="zh-CN" altLang="en-US" sz="900" dirty="0" smtClean="0">
                <a:latin typeface="微软雅黑" panose="020B0503020204020204" pitchFamily="34" charset="-122"/>
                <a:ea typeface="微软雅黑" panose="020B0503020204020204" pitchFamily="34" charset="-122"/>
              </a:rPr>
              <a:t>年目标新签免租期：</a:t>
            </a:r>
            <a:r>
              <a:rPr lang="en-US" altLang="zh-CN" sz="900" dirty="0" smtClean="0">
                <a:latin typeface="微软雅黑" panose="020B0503020204020204" pitchFamily="34" charset="-122"/>
                <a:ea typeface="微软雅黑" panose="020B0503020204020204" pitchFamily="34" charset="-122"/>
              </a:rPr>
              <a:t>3.5</a:t>
            </a:r>
            <a:r>
              <a:rPr lang="zh-CN" altLang="en-US" sz="900" dirty="0" smtClean="0">
                <a:latin typeface="微软雅黑" panose="020B0503020204020204" pitchFamily="34" charset="-122"/>
                <a:ea typeface="微软雅黑" panose="020B0503020204020204" pitchFamily="34" charset="-122"/>
              </a:rPr>
              <a:t>个月</a:t>
            </a:r>
            <a:r>
              <a:rPr lang="en-US" altLang="zh-CN" sz="900" dirty="0" smtClean="0">
                <a:latin typeface="微软雅黑" panose="020B0503020204020204" pitchFamily="34" charset="-122"/>
                <a:ea typeface="微软雅黑" panose="020B0503020204020204" pitchFamily="34" charset="-122"/>
              </a:rPr>
              <a:t> </a:t>
            </a:r>
            <a:r>
              <a:rPr lang="zh-CN" altLang="en-US" sz="900" b="1" dirty="0" smtClean="0">
                <a:latin typeface="微软雅黑" panose="020B0503020204020204" pitchFamily="34" charset="-122"/>
                <a:ea typeface="微软雅黑" panose="020B0503020204020204" pitchFamily="34" charset="-122"/>
              </a:rPr>
              <a:t>南京：</a:t>
            </a:r>
            <a:r>
              <a:rPr lang="en-US" altLang="zh-CN" sz="900" dirty="0" smtClean="0">
                <a:latin typeface="微软雅黑" panose="020B0503020204020204" pitchFamily="34" charset="-122"/>
                <a:ea typeface="微软雅黑" panose="020B0503020204020204" pitchFamily="34" charset="-122"/>
              </a:rPr>
              <a:t>2-4</a:t>
            </a:r>
            <a:r>
              <a:rPr lang="zh-CN" altLang="en-US" sz="900" dirty="0" smtClean="0">
                <a:latin typeface="微软雅黑" panose="020B0503020204020204" pitchFamily="34" charset="-122"/>
                <a:ea typeface="微软雅黑" panose="020B0503020204020204" pitchFamily="34" charset="-122"/>
              </a:rPr>
              <a:t>月免租期</a:t>
            </a:r>
            <a:endParaRPr lang="zh-CN" altLang="en-US" sz="900" dirty="0" smtClean="0">
              <a:latin typeface="微软雅黑" panose="020B0503020204020204" pitchFamily="34" charset="-122"/>
              <a:ea typeface="微软雅黑" panose="020B0503020204020204" pitchFamily="34" charset="-122"/>
            </a:endParaRPr>
          </a:p>
          <a:p>
            <a:r>
              <a:rPr lang="zh-CN" altLang="en-US" sz="700" dirty="0" smtClean="0">
                <a:latin typeface="微软雅黑" panose="020B0503020204020204" pitchFamily="34" charset="-122"/>
                <a:ea typeface="微软雅黑" panose="020B0503020204020204" pitchFamily="34" charset="-122"/>
              </a:rPr>
              <a:t>上表中总面积</a:t>
            </a:r>
            <a:r>
              <a:rPr lang="en-US" altLang="zh-CN" sz="700" dirty="0" smtClean="0">
                <a:latin typeface="微软雅黑" panose="020B0503020204020204" pitchFamily="34" charset="-122"/>
                <a:ea typeface="微软雅黑" panose="020B0503020204020204" pitchFamily="34" charset="-122"/>
              </a:rPr>
              <a:t>146</a:t>
            </a:r>
            <a:r>
              <a:rPr lang="zh-CN" altLang="en-US" sz="700" dirty="0" smtClean="0">
                <a:latin typeface="微软雅黑" panose="020B0503020204020204" pitchFamily="34" charset="-122"/>
                <a:ea typeface="微软雅黑" panose="020B0503020204020204" pitchFamily="34" charset="-122"/>
              </a:rPr>
              <a:t>万方，与管理面积</a:t>
            </a:r>
            <a:r>
              <a:rPr lang="en-US" altLang="zh-CN" sz="700" dirty="0" smtClean="0">
                <a:latin typeface="微软雅黑" panose="020B0503020204020204" pitchFamily="34" charset="-122"/>
                <a:ea typeface="微软雅黑" panose="020B0503020204020204" pitchFamily="34" charset="-122"/>
              </a:rPr>
              <a:t>187</a:t>
            </a:r>
            <a:r>
              <a:rPr lang="zh-CN" altLang="en-US" sz="700" dirty="0" smtClean="0">
                <a:latin typeface="微软雅黑" panose="020B0503020204020204" pitchFamily="34" charset="-122"/>
                <a:ea typeface="微软雅黑" panose="020B0503020204020204" pitchFamily="34" charset="-122"/>
              </a:rPr>
              <a:t>万方，差异</a:t>
            </a:r>
            <a:r>
              <a:rPr lang="en-US" altLang="zh-CN" sz="700" dirty="0" smtClean="0">
                <a:latin typeface="微软雅黑" panose="020B0503020204020204" pitchFamily="34" charset="-122"/>
                <a:ea typeface="微软雅黑" panose="020B0503020204020204" pitchFamily="34" charset="-122"/>
              </a:rPr>
              <a:t>42</a:t>
            </a:r>
            <a:r>
              <a:rPr lang="zh-CN" altLang="en-US" sz="700" dirty="0" smtClean="0">
                <a:latin typeface="微软雅黑" panose="020B0503020204020204" pitchFamily="34" charset="-122"/>
                <a:ea typeface="微软雅黑" panose="020B0503020204020204" pitchFamily="34" charset="-122"/>
              </a:rPr>
              <a:t>万方，为</a:t>
            </a:r>
            <a:r>
              <a:rPr lang="en-US" altLang="zh-CN" sz="700" dirty="0" smtClean="0">
                <a:latin typeface="微软雅黑" panose="020B0503020204020204" pitchFamily="34" charset="-122"/>
                <a:ea typeface="微软雅黑" panose="020B0503020204020204" pitchFamily="34" charset="-122"/>
              </a:rPr>
              <a:t>123</a:t>
            </a:r>
            <a:r>
              <a:rPr lang="zh-CN" altLang="en-US" sz="700" dirty="0" smtClean="0">
                <a:latin typeface="微软雅黑" panose="020B0503020204020204" pitchFamily="34" charset="-122"/>
                <a:ea typeface="微软雅黑" panose="020B0503020204020204" pitchFamily="34" charset="-122"/>
              </a:rPr>
              <a:t>期地下停车场</a:t>
            </a:r>
            <a:r>
              <a:rPr lang="en-US" altLang="zh-CN" sz="700" dirty="0" smtClean="0">
                <a:latin typeface="微软雅黑" panose="020B0503020204020204" pitchFamily="34" charset="-122"/>
                <a:ea typeface="微软雅黑" panose="020B0503020204020204" pitchFamily="34" charset="-122"/>
              </a:rPr>
              <a:t>17.7</a:t>
            </a:r>
            <a:r>
              <a:rPr lang="zh-CN" altLang="en-US" sz="700" dirty="0" smtClean="0">
                <a:latin typeface="微软雅黑" panose="020B0503020204020204" pitchFamily="34" charset="-122"/>
                <a:ea typeface="微软雅黑" panose="020B0503020204020204" pitchFamily="34" charset="-122"/>
              </a:rPr>
              <a:t>万方</a:t>
            </a:r>
            <a:r>
              <a:rPr lang="en-US" altLang="zh-CN" sz="700" dirty="0" smtClean="0">
                <a:latin typeface="微软雅黑" panose="020B0503020204020204" pitchFamily="34" charset="-122"/>
                <a:ea typeface="微软雅黑" panose="020B0503020204020204" pitchFamily="34" charset="-122"/>
              </a:rPr>
              <a:t>+</a:t>
            </a:r>
            <a:r>
              <a:rPr lang="zh-CN" altLang="en-US" sz="700" dirty="0" smtClean="0">
                <a:latin typeface="微软雅黑" panose="020B0503020204020204" pitchFamily="34" charset="-122"/>
                <a:ea typeface="微软雅黑" panose="020B0503020204020204" pitchFamily="34" charset="-122"/>
              </a:rPr>
              <a:t>避难层</a:t>
            </a:r>
            <a:r>
              <a:rPr lang="en-US" altLang="zh-CN" sz="700" dirty="0" smtClean="0">
                <a:latin typeface="微软雅黑" panose="020B0503020204020204" pitchFamily="34" charset="-122"/>
                <a:ea typeface="微软雅黑" panose="020B0503020204020204" pitchFamily="34" charset="-122"/>
              </a:rPr>
              <a:t>4</a:t>
            </a:r>
            <a:r>
              <a:rPr lang="zh-CN" altLang="en-US" sz="700" dirty="0" smtClean="0">
                <a:latin typeface="微软雅黑" panose="020B0503020204020204" pitchFamily="34" charset="-122"/>
                <a:ea typeface="微软雅黑" panose="020B0503020204020204" pitchFamily="34" charset="-122"/>
              </a:rPr>
              <a:t>万方</a:t>
            </a:r>
            <a:r>
              <a:rPr lang="en-US" altLang="zh-CN" sz="700" dirty="0" smtClean="0">
                <a:latin typeface="微软雅黑" panose="020B0503020204020204" pitchFamily="34" charset="-122"/>
                <a:ea typeface="微软雅黑" panose="020B0503020204020204" pitchFamily="34" charset="-122"/>
              </a:rPr>
              <a:t>+</a:t>
            </a:r>
            <a:r>
              <a:rPr lang="zh-CN" altLang="en-US" sz="700" dirty="0" smtClean="0">
                <a:latin typeface="微软雅黑" panose="020B0503020204020204" pitchFamily="34" charset="-122"/>
                <a:ea typeface="微软雅黑" panose="020B0503020204020204" pitchFamily="34" charset="-122"/>
              </a:rPr>
              <a:t>双塔地下停车场</a:t>
            </a:r>
            <a:r>
              <a:rPr lang="en-US" altLang="zh-CN" sz="700" dirty="0" smtClean="0">
                <a:latin typeface="微软雅黑" panose="020B0503020204020204" pitchFamily="34" charset="-122"/>
                <a:ea typeface="微软雅黑" panose="020B0503020204020204" pitchFamily="34" charset="-122"/>
              </a:rPr>
              <a:t>20.02</a:t>
            </a:r>
            <a:r>
              <a:rPr lang="zh-CN" altLang="en-US" sz="700" dirty="0" smtClean="0">
                <a:latin typeface="微软雅黑" panose="020B0503020204020204" pitchFamily="34" charset="-122"/>
                <a:ea typeface="微软雅黑" panose="020B0503020204020204" pitchFamily="34" charset="-122"/>
              </a:rPr>
              <a:t>万方。</a:t>
            </a:r>
            <a:endParaRPr lang="zh-CN" altLang="en-US" sz="700" dirty="0" smtClean="0">
              <a:latin typeface="微软雅黑" panose="020B0503020204020204" pitchFamily="34" charset="-122"/>
              <a:ea typeface="微软雅黑" panose="020B0503020204020204" pitchFamily="34" charset="-122"/>
            </a:endParaRPr>
          </a:p>
        </p:txBody>
      </p:sp>
    </p:spTree>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灯片编号占位符 1"/>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fld id="{99173E90-95F0-E34D-B0FF-F9193FBE2D36}" type="slidenum">
              <a:rPr kumimoji="1" lang="zh-CN" altLang="en-US" sz="100" b="0" i="0" u="none" strike="noStrike" kern="1200" cap="none" spc="0" normalizeH="0" baseline="0" noProof="0" smtClean="0">
                <a:ln>
                  <a:noFill/>
                </a:ln>
                <a:solidFill>
                  <a:prstClr val="black"/>
                </a:solidFill>
                <a:effectLst/>
                <a:uLnTx/>
                <a:uFillTx/>
                <a:latin typeface="Arial" panose="020B0604020202020204" pitchFamily="34" charset="0"/>
                <a:ea typeface="宋体" panose="02010600030101010101" pitchFamily="2" charset="-122"/>
                <a:cs typeface="+mn-cs"/>
              </a:rPr>
            </a:fld>
            <a:endParaRPr kumimoji="1" lang="zh-CN" altLang="en-US" sz="1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 name="标题 4"/>
          <p:cNvSpPr>
            <a:spLocks noGrp="1"/>
          </p:cNvSpPr>
          <p:nvPr/>
        </p:nvSpPr>
        <p:spPr>
          <a:xfrm>
            <a:off x="60648" y="165090"/>
            <a:ext cx="7559675" cy="359346"/>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algn="l" defTabSz="75438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41" normalizeH="0" baseline="0" noProof="0" dirty="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rPr>
              <a:t>第一部分</a:t>
            </a:r>
            <a:r>
              <a:rPr kumimoji="0" lang="zh-CN" altLang="en-US" sz="1800" b="1" i="0" u="none" strike="noStrike" kern="1200" cap="none" spc="-41" normalizeH="0" baseline="0" noProof="0" dirty="0" smtClean="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rPr>
              <a:t>：</a:t>
            </a:r>
            <a:r>
              <a:rPr kumimoji="0" lang="en-US" altLang="zh-CN" sz="1800" b="1" i="0" u="none" strike="noStrike" kern="1200" cap="none" spc="-41" normalizeH="0" baseline="0" noProof="0" dirty="0" smtClean="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sym typeface="+mn-ea"/>
              </a:rPr>
              <a:t>2026年</a:t>
            </a:r>
            <a:r>
              <a:rPr kumimoji="0" lang="zh-CN" altLang="en-US" sz="1800" b="1" i="0" u="none" strike="noStrike" kern="1200" cap="none" spc="-41" normalizeH="0" baseline="0" noProof="0" dirty="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sym typeface="+mn-ea"/>
              </a:rPr>
              <a:t>经营目标 </a:t>
            </a:r>
            <a:r>
              <a:rPr kumimoji="0" lang="en-US" altLang="zh-CN" sz="1800" b="1" i="0" u="none" strike="noStrike" kern="1200" cap="none" spc="-41"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j-cs"/>
                <a:sym typeface="+mn-ea"/>
              </a:rPr>
              <a:t>–</a:t>
            </a:r>
            <a:r>
              <a:rPr kumimoji="0" lang="zh-CN" altLang="en-US" sz="1800" b="1" i="0" u="none" strike="noStrike" kern="1200" cap="none" spc="-41"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j-cs"/>
                <a:sym typeface="+mn-ea"/>
              </a:rPr>
              <a:t>产业运营板块汇总</a:t>
            </a:r>
            <a:endParaRPr kumimoji="0" lang="en-US" altLang="zh-CN" sz="1800" b="1" i="0" u="none" strike="noStrike" kern="1200" cap="none" spc="-41"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j-cs"/>
              <a:sym typeface="+mn-ea"/>
            </a:endParaRPr>
          </a:p>
        </p:txBody>
      </p:sp>
      <p:graphicFrame>
        <p:nvGraphicFramePr>
          <p:cNvPr id="4" name="表格 3"/>
          <p:cNvGraphicFramePr/>
          <p:nvPr>
            <p:custDataLst>
              <p:tags r:id="rId1"/>
            </p:custDataLst>
          </p:nvPr>
        </p:nvGraphicFramePr>
        <p:xfrm>
          <a:off x="132715" y="741680"/>
          <a:ext cx="9626600" cy="4301490"/>
        </p:xfrm>
        <a:graphic>
          <a:graphicData uri="http://schemas.openxmlformats.org/drawingml/2006/table">
            <a:tbl>
              <a:tblPr/>
              <a:tblGrid>
                <a:gridCol w="1202055"/>
                <a:gridCol w="562610"/>
                <a:gridCol w="562610"/>
                <a:gridCol w="577850"/>
                <a:gridCol w="577850"/>
                <a:gridCol w="578485"/>
                <a:gridCol w="503555"/>
                <a:gridCol w="561975"/>
                <a:gridCol w="562610"/>
                <a:gridCol w="562610"/>
                <a:gridCol w="561975"/>
                <a:gridCol w="562610"/>
                <a:gridCol w="562610"/>
                <a:gridCol w="561975"/>
                <a:gridCol w="562610"/>
                <a:gridCol w="562610"/>
              </a:tblGrid>
              <a:tr h="594995">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项目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总面积 （㎡）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可出租面积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年预算目标全口径收入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年预计全口径收入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年预算全口径收入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收入增幅</a:t>
                      </a:r>
                      <a:r>
                        <a:rPr lang="en-US" altLang="zh-CN" sz="800" b="1" i="0">
                          <a:solidFill>
                            <a:srgbClr val="FFFFFF"/>
                          </a:solidFill>
                          <a:latin typeface="微软雅黑" panose="020B0503020204020204" pitchFamily="34" charset="-122"/>
                          <a:ea typeface="微软雅黑" panose="020B0503020204020204" pitchFamily="34" charset="-122"/>
                        </a:rPr>
                        <a:t>%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年租金均价（元</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年租金均价（元</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年签约均价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年签约均价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a:t>
                      </a:r>
                      <a:r>
                        <a:rPr lang="en-US" altLang="zh-CN" sz="800" b="1" i="0">
                          <a:solidFill>
                            <a:srgbClr val="FFFFFF"/>
                          </a:solidFill>
                          <a:latin typeface="微软雅黑" panose="020B0503020204020204" pitchFamily="34" charset="-122"/>
                          <a:ea typeface="微软雅黑" panose="020B0503020204020204" pitchFamily="34" charset="-122"/>
                        </a:rPr>
                        <a:t>10</a:t>
                      </a:r>
                      <a:r>
                        <a:rPr lang="zh-CN" altLang="en-US" sz="800" b="1" i="0">
                          <a:solidFill>
                            <a:srgbClr val="FFFFFF"/>
                          </a:solidFill>
                          <a:latin typeface="微软雅黑" panose="020B0503020204020204" pitchFamily="34" charset="-122"/>
                          <a:ea typeface="微软雅黑" panose="020B0503020204020204" pitchFamily="34" charset="-122"/>
                        </a:rPr>
                        <a:t>月末期末出租率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a:t>
                      </a:r>
                      <a:r>
                        <a:rPr lang="en-US" altLang="zh-CN" sz="800" b="1" i="0">
                          <a:solidFill>
                            <a:srgbClr val="FFFFFF"/>
                          </a:solidFill>
                          <a:latin typeface="微软雅黑" panose="020B0503020204020204" pitchFamily="34" charset="-122"/>
                          <a:ea typeface="微软雅黑" panose="020B0503020204020204" pitchFamily="34" charset="-122"/>
                        </a:rPr>
                        <a:t>1-10</a:t>
                      </a:r>
                      <a:r>
                        <a:rPr lang="zh-CN" altLang="en-US" sz="800" b="1" i="0">
                          <a:solidFill>
                            <a:srgbClr val="FFFFFF"/>
                          </a:solidFill>
                          <a:latin typeface="微软雅黑" panose="020B0503020204020204" pitchFamily="34" charset="-122"/>
                          <a:ea typeface="微软雅黑" panose="020B0503020204020204" pitchFamily="34" charset="-122"/>
                        </a:rPr>
                        <a:t>月平均出租率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2025</a:t>
                      </a:r>
                      <a:r>
                        <a:rPr lang="zh-CN" altLang="en-US" sz="800" b="1" i="0">
                          <a:solidFill>
                            <a:srgbClr val="FFFFFF"/>
                          </a:solidFill>
                          <a:latin typeface="微软雅黑" panose="020B0503020204020204" pitchFamily="34" charset="-122"/>
                          <a:ea typeface="微软雅黑" panose="020B0503020204020204" pitchFamily="34" charset="-122"/>
                        </a:rPr>
                        <a:t>年目标平均出租率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年目标平均出租率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2026</a:t>
                      </a:r>
                      <a:r>
                        <a:rPr lang="zh-CN" altLang="en-US" sz="800" b="1" i="0">
                          <a:solidFill>
                            <a:srgbClr val="FFFFFF"/>
                          </a:solidFill>
                          <a:latin typeface="微软雅黑" panose="020B0503020204020204" pitchFamily="34" charset="-122"/>
                          <a:ea typeface="微软雅黑" panose="020B0503020204020204" pitchFamily="34" charset="-122"/>
                        </a:rPr>
                        <a:t>年末出租率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chemeClr val="accent1">
                        <a:lumMod val="50000"/>
                      </a:schemeClr>
                    </a:solidFill>
                  </a:tcPr>
                </a:tc>
              </a:tr>
              <a:tr h="15748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发展大厦</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写字楼</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41,755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41,755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-16.7%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38.1%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57.4%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63.7%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366092"/>
                      </a:solidFill>
                      <a:prstDash val="solid"/>
                      <a:headEnd type="none" w="med" len="med"/>
                      <a:tailEnd type="none" w="med" len="med"/>
                    </a:lnB>
                    <a:noFill/>
                  </a:tcPr>
                </a:tc>
              </a:tr>
              <a:tr h="15875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发展大厦</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商铺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82.9%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57.4%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28.5%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28.5%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748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发展大厦小计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44,633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44,633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1,591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1,326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-16.7%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39.4%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49.9%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55.5%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61.4%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93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东湾村</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81,098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81,098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4,016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3,162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3,631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14.8%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68.6%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62.8%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79.9%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74.0%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79.7%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11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珠宝小镇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4,346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4,346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91.7%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748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亚金写字楼</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25,348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25,348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2,975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87.5%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88.8%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75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亚金商铺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97.0%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748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亚金小计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28,665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28,665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88.8%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89.8%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87.5%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84.0%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83.1%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75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云颂府</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23,549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23,549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612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632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658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70.8%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68.9%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74.2%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75.9%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89.8%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750">
                <a:tc>
                  <a:txBody>
                    <a:bodyPr/>
                    <a:p>
                      <a:pPr algn="l" fontAlgn="ctr">
                        <a:buNone/>
                      </a:pPr>
                      <a:r>
                        <a:rPr lang="zh-CN" altLang="en-US" sz="800" b="0" i="0">
                          <a:solidFill>
                            <a:srgbClr val="000000"/>
                          </a:solidFill>
                          <a:latin typeface="微软雅黑" panose="020B0503020204020204" pitchFamily="34" charset="-122"/>
                          <a:ea typeface="微软雅黑" panose="020B0503020204020204" pitchFamily="34" charset="-122"/>
                        </a:rPr>
                        <a:t>华南</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东湾旧改</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23,000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23,000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748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华南产业小计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205,291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205,291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9,247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8,646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8,709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93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惠州</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宿舍</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13,612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13,612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3">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3">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3">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3">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748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惠州</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商铺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75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惠州</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厂房</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11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惠州产业小计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21,965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17,469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1,180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1,242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1,201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99.6%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98.1%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96.9%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96.9%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811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苏州</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北地块</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7,565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5,461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44.1%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52.1%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76.4%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11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苏州</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南地块</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vMerge="1">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68.7%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51.9%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noFill/>
                  </a:tcPr>
                </a:tc>
              </a:tr>
              <a:tr h="15875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苏州租赁小计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11,202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8,168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167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60.6%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52.3%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39.4%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84.2%</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95.0%</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811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成都科创</a:t>
                      </a:r>
                      <a:r>
                        <a:rPr lang="en-US" altLang="zh-CN" sz="800" b="1" i="0">
                          <a:solidFill>
                            <a:srgbClr val="000000"/>
                          </a:solidFill>
                          <a:latin typeface="微软雅黑" panose="020B0503020204020204" pitchFamily="34" charset="-122"/>
                          <a:ea typeface="微软雅黑" panose="020B0503020204020204" pitchFamily="34" charset="-122"/>
                        </a:rPr>
                        <a:t>T2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35,444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32,725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37.4%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37.7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82.8%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48.4%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38.8%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80.8%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87.8%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748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研究院</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63,586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12,661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1,286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1,019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813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805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93.6%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92.3%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94.0%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r h="15875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1,456,105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1,360,264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99,770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99,575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99,753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366092"/>
                      </a:solidFill>
                      <a:prstDash val="solid"/>
                      <a:headEnd type="none" w="med" len="med"/>
                      <a:tailEnd type="none" w="med" len="med"/>
                    </a:lnL>
                    <a:lnR w="6350" cap="flat" cmpd="sng">
                      <a:solidFill>
                        <a:srgbClr val="366092"/>
                      </a:solidFill>
                      <a:prstDash val="solid"/>
                      <a:headEnd type="none" w="med" len="med"/>
                      <a:tailEnd type="none" w="med" len="med"/>
                    </a:lnR>
                    <a:lnT w="6350" cap="flat" cmpd="sng">
                      <a:solidFill>
                        <a:srgbClr val="366092"/>
                      </a:solidFill>
                      <a:prstDash val="solid"/>
                      <a:headEnd type="none" w="med" len="med"/>
                      <a:tailEnd type="none" w="med" len="med"/>
                    </a:lnT>
                    <a:lnB w="6350" cap="flat" cmpd="sng">
                      <a:solidFill>
                        <a:srgbClr val="366092"/>
                      </a:solidFill>
                      <a:prstDash val="solid"/>
                      <a:headEnd type="none" w="med" len="med"/>
                      <a:tailEnd type="none" w="med" len="med"/>
                    </a:lnB>
                    <a:solidFill>
                      <a:srgbClr val="FDE9D9"/>
                    </a:solidFill>
                  </a:tcPr>
                </a:tc>
              </a:tr>
            </a:tbl>
          </a:graphicData>
        </a:graphic>
      </p:graphicFrame>
      <p:sp>
        <p:nvSpPr>
          <p:cNvPr id="6" name="文本框 5"/>
          <p:cNvSpPr txBox="1"/>
          <p:nvPr/>
        </p:nvSpPr>
        <p:spPr>
          <a:xfrm>
            <a:off x="132715" y="4702175"/>
            <a:ext cx="9884410" cy="922020"/>
          </a:xfrm>
          <a:prstGeom prst="rect">
            <a:avLst/>
          </a:prstGeom>
          <a:noFill/>
        </p:spPr>
        <p:txBody>
          <a:bodyPr wrap="square" rtlCol="0" anchor="t">
            <a:spAutoFit/>
          </a:bodyPr>
          <a:p>
            <a:r>
              <a:rPr lang="zh-CN" sz="900" b="1" dirty="0">
                <a:latin typeface="微软雅黑" panose="020B0503020204020204" pitchFamily="34" charset="-122"/>
                <a:ea typeface="微软雅黑" panose="020B0503020204020204" pitchFamily="34" charset="-122"/>
                <a:sym typeface="+mn-ea"/>
              </a:rPr>
              <a:t>东湾、</a:t>
            </a:r>
            <a:r>
              <a:rPr sz="900" b="1" dirty="0">
                <a:latin typeface="微软雅黑" panose="020B0503020204020204" pitchFamily="34" charset="-122"/>
                <a:ea typeface="微软雅黑" panose="020B0503020204020204" pitchFamily="34" charset="-122"/>
                <a:sym typeface="+mn-ea"/>
              </a:rPr>
              <a:t>发展大厦：</a:t>
            </a:r>
            <a:r>
              <a:rPr lang="zh-CN" altLang="en-US" sz="900" dirty="0">
                <a:latin typeface="微软雅黑" panose="020B0503020204020204" pitchFamily="34" charset="-122"/>
                <a:ea typeface="微软雅黑" panose="020B0503020204020204" pitchFamily="34" charset="-122"/>
                <a:sym typeface="+mn-ea"/>
              </a:rPr>
              <a:t>新签：</a:t>
            </a:r>
            <a:r>
              <a:rPr lang="en-US" altLang="zh-CN" sz="900" dirty="0">
                <a:latin typeface="微软雅黑" panose="020B0503020204020204" pitchFamily="34" charset="-122"/>
                <a:ea typeface="微软雅黑" panose="020B0503020204020204" pitchFamily="34" charset="-122"/>
                <a:sym typeface="+mn-ea"/>
              </a:rPr>
              <a:t>2</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(26</a:t>
            </a:r>
            <a:r>
              <a:rPr lang="zh-CN" altLang="en-US" sz="900" dirty="0">
                <a:latin typeface="微软雅黑" panose="020B0503020204020204" pitchFamily="34" charset="-122"/>
                <a:ea typeface="微软雅黑" panose="020B0503020204020204" pitchFamily="34" charset="-122"/>
                <a:sym typeface="+mn-ea"/>
              </a:rPr>
              <a:t>年</a:t>
            </a:r>
            <a:r>
              <a:rPr lang="en-US" altLang="zh-CN" sz="900" dirty="0">
                <a:latin typeface="微软雅黑" panose="020B0503020204020204" pitchFamily="34" charset="-122"/>
                <a:ea typeface="微软雅黑" panose="020B0503020204020204" pitchFamily="34" charset="-122"/>
                <a:sym typeface="+mn-ea"/>
              </a:rPr>
              <a:t>2</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a:t>
            </a:r>
            <a:r>
              <a:rPr lang="zh-CN" altLang="en-US" sz="900" dirty="0">
                <a:latin typeface="微软雅黑" panose="020B0503020204020204" pitchFamily="34" charset="-122"/>
                <a:ea typeface="微软雅黑" panose="020B0503020204020204" pitchFamily="34" charset="-122"/>
                <a:sym typeface="+mn-ea"/>
              </a:rPr>
              <a:t>；续租：</a:t>
            </a:r>
            <a:r>
              <a:rPr lang="en-US" altLang="zh-CN" sz="900" dirty="0">
                <a:latin typeface="微软雅黑" panose="020B0503020204020204" pitchFamily="34" charset="-122"/>
                <a:ea typeface="微软雅黑" panose="020B0503020204020204" pitchFamily="34" charset="-122"/>
                <a:sym typeface="+mn-ea"/>
              </a:rPr>
              <a:t>2</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(26</a:t>
            </a:r>
            <a:r>
              <a:rPr lang="zh-CN" altLang="en-US" sz="900" dirty="0">
                <a:latin typeface="微软雅黑" panose="020B0503020204020204" pitchFamily="34" charset="-122"/>
                <a:ea typeface="微软雅黑" panose="020B0503020204020204" pitchFamily="34" charset="-122"/>
                <a:sym typeface="+mn-ea"/>
              </a:rPr>
              <a:t>年</a:t>
            </a:r>
            <a:r>
              <a:rPr lang="en-US" altLang="zh-CN" sz="900" dirty="0">
                <a:latin typeface="微软雅黑" panose="020B0503020204020204" pitchFamily="34" charset="-122"/>
                <a:ea typeface="微软雅黑" panose="020B0503020204020204" pitchFamily="34" charset="-122"/>
                <a:sym typeface="+mn-ea"/>
              </a:rPr>
              <a:t>2</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a:t>
            </a:r>
            <a:r>
              <a:rPr lang="zh-CN" altLang="en-US" sz="900" dirty="0">
                <a:latin typeface="微软雅黑" panose="020B0503020204020204" pitchFamily="34" charset="-122"/>
                <a:ea typeface="微软雅黑" panose="020B0503020204020204" pitchFamily="34" charset="-122"/>
                <a:sym typeface="+mn-ea"/>
              </a:rPr>
              <a:t>；</a:t>
            </a:r>
            <a:r>
              <a:rPr sz="900" b="1" dirty="0">
                <a:latin typeface="微软雅黑" panose="020B0503020204020204" pitchFamily="34" charset="-122"/>
                <a:ea typeface="微软雅黑" panose="020B0503020204020204" pitchFamily="34" charset="-122"/>
                <a:sym typeface="+mn-ea"/>
              </a:rPr>
              <a:t>亚金：</a:t>
            </a:r>
            <a:r>
              <a:rPr lang="zh-CN" altLang="en-US" sz="900" dirty="0">
                <a:latin typeface="微软雅黑" panose="020B0503020204020204" pitchFamily="34" charset="-122"/>
                <a:ea typeface="微软雅黑" panose="020B0503020204020204" pitchFamily="34" charset="-122"/>
                <a:sym typeface="+mn-ea"/>
              </a:rPr>
              <a:t>新签</a:t>
            </a:r>
            <a:r>
              <a:rPr lang="en-US" altLang="zh-CN" sz="900" dirty="0">
                <a:latin typeface="微软雅黑" panose="020B0503020204020204" pitchFamily="34" charset="-122"/>
                <a:ea typeface="微软雅黑" panose="020B0503020204020204" pitchFamily="34" charset="-122"/>
                <a:sym typeface="+mn-ea"/>
              </a:rPr>
              <a:t>4</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(2026</a:t>
            </a:r>
            <a:r>
              <a:rPr lang="zh-CN" altLang="en-US" sz="900" dirty="0">
                <a:latin typeface="微软雅黑" panose="020B0503020204020204" pitchFamily="34" charset="-122"/>
                <a:ea typeface="微软雅黑" panose="020B0503020204020204" pitchFamily="34" charset="-122"/>
                <a:sym typeface="+mn-ea"/>
              </a:rPr>
              <a:t>年</a:t>
            </a:r>
            <a:r>
              <a:rPr lang="en-US" altLang="zh-CN" sz="900" dirty="0">
                <a:latin typeface="微软雅黑" panose="020B0503020204020204" pitchFamily="34" charset="-122"/>
                <a:ea typeface="微软雅黑" panose="020B0503020204020204" pitchFamily="34" charset="-122"/>
                <a:sym typeface="+mn-ea"/>
              </a:rPr>
              <a:t>3</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+2027</a:t>
            </a:r>
            <a:r>
              <a:rPr lang="zh-CN" altLang="en-US" sz="900" dirty="0">
                <a:latin typeface="微软雅黑" panose="020B0503020204020204" pitchFamily="34" charset="-122"/>
                <a:ea typeface="微软雅黑" panose="020B0503020204020204" pitchFamily="34" charset="-122"/>
                <a:sym typeface="+mn-ea"/>
              </a:rPr>
              <a:t>年</a:t>
            </a:r>
            <a:r>
              <a:rPr lang="en-US" altLang="zh-CN" sz="900" dirty="0">
                <a:latin typeface="微软雅黑" panose="020B0503020204020204" pitchFamily="34" charset="-122"/>
                <a:ea typeface="微软雅黑" panose="020B0503020204020204" pitchFamily="34" charset="-122"/>
                <a:sym typeface="+mn-ea"/>
              </a:rPr>
              <a:t>1</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a:t>
            </a:r>
            <a:r>
              <a:rPr lang="zh-CN" altLang="en-US" sz="900" dirty="0">
                <a:latin typeface="微软雅黑" panose="020B0503020204020204" pitchFamily="34" charset="-122"/>
                <a:ea typeface="微软雅黑" panose="020B0503020204020204" pitchFamily="34" charset="-122"/>
                <a:sym typeface="+mn-ea"/>
              </a:rPr>
              <a:t>；续租</a:t>
            </a:r>
            <a:r>
              <a:rPr lang="en-US" altLang="zh-CN" sz="900" dirty="0">
                <a:latin typeface="微软雅黑" panose="020B0503020204020204" pitchFamily="34" charset="-122"/>
                <a:ea typeface="微软雅黑" panose="020B0503020204020204" pitchFamily="34" charset="-122"/>
                <a:sym typeface="+mn-ea"/>
              </a:rPr>
              <a:t>2</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(2026</a:t>
            </a:r>
            <a:r>
              <a:rPr lang="zh-CN" altLang="en-US" sz="900" dirty="0">
                <a:latin typeface="微软雅黑" panose="020B0503020204020204" pitchFamily="34" charset="-122"/>
                <a:ea typeface="微软雅黑" panose="020B0503020204020204" pitchFamily="34" charset="-122"/>
                <a:sym typeface="+mn-ea"/>
              </a:rPr>
              <a:t>年</a:t>
            </a:r>
            <a:r>
              <a:rPr lang="en-US" altLang="zh-CN" sz="900" dirty="0">
                <a:latin typeface="微软雅黑" panose="020B0503020204020204" pitchFamily="34" charset="-122"/>
                <a:ea typeface="微软雅黑" panose="020B0503020204020204" pitchFamily="34" charset="-122"/>
                <a:sym typeface="+mn-ea"/>
              </a:rPr>
              <a:t>2</a:t>
            </a:r>
            <a:r>
              <a:rPr lang="zh-CN" altLang="en-US" sz="900" dirty="0">
                <a:latin typeface="微软雅黑" panose="020B0503020204020204" pitchFamily="34" charset="-122"/>
                <a:ea typeface="微软雅黑" panose="020B0503020204020204" pitchFamily="34" charset="-122"/>
                <a:sym typeface="+mn-ea"/>
              </a:rPr>
              <a:t>个月</a:t>
            </a:r>
            <a:r>
              <a:rPr lang="en-US" altLang="zh-CN" sz="900" dirty="0">
                <a:latin typeface="微软雅黑" panose="020B0503020204020204" pitchFamily="34" charset="-122"/>
                <a:ea typeface="微软雅黑" panose="020B0503020204020204" pitchFamily="34" charset="-122"/>
                <a:sym typeface="+mn-ea"/>
              </a:rPr>
              <a:t>)</a:t>
            </a:r>
            <a:r>
              <a:rPr lang="zh-CN" altLang="en-US" sz="900" dirty="0">
                <a:latin typeface="微软雅黑" panose="020B0503020204020204" pitchFamily="34" charset="-122"/>
                <a:ea typeface="微软雅黑" panose="020B0503020204020204" pitchFamily="34" charset="-122"/>
                <a:sym typeface="+mn-ea"/>
              </a:rPr>
              <a:t>；</a:t>
            </a:r>
            <a:r>
              <a:rPr sz="900" b="1" dirty="0">
                <a:latin typeface="微软雅黑" panose="020B0503020204020204" pitchFamily="34" charset="-122"/>
                <a:ea typeface="微软雅黑" panose="020B0503020204020204" pitchFamily="34" charset="-122"/>
                <a:sym typeface="+mn-ea"/>
              </a:rPr>
              <a:t>云颂府：</a:t>
            </a:r>
            <a:r>
              <a:rPr lang="en-US" altLang="zh-CN" sz="900" dirty="0" smtClean="0">
                <a:latin typeface="微软雅黑" panose="020B0503020204020204" pitchFamily="34" charset="-122"/>
                <a:ea typeface="微软雅黑" panose="020B0503020204020204" pitchFamily="34" charset="-122"/>
                <a:sym typeface="+mn-ea"/>
              </a:rPr>
              <a:t>1</a:t>
            </a:r>
            <a:r>
              <a:rPr lang="zh-CN" altLang="en-US" sz="900" dirty="0" smtClean="0">
                <a:latin typeface="微软雅黑" panose="020B0503020204020204" pitchFamily="34" charset="-122"/>
                <a:ea typeface="微软雅黑" panose="020B0503020204020204" pitchFamily="34" charset="-122"/>
                <a:sym typeface="+mn-ea"/>
              </a:rPr>
              <a:t>、毛坯单元出租：自行装修的，新签免租期</a:t>
            </a:r>
            <a:r>
              <a:rPr lang="en-US" altLang="zh-CN" sz="900" dirty="0" smtClean="0">
                <a:latin typeface="微软雅黑" panose="020B0503020204020204" pitchFamily="34" charset="-122"/>
                <a:ea typeface="微软雅黑" panose="020B0503020204020204" pitchFamily="34" charset="-122"/>
                <a:sym typeface="+mn-ea"/>
              </a:rPr>
              <a:t>6-8</a:t>
            </a:r>
            <a:r>
              <a:rPr lang="zh-CN" altLang="en-US" sz="900" dirty="0" smtClean="0">
                <a:latin typeface="微软雅黑" panose="020B0503020204020204" pitchFamily="34" charset="-122"/>
                <a:ea typeface="微软雅黑" panose="020B0503020204020204" pitchFamily="34" charset="-122"/>
                <a:sym typeface="+mn-ea"/>
              </a:rPr>
              <a:t>个月；小面积客户按</a:t>
            </a:r>
            <a:r>
              <a:rPr lang="en-US" altLang="zh-CN" sz="900" dirty="0" smtClean="0">
                <a:latin typeface="微软雅黑" panose="020B0503020204020204" pitchFamily="34" charset="-122"/>
                <a:ea typeface="微软雅黑" panose="020B0503020204020204" pitchFamily="34" charset="-122"/>
                <a:sym typeface="+mn-ea"/>
              </a:rPr>
              <a:t>2026</a:t>
            </a:r>
            <a:r>
              <a:rPr lang="zh-CN" altLang="en-US" sz="900" dirty="0" smtClean="0">
                <a:latin typeface="微软雅黑" panose="020B0503020204020204" pitchFamily="34" charset="-122"/>
                <a:ea typeface="微软雅黑" panose="020B0503020204020204" pitchFamily="34" charset="-122"/>
                <a:sym typeface="+mn-ea"/>
              </a:rPr>
              <a:t>年</a:t>
            </a:r>
            <a:r>
              <a:rPr lang="en-US" altLang="zh-CN" sz="900" dirty="0" smtClean="0">
                <a:latin typeface="微软雅黑" panose="020B0503020204020204" pitchFamily="34" charset="-122"/>
                <a:ea typeface="微软雅黑" panose="020B0503020204020204" pitchFamily="34" charset="-122"/>
                <a:sym typeface="+mn-ea"/>
              </a:rPr>
              <a:t>3</a:t>
            </a:r>
            <a:r>
              <a:rPr lang="zh-CN" altLang="en-US" sz="900" dirty="0" smtClean="0">
                <a:latin typeface="微软雅黑" panose="020B0503020204020204" pitchFamily="34" charset="-122"/>
                <a:ea typeface="微软雅黑" panose="020B0503020204020204" pitchFamily="34" charset="-122"/>
                <a:sym typeface="+mn-ea"/>
              </a:rPr>
              <a:t>个月免租期，其余按年分摊；</a:t>
            </a:r>
            <a:r>
              <a:rPr lang="en-US" altLang="zh-CN" sz="900" dirty="0" smtClean="0">
                <a:latin typeface="微软雅黑" panose="020B0503020204020204" pitchFamily="34" charset="-122"/>
                <a:ea typeface="微软雅黑" panose="020B0503020204020204" pitchFamily="34" charset="-122"/>
                <a:sym typeface="+mn-ea"/>
              </a:rPr>
              <a:t>900</a:t>
            </a:r>
            <a:r>
              <a:rPr lang="zh-CN" altLang="en-US" sz="900" dirty="0" smtClean="0">
                <a:latin typeface="微软雅黑" panose="020B0503020204020204" pitchFamily="34" charset="-122"/>
                <a:ea typeface="微软雅黑" panose="020B0503020204020204" pitchFamily="34" charset="-122"/>
                <a:sym typeface="+mn-ea"/>
              </a:rPr>
              <a:t>平以上大面积客户</a:t>
            </a:r>
            <a:r>
              <a:rPr lang="en-US" altLang="zh-CN" sz="900" dirty="0" smtClean="0">
                <a:latin typeface="微软雅黑" panose="020B0503020204020204" pitchFamily="34" charset="-122"/>
                <a:ea typeface="微软雅黑" panose="020B0503020204020204" pitchFamily="34" charset="-122"/>
                <a:sym typeface="+mn-ea"/>
              </a:rPr>
              <a:t>2026</a:t>
            </a:r>
            <a:r>
              <a:rPr lang="zh-CN" altLang="en-US" sz="900" dirty="0" smtClean="0">
                <a:latin typeface="微软雅黑" panose="020B0503020204020204" pitchFamily="34" charset="-122"/>
                <a:ea typeface="微软雅黑" panose="020B0503020204020204" pitchFamily="34" charset="-122"/>
                <a:sym typeface="+mn-ea"/>
              </a:rPr>
              <a:t>年给</a:t>
            </a:r>
            <a:r>
              <a:rPr lang="en-US" altLang="zh-CN" sz="900" dirty="0" smtClean="0">
                <a:latin typeface="微软雅黑" panose="020B0503020204020204" pitchFamily="34" charset="-122"/>
                <a:ea typeface="微软雅黑" panose="020B0503020204020204" pitchFamily="34" charset="-122"/>
                <a:sym typeface="+mn-ea"/>
              </a:rPr>
              <a:t>5</a:t>
            </a:r>
            <a:r>
              <a:rPr lang="zh-CN" altLang="en-US" sz="900" dirty="0" smtClean="0">
                <a:latin typeface="微软雅黑" panose="020B0503020204020204" pitchFamily="34" charset="-122"/>
                <a:ea typeface="微软雅黑" panose="020B0503020204020204" pitchFamily="34" charset="-122"/>
                <a:sym typeface="+mn-ea"/>
              </a:rPr>
              <a:t>个月免租期，其余次年（二房东）或首三年分摊；</a:t>
            </a:r>
            <a:r>
              <a:rPr lang="en-US" altLang="zh-CN" sz="900" dirty="0" smtClean="0">
                <a:latin typeface="微软雅黑" panose="020B0503020204020204" pitchFamily="34" charset="-122"/>
                <a:ea typeface="微软雅黑" panose="020B0503020204020204" pitchFamily="34" charset="-122"/>
                <a:sym typeface="+mn-ea"/>
              </a:rPr>
              <a:t>2</a:t>
            </a:r>
            <a:r>
              <a:rPr lang="zh-CN" altLang="en-US" sz="900" dirty="0" smtClean="0">
                <a:latin typeface="微软雅黑" panose="020B0503020204020204" pitchFamily="34" charset="-122"/>
                <a:ea typeface="微软雅黑" panose="020B0503020204020204" pitchFamily="34" charset="-122"/>
                <a:sym typeface="+mn-ea"/>
              </a:rPr>
              <a:t>、带装修单元出租：若客户拎包入住按签一年增加一个月免租期；若客户须改造使用，首年增加</a:t>
            </a:r>
            <a:r>
              <a:rPr lang="en-US" altLang="zh-CN" sz="900" dirty="0" smtClean="0">
                <a:latin typeface="微软雅黑" panose="020B0503020204020204" pitchFamily="34" charset="-122"/>
                <a:ea typeface="微软雅黑" panose="020B0503020204020204" pitchFamily="34" charset="-122"/>
                <a:sym typeface="+mn-ea"/>
              </a:rPr>
              <a:t>1</a:t>
            </a:r>
            <a:r>
              <a:rPr lang="zh-CN" altLang="en-US" sz="900" dirty="0" smtClean="0">
                <a:latin typeface="微软雅黑" panose="020B0503020204020204" pitchFamily="34" charset="-122"/>
                <a:ea typeface="微软雅黑" panose="020B0503020204020204" pitchFamily="34" charset="-122"/>
                <a:sym typeface="+mn-ea"/>
              </a:rPr>
              <a:t>个月免租，其余按年分摊；</a:t>
            </a:r>
            <a:r>
              <a:rPr lang="en-US" altLang="zh-CN" sz="900" dirty="0" smtClean="0">
                <a:latin typeface="微软雅黑" panose="020B0503020204020204" pitchFamily="34" charset="-122"/>
                <a:ea typeface="微软雅黑" panose="020B0503020204020204" pitchFamily="34" charset="-122"/>
                <a:sym typeface="+mn-ea"/>
              </a:rPr>
              <a:t>3</a:t>
            </a:r>
            <a:r>
              <a:rPr lang="zh-CN" altLang="en-US" sz="900" dirty="0" smtClean="0">
                <a:latin typeface="微软雅黑" panose="020B0503020204020204" pitchFamily="34" charset="-122"/>
                <a:ea typeface="微软雅黑" panose="020B0503020204020204" pitchFamily="34" charset="-122"/>
                <a:sym typeface="+mn-ea"/>
              </a:rPr>
              <a:t>、续租免租期：按客户拎包入住方式，签一年一个月免租期；</a:t>
            </a:r>
            <a:endParaRPr lang="zh-CN" altLang="en-US" sz="900" dirty="0" smtClean="0">
              <a:latin typeface="微软雅黑" panose="020B0503020204020204" pitchFamily="34" charset="-122"/>
              <a:ea typeface="微软雅黑" panose="020B0503020204020204" pitchFamily="34" charset="-122"/>
              <a:sym typeface="+mn-ea"/>
            </a:endParaRPr>
          </a:p>
          <a:p>
            <a:r>
              <a:rPr sz="900" b="1" dirty="0">
                <a:latin typeface="微软雅黑" panose="020B0503020204020204" pitchFamily="34" charset="-122"/>
                <a:ea typeface="微软雅黑" panose="020B0503020204020204" pitchFamily="34" charset="-122"/>
                <a:sym typeface="+mn-ea"/>
              </a:rPr>
              <a:t>苏州租赁：</a:t>
            </a:r>
            <a:r>
              <a:rPr lang="zh-CN" altLang="en-US" sz="900" dirty="0">
                <a:latin typeface="微软雅黑" panose="020B0503020204020204" pitchFamily="34" charset="-122"/>
                <a:ea typeface="微软雅黑" panose="020B0503020204020204" pitchFamily="34" charset="-122"/>
              </a:rPr>
              <a:t>新签</a:t>
            </a:r>
            <a:r>
              <a:rPr lang="en-US" altLang="zh-CN" sz="900" dirty="0">
                <a:latin typeface="微软雅黑" panose="020B0503020204020204" pitchFamily="34" charset="-122"/>
                <a:ea typeface="微软雅黑" panose="020B0503020204020204" pitchFamily="34" charset="-122"/>
              </a:rPr>
              <a:t>3</a:t>
            </a:r>
            <a:r>
              <a:rPr lang="zh-CN" altLang="en-US" sz="900" dirty="0">
                <a:latin typeface="微软雅黑" panose="020B0503020204020204" pitchFamily="34" charset="-122"/>
                <a:ea typeface="微软雅黑" panose="020B0503020204020204" pitchFamily="34" charset="-122"/>
              </a:rPr>
              <a:t>个月免租期</a:t>
            </a:r>
            <a:endParaRPr lang="zh-CN" altLang="en-US" sz="900" dirty="0">
              <a:latin typeface="微软雅黑" panose="020B0503020204020204" pitchFamily="34" charset="-122"/>
              <a:ea typeface="微软雅黑" panose="020B0503020204020204" pitchFamily="34" charset="-122"/>
            </a:endParaRPr>
          </a:p>
          <a:p>
            <a:r>
              <a:rPr sz="900" b="1" dirty="0">
                <a:latin typeface="微软雅黑" panose="020B0503020204020204" pitchFamily="34" charset="-122"/>
                <a:ea typeface="微软雅黑" panose="020B0503020204020204" pitchFamily="34" charset="-122"/>
                <a:sym typeface="+mn-ea"/>
              </a:rPr>
              <a:t>成都租赁：</a:t>
            </a:r>
            <a:r>
              <a:rPr lang="zh-CN" sz="900" dirty="0">
                <a:latin typeface="微软雅黑" panose="020B0503020204020204" pitchFamily="34" charset="-122"/>
                <a:ea typeface="微软雅黑" panose="020B0503020204020204" pitchFamily="34" charset="-122"/>
                <a:sym typeface="+mn-ea"/>
              </a:rPr>
              <a:t>新签</a:t>
            </a:r>
            <a:r>
              <a:rPr sz="900" dirty="0">
                <a:latin typeface="微软雅黑" panose="020B0503020204020204" pitchFamily="34" charset="-122"/>
                <a:ea typeface="微软雅黑" panose="020B0503020204020204" pitchFamily="34" charset="-122"/>
                <a:sym typeface="+mn-ea"/>
              </a:rPr>
              <a:t>3个月免租期</a:t>
            </a:r>
            <a:endParaRPr sz="900" dirty="0">
              <a:latin typeface="微软雅黑" panose="020B0503020204020204" pitchFamily="34" charset="-122"/>
              <a:ea typeface="微软雅黑" panose="020B0503020204020204" pitchFamily="34" charset="-122"/>
            </a:endParaRPr>
          </a:p>
          <a:p>
            <a:endParaRPr lang="zh-CN" altLang="en-US" sz="900" dirty="0" smtClean="0">
              <a:latin typeface="微软雅黑" panose="020B0503020204020204" pitchFamily="34" charset="-122"/>
              <a:ea typeface="微软雅黑" panose="020B0503020204020204" pitchFamily="34" charset="-122"/>
              <a:sym typeface="+mn-ea"/>
            </a:endParaRPr>
          </a:p>
        </p:txBody>
      </p:sp>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r">
              <a:defRPr/>
            </a:pPr>
            <a:fld id="{9A0DB2DC-4C9A-4742-B13C-FB6460FD3503}" type="slidenum">
              <a:rPr lang="zh-CN" altLang="en-US" sz="1000" dirty="0">
                <a:solidFill>
                  <a:srgbClr val="595959"/>
                </a:solidFill>
                <a:ea typeface="微软雅黑" panose="020B0503020204020204" pitchFamily="34" charset="-122"/>
              </a:rPr>
            </a:fld>
            <a:endParaRPr lang="zh-CN" altLang="en-US" sz="1000" dirty="0">
              <a:solidFill>
                <a:srgbClr val="595959"/>
              </a:solidFill>
              <a:ea typeface="微软雅黑" panose="020B0503020204020204" pitchFamily="34" charset="-122"/>
            </a:endParaRPr>
          </a:p>
        </p:txBody>
      </p:sp>
      <p:sp>
        <p:nvSpPr>
          <p:cNvPr id="6" name="文本框 1"/>
          <p:cNvSpPr txBox="1"/>
          <p:nvPr/>
        </p:nvSpPr>
        <p:spPr>
          <a:xfrm>
            <a:off x="205200" y="4485521"/>
            <a:ext cx="9648000" cy="907414"/>
          </a:xfrm>
          <a:prstGeom prst="rect">
            <a:avLst/>
          </a:prstGeom>
          <a:noFill/>
        </p:spPr>
        <p:txBody>
          <a:bodyPr wrap="square" rtlCol="0" anchor="t">
            <a:noAutofit/>
          </a:bodyPr>
          <a:lstStyle>
            <a:defPPr>
              <a:defRPr lang="zh-CN"/>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a:lstStyle>
          <a:p>
            <a:pPr>
              <a:defRPr/>
            </a:pPr>
            <a:r>
              <a:rPr lang="zh-CN" altLang="en-US" sz="1050" b="1" dirty="0">
                <a:solidFill>
                  <a:prstClr val="black"/>
                </a:solidFill>
                <a:latin typeface="微软雅黑" panose="020B0503020204020204" pitchFamily="34" charset="-122"/>
                <a:ea typeface="微软雅黑" panose="020B0503020204020204" pitchFamily="34" charset="-122"/>
                <a:sym typeface="+mn-ea"/>
              </a:rPr>
              <a:t>出租率</a:t>
            </a:r>
            <a:r>
              <a:rPr lang="zh-CN" altLang="en-US" sz="1050" dirty="0">
                <a:solidFill>
                  <a:prstClr val="black"/>
                </a:solidFill>
                <a:latin typeface="微软雅黑" panose="020B0503020204020204" pitchFamily="34" charset="-122"/>
                <a:ea typeface="微软雅黑" panose="020B0503020204020204" pitchFamily="34" charset="-122"/>
                <a:sym typeface="+mn-ea"/>
              </a:rPr>
              <a:t>：</a:t>
            </a:r>
            <a:r>
              <a:rPr lang="en-US" altLang="zh-CN" sz="1050" kern="0" dirty="0">
                <a:ln>
                  <a:noFill/>
                  <a:prstDash val="sysDot"/>
                </a:ln>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050" kern="0" dirty="0">
                <a:ln>
                  <a:noFill/>
                  <a:prstDash val="sysDot"/>
                </a:ln>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年预算出租率除丽思酒店以外，其余酒店较</a:t>
            </a:r>
            <a:r>
              <a:rPr lang="en-US" altLang="zh-CN" sz="1050" kern="0" dirty="0">
                <a:ln>
                  <a:noFill/>
                  <a:prstDash val="sysDot"/>
                </a:ln>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2025</a:t>
            </a:r>
            <a:r>
              <a:rPr lang="zh-CN" altLang="en-US" sz="1050" kern="0" dirty="0">
                <a:ln>
                  <a:noFill/>
                  <a:prstDash val="sysDot"/>
                </a:ln>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年预计均有提升，其中东山、上海吉增幅较大；丽思出租率降幅</a:t>
            </a:r>
            <a:r>
              <a:rPr lang="en-US" altLang="zh-CN" sz="1050" kern="0" dirty="0" smtClean="0">
                <a:ln>
                  <a:noFill/>
                  <a:prstDash val="sysDot"/>
                </a:ln>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7.7%</a:t>
            </a:r>
            <a:r>
              <a:rPr lang="zh-CN" altLang="en-US" sz="1050" kern="0" dirty="0">
                <a:ln>
                  <a:noFill/>
                  <a:prstDash val="sysDot"/>
                </a:ln>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，主要因</a:t>
            </a:r>
            <a:r>
              <a:rPr lang="en-US" altLang="zh-CN" sz="1050" dirty="0">
                <a:latin typeface="微软雅黑" panose="020B0503020204020204" pitchFamily="34" charset="-122"/>
                <a:ea typeface="微软雅黑" panose="020B0503020204020204" pitchFamily="34" charset="-122"/>
                <a:sym typeface="+mn-ea"/>
              </a:rPr>
              <a:t>2026</a:t>
            </a:r>
            <a:r>
              <a:rPr lang="zh-CN" altLang="en-US" sz="1050" dirty="0">
                <a:latin typeface="微软雅黑" panose="020B0503020204020204" pitchFamily="34" charset="-122"/>
                <a:ea typeface="微软雅黑" panose="020B0503020204020204" pitchFamily="34" charset="-122"/>
                <a:sym typeface="+mn-ea"/>
              </a:rPr>
              <a:t>年受装修影响的客房数量一共是</a:t>
            </a:r>
            <a:r>
              <a:rPr lang="en-US" altLang="zh-CN" sz="1050" dirty="0">
                <a:latin typeface="微软雅黑" panose="020B0503020204020204" pitchFamily="34" charset="-122"/>
                <a:ea typeface="微软雅黑" panose="020B0503020204020204" pitchFamily="34" charset="-122"/>
                <a:sym typeface="+mn-ea"/>
              </a:rPr>
              <a:t>31,880</a:t>
            </a:r>
            <a:r>
              <a:rPr lang="zh-CN" altLang="en-US" sz="1050" dirty="0">
                <a:latin typeface="微软雅黑" panose="020B0503020204020204" pitchFamily="34" charset="-122"/>
                <a:ea typeface="微软雅黑" panose="020B0503020204020204" pitchFamily="34" charset="-122"/>
                <a:sym typeface="+mn-ea"/>
              </a:rPr>
              <a:t>房晚，占比总房数的</a:t>
            </a:r>
            <a:r>
              <a:rPr lang="en-US" altLang="zh-CN" sz="1050" dirty="0">
                <a:latin typeface="微软雅黑" panose="020B0503020204020204" pitchFamily="34" charset="-122"/>
                <a:ea typeface="微软雅黑" panose="020B0503020204020204" pitchFamily="34" charset="-122"/>
                <a:sym typeface="+mn-ea"/>
              </a:rPr>
              <a:t>31</a:t>
            </a:r>
            <a:r>
              <a:rPr lang="en-GB" altLang="zh-CN" sz="1050" dirty="0">
                <a:latin typeface="微软雅黑" panose="020B0503020204020204" pitchFamily="34" charset="-122"/>
                <a:ea typeface="微软雅黑" panose="020B0503020204020204" pitchFamily="34" charset="-122"/>
                <a:sym typeface="+mn-ea"/>
              </a:rPr>
              <a:t>.2</a:t>
            </a:r>
            <a:r>
              <a:rPr lang="en-US" altLang="zh-CN" sz="1050" dirty="0">
                <a:latin typeface="微软雅黑" panose="020B0503020204020204" pitchFamily="34" charset="-122"/>
                <a:ea typeface="微软雅黑" panose="020B0503020204020204" pitchFamily="34" charset="-122"/>
                <a:sym typeface="+mn-ea"/>
              </a:rPr>
              <a:t>%</a:t>
            </a:r>
            <a:r>
              <a:rPr lang="zh-CN" altLang="en-US" sz="1050" dirty="0">
                <a:latin typeface="微软雅黑" panose="020B0503020204020204" pitchFamily="34" charset="-122"/>
                <a:ea typeface="微软雅黑" panose="020B0503020204020204" pitchFamily="34" charset="-122"/>
                <a:sym typeface="+mn-ea"/>
              </a:rPr>
              <a:t>。</a:t>
            </a:r>
            <a:endParaRPr lang="zh-CN" altLang="en-US" sz="1050" dirty="0">
              <a:latin typeface="微软雅黑" panose="020B0503020204020204" pitchFamily="34" charset="-122"/>
              <a:ea typeface="微软雅黑" panose="020B0503020204020204" pitchFamily="34" charset="-122"/>
              <a:sym typeface="+mn-ea"/>
            </a:endParaRPr>
          </a:p>
          <a:p>
            <a:pPr>
              <a:defRPr/>
            </a:pPr>
            <a:r>
              <a:rPr lang="zh-CN" altLang="en-US" sz="1050" b="1" dirty="0">
                <a:solidFill>
                  <a:prstClr val="black"/>
                </a:solidFill>
                <a:latin typeface="微软雅黑" panose="020B0503020204020204" pitchFamily="34" charset="-122"/>
                <a:ea typeface="微软雅黑" panose="020B0503020204020204" pitchFamily="34" charset="-122"/>
                <a:sym typeface="+mn-ea"/>
              </a:rPr>
              <a:t>平均房价</a:t>
            </a:r>
            <a:r>
              <a:rPr lang="zh-CN" altLang="en-US" sz="1050" dirty="0">
                <a:solidFill>
                  <a:prstClr val="black"/>
                </a:solidFill>
                <a:latin typeface="微软雅黑" panose="020B0503020204020204" pitchFamily="34" charset="-122"/>
                <a:ea typeface="微软雅黑" panose="020B0503020204020204" pitchFamily="34" charset="-122"/>
                <a:sym typeface="+mn-ea"/>
              </a:rPr>
              <a:t>：东山平均房价降幅</a:t>
            </a:r>
            <a:r>
              <a:rPr lang="en-US" altLang="zh-CN" sz="1050" dirty="0">
                <a:solidFill>
                  <a:prstClr val="black"/>
                </a:solidFill>
                <a:latin typeface="微软雅黑" panose="020B0503020204020204" pitchFamily="34" charset="-122"/>
                <a:ea typeface="微软雅黑" panose="020B0503020204020204" pitchFamily="34" charset="-122"/>
                <a:sym typeface="+mn-ea"/>
              </a:rPr>
              <a:t>7.2%</a:t>
            </a:r>
            <a:r>
              <a:rPr lang="zh-CN" altLang="en-US" sz="1050" dirty="0">
                <a:solidFill>
                  <a:prstClr val="black"/>
                </a:solidFill>
                <a:latin typeface="微软雅黑" panose="020B0503020204020204" pitchFamily="34" charset="-122"/>
                <a:ea typeface="微软雅黑" panose="020B0503020204020204" pitchFamily="34" charset="-122"/>
                <a:sym typeface="+mn-ea"/>
              </a:rPr>
              <a:t>，主要因调低房价以提升出租率</a:t>
            </a:r>
            <a:r>
              <a:rPr lang="en-US" altLang="zh-CN" sz="1050" dirty="0">
                <a:solidFill>
                  <a:prstClr val="black"/>
                </a:solidFill>
                <a:latin typeface="微软雅黑" panose="020B0503020204020204" pitchFamily="34" charset="-122"/>
                <a:ea typeface="微软雅黑" panose="020B0503020204020204" pitchFamily="34" charset="-122"/>
                <a:sym typeface="+mn-ea"/>
              </a:rPr>
              <a:t>；</a:t>
            </a:r>
            <a:r>
              <a:rPr lang="zh-CN" altLang="en-US" sz="1050" dirty="0">
                <a:solidFill>
                  <a:prstClr val="black"/>
                </a:solidFill>
                <a:latin typeface="微软雅黑" panose="020B0503020204020204" pitchFamily="34" charset="-122"/>
                <a:ea typeface="微软雅黑" panose="020B0503020204020204" pitchFamily="34" charset="-122"/>
                <a:sym typeface="+mn-ea"/>
              </a:rPr>
              <a:t>深圳吉、星度假</a:t>
            </a:r>
            <a:r>
              <a:rPr lang="zh-CN" altLang="en-US" sz="1050" dirty="0" smtClean="0">
                <a:solidFill>
                  <a:prstClr val="black"/>
                </a:solidFill>
                <a:latin typeface="微软雅黑" panose="020B0503020204020204" pitchFamily="34" charset="-122"/>
                <a:ea typeface="微软雅黑" panose="020B0503020204020204" pitchFamily="34" charset="-122"/>
                <a:sym typeface="+mn-ea"/>
              </a:rPr>
              <a:t>、广州</a:t>
            </a:r>
            <a:r>
              <a:rPr lang="zh-CN" altLang="en-US" sz="1050" dirty="0">
                <a:solidFill>
                  <a:prstClr val="black"/>
                </a:solidFill>
                <a:latin typeface="微软雅黑" panose="020B0503020204020204" pitchFamily="34" charset="-122"/>
                <a:ea typeface="微软雅黑" panose="020B0503020204020204" pitchFamily="34" charset="-122"/>
                <a:sym typeface="+mn-ea"/>
              </a:rPr>
              <a:t>吉略有下降，主因各市场消费力下降</a:t>
            </a:r>
            <a:r>
              <a:rPr lang="en-US" altLang="zh-CN" sz="1050" dirty="0" smtClean="0">
                <a:solidFill>
                  <a:prstClr val="black"/>
                </a:solidFill>
                <a:latin typeface="微软雅黑" panose="020B0503020204020204" pitchFamily="34" charset="-122"/>
                <a:ea typeface="微软雅黑" panose="020B0503020204020204" pitchFamily="34" charset="-122"/>
                <a:sym typeface="+mn-ea"/>
              </a:rPr>
              <a:t>；</a:t>
            </a:r>
            <a:r>
              <a:rPr lang="zh-CN" altLang="en-US" sz="1050" dirty="0" smtClean="0">
                <a:solidFill>
                  <a:prstClr val="black"/>
                </a:solidFill>
                <a:latin typeface="微软雅黑" panose="020B0503020204020204" pitchFamily="34" charset="-122"/>
                <a:ea typeface="微软雅黑" panose="020B0503020204020204" pitchFamily="34" charset="-122"/>
                <a:sym typeface="+mn-ea"/>
              </a:rPr>
              <a:t>上海吉、常州</a:t>
            </a:r>
            <a:r>
              <a:rPr lang="zh-CN" altLang="en-US" sz="1050" dirty="0">
                <a:solidFill>
                  <a:prstClr val="black"/>
                </a:solidFill>
                <a:latin typeface="微软雅黑" panose="020B0503020204020204" pitchFamily="34" charset="-122"/>
                <a:ea typeface="微软雅黑" panose="020B0503020204020204" pitchFamily="34" charset="-122"/>
                <a:sym typeface="+mn-ea"/>
              </a:rPr>
              <a:t>万丽基本持平，丽思略有提升。</a:t>
            </a:r>
            <a:endParaRPr lang="en-US" altLang="zh-CN" sz="1050" dirty="0">
              <a:solidFill>
                <a:prstClr val="black"/>
              </a:solidFill>
              <a:latin typeface="微软雅黑" panose="020B0503020204020204" pitchFamily="34" charset="-122"/>
              <a:ea typeface="微软雅黑" panose="020B0503020204020204" pitchFamily="34" charset="-122"/>
              <a:sym typeface="+mn-ea"/>
            </a:endParaRPr>
          </a:p>
          <a:p>
            <a:pPr>
              <a:defRPr/>
            </a:pPr>
            <a:r>
              <a:rPr lang="zh-CN" altLang="en-US" sz="1050" b="1" kern="0" dirty="0">
                <a:solidFill>
                  <a:prstClr val="black"/>
                </a:solidFill>
                <a:latin typeface="微软雅黑" panose="020B0503020204020204" pitchFamily="34" charset="-122"/>
                <a:ea typeface="微软雅黑" panose="020B0503020204020204" pitchFamily="34" charset="-122"/>
                <a:sym typeface="+mn-ea"/>
              </a:rPr>
              <a:t>每房收益、客房收入</a:t>
            </a:r>
            <a:r>
              <a:rPr lang="zh-CN" altLang="en-US" sz="1050" kern="0" dirty="0">
                <a:solidFill>
                  <a:prstClr val="black"/>
                </a:solidFill>
                <a:latin typeface="微软雅黑" panose="020B0503020204020204" pitchFamily="34" charset="-122"/>
                <a:ea typeface="微软雅黑" panose="020B0503020204020204" pitchFamily="34" charset="-122"/>
                <a:sym typeface="+mn-ea"/>
              </a:rPr>
              <a:t>：东山、上海吉每房收益增幅较大，</a:t>
            </a:r>
            <a:r>
              <a:rPr lang="zh-CN" altLang="en-US"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客房收入</a:t>
            </a:r>
            <a:r>
              <a:rPr lang="en-US" altLang="zh-CN"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不含丽思</a:t>
            </a:r>
            <a:r>
              <a:rPr lang="en-US" altLang="zh-CN"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250</a:t>
            </a:r>
            <a:r>
              <a:rPr lang="zh-CN" altLang="en-US"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1050" b="1" kern="0" dirty="0">
              <a:ln>
                <a:noFill/>
                <a:prstDash val="sysDot"/>
              </a:ln>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defRPr/>
            </a:pPr>
            <a:endParaRPr lang="en-US" altLang="zh-CN" sz="1050" kern="0" dirty="0">
              <a:solidFill>
                <a:prstClr val="black"/>
              </a:solidFill>
              <a:latin typeface="微软雅黑" panose="020B0503020204020204" pitchFamily="34" charset="-122"/>
              <a:ea typeface="微软雅黑" panose="020B0503020204020204" pitchFamily="34" charset="-122"/>
              <a:sym typeface="+mn-ea"/>
            </a:endParaRPr>
          </a:p>
        </p:txBody>
      </p:sp>
      <p:graphicFrame>
        <p:nvGraphicFramePr>
          <p:cNvPr id="9" name="表格 8"/>
          <p:cNvGraphicFramePr/>
          <p:nvPr>
            <p:custDataLst>
              <p:tags r:id="rId1"/>
            </p:custDataLst>
          </p:nvPr>
        </p:nvGraphicFramePr>
        <p:xfrm>
          <a:off x="194405" y="800544"/>
          <a:ext cx="9552940" cy="3548380"/>
        </p:xfrm>
        <a:graphic>
          <a:graphicData uri="http://schemas.openxmlformats.org/drawingml/2006/table">
            <a:tbl>
              <a:tblPr/>
              <a:tblGrid>
                <a:gridCol w="720000"/>
                <a:gridCol w="527050"/>
                <a:gridCol w="504390"/>
                <a:gridCol w="463995"/>
                <a:gridCol w="479870"/>
                <a:gridCol w="580695"/>
                <a:gridCol w="504000"/>
                <a:gridCol w="504000"/>
                <a:gridCol w="504000"/>
                <a:gridCol w="612000"/>
                <a:gridCol w="504000"/>
                <a:gridCol w="504000"/>
                <a:gridCol w="504000"/>
                <a:gridCol w="612000"/>
                <a:gridCol w="504000"/>
                <a:gridCol w="504000"/>
                <a:gridCol w="504000"/>
                <a:gridCol w="516890"/>
              </a:tblGrid>
              <a:tr h="254434">
                <a:tc rowSpan="2">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项目</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rowSpan="2">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房间数</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出租率</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平均房价</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每房收益</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客房收入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361599">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深圳吉</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79.9%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81.6%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82.3%</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星度假</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44.6%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39.4%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40.5%</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东山</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41.0%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25.8%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31.9%</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14.6%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602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14.6%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广州吉</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54.0%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55.4%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55.9%</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上海吉</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63.8%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71.2%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73.8%</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582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4,466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98183">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自营</a:t>
                      </a:r>
                      <a:r>
                        <a:rPr lang="en-US" altLang="zh-CN" sz="900" b="1" i="0" u="none" strike="noStrike" dirty="0">
                          <a:solidFill>
                            <a:schemeClr val="tx1"/>
                          </a:solidFill>
                          <a:effectLst/>
                          <a:latin typeface="微软雅黑" panose="020B0503020204020204" pitchFamily="34" charset="-122"/>
                          <a:ea typeface="微软雅黑" panose="020B0503020204020204" pitchFamily="34" charset="-122"/>
                        </a:rPr>
                        <a:t>/</a:t>
                      </a: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特许</a:t>
                      </a:r>
                      <a:endParaRPr lang="en-US" altLang="zh-CN" sz="900" b="1" i="0" u="none" strike="noStrike" dirty="0">
                        <a:solidFill>
                          <a:schemeClr val="tx1"/>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小计</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61.6%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62.5%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64.3%</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12,199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12,499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12,740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丽思酒店</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46.2%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55.4%</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1,682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8,031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10,323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9,708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23637">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常州万丽</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52.2%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54.2%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54.2%</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noFill/>
                  </a:tcPr>
                </a:tc>
              </a:tr>
              <a:tr h="298183">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委托</a:t>
                      </a:r>
                      <a:endParaRPr lang="en-US" altLang="zh-CN" sz="900" b="1" i="0" u="none" strike="noStrike" dirty="0">
                        <a:solidFill>
                          <a:schemeClr val="tx1"/>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小计</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49.5%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56.8%</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54.7%</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11,271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13,561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12,955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-4.5%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382270">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酒店合计</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1,535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56.7%</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60.2%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60.4%</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0.4%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23,470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26,059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25,694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387985">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酒店</a:t>
                      </a:r>
                      <a:endParaRPr lang="en-US" altLang="zh-CN" sz="900" b="1" i="0" u="none" strike="noStrike" dirty="0">
                        <a:solidFill>
                          <a:schemeClr val="tx1"/>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不含丽思</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1,255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59.1%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60.2%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FF0000"/>
                          </a:solidFill>
                          <a:latin typeface="微软雅黑" panose="020B0503020204020204" pitchFamily="34" charset="-122"/>
                          <a:ea typeface="微软雅黑" panose="020B0503020204020204" pitchFamily="34" charset="-122"/>
                        </a:rPr>
                        <a:t>61.6%</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15,439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15,736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15,986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bl>
          </a:graphicData>
        </a:graphic>
      </p:graphicFrame>
      <p:sp>
        <p:nvSpPr>
          <p:cNvPr id="2" name="标题 4"/>
          <p:cNvSpPr txBox="1"/>
          <p:nvPr/>
        </p:nvSpPr>
        <p:spPr>
          <a:xfrm>
            <a:off x="350563" y="238694"/>
            <a:ext cx="7557554" cy="359245"/>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a:defRPr/>
            </a:pPr>
            <a:r>
              <a:rPr lang="zh-CN" altLang="en-US" b="1" dirty="0">
                <a:solidFill>
                  <a:prstClr val="black">
                    <a:lumMod val="75000"/>
                    <a:lumOff val="25000"/>
                  </a:prstClr>
                </a:solidFill>
              </a:rPr>
              <a:t>第一部分：202</a:t>
            </a:r>
            <a:r>
              <a:rPr lang="en-US" altLang="zh-CN" b="1" dirty="0">
                <a:solidFill>
                  <a:prstClr val="black">
                    <a:lumMod val="75000"/>
                    <a:lumOff val="25000"/>
                  </a:prstClr>
                </a:solidFill>
              </a:rPr>
              <a:t>6</a:t>
            </a:r>
            <a:r>
              <a:rPr lang="zh-CN" altLang="en-US" b="1" dirty="0">
                <a:solidFill>
                  <a:prstClr val="black">
                    <a:lumMod val="75000"/>
                    <a:lumOff val="25000"/>
                  </a:prstClr>
                </a:solidFill>
              </a:rPr>
              <a:t>年经营目标（</a:t>
            </a:r>
            <a:r>
              <a:rPr lang="zh-CN" altLang="en-US" b="1" dirty="0">
                <a:solidFill>
                  <a:prstClr val="black">
                    <a:lumMod val="75000"/>
                    <a:lumOff val="25000"/>
                  </a:prstClr>
                </a:solidFill>
                <a:highlight>
                  <a:srgbClr val="000000">
                    <a:alpha val="0"/>
                  </a:srgbClr>
                </a:highlight>
                <a:sym typeface="+mn-ea"/>
              </a:rPr>
              <a:t>酒店业务</a:t>
            </a:r>
            <a:r>
              <a:rPr lang="zh-CN" altLang="en-US" b="1" dirty="0">
                <a:solidFill>
                  <a:prstClr val="black">
                    <a:lumMod val="75000"/>
                    <a:lumOff val="25000"/>
                  </a:prstClr>
                </a:solidFill>
                <a:sym typeface="+mn-ea"/>
              </a:rPr>
              <a:t>关键指标</a:t>
            </a:r>
            <a:r>
              <a:rPr lang="zh-CN" altLang="en-US" b="1" dirty="0">
                <a:solidFill>
                  <a:prstClr val="black">
                    <a:lumMod val="75000"/>
                    <a:lumOff val="25000"/>
                  </a:prstClr>
                </a:solidFill>
              </a:rPr>
              <a:t>）</a:t>
            </a:r>
            <a:endParaRPr lang="zh-CN" altLang="en-US" b="1" dirty="0">
              <a:solidFill>
                <a:prstClr val="black">
                  <a:lumMod val="75000"/>
                  <a:lumOff val="25000"/>
                </a:prstClr>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r">
              <a:defRPr/>
            </a:pPr>
            <a:fld id="{9A0DB2DC-4C9A-4742-B13C-FB6460FD3503}" type="slidenum">
              <a:rPr lang="zh-CN" altLang="en-US" sz="1000" dirty="0">
                <a:solidFill>
                  <a:srgbClr val="595959"/>
                </a:solidFill>
                <a:ea typeface="微软雅黑" panose="020B0503020204020204" pitchFamily="34" charset="-122"/>
              </a:rPr>
            </a:fld>
            <a:endParaRPr lang="zh-CN" altLang="en-US" sz="1000" dirty="0">
              <a:solidFill>
                <a:srgbClr val="595959"/>
              </a:solidFill>
              <a:ea typeface="微软雅黑" panose="020B0503020204020204" pitchFamily="34" charset="-122"/>
            </a:endParaRPr>
          </a:p>
        </p:txBody>
      </p:sp>
      <p:sp>
        <p:nvSpPr>
          <p:cNvPr id="7" name="矩形 6"/>
          <p:cNvSpPr/>
          <p:nvPr/>
        </p:nvSpPr>
        <p:spPr>
          <a:xfrm>
            <a:off x="205740" y="4385945"/>
            <a:ext cx="9801225" cy="968375"/>
          </a:xfrm>
          <a:prstGeom prst="rect">
            <a:avLst/>
          </a:prstGeom>
        </p:spPr>
        <p:txBody>
          <a:bodyPr wrap="square">
            <a:spAutoFit/>
          </a:bodyPr>
          <a:lstStyle/>
          <a:p>
            <a:pPr>
              <a:spcAft>
                <a:spcPts val="600"/>
              </a:spcAft>
            </a:pP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受商务接待及宴会市场低迷影响，</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26</a:t>
            </a: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年餐饮收入</a:t>
            </a:r>
            <a:r>
              <a:rPr lang="zh-CN" altLang="en-US" sz="1200"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同比</a:t>
            </a: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下降</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95</a:t>
            </a:r>
            <a:r>
              <a:rPr lang="zh-CN" altLang="en-US" sz="1200"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万，不</a:t>
            </a: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含丽思口径同比增加</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224</a:t>
            </a:r>
            <a:r>
              <a:rPr lang="zh-CN" altLang="en-US"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万，增幅</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en-US" altLang="zh-CN" sz="1200"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2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。其中：</a:t>
            </a:r>
            <a:endParaRPr lang="en-US" altLang="zh-CN" sz="12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171450" indent="-171450">
              <a:buFont typeface="Arial" panose="020B0604020202020204" pitchFamily="34" charset="0"/>
              <a:buChar char="•"/>
            </a:pPr>
            <a:r>
              <a:rPr lang="zh-CN" altLang="en-US" sz="10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宴会收入</a:t>
            </a:r>
            <a:r>
              <a:rPr lang="zh-CN" altLang="en-US"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121</a:t>
            </a:r>
            <a:r>
              <a:rPr lang="zh-CN" altLang="en-US"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，增幅</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，主要因丽思</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72</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万（考虑增加婚宴）</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，广州吉增加</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12</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万（考虑增加商务会议），星度假增加</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8</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万，东山增加</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171450" indent="-171450">
              <a:buFont typeface="Arial" panose="020B0604020202020204" pitchFamily="34" charset="0"/>
              <a:buChar char="•"/>
            </a:pPr>
            <a:r>
              <a:rPr lang="zh-CN" altLang="en-US" sz="10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中餐厅收入下降</a:t>
            </a:r>
            <a:r>
              <a:rPr lang="en-US" altLang="zh-CN"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257</a:t>
            </a:r>
            <a:r>
              <a:rPr lang="zh-CN" altLang="en-US"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降幅</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5</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，主要因丽思</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下降</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262</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（住客客人减少影响餐厅收入），广州吉下降</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21</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万（人均消费降低）。</a:t>
            </a:r>
            <a:endPar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171450" indent="-171450">
              <a:buFont typeface="Arial" panose="020B0604020202020204" pitchFamily="34" charset="0"/>
              <a:buChar char="•"/>
            </a:pPr>
            <a:r>
              <a:rPr lang="zh-CN" altLang="en-US" sz="1000" b="1"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西餐厅收入</a:t>
            </a:r>
            <a:r>
              <a:rPr lang="zh-CN" altLang="en-US"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131</a:t>
            </a:r>
            <a:r>
              <a:rPr lang="zh-CN" altLang="en-US" sz="1000" b="1"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增幅</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常州万丽增加</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60</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万（客房出租率上升），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主要因上海吉增加</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53</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万（客房出租率上升），丽思增加</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19</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（第三批装修延期）。</a:t>
            </a:r>
            <a:endPar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171450" indent="-171450">
              <a:buFont typeface="Arial" panose="020B0604020202020204" pitchFamily="34" charset="0"/>
              <a:buChar char="•"/>
            </a:pP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其他餐厅</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收入下降</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125</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万，主要因丽思下降</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129</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万（装修影响），季节性</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产品</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粽子</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月饼及年货等</a:t>
            </a:r>
            <a:r>
              <a:rPr lang="en-US" altLang="zh-CN"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收入</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35</a:t>
            </a:r>
            <a:r>
              <a:rPr lang="zh-CN" altLang="en-US" sz="1000" dirty="0" smtClean="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en-US" sz="1000"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aphicFrame>
        <p:nvGraphicFramePr>
          <p:cNvPr id="3" name="表格 2"/>
          <p:cNvGraphicFramePr/>
          <p:nvPr>
            <p:custDataLst>
              <p:tags r:id="rId1"/>
            </p:custDataLst>
          </p:nvPr>
        </p:nvGraphicFramePr>
        <p:xfrm>
          <a:off x="135255" y="659129"/>
          <a:ext cx="9790430" cy="3596028"/>
        </p:xfrm>
        <a:graphic>
          <a:graphicData uri="http://schemas.openxmlformats.org/drawingml/2006/table">
            <a:tbl>
              <a:tblPr/>
              <a:tblGrid>
                <a:gridCol w="591820"/>
                <a:gridCol w="440055"/>
                <a:gridCol w="439420"/>
                <a:gridCol w="439420"/>
                <a:gridCol w="440055"/>
                <a:gridCol w="509905"/>
                <a:gridCol w="520700"/>
                <a:gridCol w="494665"/>
                <a:gridCol w="438785"/>
                <a:gridCol w="309880"/>
                <a:gridCol w="450850"/>
                <a:gridCol w="482600"/>
                <a:gridCol w="353695"/>
                <a:gridCol w="450850"/>
                <a:gridCol w="439420"/>
                <a:gridCol w="385445"/>
                <a:gridCol w="456565"/>
                <a:gridCol w="449580"/>
                <a:gridCol w="413385"/>
                <a:gridCol w="439420"/>
                <a:gridCol w="440055"/>
                <a:gridCol w="403860"/>
              </a:tblGrid>
              <a:tr h="327324">
                <a:tc rowSpan="3">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项目</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rowSpan="3">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2026</a:t>
                      </a:r>
                      <a:r>
                        <a:rPr lang="zh-CN" altLang="en-US" sz="900" b="1" i="0" dirty="0">
                          <a:solidFill>
                            <a:srgbClr val="FFFFFF"/>
                          </a:solidFill>
                          <a:latin typeface="微软雅黑" panose="020B0503020204020204" pitchFamily="34" charset="-122"/>
                          <a:ea typeface="微软雅黑" panose="020B0503020204020204" pitchFamily="34" charset="-122"/>
                        </a:rPr>
                        <a:t>年预算餐饮收入占比总收入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gridSpan="5">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餐饮收入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a:t>
                      </a:r>
                      <a:r>
                        <a:rPr lang="en-US" altLang="zh-CN" sz="900" b="1" i="0" dirty="0">
                          <a:solidFill>
                            <a:srgbClr val="FFFFFF"/>
                          </a:solidFill>
                          <a:latin typeface="微软雅黑" panose="020B0503020204020204" pitchFamily="34" charset="-122"/>
                          <a:ea typeface="微软雅黑" panose="020B0503020204020204" pitchFamily="34" charset="-122"/>
                        </a:rPr>
                        <a:t>-</a:t>
                      </a:r>
                      <a:r>
                        <a:rPr lang="zh-CN" altLang="en-US" sz="900" b="1" i="0" dirty="0">
                          <a:solidFill>
                            <a:srgbClr val="FFFFFF"/>
                          </a:solidFill>
                          <a:latin typeface="微软雅黑" panose="020B0503020204020204" pitchFamily="34" charset="-122"/>
                          <a:ea typeface="微软雅黑" panose="020B0503020204020204" pitchFamily="34" charset="-122"/>
                        </a:rPr>
                        <a:t>宴会收入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a:t>
                      </a:r>
                      <a:r>
                        <a:rPr lang="en-US" altLang="zh-CN" sz="900" b="1" i="0" dirty="0">
                          <a:solidFill>
                            <a:srgbClr val="FFFFFF"/>
                          </a:solidFill>
                          <a:latin typeface="微软雅黑" panose="020B0503020204020204" pitchFamily="34" charset="-122"/>
                          <a:ea typeface="微软雅黑" panose="020B0503020204020204" pitchFamily="34" charset="-122"/>
                        </a:rPr>
                        <a:t>-</a:t>
                      </a:r>
                      <a:r>
                        <a:rPr lang="zh-CN" altLang="en-US" sz="900" b="1" i="0" dirty="0">
                          <a:solidFill>
                            <a:srgbClr val="FFFFFF"/>
                          </a:solidFill>
                          <a:latin typeface="微软雅黑" panose="020B0503020204020204" pitchFamily="34" charset="-122"/>
                          <a:ea typeface="微软雅黑" panose="020B0503020204020204" pitchFamily="34" charset="-122"/>
                        </a:rPr>
                        <a:t>中餐收入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a:t>
                      </a:r>
                      <a:r>
                        <a:rPr lang="en-US" altLang="zh-CN" sz="900" b="1" i="0" dirty="0">
                          <a:solidFill>
                            <a:srgbClr val="FFFFFF"/>
                          </a:solidFill>
                          <a:latin typeface="微软雅黑" panose="020B0503020204020204" pitchFamily="34" charset="-122"/>
                          <a:ea typeface="微软雅黑" panose="020B0503020204020204" pitchFamily="34" charset="-122"/>
                        </a:rPr>
                        <a:t>-</a:t>
                      </a:r>
                      <a:r>
                        <a:rPr lang="zh-CN" altLang="en-US" sz="900" b="1" i="0" dirty="0">
                          <a:solidFill>
                            <a:srgbClr val="FFFFFF"/>
                          </a:solidFill>
                          <a:latin typeface="微软雅黑" panose="020B0503020204020204" pitchFamily="34" charset="-122"/>
                          <a:ea typeface="微软雅黑" panose="020B0503020204020204" pitchFamily="34" charset="-122"/>
                        </a:rPr>
                        <a:t>西餐收入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a:t>
                      </a:r>
                      <a:r>
                        <a:rPr lang="en-US" altLang="zh-CN" sz="900" b="1" i="0" dirty="0">
                          <a:solidFill>
                            <a:srgbClr val="FFFFFF"/>
                          </a:solidFill>
                          <a:latin typeface="微软雅黑" panose="020B0503020204020204" pitchFamily="34" charset="-122"/>
                          <a:ea typeface="微软雅黑" panose="020B0503020204020204" pitchFamily="34" charset="-122"/>
                        </a:rPr>
                        <a:t>-</a:t>
                      </a:r>
                      <a:r>
                        <a:rPr lang="zh-CN" altLang="en-US" sz="900" b="1" i="0" dirty="0">
                          <a:solidFill>
                            <a:srgbClr val="FFFFFF"/>
                          </a:solidFill>
                          <a:latin typeface="微软雅黑" panose="020B0503020204020204" pitchFamily="34" charset="-122"/>
                          <a:ea typeface="微软雅黑" panose="020B0503020204020204" pitchFamily="34" charset="-122"/>
                        </a:rPr>
                        <a:t>其他餐厅收入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a:t>
                      </a:r>
                      <a:r>
                        <a:rPr lang="en-US" altLang="zh-CN" sz="900" b="1" i="0" dirty="0">
                          <a:solidFill>
                            <a:srgbClr val="FFFFFF"/>
                          </a:solidFill>
                          <a:latin typeface="微软雅黑" panose="020B0503020204020204" pitchFamily="34" charset="-122"/>
                          <a:ea typeface="微软雅黑" panose="020B0503020204020204" pitchFamily="34" charset="-122"/>
                        </a:rPr>
                        <a:t>-</a:t>
                      </a:r>
                      <a:r>
                        <a:rPr lang="zh-CN" altLang="en-US" sz="900" b="1" i="0" dirty="0">
                          <a:solidFill>
                            <a:srgbClr val="FFFFFF"/>
                          </a:solidFill>
                          <a:latin typeface="微软雅黑" panose="020B0503020204020204" pitchFamily="34" charset="-122"/>
                          <a:ea typeface="微软雅黑" panose="020B0503020204020204" pitchFamily="34" charset="-122"/>
                        </a:rPr>
                        <a:t>季节性产品收入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209539">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rowSpan="2">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年预算目标</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grid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增长率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r>
              <a:tr h="4311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lstStyle/>
                    <a:p>
                      <a:pPr algn="ctr" fontAlgn="ctr"/>
                      <a:r>
                        <a:rPr lang="en-US" altLang="zh-CN" sz="900" b="1" i="0">
                          <a:solidFill>
                            <a:srgbClr val="FFFFFF"/>
                          </a:solidFill>
                          <a:latin typeface="微软雅黑" panose="020B0503020204020204" pitchFamily="34" charset="-122"/>
                          <a:ea typeface="微软雅黑" panose="020B0503020204020204" pitchFamily="34" charset="-122"/>
                        </a:rPr>
                        <a:t>25</a:t>
                      </a:r>
                      <a:r>
                        <a:rPr lang="zh-CN" altLang="en-US" sz="900" b="1" i="0">
                          <a:solidFill>
                            <a:srgbClr val="FFFFFF"/>
                          </a:solidFill>
                          <a:latin typeface="微软雅黑" panose="020B0503020204020204" pitchFamily="34" charset="-122"/>
                          <a:ea typeface="微软雅黑" panose="020B0503020204020204" pitchFamily="34" charset="-122"/>
                        </a:rPr>
                        <a:t>年预计对比</a:t>
                      </a:r>
                      <a:r>
                        <a:rPr lang="en-US" altLang="zh-CN" sz="900" b="1" i="0">
                          <a:solidFill>
                            <a:srgbClr val="FFFFFF"/>
                          </a:solidFill>
                          <a:latin typeface="微软雅黑" panose="020B0503020204020204" pitchFamily="34" charset="-122"/>
                          <a:ea typeface="微软雅黑" panose="020B0503020204020204" pitchFamily="34" charset="-122"/>
                        </a:rPr>
                        <a:t>25</a:t>
                      </a:r>
                      <a:r>
                        <a:rPr lang="zh-CN" altLang="en-US" sz="900" b="1" i="0">
                          <a:solidFill>
                            <a:srgbClr val="FFFFFF"/>
                          </a:solidFill>
                          <a:latin typeface="微软雅黑" panose="020B0503020204020204" pitchFamily="34" charset="-122"/>
                          <a:ea typeface="微软雅黑" panose="020B0503020204020204" pitchFamily="34" charset="-122"/>
                        </a:rPr>
                        <a:t>年预算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a:solidFill>
                            <a:srgbClr val="FFFFFF"/>
                          </a:solidFill>
                          <a:latin typeface="微软雅黑" panose="020B0503020204020204" pitchFamily="34" charset="-122"/>
                          <a:ea typeface="微软雅黑" panose="020B0503020204020204" pitchFamily="34" charset="-122"/>
                        </a:rPr>
                        <a:t>26</a:t>
                      </a:r>
                      <a:r>
                        <a:rPr lang="zh-CN" altLang="en-US" sz="900" b="1" i="0">
                          <a:solidFill>
                            <a:srgbClr val="FFFFFF"/>
                          </a:solidFill>
                          <a:latin typeface="微软雅黑" panose="020B0503020204020204" pitchFamily="34" charset="-122"/>
                          <a:ea typeface="微软雅黑" panose="020B0503020204020204" pitchFamily="34" charset="-122"/>
                        </a:rPr>
                        <a:t>年预算对比</a:t>
                      </a:r>
                      <a:r>
                        <a:rPr lang="en-US" altLang="zh-CN" sz="900" b="1" i="0">
                          <a:solidFill>
                            <a:srgbClr val="FFFFFF"/>
                          </a:solidFill>
                          <a:latin typeface="微软雅黑" panose="020B0503020204020204" pitchFamily="34" charset="-122"/>
                          <a:ea typeface="微软雅黑" panose="020B0503020204020204" pitchFamily="34" charset="-122"/>
                        </a:rPr>
                        <a:t>25</a:t>
                      </a:r>
                      <a:r>
                        <a:rPr lang="zh-CN" altLang="en-US" sz="900" b="1" i="0">
                          <a:solidFill>
                            <a:srgbClr val="FFFFFF"/>
                          </a:solidFill>
                          <a:latin typeface="微软雅黑" panose="020B0503020204020204" pitchFamily="34" charset="-122"/>
                          <a:ea typeface="微软雅黑" panose="020B0503020204020204" pitchFamily="34" charset="-122"/>
                        </a:rPr>
                        <a:t>年预计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深圳吉</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51%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5,776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星度假</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东山</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45%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-52%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广州吉</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42%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918%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上海吉</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11%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88000">
                <a:tc>
                  <a:txBody>
                    <a:bodyPr/>
                    <a:lstStyle/>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自营</a:t>
                      </a: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特许</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小计</a:t>
                      </a:r>
                      <a:endParaRPr lang="zh-CN" altLang="en-US"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38%</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9,668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8,532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8,667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3,968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3,996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2,445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2,439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1,673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1,726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178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180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丽思酒店</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7,295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6,976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0000">
                <a:tc>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常州万丽</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ctr" fontAlgn="ctr"/>
                      <a:r>
                        <a:rPr lang="en-US" altLang="zh-CN" sz="900" b="0" i="0">
                          <a:solidFill>
                            <a:srgbClr val="000000"/>
                          </a:solidFill>
                          <a:latin typeface="微软雅黑" panose="020B0503020204020204" pitchFamily="34" charset="-122"/>
                          <a:ea typeface="微软雅黑" panose="020B0503020204020204" pitchFamily="34" charset="-122"/>
                        </a:rPr>
                        <a:t>56%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4,413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88000">
                <a:tc>
                  <a:txBody>
                    <a:bodyPr/>
                    <a:lstStyle/>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委托小计</a:t>
                      </a:r>
                      <a:endParaRPr lang="zh-CN" altLang="en-US"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45%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13,122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11,619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11,389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4,519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4,612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2,801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2,551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2,704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2,782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1,079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389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365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396000">
                <a:tc>
                  <a:txBody>
                    <a:bodyPr/>
                    <a:lstStyle/>
                    <a:p>
                      <a:pPr algn="ctr" fontAlgn="ctr"/>
                      <a:r>
                        <a:rPr lang="zh-CN" altLang="en-US" sz="900" b="1" i="0" u="none" strike="noStrike" dirty="0">
                          <a:solidFill>
                            <a:schemeClr val="tx1"/>
                          </a:solidFill>
                          <a:effectLst/>
                          <a:latin typeface="微软雅黑" panose="020B0503020204020204" pitchFamily="34" charset="-122"/>
                          <a:ea typeface="微软雅黑" panose="020B0503020204020204" pitchFamily="34" charset="-122"/>
                        </a:rPr>
                        <a:t>酒店合计</a:t>
                      </a:r>
                      <a:endParaRPr lang="zh-CN" altLang="en-US" sz="9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ctr" fontAlgn="ctr"/>
                      <a:r>
                        <a:rPr lang="en-US" altLang="zh-CN" sz="900" b="1" i="0">
                          <a:solidFill>
                            <a:schemeClr val="tx1"/>
                          </a:solidFill>
                          <a:latin typeface="微软雅黑" panose="020B0503020204020204" pitchFamily="34" charset="-122"/>
                          <a:ea typeface="微软雅黑" panose="020B0503020204020204" pitchFamily="34" charset="-122"/>
                        </a:rPr>
                        <a:t>42%</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22,790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20,151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20,056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-12%</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0%</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8,487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8,608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1%</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5,246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4,989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-5%</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4,377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4,508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3%</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1,383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1,259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-9%</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658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 692 </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900" b="1" i="0">
                          <a:solidFill>
                            <a:schemeClr val="tx1"/>
                          </a:solidFill>
                          <a:latin typeface="微软雅黑" panose="020B0503020204020204" pitchFamily="34" charset="-122"/>
                          <a:ea typeface="微软雅黑" panose="020B0503020204020204" pitchFamily="34" charset="-122"/>
                        </a:rPr>
                        <a:t>5%</a:t>
                      </a:r>
                      <a:endParaRPr lang="en-US" altLang="zh-CN" sz="9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396000">
                <a:tc>
                  <a:txBody>
                    <a:bodyPr/>
                    <a:lstStyle/>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酒店</a:t>
                      </a:r>
                      <a:endParaRPr lang="en-US" altLang="zh-CN" sz="900" b="1" i="0" u="none" strike="noStrike" dirty="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不含丽思</a:t>
                      </a:r>
                      <a:endParaRPr lang="zh-CN" altLang="en-US"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43%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14,191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12,856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13,079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6,227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6,276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3,278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3,284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2,546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389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394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13%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6" name="标题 4"/>
          <p:cNvSpPr txBox="1"/>
          <p:nvPr/>
        </p:nvSpPr>
        <p:spPr>
          <a:xfrm>
            <a:off x="350563" y="238694"/>
            <a:ext cx="7557554" cy="359245"/>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a:defRPr/>
            </a:pPr>
            <a:r>
              <a:rPr lang="zh-CN" altLang="en-US" b="1" dirty="0">
                <a:solidFill>
                  <a:prstClr val="black">
                    <a:lumMod val="75000"/>
                    <a:lumOff val="25000"/>
                  </a:prstClr>
                </a:solidFill>
              </a:rPr>
              <a:t>第一部分：202</a:t>
            </a:r>
            <a:r>
              <a:rPr lang="en-US" altLang="zh-CN" b="1" dirty="0">
                <a:solidFill>
                  <a:prstClr val="black">
                    <a:lumMod val="75000"/>
                    <a:lumOff val="25000"/>
                  </a:prstClr>
                </a:solidFill>
              </a:rPr>
              <a:t>6</a:t>
            </a:r>
            <a:r>
              <a:rPr lang="zh-CN" altLang="en-US" b="1" dirty="0">
                <a:solidFill>
                  <a:prstClr val="black">
                    <a:lumMod val="75000"/>
                    <a:lumOff val="25000"/>
                  </a:prstClr>
                </a:solidFill>
              </a:rPr>
              <a:t>年经营目标（</a:t>
            </a:r>
            <a:r>
              <a:rPr lang="zh-CN" altLang="en-US" b="1" dirty="0">
                <a:solidFill>
                  <a:prstClr val="black">
                    <a:lumMod val="75000"/>
                    <a:lumOff val="25000"/>
                  </a:prstClr>
                </a:solidFill>
                <a:sym typeface="+mn-ea"/>
              </a:rPr>
              <a:t>酒店业务收入分类</a:t>
            </a:r>
            <a:r>
              <a:rPr lang="en-US" altLang="zh-CN" b="1" dirty="0">
                <a:solidFill>
                  <a:prstClr val="black">
                    <a:lumMod val="75000"/>
                    <a:lumOff val="25000"/>
                  </a:prstClr>
                </a:solidFill>
                <a:sym typeface="+mn-ea"/>
              </a:rPr>
              <a:t>-</a:t>
            </a:r>
            <a:r>
              <a:rPr lang="zh-CN" altLang="en-US" b="1" dirty="0">
                <a:solidFill>
                  <a:prstClr val="black">
                    <a:lumMod val="75000"/>
                    <a:lumOff val="25000"/>
                  </a:prstClr>
                </a:solidFill>
                <a:sym typeface="+mn-ea"/>
              </a:rPr>
              <a:t>餐饮收入细分</a:t>
            </a:r>
            <a:r>
              <a:rPr lang="zh-CN" altLang="en-US" b="1" dirty="0">
                <a:solidFill>
                  <a:prstClr val="black">
                    <a:lumMod val="75000"/>
                    <a:lumOff val="25000"/>
                  </a:prstClr>
                </a:solidFill>
              </a:rPr>
              <a:t>）</a:t>
            </a:r>
            <a:endParaRPr lang="zh-CN" altLang="en-US" b="1" dirty="0">
              <a:solidFill>
                <a:prstClr val="black">
                  <a:lumMod val="75000"/>
                  <a:lumOff val="25000"/>
                </a:prstClr>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r">
              <a:defRPr/>
            </a:pPr>
            <a:fld id="{9A0DB2DC-4C9A-4742-B13C-FB6460FD3503}" type="slidenum">
              <a:rPr lang="zh-CN" altLang="en-US" sz="1000" dirty="0">
                <a:solidFill>
                  <a:srgbClr val="595959"/>
                </a:solidFill>
                <a:ea typeface="微软雅黑" panose="020B0503020204020204" pitchFamily="34" charset="-122"/>
              </a:rPr>
            </a:fld>
            <a:endParaRPr lang="zh-CN" altLang="en-US" sz="1000" dirty="0">
              <a:solidFill>
                <a:srgbClr val="595959"/>
              </a:solidFill>
              <a:ea typeface="微软雅黑" panose="020B0503020204020204" pitchFamily="34" charset="-122"/>
            </a:endParaRPr>
          </a:p>
        </p:txBody>
      </p:sp>
      <p:graphicFrame>
        <p:nvGraphicFramePr>
          <p:cNvPr id="4" name="表格 3"/>
          <p:cNvGraphicFramePr/>
          <p:nvPr>
            <p:custDataLst>
              <p:tags r:id="rId1"/>
            </p:custDataLst>
          </p:nvPr>
        </p:nvGraphicFramePr>
        <p:xfrm>
          <a:off x="204470" y="741487"/>
          <a:ext cx="9576435" cy="3528582"/>
        </p:xfrm>
        <a:graphic>
          <a:graphicData uri="http://schemas.openxmlformats.org/drawingml/2006/table">
            <a:tbl>
              <a:tblPr/>
              <a:tblGrid>
                <a:gridCol w="666750"/>
                <a:gridCol w="557530"/>
                <a:gridCol w="556895"/>
                <a:gridCol w="556260"/>
                <a:gridCol w="556260"/>
                <a:gridCol w="557530"/>
                <a:gridCol w="556895"/>
                <a:gridCol w="556260"/>
                <a:gridCol w="558165"/>
                <a:gridCol w="556895"/>
                <a:gridCol w="556895"/>
                <a:gridCol w="556260"/>
                <a:gridCol w="556260"/>
                <a:gridCol w="556895"/>
                <a:gridCol w="556895"/>
                <a:gridCol w="556895"/>
                <a:gridCol w="556895"/>
              </a:tblGrid>
              <a:tr h="414782">
                <a:tc rowSpan="2">
                  <a:txBody>
                    <a:bodyPr/>
                    <a:lstStyle/>
                    <a:p>
                      <a:pPr algn="ctr" fontAlgn="ctr"/>
                      <a:r>
                        <a:rPr lang="zh-CN" altLang="en-US" sz="1000" b="1" i="0" dirty="0">
                          <a:solidFill>
                            <a:srgbClr val="FFFFFF"/>
                          </a:solidFill>
                          <a:latin typeface="微软雅黑" panose="020B0503020204020204" pitchFamily="34" charset="-122"/>
                          <a:ea typeface="微软雅黑" panose="020B0503020204020204" pitchFamily="34" charset="-122"/>
                        </a:rPr>
                        <a:t>项目</a:t>
                      </a:r>
                      <a:endParaRPr lang="zh-CN" altLang="en-US" sz="10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gridSpan="4">
                  <a:txBody>
                    <a:bodyPr/>
                    <a:lstStyle/>
                    <a:p>
                      <a:pPr algn="ctr" fontAlgn="ctr"/>
                      <a:r>
                        <a:rPr lang="zh-CN" altLang="en-US" sz="1000" b="1" i="0" dirty="0">
                          <a:solidFill>
                            <a:srgbClr val="FFFFFF"/>
                          </a:solidFill>
                          <a:latin typeface="微软雅黑" panose="020B0503020204020204" pitchFamily="34" charset="-122"/>
                          <a:ea typeface="微软雅黑" panose="020B0503020204020204" pitchFamily="34" charset="-122"/>
                        </a:rPr>
                        <a:t>人工成本率</a:t>
                      </a:r>
                      <a:endParaRPr lang="zh-CN" altLang="en-US" sz="10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1000" b="1" i="0" dirty="0">
                          <a:solidFill>
                            <a:srgbClr val="FFFFFF"/>
                          </a:solidFill>
                          <a:latin typeface="微软雅黑" panose="020B0503020204020204" pitchFamily="34" charset="-122"/>
                          <a:ea typeface="微软雅黑" panose="020B0503020204020204" pitchFamily="34" charset="-122"/>
                        </a:rPr>
                        <a:t>能耗率</a:t>
                      </a:r>
                      <a:endParaRPr lang="zh-CN" altLang="en-US" sz="10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1000" b="1" i="0" dirty="0">
                          <a:solidFill>
                            <a:srgbClr val="FFFFFF"/>
                          </a:solidFill>
                          <a:latin typeface="微软雅黑" panose="020B0503020204020204" pitchFamily="34" charset="-122"/>
                          <a:ea typeface="微软雅黑" panose="020B0503020204020204" pitchFamily="34" charset="-122"/>
                        </a:rPr>
                        <a:t>食品成本率</a:t>
                      </a:r>
                      <a:endParaRPr lang="zh-CN" altLang="en-US" sz="10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1000" b="1" i="0">
                          <a:solidFill>
                            <a:srgbClr val="FFFFFF"/>
                          </a:solidFill>
                          <a:latin typeface="微软雅黑" panose="020B0503020204020204" pitchFamily="34" charset="-122"/>
                          <a:ea typeface="微软雅黑" panose="020B0503020204020204" pitchFamily="34" charset="-122"/>
                        </a:rPr>
                        <a:t>人均</a:t>
                      </a:r>
                      <a:r>
                        <a:rPr lang="en-US" altLang="zh-CN" sz="1000" b="1" i="0">
                          <a:solidFill>
                            <a:srgbClr val="FFFFFF"/>
                          </a:solidFill>
                          <a:latin typeface="微软雅黑" panose="020B0503020204020204" pitchFamily="34" charset="-122"/>
                          <a:ea typeface="微软雅黑" panose="020B0503020204020204" pitchFamily="34" charset="-122"/>
                        </a:rPr>
                        <a:t>GOP</a:t>
                      </a:r>
                      <a:r>
                        <a:rPr lang="zh-CN" altLang="en-US" sz="1000" b="1" i="0">
                          <a:solidFill>
                            <a:srgbClr val="FFFFFF"/>
                          </a:solidFill>
                          <a:latin typeface="微软雅黑" panose="020B0503020204020204" pitchFamily="34" charset="-122"/>
                          <a:ea typeface="微软雅黑" panose="020B0503020204020204" pitchFamily="34" charset="-122"/>
                        </a:rPr>
                        <a:t>（</a:t>
                      </a:r>
                      <a:r>
                        <a:rPr lang="en-US" altLang="zh-CN" sz="1000" b="1" i="0">
                          <a:solidFill>
                            <a:srgbClr val="FFFFFF"/>
                          </a:solidFill>
                          <a:latin typeface="微软雅黑" panose="020B0503020204020204" pitchFamily="34" charset="-122"/>
                          <a:ea typeface="微软雅黑" panose="020B0503020204020204" pitchFamily="34" charset="-122"/>
                        </a:rPr>
                        <a:t>GOP</a:t>
                      </a:r>
                      <a:r>
                        <a:rPr lang="en-US" altLang="zh-CN" sz="1000" b="1" i="0">
                          <a:solidFill>
                            <a:srgbClr val="FFFFFF"/>
                          </a:solidFill>
                          <a:latin typeface="微软雅黑" panose="020B0503020204020204" pitchFamily="34" charset="-122"/>
                          <a:ea typeface="微软雅黑" panose="020B0503020204020204" pitchFamily="34" charset="-122"/>
                        </a:rPr>
                        <a:t>/</a:t>
                      </a:r>
                      <a:r>
                        <a:rPr lang="zh-CN" altLang="en-US" sz="1000" b="1" i="0">
                          <a:solidFill>
                            <a:srgbClr val="FFFFFF"/>
                          </a:solidFill>
                          <a:latin typeface="微软雅黑" panose="020B0503020204020204" pitchFamily="34" charset="-122"/>
                          <a:ea typeface="微软雅黑" panose="020B0503020204020204" pitchFamily="34" charset="-122"/>
                        </a:rPr>
                        <a:t>平均人数）</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636054">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年预计</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年预计</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10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1000" b="1" i="0" u="none" strike="noStrike">
                          <a:solidFill>
                            <a:srgbClr val="FFFFFF"/>
                          </a:solidFill>
                          <a:effectLst/>
                          <a:latin typeface="微软雅黑" panose="020B0503020204020204" pitchFamily="34" charset="-122"/>
                          <a:ea typeface="微软雅黑" panose="020B0503020204020204" pitchFamily="34" charset="-122"/>
                        </a:rPr>
                        <a:t>年预算</a:t>
                      </a:r>
                      <a:endParaRPr lang="zh-CN" altLang="en-US" sz="10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10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10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r>
              <a:tr h="354204">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深圳吉</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29.9%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31.2%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30.1%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-3.6%</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36.3%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11.9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11.7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11.7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0.1%</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r>
              <a:tr h="354965">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星度假</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52.1%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52.4%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51.0%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-2.6%</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0.2%</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41.3%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41.5%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42.2%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C00000"/>
                          </a:solidFill>
                          <a:latin typeface="微软雅黑" panose="020B0503020204020204" pitchFamily="34" charset="-122"/>
                          <a:ea typeface="微软雅黑" panose="020B0503020204020204" pitchFamily="34" charset="-122"/>
                        </a:rPr>
                        <a:t>1.8%</a:t>
                      </a:r>
                      <a:endParaRPr lang="en-US" altLang="zh-CN" sz="10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320.7%</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53363">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东山</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49.2%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76.7%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60.9%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-20.5%</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12.1%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-1.8%</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45.7%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44.5%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44.5%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45.1%</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53363">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广州吉</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51.6%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50.2%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47.1%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-6.2%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-1.2%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43.5%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43.6%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94.9%</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54204">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上海吉</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34.7%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34.1%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-1.8%</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2.7%</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43.2%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35.6%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-5.4%</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13.4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21.1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22.7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7.6%</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53363">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丽思酒店</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40.2%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38.1%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39.7%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4.2%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6.3%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2.6%</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37.4%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36.8%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36.7%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-0.3%</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0.3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-63.5%</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54204">
                <a:tc>
                  <a:txBody>
                    <a:bodyPr/>
                    <a:lstStyle/>
                    <a:p>
                      <a:pPr algn="ctr" fontAlgn="ctr"/>
                      <a:r>
                        <a:rPr lang="zh-CN" altLang="en-US" sz="1000" b="1" i="0" u="none" strike="noStrike" dirty="0">
                          <a:solidFill>
                            <a:schemeClr val="tx1"/>
                          </a:solidFill>
                          <a:effectLst/>
                          <a:latin typeface="微软雅黑" panose="020B0503020204020204" pitchFamily="34" charset="-122"/>
                          <a:ea typeface="微软雅黑" panose="020B0503020204020204" pitchFamily="34" charset="-122"/>
                        </a:rPr>
                        <a:t>常州万丽</a:t>
                      </a:r>
                      <a:endParaRPr lang="zh-CN" altLang="en-US"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36.0%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35.0%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35.0%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-5.9%</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38.5%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38.8%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38.6%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-0.4%</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8.4%</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2" name="文本框 1"/>
          <p:cNvSpPr txBox="1"/>
          <p:nvPr/>
        </p:nvSpPr>
        <p:spPr>
          <a:xfrm>
            <a:off x="132715" y="4413885"/>
            <a:ext cx="9839960" cy="1053465"/>
          </a:xfrm>
          <a:prstGeom prst="rect">
            <a:avLst/>
          </a:prstGeom>
          <a:noFill/>
        </p:spPr>
        <p:txBody>
          <a:bodyPr wrap="square" rtlCol="0" anchor="t">
            <a:noAutofit/>
          </a:bodyPr>
          <a:lstStyle/>
          <a:p>
            <a:r>
              <a:rPr lang="zh-CN" altLang="en-US" sz="1050" b="1" dirty="0">
                <a:solidFill>
                  <a:prstClr val="black"/>
                </a:solidFill>
                <a:latin typeface="微软雅黑" panose="020B0503020204020204" pitchFamily="34" charset="-122"/>
                <a:ea typeface="微软雅黑" panose="020B0503020204020204" pitchFamily="34" charset="-122"/>
                <a:sym typeface="+mn-ea"/>
              </a:rPr>
              <a:t>人工成本率</a:t>
            </a:r>
            <a:r>
              <a:rPr lang="zh-CN" altLang="en-US" sz="1050" dirty="0">
                <a:solidFill>
                  <a:prstClr val="black"/>
                </a:solidFill>
                <a:latin typeface="微软雅黑" panose="020B0503020204020204" pitchFamily="34" charset="-122"/>
                <a:ea typeface="微软雅黑" panose="020B0503020204020204" pitchFamily="34" charset="-122"/>
                <a:sym typeface="+mn-ea"/>
              </a:rPr>
              <a:t>：</a:t>
            </a:r>
            <a:r>
              <a:rPr lang="zh-CN" altLang="en-US" sz="1050" dirty="0">
                <a:solidFill>
                  <a:srgbClr val="C00000"/>
                </a:solidFill>
                <a:latin typeface="微软雅黑" panose="020B0503020204020204" pitchFamily="34" charset="-122"/>
                <a:ea typeface="微软雅黑" panose="020B0503020204020204" pitchFamily="34" charset="-122"/>
                <a:sym typeface="+mn-ea"/>
              </a:rPr>
              <a:t>东山、广州吉、星度假、深圳吉、常州万丽下降，考虑人员减少、年终奖减少等因素影响</a:t>
            </a:r>
            <a:r>
              <a:rPr lang="zh-CN" altLang="en-US" sz="1050" dirty="0">
                <a:solidFill>
                  <a:prstClr val="black"/>
                </a:solidFill>
                <a:latin typeface="微软雅黑" panose="020B0503020204020204" pitchFamily="34" charset="-122"/>
                <a:ea typeface="微软雅黑" panose="020B0503020204020204" pitchFamily="34" charset="-122"/>
                <a:sym typeface="+mn-ea"/>
              </a:rPr>
              <a:t>；丽思增幅</a:t>
            </a:r>
            <a:r>
              <a:rPr lang="en-US" altLang="zh-CN" sz="1050" dirty="0" smtClean="0">
                <a:solidFill>
                  <a:prstClr val="black"/>
                </a:solidFill>
                <a:latin typeface="微软雅黑" panose="020B0503020204020204" pitchFamily="34" charset="-122"/>
                <a:ea typeface="微软雅黑" panose="020B0503020204020204" pitchFamily="34" charset="-122"/>
                <a:sym typeface="+mn-ea"/>
              </a:rPr>
              <a:t>4.2</a:t>
            </a:r>
            <a:r>
              <a:rPr lang="en-US" altLang="zh-CN" sz="1050" dirty="0" smtClean="0">
                <a:solidFill>
                  <a:prstClr val="black"/>
                </a:solidFill>
                <a:latin typeface="微软雅黑" panose="020B0503020204020204" pitchFamily="34" charset="-122"/>
                <a:ea typeface="微软雅黑" panose="020B0503020204020204" pitchFamily="34" charset="-122"/>
                <a:sym typeface="+mn-ea"/>
              </a:rPr>
              <a:t>%</a:t>
            </a:r>
            <a:r>
              <a:rPr lang="zh-CN" altLang="en-US" sz="1050" dirty="0">
                <a:solidFill>
                  <a:prstClr val="black"/>
                </a:solidFill>
                <a:latin typeface="微软雅黑" panose="020B0503020204020204" pitchFamily="34" charset="-122"/>
                <a:ea typeface="微软雅黑" panose="020B0503020204020204" pitchFamily="34" charset="-122"/>
                <a:sym typeface="+mn-ea"/>
              </a:rPr>
              <a:t>，主要考虑缩短与深圳市场奢华酒店的工资差距留住优秀基层员工，薪资普调</a:t>
            </a:r>
            <a:r>
              <a:rPr lang="en-US" altLang="zh-CN" sz="1050" dirty="0">
                <a:solidFill>
                  <a:prstClr val="black"/>
                </a:solidFill>
                <a:latin typeface="微软雅黑" panose="020B0503020204020204" pitchFamily="34" charset="-122"/>
                <a:ea typeface="微软雅黑" panose="020B0503020204020204" pitchFamily="34" charset="-122"/>
                <a:sym typeface="+mn-ea"/>
              </a:rPr>
              <a:t>2%</a:t>
            </a:r>
            <a:r>
              <a:rPr lang="zh-CN" altLang="en-US" sz="1050" dirty="0">
                <a:solidFill>
                  <a:prstClr val="black"/>
                </a:solidFill>
                <a:latin typeface="微软雅黑" panose="020B0503020204020204" pitchFamily="34" charset="-122"/>
                <a:ea typeface="微软雅黑" panose="020B0503020204020204" pitchFamily="34" charset="-122"/>
                <a:sym typeface="+mn-ea"/>
              </a:rPr>
              <a:t>，奖金按</a:t>
            </a:r>
            <a:r>
              <a:rPr lang="en-US" altLang="zh-CN" sz="1050" dirty="0">
                <a:solidFill>
                  <a:prstClr val="black"/>
                </a:solidFill>
                <a:latin typeface="微软雅黑" panose="020B0503020204020204" pitchFamily="34" charset="-122"/>
                <a:ea typeface="微软雅黑" panose="020B0503020204020204" pitchFamily="34" charset="-122"/>
                <a:sym typeface="+mn-ea"/>
              </a:rPr>
              <a:t>1</a:t>
            </a:r>
            <a:r>
              <a:rPr lang="zh-CN" altLang="en-US" sz="1050" dirty="0">
                <a:solidFill>
                  <a:prstClr val="black"/>
                </a:solidFill>
                <a:latin typeface="微软雅黑" panose="020B0503020204020204" pitchFamily="34" charset="-122"/>
                <a:ea typeface="微软雅黑" panose="020B0503020204020204" pitchFamily="34" charset="-122"/>
                <a:sym typeface="+mn-ea"/>
              </a:rPr>
              <a:t>个月计提，员工人数减少</a:t>
            </a:r>
            <a:r>
              <a:rPr lang="en-US" altLang="zh-CN" sz="1050" dirty="0">
                <a:solidFill>
                  <a:prstClr val="black"/>
                </a:solidFill>
                <a:latin typeface="微软雅黑" panose="020B0503020204020204" pitchFamily="34" charset="-122"/>
                <a:ea typeface="微软雅黑" panose="020B0503020204020204" pitchFamily="34" charset="-122"/>
                <a:sym typeface="+mn-ea"/>
              </a:rPr>
              <a:t>16</a:t>
            </a:r>
            <a:r>
              <a:rPr lang="zh-CN" altLang="en-US" sz="1050" dirty="0">
                <a:solidFill>
                  <a:prstClr val="black"/>
                </a:solidFill>
                <a:latin typeface="微软雅黑" panose="020B0503020204020204" pitchFamily="34" charset="-122"/>
                <a:ea typeface="微软雅黑" panose="020B0503020204020204" pitchFamily="34" charset="-122"/>
                <a:sym typeface="+mn-ea"/>
              </a:rPr>
              <a:t>人，叠加收入下降影响，人工成本率上涨。</a:t>
            </a:r>
            <a:endParaRPr lang="en-US" altLang="zh-CN" sz="1050" dirty="0">
              <a:solidFill>
                <a:prstClr val="black"/>
              </a:solidFill>
              <a:latin typeface="微软雅黑" panose="020B0503020204020204" pitchFamily="34" charset="-122"/>
              <a:ea typeface="微软雅黑" panose="020B0503020204020204" pitchFamily="34" charset="-122"/>
            </a:endParaRPr>
          </a:p>
          <a:p>
            <a:r>
              <a:rPr lang="zh-CN" altLang="en-US" sz="1050" b="1" dirty="0">
                <a:solidFill>
                  <a:prstClr val="black"/>
                </a:solidFill>
                <a:latin typeface="微软雅黑" panose="020B0503020204020204" pitchFamily="34" charset="-122"/>
                <a:ea typeface="微软雅黑" panose="020B0503020204020204" pitchFamily="34" charset="-122"/>
                <a:sym typeface="+mn-ea"/>
              </a:rPr>
              <a:t>能耗率</a:t>
            </a:r>
            <a:r>
              <a:rPr lang="zh-CN" altLang="en-US" sz="1050" dirty="0">
                <a:solidFill>
                  <a:prstClr val="black"/>
                </a:solidFill>
                <a:latin typeface="微软雅黑" panose="020B0503020204020204" pitchFamily="34" charset="-122"/>
                <a:ea typeface="微软雅黑" panose="020B0503020204020204" pitchFamily="34" charset="-122"/>
                <a:sym typeface="+mn-ea"/>
              </a:rPr>
              <a:t>：</a:t>
            </a:r>
            <a:r>
              <a:rPr lang="zh-CN" altLang="en-US" sz="1050" dirty="0">
                <a:solidFill>
                  <a:schemeClr val="tx1"/>
                </a:solidFill>
                <a:latin typeface="微软雅黑" panose="020B0503020204020204" pitchFamily="34" charset="-122"/>
                <a:ea typeface="微软雅黑" panose="020B0503020204020204" pitchFamily="34" charset="-122"/>
                <a:sym typeface="+mn-ea"/>
              </a:rPr>
              <a:t>大部分酒店下降或持平，</a:t>
            </a:r>
            <a:r>
              <a:rPr lang="zh-CN" altLang="en-US" sz="1050" dirty="0">
                <a:solidFill>
                  <a:srgbClr val="C00000"/>
                </a:solidFill>
                <a:latin typeface="微软雅黑" panose="020B0503020204020204" pitchFamily="34" charset="-122"/>
                <a:ea typeface="微软雅黑" panose="020B0503020204020204" pitchFamily="34" charset="-122"/>
                <a:sym typeface="+mn-ea"/>
              </a:rPr>
              <a:t>星度假酒店能耗费用增加主要因山下机房电费</a:t>
            </a:r>
            <a:r>
              <a:rPr lang="en-US" altLang="zh-CN" sz="1050" dirty="0">
                <a:solidFill>
                  <a:srgbClr val="C00000"/>
                </a:solidFill>
                <a:latin typeface="微软雅黑" panose="020B0503020204020204" pitchFamily="34" charset="-122"/>
                <a:ea typeface="微软雅黑" panose="020B0503020204020204" pitchFamily="34" charset="-122"/>
                <a:sym typeface="+mn-ea"/>
              </a:rPr>
              <a:t>2026</a:t>
            </a:r>
            <a:r>
              <a:rPr lang="zh-CN" altLang="en-US" sz="1050" dirty="0">
                <a:solidFill>
                  <a:srgbClr val="C00000"/>
                </a:solidFill>
                <a:latin typeface="微软雅黑" panose="020B0503020204020204" pitchFamily="34" charset="-122"/>
                <a:ea typeface="微软雅黑" panose="020B0503020204020204" pitchFamily="34" charset="-122"/>
                <a:sym typeface="+mn-ea"/>
              </a:rPr>
              <a:t>年移交给产业集团负责，每年约</a:t>
            </a:r>
            <a:r>
              <a:rPr lang="en-US" altLang="zh-CN" sz="1050" dirty="0">
                <a:solidFill>
                  <a:srgbClr val="C00000"/>
                </a:solidFill>
                <a:latin typeface="微软雅黑" panose="020B0503020204020204" pitchFamily="34" charset="-122"/>
                <a:ea typeface="微软雅黑" panose="020B0503020204020204" pitchFamily="34" charset="-122"/>
                <a:sym typeface="+mn-ea"/>
              </a:rPr>
              <a:t>10</a:t>
            </a:r>
            <a:r>
              <a:rPr lang="zh-CN" altLang="en-US" sz="1050" dirty="0">
                <a:solidFill>
                  <a:srgbClr val="C00000"/>
                </a:solidFill>
                <a:latin typeface="微软雅黑" panose="020B0503020204020204" pitchFamily="34" charset="-122"/>
                <a:ea typeface="微软雅黑" panose="020B0503020204020204" pitchFamily="34" charset="-122"/>
                <a:sym typeface="+mn-ea"/>
              </a:rPr>
              <a:t>万；</a:t>
            </a:r>
            <a:r>
              <a:rPr lang="zh-CN" altLang="en-US" sz="1050" dirty="0">
                <a:solidFill>
                  <a:prstClr val="black"/>
                </a:solidFill>
                <a:latin typeface="微软雅黑" panose="020B0503020204020204" pitchFamily="34" charset="-122"/>
                <a:ea typeface="微软雅黑" panose="020B0503020204020204" pitchFamily="34" charset="-122"/>
                <a:sym typeface="+mn-ea"/>
              </a:rPr>
              <a:t>丽思增加，装修影响收入下降。</a:t>
            </a:r>
            <a:endParaRPr lang="en-US" altLang="zh-CN" sz="1050" dirty="0">
              <a:solidFill>
                <a:prstClr val="black"/>
              </a:solidFill>
              <a:latin typeface="微软雅黑" panose="020B0503020204020204" pitchFamily="34" charset="-122"/>
              <a:ea typeface="微软雅黑" panose="020B0503020204020204" pitchFamily="34" charset="-122"/>
            </a:endParaRPr>
          </a:p>
          <a:p>
            <a:r>
              <a:rPr lang="zh-CN" altLang="en-US" sz="1050" b="1" dirty="0">
                <a:solidFill>
                  <a:prstClr val="black"/>
                </a:solidFill>
                <a:latin typeface="微软雅黑" panose="020B0503020204020204" pitchFamily="34" charset="-122"/>
                <a:ea typeface="微软雅黑" panose="020B0503020204020204" pitchFamily="34" charset="-122"/>
                <a:sym typeface="+mn-ea"/>
              </a:rPr>
              <a:t>食品成本率</a:t>
            </a:r>
            <a:r>
              <a:rPr lang="zh-CN" altLang="en-US" sz="1050" dirty="0">
                <a:solidFill>
                  <a:prstClr val="black"/>
                </a:solidFill>
                <a:latin typeface="微软雅黑" panose="020B0503020204020204" pitchFamily="34" charset="-122"/>
                <a:ea typeface="微软雅黑" panose="020B0503020204020204" pitchFamily="34" charset="-122"/>
                <a:sym typeface="+mn-ea"/>
              </a:rPr>
              <a:t>：大部分酒店降低或持平，</a:t>
            </a:r>
            <a:r>
              <a:rPr lang="zh-CN" altLang="en-US" sz="1050" dirty="0">
                <a:solidFill>
                  <a:srgbClr val="C00000"/>
                </a:solidFill>
                <a:latin typeface="微软雅黑" panose="020B0503020204020204" pitchFamily="34" charset="-122"/>
                <a:ea typeface="微软雅黑" panose="020B0503020204020204" pitchFamily="34" charset="-122"/>
                <a:sym typeface="+mn-ea"/>
              </a:rPr>
              <a:t>星度假略涨主要因：</a:t>
            </a:r>
            <a:r>
              <a:rPr lang="en-US" altLang="zh-CN" sz="1050" dirty="0">
                <a:solidFill>
                  <a:srgbClr val="C00000"/>
                </a:solidFill>
                <a:latin typeface="微软雅黑" panose="020B0503020204020204" pitchFamily="34" charset="-122"/>
                <a:ea typeface="微软雅黑" panose="020B0503020204020204" pitchFamily="34" charset="-122"/>
                <a:sym typeface="+mn-ea"/>
              </a:rPr>
              <a:t>1)</a:t>
            </a:r>
            <a:r>
              <a:rPr lang="zh-CN" altLang="en-US" sz="1050" dirty="0">
                <a:solidFill>
                  <a:srgbClr val="C00000"/>
                </a:solidFill>
                <a:latin typeface="微软雅黑" panose="020B0503020204020204" pitchFamily="34" charset="-122"/>
                <a:ea typeface="微软雅黑" panose="020B0503020204020204" pitchFamily="34" charset="-122"/>
                <a:sym typeface="+mn-ea"/>
              </a:rPr>
              <a:t>港团客人对出品要求比较高；</a:t>
            </a:r>
            <a:r>
              <a:rPr lang="en-US" altLang="zh-CN" sz="1050" dirty="0">
                <a:solidFill>
                  <a:srgbClr val="C00000"/>
                </a:solidFill>
                <a:latin typeface="微软雅黑" panose="020B0503020204020204" pitchFamily="34" charset="-122"/>
                <a:ea typeface="微软雅黑" panose="020B0503020204020204" pitchFamily="34" charset="-122"/>
                <a:sym typeface="+mn-ea"/>
              </a:rPr>
              <a:t>2</a:t>
            </a:r>
            <a:r>
              <a:rPr lang="zh-CN" altLang="en-US" sz="1050" dirty="0">
                <a:solidFill>
                  <a:srgbClr val="C00000"/>
                </a:solidFill>
                <a:latin typeface="微软雅黑" panose="020B0503020204020204" pitchFamily="34" charset="-122"/>
                <a:ea typeface="微软雅黑" panose="020B0503020204020204" pitchFamily="34" charset="-122"/>
                <a:sym typeface="+mn-ea"/>
              </a:rPr>
              <a:t>）食材进货价波动较大，考虑食材涨价等因素。</a:t>
            </a:r>
            <a:r>
              <a:rPr lang="zh-CN" altLang="en-US" sz="1050" dirty="0">
                <a:solidFill>
                  <a:prstClr val="black"/>
                </a:solidFill>
                <a:latin typeface="微软雅黑" panose="020B0503020204020204" pitchFamily="34" charset="-122"/>
                <a:ea typeface="微软雅黑" panose="020B0503020204020204" pitchFamily="34" charset="-122"/>
                <a:sym typeface="+mn-ea"/>
              </a:rPr>
              <a:t>酒店重点关注价格的影响和减少浪费，在保证厨房出品品质前提下对食品成本进行合理控制。</a:t>
            </a:r>
            <a:endParaRPr lang="en-US" altLang="zh-CN" sz="1050" dirty="0">
              <a:solidFill>
                <a:prstClr val="black"/>
              </a:solidFill>
              <a:latin typeface="微软雅黑" panose="020B0503020204020204" pitchFamily="34" charset="-122"/>
              <a:ea typeface="微软雅黑" panose="020B0503020204020204" pitchFamily="34" charset="-122"/>
            </a:endParaRPr>
          </a:p>
        </p:txBody>
      </p:sp>
      <p:sp>
        <p:nvSpPr>
          <p:cNvPr id="3" name="标题 4"/>
          <p:cNvSpPr txBox="1"/>
          <p:nvPr/>
        </p:nvSpPr>
        <p:spPr>
          <a:xfrm>
            <a:off x="350562" y="238694"/>
            <a:ext cx="7846989" cy="359245"/>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a:defRPr/>
            </a:pPr>
            <a:r>
              <a:rPr lang="zh-CN" altLang="en-US" b="1" dirty="0">
                <a:solidFill>
                  <a:prstClr val="black">
                    <a:lumMod val="75000"/>
                    <a:lumOff val="25000"/>
                  </a:prstClr>
                </a:solidFill>
              </a:rPr>
              <a:t>第一部分：202</a:t>
            </a:r>
            <a:r>
              <a:rPr lang="en-US" altLang="zh-CN" b="1" dirty="0">
                <a:solidFill>
                  <a:prstClr val="black">
                    <a:lumMod val="75000"/>
                    <a:lumOff val="25000"/>
                  </a:prstClr>
                </a:solidFill>
              </a:rPr>
              <a:t>6</a:t>
            </a:r>
            <a:r>
              <a:rPr lang="zh-CN" altLang="en-US" b="1" dirty="0">
                <a:solidFill>
                  <a:prstClr val="black">
                    <a:lumMod val="75000"/>
                    <a:lumOff val="25000"/>
                  </a:prstClr>
                </a:solidFill>
              </a:rPr>
              <a:t>年经营目标（</a:t>
            </a:r>
            <a:r>
              <a:rPr lang="zh-CN" altLang="en-US" b="1" dirty="0">
                <a:solidFill>
                  <a:prstClr val="black">
                    <a:lumMod val="75000"/>
                    <a:lumOff val="25000"/>
                  </a:prstClr>
                </a:solidFill>
                <a:highlight>
                  <a:srgbClr val="000000">
                    <a:alpha val="0"/>
                  </a:srgbClr>
                </a:highlight>
                <a:sym typeface="+mn-ea"/>
              </a:rPr>
              <a:t>酒店业务</a:t>
            </a:r>
            <a:r>
              <a:rPr lang="zh-CN" altLang="en-US" sz="1400" b="1" dirty="0">
                <a:solidFill>
                  <a:prstClr val="black">
                    <a:lumMod val="75000"/>
                    <a:lumOff val="25000"/>
                  </a:prstClr>
                </a:solidFill>
                <a:highlight>
                  <a:srgbClr val="000000">
                    <a:alpha val="0"/>
                  </a:srgbClr>
                </a:highlight>
                <a:sym typeface="+mn-ea"/>
              </a:rPr>
              <a:t>人工成本率、能耗率、食品成本率、人均利润</a:t>
            </a:r>
            <a:r>
              <a:rPr lang="zh-CN" altLang="en-US" b="1" dirty="0">
                <a:solidFill>
                  <a:prstClr val="black">
                    <a:lumMod val="75000"/>
                    <a:lumOff val="25000"/>
                  </a:prstClr>
                </a:solidFill>
              </a:rPr>
              <a:t>）</a:t>
            </a:r>
            <a:endParaRPr lang="zh-CN" altLang="en-US" b="1" dirty="0">
              <a:solidFill>
                <a:prstClr val="black">
                  <a:lumMod val="75000"/>
                  <a:lumOff val="25000"/>
                </a:prstClr>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r">
              <a:defRPr/>
            </a:pPr>
            <a:fld id="{9A0DB2DC-4C9A-4742-B13C-FB6460FD3503}" type="slidenum">
              <a:rPr lang="zh-CN" altLang="en-US" sz="1000" dirty="0">
                <a:solidFill>
                  <a:srgbClr val="595959"/>
                </a:solidFill>
                <a:ea typeface="微软雅黑" panose="020B0503020204020204" pitchFamily="34" charset="-122"/>
              </a:rPr>
            </a:fld>
            <a:endParaRPr lang="zh-CN" altLang="en-US" sz="1000" dirty="0">
              <a:solidFill>
                <a:srgbClr val="595959"/>
              </a:solidFill>
              <a:ea typeface="微软雅黑" panose="020B0503020204020204" pitchFamily="34" charset="-122"/>
            </a:endParaRPr>
          </a:p>
        </p:txBody>
      </p:sp>
      <p:sp>
        <p:nvSpPr>
          <p:cNvPr id="6" name="矩形 5"/>
          <p:cNvSpPr/>
          <p:nvPr/>
        </p:nvSpPr>
        <p:spPr>
          <a:xfrm>
            <a:off x="635" y="3981450"/>
            <a:ext cx="10010140" cy="1544320"/>
          </a:xfrm>
          <a:prstGeom prst="rect">
            <a:avLst/>
          </a:prstGeom>
        </p:spPr>
        <p:txBody>
          <a:bodyPr wrap="square">
            <a:noAutofit/>
          </a:bodyPr>
          <a:lstStyle>
            <a:defPPr>
              <a:defRPr lang="zh-CN"/>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a:lstStyle>
          <a:p>
            <a:pPr>
              <a:spcAft>
                <a:spcPts val="600"/>
              </a:spcAft>
              <a:defRPr/>
            </a:pPr>
            <a:r>
              <a:rPr lang="zh-CN" altLang="en-US" sz="1050" b="1" dirty="0">
                <a:solidFill>
                  <a:srgbClr val="C00000"/>
                </a:solidFill>
                <a:latin typeface="微软雅黑" panose="020B0503020204020204" pitchFamily="34" charset="-122"/>
                <a:ea typeface="微软雅黑" panose="020B0503020204020204" pitchFamily="34" charset="-122"/>
                <a:sym typeface="+mn-ea"/>
              </a:rPr>
              <a:t>经营收入预算</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47,584</a:t>
            </a:r>
            <a:r>
              <a:rPr lang="zh-CN" altLang="en-US" sz="1050" b="1" dirty="0">
                <a:solidFill>
                  <a:srgbClr val="C00000"/>
                </a:solidFill>
                <a:latin typeface="微软雅黑" panose="020B0503020204020204" pitchFamily="34" charset="-122"/>
                <a:ea typeface="微软雅黑" panose="020B0503020204020204" pitchFamily="34" charset="-122"/>
                <a:sym typeface="+mn-ea"/>
              </a:rPr>
              <a:t>万</a:t>
            </a:r>
            <a:r>
              <a:rPr lang="zh-CN" altLang="en-US" sz="1050" b="1" dirty="0">
                <a:solidFill>
                  <a:prstClr val="black"/>
                </a:solidFill>
                <a:latin typeface="微软雅黑" panose="020B0503020204020204" pitchFamily="34" charset="-122"/>
                <a:ea typeface="微软雅黑" panose="020B0503020204020204" pitchFamily="34" charset="-122"/>
                <a:sym typeface="+mn-ea"/>
              </a:rPr>
              <a:t>，同比</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减少</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482</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050" b="1" dirty="0">
                <a:solidFill>
                  <a:prstClr val="black"/>
                </a:solidFill>
                <a:latin typeface="微软雅黑" panose="020B0503020204020204" pitchFamily="34" charset="-122"/>
                <a:ea typeface="微软雅黑" panose="020B0503020204020204" pitchFamily="34" charset="-122"/>
                <a:sym typeface="+mn-ea"/>
              </a:rPr>
              <a:t>，</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降幅</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1%</a:t>
            </a:r>
            <a:r>
              <a:rPr lang="zh-CN" altLang="en-US" sz="1050" b="1" dirty="0">
                <a:solidFill>
                  <a:prstClr val="black"/>
                </a:solidFill>
                <a:latin typeface="微软雅黑" panose="020B0503020204020204" pitchFamily="34" charset="-122"/>
                <a:ea typeface="微软雅黑" panose="020B0503020204020204" pitchFamily="34" charset="-122"/>
                <a:sym typeface="+mn-ea"/>
              </a:rPr>
              <a:t>，不含丽思口径增加</a:t>
            </a:r>
            <a:r>
              <a:rPr lang="en-US" altLang="zh-CN" sz="1050" b="1" dirty="0">
                <a:solidFill>
                  <a:srgbClr val="C00000"/>
                </a:solidFill>
                <a:latin typeface="微软雅黑" panose="020B0503020204020204" pitchFamily="34" charset="-122"/>
                <a:ea typeface="微软雅黑" panose="020B0503020204020204" pitchFamily="34" charset="-122"/>
                <a:sym typeface="+mn-ea"/>
              </a:rPr>
              <a:t>504</a:t>
            </a:r>
            <a:r>
              <a:rPr lang="zh-CN" altLang="en-US" sz="1050" b="1" dirty="0">
                <a:solidFill>
                  <a:srgbClr val="C00000"/>
                </a:solidFill>
                <a:latin typeface="微软雅黑" panose="020B0503020204020204" pitchFamily="34" charset="-122"/>
                <a:ea typeface="微软雅黑" panose="020B0503020204020204" pitchFamily="34" charset="-122"/>
                <a:sym typeface="+mn-ea"/>
              </a:rPr>
              <a:t>万，增幅</a:t>
            </a:r>
            <a:r>
              <a:rPr lang="en-US" altLang="zh-CN" sz="1050" b="1" dirty="0">
                <a:solidFill>
                  <a:srgbClr val="C00000"/>
                </a:solidFill>
                <a:latin typeface="微软雅黑" panose="020B0503020204020204" pitchFamily="34" charset="-122"/>
                <a:ea typeface="微软雅黑" panose="020B0503020204020204" pitchFamily="34" charset="-122"/>
                <a:sym typeface="+mn-ea"/>
              </a:rPr>
              <a:t>1.7%</a:t>
            </a:r>
            <a:r>
              <a:rPr lang="zh-CN" altLang="en-US" sz="1050" b="1" dirty="0">
                <a:solidFill>
                  <a:prstClr val="black"/>
                </a:solidFill>
                <a:latin typeface="微软雅黑" panose="020B0503020204020204" pitchFamily="34" charset="-122"/>
                <a:ea typeface="微软雅黑" panose="020B0503020204020204" pitchFamily="34" charset="-122"/>
                <a:sym typeface="+mn-ea"/>
              </a:rPr>
              <a:t>。</a:t>
            </a:r>
            <a:r>
              <a:rPr lang="en-US" altLang="zh-CN" sz="1050" b="1" dirty="0">
                <a:solidFill>
                  <a:srgbClr val="C00000"/>
                </a:solidFill>
                <a:latin typeface="微软雅黑" panose="020B0503020204020204" pitchFamily="34" charset="-122"/>
                <a:ea typeface="微软雅黑" panose="020B0503020204020204" pitchFamily="34" charset="-122"/>
                <a:sym typeface="+mn-ea"/>
              </a:rPr>
              <a:t>GOP</a:t>
            </a:r>
            <a:r>
              <a:rPr lang="zh-CN" altLang="en-US" sz="1050" b="1" dirty="0" smtClean="0">
                <a:solidFill>
                  <a:srgbClr val="C00000"/>
                </a:solidFill>
                <a:latin typeface="微软雅黑" panose="020B0503020204020204" pitchFamily="34" charset="-122"/>
                <a:ea typeface="微软雅黑" panose="020B0503020204020204" pitchFamily="34" charset="-122"/>
                <a:sym typeface="+mn-ea"/>
              </a:rPr>
              <a:t>利润</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5,545</a:t>
            </a:r>
            <a:r>
              <a:rPr lang="zh-CN" altLang="en-US" sz="1050" b="1" dirty="0" smtClean="0">
                <a:solidFill>
                  <a:srgbClr val="C00000"/>
                </a:solidFill>
                <a:latin typeface="微软雅黑" panose="020B0503020204020204" pitchFamily="34" charset="-122"/>
                <a:ea typeface="微软雅黑" panose="020B0503020204020204" pitchFamily="34" charset="-122"/>
                <a:sym typeface="+mn-ea"/>
              </a:rPr>
              <a:t>万</a:t>
            </a:r>
            <a:r>
              <a:rPr lang="zh-CN" altLang="en-US" sz="900" b="1" dirty="0" smtClean="0">
                <a:solidFill>
                  <a:srgbClr val="C00000"/>
                </a:solidFill>
                <a:latin typeface="微软雅黑" panose="020B0503020204020204" pitchFamily="34" charset="-122"/>
                <a:ea typeface="微软雅黑" panose="020B0503020204020204" pitchFamily="34" charset="-122"/>
                <a:sym typeface="+mn-ea"/>
              </a:rPr>
              <a:t>（不含事业部）</a:t>
            </a:r>
            <a:r>
              <a:rPr lang="zh-CN" altLang="en-US" sz="1050" b="1" dirty="0">
                <a:solidFill>
                  <a:prstClr val="black"/>
                </a:solidFill>
                <a:latin typeface="微软雅黑" panose="020B0503020204020204" pitchFamily="34" charset="-122"/>
                <a:ea typeface="微软雅黑" panose="020B0503020204020204" pitchFamily="34" charset="-122"/>
                <a:sym typeface="+mn-ea"/>
              </a:rPr>
              <a:t>，同比</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减少</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535</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050" b="1" dirty="0">
                <a:solidFill>
                  <a:prstClr val="black"/>
                </a:solidFill>
                <a:latin typeface="微软雅黑" panose="020B0503020204020204" pitchFamily="34" charset="-122"/>
                <a:ea typeface="微软雅黑" panose="020B0503020204020204" pitchFamily="34" charset="-122"/>
                <a:sym typeface="+mn-ea"/>
              </a:rPr>
              <a:t>，降幅</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8.8</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a:t>
            </a:r>
            <a:r>
              <a:rPr lang="zh-CN" altLang="en-US" sz="1050" b="1" dirty="0">
                <a:solidFill>
                  <a:prstClr val="black"/>
                </a:solidFill>
                <a:latin typeface="微软雅黑" panose="020B0503020204020204" pitchFamily="34" charset="-122"/>
                <a:ea typeface="微软雅黑" panose="020B0503020204020204" pitchFamily="34" charset="-122"/>
                <a:sym typeface="+mn-ea"/>
              </a:rPr>
              <a:t>，不含丽思口径同比增加</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464</a:t>
            </a:r>
            <a:r>
              <a:rPr lang="zh-CN" altLang="en-US" sz="1050" b="1" dirty="0" smtClean="0">
                <a:solidFill>
                  <a:srgbClr val="C00000"/>
                </a:solidFill>
                <a:latin typeface="微软雅黑" panose="020B0503020204020204" pitchFamily="34" charset="-122"/>
                <a:ea typeface="微软雅黑" panose="020B0503020204020204" pitchFamily="34" charset="-122"/>
                <a:sym typeface="+mn-ea"/>
              </a:rPr>
              <a:t>万</a:t>
            </a:r>
            <a:r>
              <a:rPr lang="zh-CN" altLang="en-US" sz="1050" b="1" dirty="0">
                <a:solidFill>
                  <a:srgbClr val="C00000"/>
                </a:solidFill>
                <a:latin typeface="微软雅黑" panose="020B0503020204020204" pitchFamily="34" charset="-122"/>
                <a:ea typeface="微软雅黑" panose="020B0503020204020204" pitchFamily="34" charset="-122"/>
                <a:sym typeface="+mn-ea"/>
              </a:rPr>
              <a:t>，</a:t>
            </a:r>
            <a:r>
              <a:rPr lang="zh-CN" altLang="en-US" sz="1050" b="1" dirty="0" smtClean="0">
                <a:solidFill>
                  <a:srgbClr val="C00000"/>
                </a:solidFill>
                <a:latin typeface="微软雅黑" panose="020B0503020204020204" pitchFamily="34" charset="-122"/>
                <a:ea typeface="微软雅黑" panose="020B0503020204020204" pitchFamily="34" charset="-122"/>
                <a:sym typeface="+mn-ea"/>
              </a:rPr>
              <a:t>增幅</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10.3</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a:t>
            </a:r>
            <a:r>
              <a:rPr lang="zh-CN" altLang="en-US" sz="1050" b="1" dirty="0">
                <a:solidFill>
                  <a:prstClr val="black"/>
                </a:solidFill>
                <a:latin typeface="微软雅黑" panose="020B0503020204020204" pitchFamily="34" charset="-122"/>
                <a:ea typeface="微软雅黑" panose="020B0503020204020204" pitchFamily="34" charset="-122"/>
                <a:sym typeface="+mn-ea"/>
              </a:rPr>
              <a:t>。</a:t>
            </a:r>
            <a:r>
              <a:rPr lang="en-US" altLang="zh-CN" sz="1050" b="1" dirty="0">
                <a:solidFill>
                  <a:srgbClr val="C00000"/>
                </a:solidFill>
                <a:latin typeface="微软雅黑" panose="020B0503020204020204" pitchFamily="34" charset="-122"/>
                <a:ea typeface="微软雅黑" panose="020B0503020204020204" pitchFamily="34" charset="-122"/>
                <a:sym typeface="+mn-ea"/>
              </a:rPr>
              <a:t>NOI</a:t>
            </a:r>
            <a:r>
              <a:rPr lang="zh-CN" altLang="en-US" sz="1050" b="1" dirty="0">
                <a:solidFill>
                  <a:srgbClr val="C00000"/>
                </a:solidFill>
                <a:latin typeface="微软雅黑" panose="020B0503020204020204" pitchFamily="34" charset="-122"/>
                <a:ea typeface="微软雅黑" panose="020B0503020204020204" pitchFamily="34" charset="-122"/>
                <a:sym typeface="+mn-ea"/>
              </a:rPr>
              <a:t> </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4</a:t>
            </a:r>
            <a:r>
              <a:rPr lang="en-US" altLang="zh-CN" sz="1050" b="1" dirty="0">
                <a:solidFill>
                  <a:srgbClr val="C00000"/>
                </a:solidFill>
                <a:latin typeface="微软雅黑" panose="020B0503020204020204" pitchFamily="34" charset="-122"/>
                <a:ea typeface="微软雅黑" panose="020B0503020204020204" pitchFamily="34" charset="-122"/>
                <a:sym typeface="+mn-ea"/>
              </a:rPr>
              <a:t>,067</a:t>
            </a:r>
            <a:r>
              <a:rPr lang="zh-CN" altLang="en-US" sz="1050" b="1" dirty="0" smtClean="0">
                <a:solidFill>
                  <a:srgbClr val="C00000"/>
                </a:solidFill>
                <a:latin typeface="微软雅黑" panose="020B0503020204020204" pitchFamily="34" charset="-122"/>
                <a:ea typeface="微软雅黑" panose="020B0503020204020204" pitchFamily="34" charset="-122"/>
                <a:sym typeface="+mn-ea"/>
              </a:rPr>
              <a:t>万</a:t>
            </a:r>
            <a:r>
              <a:rPr lang="zh-CN" altLang="en-US" sz="1050" b="1" dirty="0">
                <a:solidFill>
                  <a:prstClr val="black"/>
                </a:solidFill>
                <a:latin typeface="微软雅黑" panose="020B0503020204020204" pitchFamily="34" charset="-122"/>
                <a:ea typeface="微软雅黑" panose="020B0503020204020204" pitchFamily="34" charset="-122"/>
                <a:sym typeface="+mn-ea"/>
              </a:rPr>
              <a:t>，同比</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减少</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535</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050" b="1" dirty="0">
                <a:solidFill>
                  <a:prstClr val="black"/>
                </a:solidFill>
                <a:latin typeface="微软雅黑" panose="020B0503020204020204" pitchFamily="34" charset="-122"/>
                <a:ea typeface="微软雅黑" panose="020B0503020204020204" pitchFamily="34" charset="-122"/>
                <a:sym typeface="+mn-ea"/>
              </a:rPr>
              <a:t>，</a:t>
            </a:r>
            <a:r>
              <a:rPr lang="zh-CN" altLang="en-US" sz="1050" b="1" dirty="0" smtClean="0">
                <a:solidFill>
                  <a:prstClr val="black"/>
                </a:solidFill>
                <a:latin typeface="微软雅黑" panose="020B0503020204020204" pitchFamily="34" charset="-122"/>
                <a:ea typeface="微软雅黑" panose="020B0503020204020204" pitchFamily="34" charset="-122"/>
                <a:sym typeface="+mn-ea"/>
              </a:rPr>
              <a:t>降幅</a:t>
            </a:r>
            <a:r>
              <a:rPr lang="en-US" altLang="zh-CN" sz="1050" b="1" dirty="0" smtClean="0">
                <a:solidFill>
                  <a:prstClr val="black"/>
                </a:solidFill>
                <a:latin typeface="微软雅黑" panose="020B0503020204020204" pitchFamily="34" charset="-122"/>
                <a:ea typeface="微软雅黑" panose="020B0503020204020204" pitchFamily="34" charset="-122"/>
                <a:sym typeface="+mn-ea"/>
              </a:rPr>
              <a:t>11.6%</a:t>
            </a:r>
            <a:r>
              <a:rPr lang="zh-CN" altLang="en-US" sz="1050" b="1" dirty="0">
                <a:solidFill>
                  <a:prstClr val="black"/>
                </a:solidFill>
                <a:latin typeface="微软雅黑" panose="020B0503020204020204" pitchFamily="34" charset="-122"/>
                <a:ea typeface="微软雅黑" panose="020B0503020204020204" pitchFamily="34" charset="-122"/>
                <a:sym typeface="+mn-ea"/>
              </a:rPr>
              <a:t>，不含丽思口径增加</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464</a:t>
            </a:r>
            <a:r>
              <a:rPr lang="zh-CN" altLang="en-US" sz="1050" b="1" dirty="0" smtClean="0">
                <a:solidFill>
                  <a:srgbClr val="C00000"/>
                </a:solidFill>
                <a:latin typeface="微软雅黑" panose="020B0503020204020204" pitchFamily="34" charset="-122"/>
                <a:ea typeface="微软雅黑" panose="020B0503020204020204" pitchFamily="34" charset="-122"/>
                <a:sym typeface="+mn-ea"/>
              </a:rPr>
              <a:t>万</a:t>
            </a:r>
            <a:r>
              <a:rPr lang="zh-CN" altLang="en-US" sz="1050" b="1" dirty="0">
                <a:solidFill>
                  <a:srgbClr val="C00000"/>
                </a:solidFill>
                <a:latin typeface="微软雅黑" panose="020B0503020204020204" pitchFamily="34" charset="-122"/>
                <a:ea typeface="微软雅黑" panose="020B0503020204020204" pitchFamily="34" charset="-122"/>
                <a:sym typeface="+mn-ea"/>
              </a:rPr>
              <a:t>，增幅</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12.7</a:t>
            </a:r>
            <a:r>
              <a:rPr lang="en-US" altLang="zh-CN" sz="1050" b="1" dirty="0" smtClean="0">
                <a:solidFill>
                  <a:srgbClr val="C00000"/>
                </a:solidFill>
                <a:latin typeface="微软雅黑" panose="020B0503020204020204" pitchFamily="34" charset="-122"/>
                <a:ea typeface="微软雅黑" panose="020B0503020204020204" pitchFamily="34" charset="-122"/>
                <a:sym typeface="+mn-ea"/>
              </a:rPr>
              <a:t>%</a:t>
            </a:r>
            <a:r>
              <a:rPr lang="zh-CN" altLang="en-US" sz="1050" b="1" dirty="0">
                <a:solidFill>
                  <a:prstClr val="black"/>
                </a:solidFill>
                <a:latin typeface="微软雅黑" panose="020B0503020204020204" pitchFamily="34" charset="-122"/>
                <a:ea typeface="微软雅黑" panose="020B0503020204020204" pitchFamily="34" charset="-122"/>
                <a:sym typeface="+mn-ea"/>
              </a:rPr>
              <a:t>。其中：</a:t>
            </a:r>
            <a:endParaRPr lang="en-US" altLang="zh-CN" sz="1050" b="1" dirty="0">
              <a:solidFill>
                <a:srgbClr val="C00000"/>
              </a:solidFill>
              <a:highlight>
                <a:srgbClr val="FFFF00"/>
              </a:highlight>
              <a:latin typeface="微软雅黑" panose="020B0503020204020204" pitchFamily="34" charset="-122"/>
              <a:ea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8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、深圳吉酒店：</a:t>
            </a:r>
            <a:r>
              <a:rPr lang="zh-CN" altLang="en-US"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受市场环境下行，消费降级，限酒令等影响，</a:t>
            </a:r>
            <a:r>
              <a:rPr lang="en-US" altLang="zh-CN"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a:t>
            </a:r>
            <a:r>
              <a:rPr lang="en-US"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年与</a:t>
            </a:r>
            <a:r>
              <a:rPr lang="en-US" altLang="zh-CN"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25</a:t>
            </a:r>
            <a:r>
              <a:rPr lang="zh-CN" altLang="en-US"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年持平</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20</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800" b="1">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800" b="1">
                <a:latin typeface="微软雅黑" panose="020B0503020204020204" pitchFamily="34" charset="-122"/>
                <a:ea typeface="微软雅黑" panose="020B0503020204020204" pitchFamily="34" charset="-122"/>
                <a:cs typeface="微软雅黑" panose="020B0503020204020204" pitchFamily="34" charset="-122"/>
                <a:sym typeface="+mn-ea"/>
              </a:rPr>
              <a:t>、星度假酒店：</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110</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调整新款酒店套票，挖掘工抵房、宠物友好等渠道增加客房和餐饮收入，星遇公寓增加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55</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万；成本费用增加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68</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万（星遇公寓成本费用增加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42</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万，客房收入及餐饮收入增加，相应成本增加）；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35</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kumimoji="0" sz="800" b="0"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、东山酒店：</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根据市场需求和淡旺季情况灵活调整房价策略，房型设置及特色，创新产品，提升服务，</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94</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成本费用减少</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45</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万（人工费用下降</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100</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万，收入增加，相应成本增加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63</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132</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kumimoji="0" sz="800" b="0"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8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4、广州吉酒店：</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坚持精准市场定位策略，拓宽销售渠道，优化价格策略等，出租率</a:t>
            </a:r>
            <a:r>
              <a:rPr lang="zh-CN" sz="800">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0.8%</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20</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成本费用减少</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89</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万（人工成本下降</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82</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108</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5</a:t>
            </a:r>
            <a:r>
              <a:rPr lang="zh-CN" altLang="en-US"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上海吉酒店</a:t>
            </a:r>
            <a:r>
              <a:rPr lang="zh-CN" altLang="en-US"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出租率</a:t>
            </a:r>
            <a:r>
              <a:rPr lang="en-US" altLang="zh-CN"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73.8%</a:t>
            </a:r>
            <a:r>
              <a:rPr lang="zh-CN" altLang="en-US"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3.6%</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204</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成本费用增加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63万（</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人工费用增加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32</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万：年终奖，</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25</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年有人员缺编；税金及附加因留抵已用完增加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29</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137</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8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8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、万丽酒店：</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70</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成本费用增加</a:t>
            </a:r>
            <a:r>
              <a:rPr lang="en-US" altLang="zh-CN" sz="800">
                <a:latin typeface="微软雅黑" panose="020B0503020204020204" pitchFamily="34" charset="-122"/>
                <a:ea typeface="微软雅黑" panose="020B0503020204020204" pitchFamily="34" charset="-122"/>
                <a:cs typeface="微软雅黑" panose="020B0503020204020204" pitchFamily="34" charset="-122"/>
                <a:sym typeface="+mn-ea"/>
              </a:rPr>
              <a:t>36万（主要</a:t>
            </a:r>
            <a:r>
              <a:rPr lang="zh-CN" altLang="en-US" sz="800">
                <a:latin typeface="微软雅黑" panose="020B0503020204020204" pitchFamily="34" charset="-122"/>
                <a:ea typeface="微软雅黑" panose="020B0503020204020204" pitchFamily="34" charset="-122"/>
                <a:cs typeface="微软雅黑" panose="020B0503020204020204" pitchFamily="34" charset="-122"/>
                <a:sym typeface="+mn-ea"/>
              </a:rPr>
              <a:t>是促销费用增加），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32</a:t>
            </a:r>
            <a:r>
              <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8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algn="l" defTabSz="914400" rtl="0" eaLnBrk="0" fontAlgn="base" latinLnBrk="0" hangingPunct="0">
              <a:lnSpc>
                <a:spcPct val="100000"/>
              </a:lnSpc>
              <a:buClrTx/>
              <a:buSzTx/>
              <a:buFontTx/>
              <a:buNone/>
              <a:defRPr/>
            </a:pPr>
            <a:r>
              <a:rPr lang="en-US" altLang="zh-CN" sz="8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7、丽思酒店：</a:t>
            </a:r>
            <a:r>
              <a:rPr lang="zh-CN" altLang="en-US" sz="80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装修影响</a:t>
            </a:r>
            <a:r>
              <a:rPr lang="zh-CN" altLang="en-US" sz="800"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收入同比减少</a:t>
            </a:r>
            <a:r>
              <a:rPr lang="en-US" altLang="zh-CN"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986</a:t>
            </a:r>
            <a:r>
              <a:rPr lang="zh-CN" altLang="en-US"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减少</a:t>
            </a:r>
            <a:r>
              <a:rPr lang="en-US" altLang="zh-CN"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999</a:t>
            </a:r>
            <a:r>
              <a:rPr lang="zh-CN" altLang="en-US" sz="8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800" noProof="0" dirty="0" smtClean="0">
              <a:ln>
                <a:noFill/>
              </a:ln>
              <a:solidFill>
                <a:srgbClr val="C00000"/>
              </a:solidFill>
              <a:effectLst/>
              <a:highlight>
                <a:srgbClr val="FFFF00"/>
              </a:highlight>
              <a:uLnTx/>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aphicFrame>
        <p:nvGraphicFramePr>
          <p:cNvPr id="8" name="表格 7"/>
          <p:cNvGraphicFramePr/>
          <p:nvPr>
            <p:custDataLst>
              <p:tags r:id="rId1"/>
            </p:custDataLst>
          </p:nvPr>
        </p:nvGraphicFramePr>
        <p:xfrm>
          <a:off x="133985" y="683895"/>
          <a:ext cx="9790430" cy="3279140"/>
        </p:xfrm>
        <a:graphic>
          <a:graphicData uri="http://schemas.openxmlformats.org/drawingml/2006/table">
            <a:tbl>
              <a:tblPr/>
              <a:tblGrid>
                <a:gridCol w="502285"/>
                <a:gridCol w="393700"/>
                <a:gridCol w="405130"/>
                <a:gridCol w="394970"/>
                <a:gridCol w="360045"/>
                <a:gridCol w="431165"/>
                <a:gridCol w="421640"/>
                <a:gridCol w="404495"/>
                <a:gridCol w="343535"/>
                <a:gridCol w="454660"/>
                <a:gridCol w="421640"/>
                <a:gridCol w="404495"/>
                <a:gridCol w="365760"/>
                <a:gridCol w="398145"/>
                <a:gridCol w="343535"/>
                <a:gridCol w="363855"/>
                <a:gridCol w="363855"/>
                <a:gridCol w="361315"/>
                <a:gridCol w="377190"/>
                <a:gridCol w="354330"/>
                <a:gridCol w="382270"/>
                <a:gridCol w="383540"/>
                <a:gridCol w="386715"/>
                <a:gridCol w="344170"/>
                <a:gridCol w="427990"/>
              </a:tblGrid>
              <a:tr h="298450">
                <a:tc rowSpan="2">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项目</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经营收入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其中：客房收入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其中：餐饮收入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其中：其他收入</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GOP</a:t>
                      </a:r>
                      <a:endParaRPr lang="en-US" altLang="zh-CN"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NOI</a:t>
                      </a:r>
                      <a:endParaRPr lang="en-US" altLang="zh-CN"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hMerge="1">
                  <a:tcPr marL="9842" marR="9842" marT="9842"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marL="9842" marR="9842" marT="9842"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hMerge="1">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r>
              <a:tr h="43688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年预算</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r>
              <a:tr h="25146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深圳吉</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10,726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10,397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10,403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4,798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4,917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5,776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5,305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5,326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160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2,596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2,487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2,460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2,331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163195">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星度假</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2,605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1,432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1,351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928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854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884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290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290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322.9%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161925">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东山</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1,401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13.0%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602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706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369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8.2%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51.8%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49.2%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163195">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广州吉</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4,072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3,434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3,455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1,628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1,633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1,794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1,452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1,458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363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363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95.0%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95.0%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25146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上海吉</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4,497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4,931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5,135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3,451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4,466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464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581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8.4%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583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-29.6%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1,207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1,907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2,044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1,794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1,931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24384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自营</a:t>
                      </a:r>
                      <a:r>
                        <a:rPr lang="en-US" altLang="zh-CN" sz="800" b="1"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特许</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小计</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23,346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21,977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22,411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12,199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12,499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12,740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9,668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8,532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8,667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1,479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947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1,005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3,932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4,016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4,448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3,425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3,509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3,941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12.3%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r>
              <a:tr h="16256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丽思酒店</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17,209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18,298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17,312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-5.4%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8,031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10,323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9,708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-6.0%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8,599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7,295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6,976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579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679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628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568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-63.8%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945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-105.7%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25146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常州万丽</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8,041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7,791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7,861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3,240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3,238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3,247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4,523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4,324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4,413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-12.3%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534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6.5%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noFill/>
                  </a:tcPr>
                </a:tc>
              </a:tr>
              <a:tr h="24384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委托</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小计</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25,250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26,089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25,173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-3.5%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11,271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13,561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12,955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-4.5%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13,122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11,619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11,389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856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909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829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-8.8%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658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2,064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1,097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-46.8%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-313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1,093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-88.5%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E9D9"/>
                    </a:solidFill>
                  </a:tcPr>
                </a:tc>
              </a:tr>
              <a:tr h="325755">
                <a:tc>
                  <a:txBody>
                    <a:bodyPr/>
                    <a:lstStyle/>
                    <a:p>
                      <a:pPr algn="ctr" fontAlgn="ctr"/>
                      <a:r>
                        <a:rPr lang="zh-CN" altLang="en-US" sz="800" b="1" i="0" u="none" strike="noStrike" dirty="0">
                          <a:solidFill>
                            <a:schemeClr val="tx1"/>
                          </a:solidFill>
                          <a:effectLst/>
                          <a:latin typeface="微软雅黑" panose="020B0503020204020204" pitchFamily="34" charset="-122"/>
                          <a:ea typeface="微软雅黑" panose="020B0503020204020204" pitchFamily="34" charset="-122"/>
                        </a:rPr>
                        <a:t>酒店合计</a:t>
                      </a:r>
                      <a:endParaRPr lang="zh-CN" altLang="en-US" sz="800" b="1" i="0" u="none" strike="noStrike" dirty="0">
                        <a:solidFill>
                          <a:schemeClr val="tx1"/>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48,596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48,066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47,584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23,470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26,059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25,694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22,790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20,151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20,056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-0.5%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2,335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1,856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1,834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4,590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6,080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5,545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-8.8%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3,112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4,602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4,067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-11.6%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FD877B"/>
                    </a:solidFill>
                  </a:tcPr>
                </a:tc>
              </a:tr>
              <a:tr h="325120">
                <a:tc>
                  <a:txBody>
                    <a:bodyPr/>
                    <a:lstStyle/>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酒店</a:t>
                      </a:r>
                      <a:endParaRPr lang="en-US" altLang="zh-CN" sz="800" b="1" i="0" u="none" strike="noStrike" dirty="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dirty="0">
                          <a:solidFill>
                            <a:srgbClr val="000000"/>
                          </a:solidFill>
                          <a:effectLst/>
                          <a:latin typeface="微软雅黑" panose="020B0503020204020204" pitchFamily="34" charset="-122"/>
                          <a:ea typeface="微软雅黑" panose="020B0503020204020204" pitchFamily="34" charset="-122"/>
                        </a:rPr>
                        <a:t>不含丽思</a:t>
                      </a:r>
                      <a:endParaRPr lang="zh-CN" altLang="en-US" sz="8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31,387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29,768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30,272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15,439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15,736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15,986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14,191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12,856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13,079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1,756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1,176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1,206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4,466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4,512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4,977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3,610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3,656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4,121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12.7%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bl>
          </a:graphicData>
        </a:graphic>
      </p:graphicFrame>
      <p:sp>
        <p:nvSpPr>
          <p:cNvPr id="2" name="标题 4"/>
          <p:cNvSpPr txBox="1"/>
          <p:nvPr/>
        </p:nvSpPr>
        <p:spPr>
          <a:xfrm>
            <a:off x="350563" y="238694"/>
            <a:ext cx="7557554" cy="359245"/>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a:defRPr/>
            </a:pPr>
            <a:r>
              <a:rPr lang="zh-CN" altLang="en-US" b="1" dirty="0">
                <a:solidFill>
                  <a:prstClr val="black">
                    <a:lumMod val="75000"/>
                    <a:lumOff val="25000"/>
                  </a:prstClr>
                </a:solidFill>
              </a:rPr>
              <a:t>第一部分：202</a:t>
            </a:r>
            <a:r>
              <a:rPr lang="en-US" altLang="zh-CN" b="1" dirty="0">
                <a:solidFill>
                  <a:prstClr val="black">
                    <a:lumMod val="75000"/>
                    <a:lumOff val="25000"/>
                  </a:prstClr>
                </a:solidFill>
              </a:rPr>
              <a:t>6</a:t>
            </a:r>
            <a:r>
              <a:rPr lang="zh-CN" altLang="en-US" b="1" dirty="0">
                <a:solidFill>
                  <a:prstClr val="black">
                    <a:lumMod val="75000"/>
                    <a:lumOff val="25000"/>
                  </a:prstClr>
                </a:solidFill>
              </a:rPr>
              <a:t>年经营目标（</a:t>
            </a:r>
            <a:r>
              <a:rPr lang="zh-CN" altLang="en-US" b="1" dirty="0">
                <a:solidFill>
                  <a:prstClr val="black">
                    <a:lumMod val="75000"/>
                    <a:lumOff val="25000"/>
                  </a:prstClr>
                </a:solidFill>
                <a:highlight>
                  <a:srgbClr val="000000">
                    <a:alpha val="0"/>
                  </a:srgbClr>
                </a:highlight>
                <a:sym typeface="+mn-ea"/>
              </a:rPr>
              <a:t>酒店业务收入分类</a:t>
            </a:r>
            <a:r>
              <a:rPr lang="en-US" altLang="zh-CN" b="1" dirty="0">
                <a:solidFill>
                  <a:prstClr val="black">
                    <a:lumMod val="75000"/>
                    <a:lumOff val="25000"/>
                  </a:prstClr>
                </a:solidFill>
                <a:highlight>
                  <a:srgbClr val="000000">
                    <a:alpha val="0"/>
                  </a:srgbClr>
                </a:highlight>
                <a:sym typeface="+mn-ea"/>
              </a:rPr>
              <a:t>-</a:t>
            </a:r>
            <a:r>
              <a:rPr lang="zh-CN" altLang="en-US" b="1" dirty="0">
                <a:solidFill>
                  <a:prstClr val="black">
                    <a:lumMod val="75000"/>
                    <a:lumOff val="25000"/>
                  </a:prstClr>
                </a:solidFill>
                <a:highlight>
                  <a:srgbClr val="000000">
                    <a:alpha val="0"/>
                  </a:srgbClr>
                </a:highlight>
                <a:sym typeface="+mn-ea"/>
              </a:rPr>
              <a:t>客房</a:t>
            </a:r>
            <a:r>
              <a:rPr lang="en-US" altLang="zh-CN" b="1" dirty="0">
                <a:solidFill>
                  <a:prstClr val="black">
                    <a:lumMod val="75000"/>
                    <a:lumOff val="25000"/>
                  </a:prstClr>
                </a:solidFill>
                <a:highlight>
                  <a:srgbClr val="000000">
                    <a:alpha val="0"/>
                  </a:srgbClr>
                </a:highlight>
                <a:sym typeface="+mn-ea"/>
              </a:rPr>
              <a:t>/</a:t>
            </a:r>
            <a:r>
              <a:rPr lang="zh-CN" altLang="en-US" b="1" dirty="0">
                <a:solidFill>
                  <a:prstClr val="black">
                    <a:lumMod val="75000"/>
                    <a:lumOff val="25000"/>
                  </a:prstClr>
                </a:solidFill>
                <a:highlight>
                  <a:srgbClr val="000000">
                    <a:alpha val="0"/>
                  </a:srgbClr>
                </a:highlight>
                <a:sym typeface="+mn-ea"/>
              </a:rPr>
              <a:t>餐饮</a:t>
            </a:r>
            <a:r>
              <a:rPr lang="en-US" altLang="zh-CN" b="1" dirty="0">
                <a:solidFill>
                  <a:prstClr val="black">
                    <a:lumMod val="75000"/>
                    <a:lumOff val="25000"/>
                  </a:prstClr>
                </a:solidFill>
                <a:highlight>
                  <a:srgbClr val="000000">
                    <a:alpha val="0"/>
                  </a:srgbClr>
                </a:highlight>
                <a:sym typeface="+mn-ea"/>
              </a:rPr>
              <a:t>/</a:t>
            </a:r>
            <a:r>
              <a:rPr lang="zh-CN" altLang="en-US" b="1" dirty="0">
                <a:solidFill>
                  <a:prstClr val="black">
                    <a:lumMod val="75000"/>
                    <a:lumOff val="25000"/>
                  </a:prstClr>
                </a:solidFill>
                <a:highlight>
                  <a:srgbClr val="000000">
                    <a:alpha val="0"/>
                  </a:srgbClr>
                </a:highlight>
                <a:sym typeface="+mn-ea"/>
              </a:rPr>
              <a:t>其他</a:t>
            </a:r>
            <a:r>
              <a:rPr lang="zh-CN" altLang="en-US" b="1" dirty="0">
                <a:solidFill>
                  <a:prstClr val="black">
                    <a:lumMod val="75000"/>
                    <a:lumOff val="25000"/>
                  </a:prstClr>
                </a:solidFill>
              </a:rPr>
              <a:t>）</a:t>
            </a:r>
            <a:endParaRPr lang="zh-CN" altLang="en-US" b="1" dirty="0">
              <a:solidFill>
                <a:prstClr val="black">
                  <a:lumMod val="75000"/>
                  <a:lumOff val="25000"/>
                </a:prstClr>
              </a:solidFill>
            </a:endParaRPr>
          </a:p>
        </p:txBody>
      </p:sp>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0563" y="238853"/>
            <a:ext cx="7557554" cy="359245"/>
          </a:xfrm>
        </p:spPr>
        <p:txBody>
          <a:bodyPr/>
          <a:lstStyle/>
          <a:p>
            <a:pPr>
              <a:defRPr/>
            </a:pPr>
            <a:r>
              <a:rPr lang="zh-CN" altLang="en-US" b="1" dirty="0"/>
              <a:t>第一部分：202</a:t>
            </a:r>
            <a:r>
              <a:rPr lang="en-US" altLang="zh-CN" b="1" dirty="0"/>
              <a:t>6</a:t>
            </a:r>
            <a:r>
              <a:rPr lang="zh-CN" altLang="en-US" b="1" dirty="0"/>
              <a:t>年经营目标（</a:t>
            </a:r>
            <a:r>
              <a:rPr lang="zh-CN" altLang="en-US" b="1" noProof="0" dirty="0"/>
              <a:t>公寓业务</a:t>
            </a:r>
            <a:r>
              <a:rPr lang="zh-CN" altLang="en-US" b="1" dirty="0"/>
              <a:t>）</a:t>
            </a:r>
            <a:endParaRPr lang="zh-CN" altLang="en-US" b="1" dirty="0"/>
          </a:p>
        </p:txBody>
      </p:sp>
      <p:sp>
        <p:nvSpPr>
          <p:cNvPr id="2" name="矩形 1"/>
          <p:cNvSpPr/>
          <p:nvPr/>
        </p:nvSpPr>
        <p:spPr>
          <a:xfrm>
            <a:off x="206018" y="598098"/>
            <a:ext cx="2015810" cy="287258"/>
          </a:xfrm>
          <a:prstGeom prst="rect">
            <a:avLst/>
          </a:prstGeom>
          <a:solidFill>
            <a:srgbClr val="595959"/>
          </a:solidFill>
          <a:ln w="9525">
            <a:noFill/>
          </a:ln>
        </p:spPr>
        <p:txBody>
          <a:bodyPr anchor="ctr" anchorCtr="0"/>
          <a:lstStyle/>
          <a:p>
            <a:pPr marL="285750" indent="-285750" eaLnBrk="1" hangingPunct="1">
              <a:buFont typeface="Wingdings" panose="05000000000000000000" pitchFamily="2" charset="2"/>
              <a:buChar char="p"/>
              <a:defRPr/>
            </a:pPr>
            <a:r>
              <a:rPr lang="en-US" altLang="zh-CN" sz="1600" b="1" dirty="0">
                <a:solidFill>
                  <a:prstClr val="white"/>
                </a:solidFill>
                <a:ea typeface="微软雅黑" panose="020B0503020204020204" pitchFamily="34" charset="-122"/>
              </a:rPr>
              <a:t>2026</a:t>
            </a:r>
            <a:r>
              <a:rPr lang="zh-CN" altLang="en-US" sz="1600" b="1" dirty="0">
                <a:solidFill>
                  <a:prstClr val="white"/>
                </a:solidFill>
                <a:ea typeface="微软雅黑" panose="020B0503020204020204" pitchFamily="34" charset="-122"/>
              </a:rPr>
              <a:t>年经营目标</a:t>
            </a:r>
            <a:endParaRPr lang="zh-CN" altLang="en-US" sz="1600" b="1" dirty="0">
              <a:solidFill>
                <a:prstClr val="white"/>
              </a:solidFill>
              <a:ea typeface="微软雅黑" panose="020B0503020204020204" pitchFamily="34" charset="-122"/>
            </a:endParaRPr>
          </a:p>
        </p:txBody>
      </p:sp>
      <p:graphicFrame>
        <p:nvGraphicFramePr>
          <p:cNvPr id="12" name="表格 11"/>
          <p:cNvGraphicFramePr/>
          <p:nvPr>
            <p:custDataLst>
              <p:tags r:id="rId1"/>
            </p:custDataLst>
          </p:nvPr>
        </p:nvGraphicFramePr>
        <p:xfrm>
          <a:off x="178435" y="927735"/>
          <a:ext cx="9433560" cy="3188335"/>
        </p:xfrm>
        <a:graphic>
          <a:graphicData uri="http://schemas.openxmlformats.org/drawingml/2006/table">
            <a:tbl>
              <a:tblPr/>
              <a:tblGrid>
                <a:gridCol w="792480"/>
                <a:gridCol w="382905"/>
                <a:gridCol w="551815"/>
                <a:gridCol w="488315"/>
                <a:gridCol w="502285"/>
                <a:gridCol w="537210"/>
                <a:gridCol w="551815"/>
                <a:gridCol w="536575"/>
                <a:gridCol w="509270"/>
                <a:gridCol w="525145"/>
                <a:gridCol w="504190"/>
                <a:gridCol w="502920"/>
                <a:gridCol w="504190"/>
                <a:gridCol w="465455"/>
                <a:gridCol w="519430"/>
                <a:gridCol w="527685"/>
                <a:gridCol w="495300"/>
                <a:gridCol w="536575"/>
              </a:tblGrid>
              <a:tr h="174625">
                <a:tc rowSpan="2">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项目</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solidFill>
                        <a:srgbClr val="C5D9F1"/>
                      </a:solidFill>
                      <a:prstDash val="solid"/>
                      <a:headEnd type="none" w="med" len="med"/>
                      <a:tailEnd type="none" w="med" len="med"/>
                    </a:lnB>
                    <a:solidFill>
                      <a:srgbClr val="C00000"/>
                    </a:solidFill>
                  </a:tcPr>
                </a:tc>
                <a:tc rowSpan="2">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房间数</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平均房价</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出租率</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收入（含税）</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lgn="ctr">
                      <a:solidFill>
                        <a:schemeClr val="tx1"/>
                      </a:solidFill>
                      <a:prstDash val="solid"/>
                      <a:roun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NOI</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33591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预计</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2026</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增幅</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预计</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2026</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增幅</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rgbClr val="C00000"/>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预计</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2026</a:t>
                      </a:r>
                      <a:r>
                        <a:rPr lang="zh-CN" altLang="en-US" sz="900" b="1" i="0" dirty="0">
                          <a:solidFill>
                            <a:srgbClr val="FFFFFF"/>
                          </a:solidFill>
                          <a:latin typeface="微软雅黑" panose="020B0503020204020204" pitchFamily="34" charset="-122"/>
                          <a:ea typeface="微软雅黑" panose="020B0503020204020204" pitchFamily="34" charset="-122"/>
                        </a:rPr>
                        <a:t>年</a:t>
                      </a:r>
                      <a:endParaRPr lang="zh-CN" altLang="en-US" sz="900" b="1" i="0" dirty="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增幅</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2025</a:t>
                      </a:r>
                      <a:r>
                        <a:rPr lang="zh-CN" altLang="en-US" sz="900" b="1" i="0" dirty="0">
                          <a:solidFill>
                            <a:srgbClr val="FFFFFF"/>
                          </a:solidFill>
                          <a:latin typeface="微软雅黑" panose="020B0503020204020204" pitchFamily="34" charset="-122"/>
                          <a:ea typeface="微软雅黑" panose="020B0503020204020204" pitchFamily="34" charset="-122"/>
                        </a:rPr>
                        <a:t>年预计</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en-US" altLang="zh-CN" sz="900" b="1" i="0" dirty="0">
                          <a:solidFill>
                            <a:srgbClr val="FFFFFF"/>
                          </a:solidFill>
                          <a:latin typeface="微软雅黑" panose="020B0503020204020204" pitchFamily="34" charset="-122"/>
                          <a:ea typeface="微软雅黑" panose="020B0503020204020204" pitchFamily="34" charset="-122"/>
                        </a:rPr>
                        <a:t>2026</a:t>
                      </a:r>
                      <a:r>
                        <a:rPr lang="zh-CN" altLang="en-US" sz="900" b="1" i="0" dirty="0">
                          <a:solidFill>
                            <a:srgbClr val="FFFFFF"/>
                          </a:solidFill>
                          <a:latin typeface="微软雅黑" panose="020B0503020204020204" pitchFamily="34" charset="-122"/>
                          <a:ea typeface="微软雅黑" panose="020B0503020204020204" pitchFamily="34" charset="-122"/>
                        </a:rPr>
                        <a:t>年预算</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dirty="0">
                          <a:solidFill>
                            <a:srgbClr val="FFFFFF"/>
                          </a:solidFill>
                          <a:latin typeface="微软雅黑" panose="020B0503020204020204" pitchFamily="34" charset="-122"/>
                          <a:ea typeface="微软雅黑" panose="020B0503020204020204" pitchFamily="34" charset="-122"/>
                        </a:rPr>
                        <a:t>增幅</a:t>
                      </a:r>
                      <a:endParaRPr lang="zh-CN" altLang="en-US" sz="900" b="1" i="0" dirty="0">
                        <a:solidFill>
                          <a:srgbClr val="FFFFFF"/>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lgn="ctr">
                      <a:solidFill>
                        <a:srgbClr val="C5D9F1"/>
                      </a:solidFill>
                      <a:prstDash val="solid"/>
                      <a:round/>
                      <a:headEnd type="none" w="med" len="med"/>
                      <a:tailEnd type="none" w="med" len="med"/>
                    </a:lnB>
                    <a:solidFill>
                      <a:schemeClr val="accent1">
                        <a:lumMod val="50000"/>
                      </a:schemeClr>
                    </a:solidFill>
                  </a:tcPr>
                </a:tc>
              </a:tr>
              <a:tr h="192405">
                <a:tc>
                  <a:txBody>
                    <a:bodyPr/>
                    <a:lstStyle/>
                    <a:p>
                      <a:pPr algn="l" fontAlgn="ctr"/>
                      <a:r>
                        <a:rPr lang="zh-CN" altLang="en-US" sz="1000" b="1" i="0" dirty="0">
                          <a:solidFill>
                            <a:srgbClr val="000000"/>
                          </a:solidFill>
                          <a:latin typeface="微软雅黑" panose="020B0503020204020204" pitchFamily="34" charset="-122"/>
                          <a:ea typeface="微软雅黑" panose="020B0503020204020204" pitchFamily="34" charset="-122"/>
                        </a:rPr>
                        <a:t>雅宝郡寓</a:t>
                      </a:r>
                      <a:endParaRPr lang="zh-CN" altLang="en-US" sz="10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707</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4,710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4,790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4,897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FF0000"/>
                          </a:solidFill>
                          <a:latin typeface="微软雅黑" panose="020B0503020204020204" pitchFamily="34" charset="-122"/>
                          <a:ea typeface="微软雅黑" panose="020B0503020204020204" pitchFamily="34" charset="-122"/>
                        </a:rPr>
                        <a:t>2.2%</a:t>
                      </a:r>
                      <a:endParaRPr lang="en-US" altLang="zh-CN" sz="10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97.2%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97.4%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96.3%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4,166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4,252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4,294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3,345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3,432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3,460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2405">
                <a:tc>
                  <a:txBody>
                    <a:bodyPr/>
                    <a:lstStyle/>
                    <a:p>
                      <a:pPr algn="l" fontAlgn="ctr"/>
                      <a:r>
                        <a:rPr lang="zh-CN" altLang="en-US" sz="1000" b="1" i="0" dirty="0">
                          <a:solidFill>
                            <a:srgbClr val="000000"/>
                          </a:solidFill>
                          <a:latin typeface="微软雅黑" panose="020B0503020204020204" pitchFamily="34" charset="-122"/>
                          <a:ea typeface="微软雅黑" panose="020B0503020204020204" pitchFamily="34" charset="-122"/>
                        </a:rPr>
                        <a:t>沙井荣御</a:t>
                      </a:r>
                      <a:endParaRPr lang="zh-CN" altLang="en-US" sz="10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1,294</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5,445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5,541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4,424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98.6%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100.0%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84.6%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-15.4%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8,316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8,633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5,874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-32.0%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6,493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6,907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4,220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-38.9%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1135">
                <a:tc>
                  <a:txBody>
                    <a:bodyPr/>
                    <a:lstStyle/>
                    <a:p>
                      <a:pPr algn="l" fontAlgn="ctr"/>
                      <a:r>
                        <a:rPr lang="zh-CN" altLang="en-US" sz="1000" b="1" i="0" dirty="0">
                          <a:solidFill>
                            <a:srgbClr val="000000"/>
                          </a:solidFill>
                          <a:latin typeface="微软雅黑" panose="020B0503020204020204" pitchFamily="34" charset="-122"/>
                          <a:ea typeface="微软雅黑" panose="020B0503020204020204" pitchFamily="34" charset="-122"/>
                        </a:rPr>
                        <a:t>锦居</a:t>
                      </a:r>
                      <a:endParaRPr lang="zh-CN" altLang="en-US" sz="10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353</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3,710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3,668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3,679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92.9%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538DD5"/>
                          </a:solidFill>
                          <a:latin typeface="微软雅黑" panose="020B0503020204020204" pitchFamily="34" charset="-122"/>
                          <a:ea typeface="微软雅黑" panose="020B0503020204020204" pitchFamily="34" charset="-122"/>
                        </a:rPr>
                        <a:t>87.0%</a:t>
                      </a:r>
                      <a:endParaRPr lang="en-US" altLang="zh-CN" sz="1000" b="1" i="0">
                        <a:solidFill>
                          <a:srgbClr val="538DD5"/>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538DD5"/>
                          </a:solidFill>
                          <a:latin typeface="微软雅黑" panose="020B0503020204020204" pitchFamily="34" charset="-122"/>
                          <a:ea typeface="微软雅黑" panose="020B0503020204020204" pitchFamily="34" charset="-122"/>
                        </a:rPr>
                        <a:t>-6.4%</a:t>
                      </a:r>
                      <a:endParaRPr lang="en-US" altLang="zh-CN" sz="1000" b="1" i="0">
                        <a:solidFill>
                          <a:srgbClr val="538DD5"/>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1,515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1,561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1,443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-7.6%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1,240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1,266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1,157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9390">
                <a:tc>
                  <a:txBody>
                    <a:bodyPr/>
                    <a:lstStyle/>
                    <a:p>
                      <a:pPr algn="l" fontAlgn="ctr"/>
                      <a:r>
                        <a:rPr lang="zh-CN" altLang="en-US" sz="1000" b="0" i="0" dirty="0">
                          <a:solidFill>
                            <a:srgbClr val="000000"/>
                          </a:solidFill>
                          <a:latin typeface="微软雅黑" panose="020B0503020204020204" pitchFamily="34" charset="-122"/>
                          <a:ea typeface="微软雅黑" panose="020B0503020204020204" pitchFamily="34" charset="-122"/>
                        </a:rPr>
                        <a:t>国都高尔夫</a:t>
                      </a:r>
                      <a:endParaRPr lang="zh-CN" altLang="en-US" sz="1000" b="0"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81</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3,650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3,666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3,806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85.4%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91.5%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315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343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351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182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208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1135">
                <a:tc>
                  <a:txBody>
                    <a:bodyPr/>
                    <a:lstStyle/>
                    <a:p>
                      <a:pPr algn="l" fontAlgn="ctr"/>
                      <a:r>
                        <a:rPr lang="zh-CN" altLang="en-US" sz="1000" b="0" i="0" dirty="0">
                          <a:solidFill>
                            <a:srgbClr val="000000"/>
                          </a:solidFill>
                          <a:latin typeface="微软雅黑" panose="020B0503020204020204" pitchFamily="34" charset="-122"/>
                          <a:ea typeface="微软雅黑" panose="020B0503020204020204" pitchFamily="34" charset="-122"/>
                        </a:rPr>
                        <a:t>龙华龙岗</a:t>
                      </a:r>
                      <a:endParaRPr lang="zh-CN" altLang="en-US" sz="1000" b="0"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249</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2,436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2,299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2,231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96.7%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97.3%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96.0%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593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647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2405">
                <a:tc>
                  <a:txBody>
                    <a:bodyPr/>
                    <a:lstStyle/>
                    <a:p>
                      <a:pPr algn="l" fontAlgn="ctr"/>
                      <a:r>
                        <a:rPr lang="zh-CN" altLang="en-US" sz="1000" b="0" i="0" dirty="0">
                          <a:solidFill>
                            <a:srgbClr val="000000"/>
                          </a:solidFill>
                          <a:latin typeface="微软雅黑" panose="020B0503020204020204" pitchFamily="34" charset="-122"/>
                          <a:ea typeface="微软雅黑" panose="020B0503020204020204" pitchFamily="34" charset="-122"/>
                        </a:rPr>
                        <a:t>福田罗湖</a:t>
                      </a:r>
                      <a:endParaRPr lang="en-US" altLang="zh-CN" sz="1000" b="0"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206</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3,475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3,574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3,603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96.2%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96.3%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95.6%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858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892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893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659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707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705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2405">
                <a:tc>
                  <a:txBody>
                    <a:bodyPr/>
                    <a:lstStyle/>
                    <a:p>
                      <a:pPr algn="l" fontAlgn="ctr"/>
                      <a:r>
                        <a:rPr lang="zh-CN" altLang="en-US" sz="1000" b="0" i="0" dirty="0">
                          <a:solidFill>
                            <a:srgbClr val="000000"/>
                          </a:solidFill>
                          <a:latin typeface="微软雅黑" panose="020B0503020204020204" pitchFamily="34" charset="-122"/>
                          <a:ea typeface="微软雅黑" panose="020B0503020204020204" pitchFamily="34" charset="-122"/>
                        </a:rPr>
                        <a:t>亚金公寓</a:t>
                      </a:r>
                      <a:endParaRPr lang="zh-CN" altLang="en-US" sz="1000" b="0"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160</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3,688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3,563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3,645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722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699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447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2405">
                <a:tc>
                  <a:txBody>
                    <a:bodyPr/>
                    <a:lstStyle/>
                    <a:p>
                      <a:pPr algn="l" fontAlgn="ctr"/>
                      <a:r>
                        <a:rPr lang="zh-CN" altLang="en-US" sz="1000" b="0" i="0" dirty="0">
                          <a:solidFill>
                            <a:srgbClr val="000000"/>
                          </a:solidFill>
                          <a:latin typeface="微软雅黑" panose="020B0503020204020204" pitchFamily="34" charset="-122"/>
                          <a:ea typeface="微软雅黑" panose="020B0503020204020204" pitchFamily="34" charset="-122"/>
                        </a:rPr>
                        <a:t>常州郡寓</a:t>
                      </a:r>
                      <a:endParaRPr lang="zh-CN" altLang="en-US" sz="1000" b="0"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171</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2,141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2,079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2,110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92.7%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93.8%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92.0%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158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171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175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1770">
                <a:tc>
                  <a:txBody>
                    <a:bodyPr/>
                    <a:lstStyle/>
                    <a:p>
                      <a:pPr algn="l" fontAlgn="ctr"/>
                      <a:r>
                        <a:rPr lang="zh-CN" altLang="en-US" sz="1000" b="1" i="0" dirty="0">
                          <a:solidFill>
                            <a:srgbClr val="000000"/>
                          </a:solidFill>
                          <a:latin typeface="微软雅黑" panose="020B0503020204020204" pitchFamily="34" charset="-122"/>
                          <a:ea typeface="微软雅黑" panose="020B0503020204020204" pitchFamily="34" charset="-122"/>
                        </a:rPr>
                        <a:t>上海郡寓</a:t>
                      </a:r>
                      <a:endParaRPr lang="zh-CN" altLang="en-US" sz="10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solidFill>
                            <a:srgbClr val="000000"/>
                          </a:solidFill>
                          <a:effectLst/>
                          <a:latin typeface="微软雅黑" panose="020B0503020204020204" pitchFamily="34" charset="-122"/>
                          <a:ea typeface="微软雅黑" panose="020B0503020204020204" pitchFamily="34" charset="-122"/>
                        </a:rPr>
                        <a:t>1,059</a:t>
                      </a:r>
                      <a:endParaRPr lang="en-US" altLang="zh-CN" sz="10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4,419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4,360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92.8%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FF0000"/>
                          </a:solidFill>
                          <a:latin typeface="微软雅黑" panose="020B0503020204020204" pitchFamily="34" charset="-122"/>
                          <a:ea typeface="微软雅黑" panose="020B0503020204020204" pitchFamily="34" charset="-122"/>
                        </a:rPr>
                        <a:t>94.5%</a:t>
                      </a:r>
                      <a:endParaRPr lang="en-US" altLang="zh-CN" sz="10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FF0000"/>
                          </a:solidFill>
                          <a:latin typeface="微软雅黑" panose="020B0503020204020204" pitchFamily="34" charset="-122"/>
                          <a:ea typeface="微软雅黑" panose="020B0503020204020204" pitchFamily="34" charset="-122"/>
                        </a:rPr>
                        <a:t>1.8%</a:t>
                      </a:r>
                      <a:endParaRPr lang="en-US" altLang="zh-CN" sz="10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4,962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5,625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5,723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1.7%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3,555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4,142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4,170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5420">
                <a:tc>
                  <a:txBody>
                    <a:bodyPr/>
                    <a:lstStyle/>
                    <a:p>
                      <a:pPr algn="l" fontAlgn="ctr"/>
                      <a:r>
                        <a:rPr lang="zh-CN" altLang="en-US" sz="1000" b="1" i="0" dirty="0">
                          <a:solidFill>
                            <a:srgbClr val="000000"/>
                          </a:solidFill>
                          <a:latin typeface="微软雅黑" panose="020B0503020204020204" pitchFamily="34" charset="-122"/>
                          <a:ea typeface="微软雅黑" panose="020B0503020204020204" pitchFamily="34" charset="-122"/>
                        </a:rPr>
                        <a:t>深圳北站</a:t>
                      </a:r>
                      <a:endParaRPr lang="zh-CN" altLang="en-US" sz="10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en-US" altLang="zh-CN" sz="1000" b="0" i="0" u="none" strike="noStrike" dirty="0">
                          <a:effectLst/>
                          <a:latin typeface="微软雅黑" panose="020B0503020204020204" pitchFamily="34" charset="-122"/>
                          <a:ea typeface="微软雅黑" panose="020B0503020204020204" pitchFamily="34" charset="-122"/>
                        </a:rPr>
                        <a:t>550</a:t>
                      </a:r>
                      <a:endParaRPr lang="en-US" altLang="zh-CN" sz="1000" b="0" i="0" u="none" strike="noStrike" dirty="0">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4,420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FF0000"/>
                          </a:solidFill>
                          <a:latin typeface="微软雅黑" panose="020B0503020204020204" pitchFamily="34" charset="-122"/>
                          <a:ea typeface="微软雅黑" panose="020B0503020204020204" pitchFamily="34" charset="-122"/>
                        </a:rPr>
                        <a:t>56.2%</a:t>
                      </a:r>
                      <a:endParaRPr lang="en-US" altLang="zh-CN" sz="10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1" i="0">
                          <a:solidFill>
                            <a:srgbClr val="FF0000"/>
                          </a:solidFill>
                          <a:latin typeface="微软雅黑" panose="020B0503020204020204" pitchFamily="34" charset="-122"/>
                          <a:ea typeface="微软雅黑" panose="020B0503020204020204" pitchFamily="34" charset="-122"/>
                        </a:rPr>
                        <a:t> -</a:t>
                      </a:r>
                      <a:r>
                        <a:rPr lang="en-US" altLang="zh-CN" sz="1000" b="1" i="0">
                          <a:solidFill>
                            <a:srgbClr val="FF0000"/>
                          </a:solidFill>
                          <a:latin typeface="微软雅黑" panose="020B0503020204020204" pitchFamily="34" charset="-122"/>
                          <a:ea typeface="微软雅黑" panose="020B0503020204020204" pitchFamily="34" charset="-122"/>
                        </a:rPr>
                        <a:t> </a:t>
                      </a:r>
                      <a:endParaRPr lang="en-US" altLang="zh-CN" sz="10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1,062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619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r>
              <a:tr h="192405">
                <a:tc>
                  <a:txBody>
                    <a:bodyPr/>
                    <a:lstStyle/>
                    <a:p>
                      <a:pPr algn="l" fontAlgn="ctr"/>
                      <a:r>
                        <a:rPr lang="zh-CN" altLang="en-US" sz="1000" b="0" i="0" dirty="0">
                          <a:solidFill>
                            <a:srgbClr val="000000"/>
                          </a:solidFill>
                          <a:latin typeface="微软雅黑" panose="020B0503020204020204" pitchFamily="34" charset="-122"/>
                          <a:ea typeface="微软雅黑" panose="020B0503020204020204" pitchFamily="34" charset="-122"/>
                        </a:rPr>
                        <a:t>事业部</a:t>
                      </a:r>
                      <a:endParaRPr lang="zh-CN" altLang="en-US" sz="1000" b="0"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lstStyle/>
                    <a:p>
                      <a:pPr algn="r" fontAlgn="ctr"/>
                      <a:r>
                        <a:rPr lang="zh-CN" altLang="en-US" sz="10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10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lgn="ctr">
                      <a:solidFill>
                        <a:srgbClr val="C5D9F1"/>
                      </a:solidFill>
                      <a:prstDash val="solid"/>
                      <a:roun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-427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-438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-403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1925">
                <a:tc>
                  <a:txBody>
                    <a:bodyPr/>
                    <a:lstStyle/>
                    <a:p>
                      <a:pPr algn="l" fontAlgn="ctr"/>
                      <a:r>
                        <a:rPr lang="zh-CN" altLang="en-US" sz="1000" b="1" i="0" dirty="0">
                          <a:solidFill>
                            <a:srgbClr val="000000"/>
                          </a:solidFill>
                          <a:latin typeface="微软雅黑" panose="020B0503020204020204" pitchFamily="34" charset="-122"/>
                          <a:ea typeface="微软雅黑" panose="020B0503020204020204" pitchFamily="34" charset="-122"/>
                        </a:rPr>
                        <a:t>公寓合计</a:t>
                      </a:r>
                      <a:endParaRPr lang="zh-CN" altLang="en-US" sz="10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u="none" strike="noStrike" dirty="0">
                          <a:effectLst/>
                          <a:latin typeface="微软雅黑" panose="020B0503020204020204" pitchFamily="34" charset="-122"/>
                          <a:ea typeface="微软雅黑" panose="020B0503020204020204" pitchFamily="34" charset="-122"/>
                        </a:rPr>
                        <a:t>4,830</a:t>
                      </a:r>
                      <a:endParaRPr lang="en-US" altLang="zh-CN" sz="1000" b="1" i="0" u="none" strike="noStrike" dirty="0">
                        <a:effectLst/>
                        <a:latin typeface="微软雅黑" panose="020B0503020204020204" pitchFamily="34" charset="-122"/>
                        <a:ea typeface="微软雅黑" panose="020B0503020204020204" pitchFamily="34" charset="-122"/>
                      </a:endParaRPr>
                    </a:p>
                  </a:txBody>
                  <a:tcPr marL="0" marR="0" marT="0" marB="0" anchor="ct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0.0%</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21,885</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23,083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21,423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-7.2%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lgn="ctr">
                      <a:solidFill>
                        <a:srgbClr val="C5D9F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16,087</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C5D9F1"/>
                      </a:solidFill>
                      <a:prstDash val="solid"/>
                      <a:roun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17,327</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15,261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-11.9%</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877B"/>
                    </a:solidFill>
                  </a:tcPr>
                </a:tc>
              </a:tr>
              <a:tr h="193675">
                <a:tc>
                  <a:txBody>
                    <a:bodyPr/>
                    <a:p>
                      <a:pPr algn="l" fontAlgn="ctr">
                        <a:buNone/>
                      </a:pPr>
                      <a:r>
                        <a:rPr lang="zh-CN" altLang="en-US" sz="900" b="0" i="1" dirty="0">
                          <a:solidFill>
                            <a:srgbClr val="000000"/>
                          </a:solidFill>
                          <a:latin typeface="微软雅黑" panose="020B0503020204020204" pitchFamily="34" charset="-122"/>
                          <a:ea typeface="微软雅黑" panose="020B0503020204020204" pitchFamily="34" charset="-122"/>
                        </a:rPr>
                        <a:t>其中现有口径</a:t>
                      </a:r>
                      <a:endParaRPr lang="zh-CN" altLang="en-US" sz="900" b="0" i="1"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3175" cap="flat" cmpd="sng" algn="ctr">
                      <a:solidFill>
                        <a:srgbClr val="B8CCE4"/>
                      </a:solidFill>
                      <a:prstDash val="solid"/>
                      <a:roun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buNone/>
                      </a:pPr>
                      <a:endParaRPr lang="en-US" altLang="zh-CN" sz="900" b="1" i="1" u="none" strike="noStrike" dirty="0">
                        <a:effectLst/>
                        <a:latin typeface="微软雅黑" panose="020B0503020204020204" pitchFamily="34" charset="-122"/>
                        <a:ea typeface="微软雅黑" panose="020B0503020204020204" pitchFamily="34" charset="-122"/>
                      </a:endParaRPr>
                    </a:p>
                  </a:txBody>
                  <a:tcPr marL="0" marR="0" marT="0" marB="0" anchor="ctr">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lgn="ctr">
                      <a:solidFill>
                        <a:srgbClr val="B8CCE4"/>
                      </a:solidFill>
                      <a:prstDash val="solid"/>
                      <a:roun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13,569</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14,450</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14,487</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0.3%</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lgn="ctr">
                      <a:solidFill>
                        <a:srgbClr val="B8CCE4"/>
                      </a:solidFill>
                      <a:prstDash val="solid"/>
                      <a:roun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9,595</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lgn="ctr">
                      <a:solidFill>
                        <a:srgbClr val="B8CCE4"/>
                      </a:solidFill>
                      <a:prstDash val="solid"/>
                      <a:roun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10,419</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10,421</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0.0%</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lgn="ctr">
                      <a:solidFill>
                        <a:schemeClr val="tx1"/>
                      </a:solidFill>
                      <a:prstDash val="solid"/>
                      <a:round/>
                      <a:headEnd type="none" w="med" len="med"/>
                      <a:tailEnd type="none" w="med" len="med"/>
                    </a:lnR>
                    <a:lnT w="6350" cap="flat" cmpd="sng">
                      <a:solidFill>
                        <a:srgbClr val="C5D9F1"/>
                      </a:solidFill>
                      <a:prstDash val="solid"/>
                      <a:headEnd type="none" w="med" len="med"/>
                      <a:tailEnd type="none" w="med" len="med"/>
                    </a:lnT>
                    <a:lnB w="3175" cap="flat" cmpd="sng" algn="ctr">
                      <a:solidFill>
                        <a:srgbClr val="B8CCE4"/>
                      </a:solidFill>
                      <a:prstDash val="solid"/>
                      <a:round/>
                      <a:headEnd type="none" w="med" len="med"/>
                      <a:tailEnd type="none" w="med" len="med"/>
                    </a:lnB>
                    <a:solidFill>
                      <a:srgbClr val="FDE9D9"/>
                    </a:solidFill>
                  </a:tcPr>
                </a:tc>
              </a:tr>
              <a:tr h="208915">
                <a:tc>
                  <a:txBody>
                    <a:bodyPr/>
                    <a:p>
                      <a:pPr algn="l" fontAlgn="ctr">
                        <a:buNone/>
                      </a:pPr>
                      <a:r>
                        <a:rPr lang="zh-CN" altLang="en-US" sz="900" b="0" i="1" dirty="0">
                          <a:solidFill>
                            <a:srgbClr val="000000"/>
                          </a:solidFill>
                          <a:latin typeface="微软雅黑" panose="020B0503020204020204" pitchFamily="34" charset="-122"/>
                          <a:ea typeface="微软雅黑" panose="020B0503020204020204" pitchFamily="34" charset="-122"/>
                        </a:rPr>
                        <a:t>新增</a:t>
                      </a:r>
                      <a:r>
                        <a:rPr lang="en-US" altLang="zh-CN" sz="900" b="0" i="1" dirty="0">
                          <a:solidFill>
                            <a:srgbClr val="000000"/>
                          </a:solidFill>
                          <a:latin typeface="微软雅黑" panose="020B0503020204020204" pitchFamily="34" charset="-122"/>
                          <a:ea typeface="微软雅黑" panose="020B0503020204020204" pitchFamily="34" charset="-122"/>
                        </a:rPr>
                        <a:t>/</a:t>
                      </a:r>
                      <a:r>
                        <a:rPr lang="zh-CN" altLang="en-US" sz="900" b="0" i="1" dirty="0">
                          <a:solidFill>
                            <a:srgbClr val="000000"/>
                          </a:solidFill>
                          <a:latin typeface="微软雅黑" panose="020B0503020204020204" pitchFamily="34" charset="-122"/>
                          <a:ea typeface="微软雅黑" panose="020B0503020204020204" pitchFamily="34" charset="-122"/>
                        </a:rPr>
                        <a:t>改造口径</a:t>
                      </a:r>
                      <a:endParaRPr lang="zh-CN" altLang="en-US" sz="900" b="0" i="1"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12700" cap="flat" cmpd="sng" algn="ctr">
                      <a:solidFill>
                        <a:schemeClr val="tx1"/>
                      </a:solidFill>
                      <a:prstDash val="solid"/>
                      <a:round/>
                      <a:headEnd type="none" w="med" len="med"/>
                      <a:tailEnd type="none" w="med" len="med"/>
                    </a:lnL>
                    <a:lnR w="3175" cap="flat" cmpd="sng" algn="ctr">
                      <a:solidFill>
                        <a:srgbClr val="B8CCE4"/>
                      </a:solidFill>
                      <a:prstDash val="solid"/>
                      <a:roun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buNone/>
                      </a:pPr>
                      <a:endParaRPr lang="en-US" altLang="zh-CN" sz="900" b="1" i="1" u="none" strike="noStrike" dirty="0">
                        <a:effectLst/>
                        <a:latin typeface="微软雅黑" panose="020B0503020204020204" pitchFamily="34" charset="-122"/>
                        <a:ea typeface="微软雅黑" panose="020B0503020204020204" pitchFamily="34" charset="-122"/>
                      </a:endParaRPr>
                    </a:p>
                  </a:txBody>
                  <a:tcPr marL="0" marR="0" marT="0" marB="0" anchor="ctr">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ct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lgn="ctr">
                      <a:solidFill>
                        <a:srgbClr val="B8CCE4"/>
                      </a:solidFill>
                      <a:prstDash val="solid"/>
                      <a:roun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8,316</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8,633</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6,936</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-19.7%</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lgn="ctr">
                      <a:solidFill>
                        <a:srgbClr val="B8CCE4"/>
                      </a:solidFill>
                      <a:prstDash val="solid"/>
                      <a:roun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6,493</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lgn="ctr">
                      <a:solidFill>
                        <a:srgbClr val="B8CCE4"/>
                      </a:solidFill>
                      <a:prstDash val="solid"/>
                      <a:roun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6,907</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 4,839</a:t>
                      </a:r>
                      <a:r>
                        <a:rPr lang="en-US" altLang="zh-CN" sz="1000" b="0" i="1">
                          <a:solidFill>
                            <a:srgbClr val="000000"/>
                          </a:solidFill>
                          <a:latin typeface="微软雅黑" panose="020B0503020204020204" pitchFamily="34" charset="-122"/>
                          <a:ea typeface="微软雅黑" panose="020B0503020204020204" pitchFamily="34" charset="-122"/>
                        </a:rPr>
                        <a:t> </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000" b="0" i="1">
                          <a:solidFill>
                            <a:srgbClr val="000000"/>
                          </a:solidFill>
                          <a:latin typeface="微软雅黑" panose="020B0503020204020204" pitchFamily="34" charset="-122"/>
                          <a:ea typeface="微软雅黑" panose="020B0503020204020204" pitchFamily="34" charset="-122"/>
                        </a:rPr>
                        <a:t>-29.9%</a:t>
                      </a:r>
                      <a:endParaRPr lang="en-US" altLang="zh-CN"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lgn="ctr">
                      <a:solidFill>
                        <a:schemeClr val="tx1"/>
                      </a:solidFill>
                      <a:prstDash val="solid"/>
                      <a:round/>
                      <a:headEnd type="none" w="med" len="med"/>
                      <a:tailEnd type="none" w="med" len="med"/>
                    </a:lnR>
                    <a:lnT w="3175" cap="flat" cmpd="sng">
                      <a:solidFill>
                        <a:srgbClr val="B8CCE4"/>
                      </a:solidFill>
                      <a:prstDash val="soli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r>
            </a:tbl>
          </a:graphicData>
        </a:graphic>
      </p:graphicFrame>
      <p:sp>
        <p:nvSpPr>
          <p:cNvPr id="15" name="文本框 14"/>
          <p:cNvSpPr txBox="1"/>
          <p:nvPr/>
        </p:nvSpPr>
        <p:spPr>
          <a:xfrm>
            <a:off x="108585" y="4197350"/>
            <a:ext cx="9915525" cy="1370330"/>
          </a:xfrm>
          <a:prstGeom prst="rect">
            <a:avLst/>
          </a:prstGeom>
          <a:noFill/>
        </p:spPr>
        <p:txBody>
          <a:bodyPr wrap="square">
            <a:noAutofit/>
          </a:bodyPr>
          <a:lstStyle/>
          <a:p>
            <a:r>
              <a:rPr lang="zh-CN" altLang="en-US" sz="950" b="1" dirty="0">
                <a:solidFill>
                  <a:prstClr val="black"/>
                </a:solidFill>
                <a:latin typeface="微软雅黑" panose="020B0503020204020204" pitchFamily="34" charset="-122"/>
                <a:ea typeface="微软雅黑" panose="020B0503020204020204" pitchFamily="34" charset="-122"/>
                <a:sym typeface="+mn-ea"/>
              </a:rPr>
              <a:t>现有口径收入增加</a:t>
            </a:r>
            <a:r>
              <a:rPr lang="en-US" altLang="zh-CN" sz="950" b="1" dirty="0">
                <a:solidFill>
                  <a:prstClr val="black"/>
                </a:solidFill>
                <a:latin typeface="微软雅黑" panose="020B0503020204020204" pitchFamily="34" charset="-122"/>
                <a:ea typeface="微软雅黑" panose="020B0503020204020204" pitchFamily="34" charset="-122"/>
                <a:sym typeface="+mn-ea"/>
              </a:rPr>
              <a:t>37</a:t>
            </a:r>
            <a:r>
              <a:rPr lang="zh-CN" altLang="en-US" sz="950" b="1" dirty="0">
                <a:solidFill>
                  <a:prstClr val="black"/>
                </a:solidFill>
                <a:latin typeface="微软雅黑" panose="020B0503020204020204" pitchFamily="34" charset="-122"/>
                <a:ea typeface="微软雅黑" panose="020B0503020204020204" pitchFamily="34" charset="-122"/>
                <a:sym typeface="+mn-ea"/>
              </a:rPr>
              <a:t>万，</a:t>
            </a:r>
            <a:r>
              <a:rPr lang="en-US" altLang="zh-CN" sz="950" b="1" dirty="0">
                <a:solidFill>
                  <a:prstClr val="black"/>
                </a:solidFill>
                <a:latin typeface="微软雅黑" panose="020B0503020204020204" pitchFamily="34" charset="-122"/>
                <a:ea typeface="微软雅黑" panose="020B0503020204020204" pitchFamily="34" charset="-122"/>
                <a:sym typeface="+mn-ea"/>
              </a:rPr>
              <a:t>NOI</a:t>
            </a:r>
            <a:r>
              <a:rPr lang="zh-CN" altLang="en-US" sz="950" b="1" dirty="0">
                <a:solidFill>
                  <a:prstClr val="black"/>
                </a:solidFill>
                <a:latin typeface="微软雅黑" panose="020B0503020204020204" pitchFamily="34" charset="-122"/>
                <a:ea typeface="微软雅黑" panose="020B0503020204020204" pitchFamily="34" charset="-122"/>
                <a:sym typeface="+mn-ea"/>
              </a:rPr>
              <a:t>增加</a:t>
            </a:r>
            <a:r>
              <a:rPr lang="en-US" altLang="zh-CN" sz="950" b="1" dirty="0">
                <a:solidFill>
                  <a:prstClr val="black"/>
                </a:solidFill>
                <a:latin typeface="微软雅黑" panose="020B0503020204020204" pitchFamily="34" charset="-122"/>
                <a:ea typeface="微软雅黑" panose="020B0503020204020204" pitchFamily="34" charset="-122"/>
                <a:sym typeface="+mn-ea"/>
              </a:rPr>
              <a:t>2</a:t>
            </a:r>
            <a:r>
              <a:rPr lang="zh-CN" altLang="en-US" sz="950" b="1" dirty="0">
                <a:solidFill>
                  <a:prstClr val="black"/>
                </a:solidFill>
                <a:latin typeface="微软雅黑" panose="020B0503020204020204" pitchFamily="34" charset="-122"/>
                <a:ea typeface="微软雅黑" panose="020B0503020204020204" pitchFamily="34" charset="-122"/>
                <a:sym typeface="+mn-ea"/>
              </a:rPr>
              <a:t>万，其中：雅宝郡寓</a:t>
            </a:r>
            <a:r>
              <a:rPr lang="zh-CN" altLang="en-US" sz="950" dirty="0">
                <a:solidFill>
                  <a:prstClr val="black"/>
                </a:solidFill>
                <a:latin typeface="微软雅黑" panose="020B0503020204020204" pitchFamily="34" charset="-122"/>
                <a:ea typeface="微软雅黑" panose="020B0503020204020204" pitchFamily="34" charset="-122"/>
                <a:sym typeface="+mn-ea"/>
              </a:rPr>
              <a:t>单价提升</a:t>
            </a:r>
            <a:r>
              <a:rPr lang="en-US" altLang="zh-CN" sz="950" dirty="0">
                <a:solidFill>
                  <a:prstClr val="black"/>
                </a:solidFill>
                <a:latin typeface="微软雅黑" panose="020B0503020204020204" pitchFamily="34" charset="-122"/>
                <a:ea typeface="微软雅黑" panose="020B0503020204020204" pitchFamily="34" charset="-122"/>
                <a:sym typeface="+mn-ea"/>
              </a:rPr>
              <a:t>2.2%</a:t>
            </a:r>
            <a:r>
              <a:rPr lang="zh-CN" altLang="en-US" sz="950" dirty="0">
                <a:solidFill>
                  <a:prstClr val="black"/>
                </a:solidFill>
                <a:latin typeface="微软雅黑" panose="020B0503020204020204" pitchFamily="34" charset="-122"/>
                <a:ea typeface="微软雅黑" panose="020B0503020204020204" pitchFamily="34" charset="-122"/>
                <a:sym typeface="+mn-ea"/>
              </a:rPr>
              <a:t>，收入增加</a:t>
            </a:r>
            <a:r>
              <a:rPr lang="en-US" altLang="zh-CN" sz="950" dirty="0">
                <a:solidFill>
                  <a:prstClr val="black"/>
                </a:solidFill>
                <a:latin typeface="微软雅黑" panose="020B0503020204020204" pitchFamily="34" charset="-122"/>
                <a:ea typeface="微软雅黑" panose="020B0503020204020204" pitchFamily="34" charset="-122"/>
                <a:sym typeface="+mn-ea"/>
              </a:rPr>
              <a:t>42</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r>
              <a:rPr lang="en-US" altLang="zh-CN" sz="950" dirty="0">
                <a:solidFill>
                  <a:prstClr val="black"/>
                </a:solidFill>
                <a:latin typeface="微软雅黑" panose="020B0503020204020204" pitchFamily="34" charset="-122"/>
                <a:ea typeface="微软雅黑" panose="020B0503020204020204" pitchFamily="34" charset="-122"/>
                <a:sym typeface="+mn-ea"/>
              </a:rPr>
              <a:t>NOI</a:t>
            </a:r>
            <a:r>
              <a:rPr lang="zh-CN" altLang="en-US" sz="950" dirty="0">
                <a:solidFill>
                  <a:prstClr val="black"/>
                </a:solidFill>
                <a:latin typeface="微软雅黑" panose="020B0503020204020204" pitchFamily="34" charset="-122"/>
                <a:ea typeface="微软雅黑" panose="020B0503020204020204" pitchFamily="34" charset="-122"/>
                <a:sym typeface="+mn-ea"/>
              </a:rPr>
              <a:t>增加</a:t>
            </a:r>
            <a:r>
              <a:rPr lang="en-US" altLang="zh-CN" sz="950" dirty="0">
                <a:solidFill>
                  <a:prstClr val="black"/>
                </a:solidFill>
                <a:latin typeface="微软雅黑" panose="020B0503020204020204" pitchFamily="34" charset="-122"/>
                <a:ea typeface="微软雅黑" panose="020B0503020204020204" pitchFamily="34" charset="-122"/>
                <a:sym typeface="+mn-ea"/>
              </a:rPr>
              <a:t>29</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r>
              <a:rPr lang="zh-CN" altLang="en-US" sz="950" b="1" dirty="0">
                <a:solidFill>
                  <a:prstClr val="black"/>
                </a:solidFill>
                <a:latin typeface="微软雅黑" panose="020B0503020204020204" pitchFamily="34" charset="-122"/>
                <a:ea typeface="微软雅黑" panose="020B0503020204020204" pitchFamily="34" charset="-122"/>
                <a:sym typeface="+mn-ea"/>
              </a:rPr>
              <a:t>上海郡寓</a:t>
            </a:r>
            <a:r>
              <a:rPr lang="zh-CN" altLang="en-US" sz="950" dirty="0">
                <a:solidFill>
                  <a:prstClr val="black"/>
                </a:solidFill>
                <a:latin typeface="微软雅黑" panose="020B0503020204020204" pitchFamily="34" charset="-122"/>
                <a:ea typeface="微软雅黑" panose="020B0503020204020204" pitchFamily="34" charset="-122"/>
                <a:sym typeface="+mn-ea"/>
              </a:rPr>
              <a:t>出租率提升至</a:t>
            </a:r>
            <a:r>
              <a:rPr lang="en-US" altLang="zh-CN" sz="950" dirty="0">
                <a:solidFill>
                  <a:prstClr val="black"/>
                </a:solidFill>
                <a:latin typeface="微软雅黑" panose="020B0503020204020204" pitchFamily="34" charset="-122"/>
                <a:ea typeface="微软雅黑" panose="020B0503020204020204" pitchFamily="34" charset="-122"/>
                <a:sym typeface="+mn-ea"/>
              </a:rPr>
              <a:t>94.5%</a:t>
            </a:r>
            <a:r>
              <a:rPr lang="zh-CN" altLang="en-US" sz="950" dirty="0">
                <a:solidFill>
                  <a:prstClr val="black"/>
                </a:solidFill>
                <a:latin typeface="微软雅黑" panose="020B0503020204020204" pitchFamily="34" charset="-122"/>
                <a:ea typeface="微软雅黑" panose="020B0503020204020204" pitchFamily="34" charset="-122"/>
                <a:sym typeface="+mn-ea"/>
              </a:rPr>
              <a:t>，增幅</a:t>
            </a:r>
            <a:r>
              <a:rPr lang="en-US" altLang="zh-CN" sz="950" dirty="0">
                <a:solidFill>
                  <a:prstClr val="black"/>
                </a:solidFill>
                <a:latin typeface="微软雅黑" panose="020B0503020204020204" pitchFamily="34" charset="-122"/>
                <a:ea typeface="微软雅黑" panose="020B0503020204020204" pitchFamily="34" charset="-122"/>
                <a:sym typeface="+mn-ea"/>
              </a:rPr>
              <a:t>1.8%</a:t>
            </a:r>
            <a:r>
              <a:rPr lang="zh-CN" altLang="en-US" sz="950" dirty="0">
                <a:solidFill>
                  <a:prstClr val="black"/>
                </a:solidFill>
                <a:latin typeface="微软雅黑" panose="020B0503020204020204" pitchFamily="34" charset="-122"/>
                <a:ea typeface="微软雅黑" panose="020B0503020204020204" pitchFamily="34" charset="-122"/>
                <a:sym typeface="+mn-ea"/>
              </a:rPr>
              <a:t>，收入增加</a:t>
            </a:r>
            <a:r>
              <a:rPr lang="en-US" altLang="zh-CN" sz="950" dirty="0">
                <a:solidFill>
                  <a:prstClr val="black"/>
                </a:solidFill>
                <a:latin typeface="微软雅黑" panose="020B0503020204020204" pitchFamily="34" charset="-122"/>
                <a:ea typeface="微软雅黑" panose="020B0503020204020204" pitchFamily="34" charset="-122"/>
                <a:sym typeface="+mn-ea"/>
              </a:rPr>
              <a:t>98</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r>
              <a:rPr lang="en-US" altLang="zh-CN" sz="950" dirty="0">
                <a:solidFill>
                  <a:prstClr val="black"/>
                </a:solidFill>
                <a:latin typeface="微软雅黑" panose="020B0503020204020204" pitchFamily="34" charset="-122"/>
                <a:ea typeface="微软雅黑" panose="020B0503020204020204" pitchFamily="34" charset="-122"/>
                <a:sym typeface="+mn-ea"/>
              </a:rPr>
              <a:t>NOI</a:t>
            </a:r>
            <a:r>
              <a:rPr lang="zh-CN" altLang="en-US" sz="950" dirty="0">
                <a:solidFill>
                  <a:prstClr val="black"/>
                </a:solidFill>
                <a:latin typeface="微软雅黑" panose="020B0503020204020204" pitchFamily="34" charset="-122"/>
                <a:ea typeface="微软雅黑" panose="020B0503020204020204" pitchFamily="34" charset="-122"/>
                <a:sym typeface="+mn-ea"/>
              </a:rPr>
              <a:t>增加</a:t>
            </a:r>
            <a:r>
              <a:rPr lang="en-US" altLang="zh-CN" sz="950" dirty="0">
                <a:solidFill>
                  <a:prstClr val="black"/>
                </a:solidFill>
                <a:latin typeface="微软雅黑" panose="020B0503020204020204" pitchFamily="34" charset="-122"/>
                <a:ea typeface="微软雅黑" panose="020B0503020204020204" pitchFamily="34" charset="-122"/>
                <a:sym typeface="+mn-ea"/>
              </a:rPr>
              <a:t>28</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r>
              <a:rPr lang="zh-CN" altLang="en-US" sz="950" b="1" dirty="0">
                <a:solidFill>
                  <a:prstClr val="black"/>
                </a:solidFill>
                <a:latin typeface="微软雅黑" panose="020B0503020204020204" pitchFamily="34" charset="-122"/>
                <a:ea typeface="微软雅黑" panose="020B0503020204020204" pitchFamily="34" charset="-122"/>
                <a:sym typeface="+mn-ea"/>
              </a:rPr>
              <a:t>XH</a:t>
            </a:r>
            <a:r>
              <a:rPr lang="zh-CN" altLang="en-US" sz="950" b="1" dirty="0">
                <a:solidFill>
                  <a:prstClr val="black"/>
                </a:solidFill>
                <a:latin typeface="微软雅黑" panose="020B0503020204020204" pitchFamily="34" charset="-122"/>
                <a:ea typeface="微软雅黑" panose="020B0503020204020204" pitchFamily="34" charset="-122"/>
                <a:sym typeface="+mn-ea"/>
              </a:rPr>
              <a:t>锦居</a:t>
            </a:r>
            <a:r>
              <a:rPr lang="zh-CN" altLang="en-US" sz="950" dirty="0">
                <a:solidFill>
                  <a:prstClr val="black"/>
                </a:solidFill>
                <a:latin typeface="微软雅黑" panose="020B0503020204020204" pitchFamily="34" charset="-122"/>
                <a:ea typeface="微软雅黑" panose="020B0503020204020204" pitchFamily="34" charset="-122"/>
                <a:sym typeface="+mn-ea"/>
              </a:rPr>
              <a:t>：与XH锦居店一墙之隔的创意园启动旧改，明年施工噪音影响极大，对</a:t>
            </a:r>
            <a:r>
              <a:rPr lang="en-US" altLang="zh-CN" sz="950" dirty="0">
                <a:solidFill>
                  <a:prstClr val="black"/>
                </a:solidFill>
                <a:latin typeface="微软雅黑" panose="020B0503020204020204" pitchFamily="34" charset="-122"/>
                <a:ea typeface="微软雅黑" panose="020B0503020204020204" pitchFamily="34" charset="-122"/>
                <a:sym typeface="+mn-ea"/>
              </a:rPr>
              <a:t>2026</a:t>
            </a:r>
            <a:r>
              <a:rPr lang="zh-CN" altLang="en-US" sz="950" dirty="0">
                <a:solidFill>
                  <a:prstClr val="black"/>
                </a:solidFill>
                <a:latin typeface="微软雅黑" panose="020B0503020204020204" pitchFamily="34" charset="-122"/>
                <a:ea typeface="微软雅黑" panose="020B0503020204020204" pitchFamily="34" charset="-122"/>
                <a:sym typeface="+mn-ea"/>
              </a:rPr>
              <a:t>年整体出租率及租金有较大影响，收入减少</a:t>
            </a:r>
            <a:r>
              <a:rPr lang="en-US" altLang="zh-CN" sz="950" dirty="0">
                <a:solidFill>
                  <a:prstClr val="black"/>
                </a:solidFill>
                <a:latin typeface="微软雅黑" panose="020B0503020204020204" pitchFamily="34" charset="-122"/>
                <a:ea typeface="微软雅黑" panose="020B0503020204020204" pitchFamily="34" charset="-122"/>
                <a:sym typeface="+mn-ea"/>
              </a:rPr>
              <a:t>118</a:t>
            </a:r>
            <a:r>
              <a:rPr lang="zh-CN" altLang="en-US" sz="950" dirty="0">
                <a:solidFill>
                  <a:prstClr val="black"/>
                </a:solidFill>
                <a:latin typeface="微软雅黑" panose="020B0503020204020204" pitchFamily="34" charset="-122"/>
                <a:ea typeface="微软雅黑" panose="020B0503020204020204" pitchFamily="34" charset="-122"/>
                <a:sym typeface="+mn-ea"/>
              </a:rPr>
              <a:t>万。其他项目基本与</a:t>
            </a:r>
            <a:r>
              <a:rPr lang="en-US" altLang="zh-CN" sz="950" dirty="0">
                <a:solidFill>
                  <a:prstClr val="black"/>
                </a:solidFill>
                <a:latin typeface="微软雅黑" panose="020B0503020204020204" pitchFamily="34" charset="-122"/>
                <a:ea typeface="微软雅黑" panose="020B0503020204020204" pitchFamily="34" charset="-122"/>
                <a:sym typeface="+mn-ea"/>
              </a:rPr>
              <a:t>25</a:t>
            </a:r>
            <a:r>
              <a:rPr lang="zh-CN" altLang="en-US" sz="950" dirty="0">
                <a:solidFill>
                  <a:prstClr val="black"/>
                </a:solidFill>
                <a:latin typeface="微软雅黑" panose="020B0503020204020204" pitchFamily="34" charset="-122"/>
                <a:ea typeface="微软雅黑" panose="020B0503020204020204" pitchFamily="34" charset="-122"/>
                <a:sym typeface="+mn-ea"/>
              </a:rPr>
              <a:t>年持平，变化较小。</a:t>
            </a:r>
            <a:endParaRPr lang="zh-CN" altLang="en-US" sz="950" dirty="0">
              <a:solidFill>
                <a:prstClr val="black"/>
              </a:solidFill>
              <a:latin typeface="微软雅黑" panose="020B0503020204020204" pitchFamily="34" charset="-122"/>
              <a:ea typeface="微软雅黑" panose="020B0503020204020204" pitchFamily="34" charset="-122"/>
            </a:endParaRPr>
          </a:p>
          <a:p>
            <a:r>
              <a:rPr lang="zh-CN" altLang="en-US" sz="950" dirty="0">
                <a:solidFill>
                  <a:prstClr val="black"/>
                </a:solidFill>
                <a:latin typeface="微软雅黑" panose="020B0503020204020204" pitchFamily="34" charset="-122"/>
                <a:ea typeface="微软雅黑" panose="020B0503020204020204" pitchFamily="34" charset="-122"/>
                <a:sym typeface="+mn-ea"/>
              </a:rPr>
              <a:t>新增</a:t>
            </a:r>
            <a:r>
              <a:rPr lang="en-US" altLang="zh-CN" sz="950" dirty="0">
                <a:solidFill>
                  <a:prstClr val="black"/>
                </a:solidFill>
                <a:latin typeface="微软雅黑" panose="020B0503020204020204" pitchFamily="34" charset="-122"/>
                <a:ea typeface="微软雅黑" panose="020B0503020204020204" pitchFamily="34" charset="-122"/>
                <a:sym typeface="+mn-ea"/>
              </a:rPr>
              <a:t>/</a:t>
            </a:r>
            <a:r>
              <a:rPr lang="zh-CN" altLang="en-US" sz="950" dirty="0">
                <a:solidFill>
                  <a:prstClr val="black"/>
                </a:solidFill>
                <a:latin typeface="微软雅黑" panose="020B0503020204020204" pitchFamily="34" charset="-122"/>
                <a:ea typeface="微软雅黑" panose="020B0503020204020204" pitchFamily="34" charset="-122"/>
                <a:sym typeface="+mn-ea"/>
              </a:rPr>
              <a:t>改造口径收入下降</a:t>
            </a:r>
            <a:r>
              <a:rPr lang="en-US" altLang="zh-CN" sz="950" dirty="0">
                <a:solidFill>
                  <a:prstClr val="black"/>
                </a:solidFill>
                <a:latin typeface="微软雅黑" panose="020B0503020204020204" pitchFamily="34" charset="-122"/>
                <a:ea typeface="微软雅黑" panose="020B0503020204020204" pitchFamily="34" charset="-122"/>
                <a:sym typeface="+mn-ea"/>
              </a:rPr>
              <a:t>1,697</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r>
              <a:rPr lang="en-US" altLang="zh-CN" sz="950" dirty="0">
                <a:solidFill>
                  <a:prstClr val="black"/>
                </a:solidFill>
                <a:latin typeface="微软雅黑" panose="020B0503020204020204" pitchFamily="34" charset="-122"/>
                <a:ea typeface="微软雅黑" panose="020B0503020204020204" pitchFamily="34" charset="-122"/>
                <a:sym typeface="+mn-ea"/>
              </a:rPr>
              <a:t>NOI</a:t>
            </a:r>
            <a:r>
              <a:rPr lang="zh-CN" altLang="en-US" sz="950" dirty="0">
                <a:solidFill>
                  <a:prstClr val="black"/>
                </a:solidFill>
                <a:latin typeface="微软雅黑" panose="020B0503020204020204" pitchFamily="34" charset="-122"/>
                <a:ea typeface="微软雅黑" panose="020B0503020204020204" pitchFamily="34" charset="-122"/>
                <a:sym typeface="+mn-ea"/>
              </a:rPr>
              <a:t>下降</a:t>
            </a:r>
            <a:r>
              <a:rPr lang="en-US" altLang="zh-CN" sz="950" dirty="0">
                <a:solidFill>
                  <a:prstClr val="black"/>
                </a:solidFill>
                <a:latin typeface="微软雅黑" panose="020B0503020204020204" pitchFamily="34" charset="-122"/>
                <a:ea typeface="微软雅黑" panose="020B0503020204020204" pitchFamily="34" charset="-122"/>
                <a:sym typeface="+mn-ea"/>
              </a:rPr>
              <a:t>2,068</a:t>
            </a:r>
            <a:r>
              <a:rPr lang="zh-CN" altLang="en-US" sz="950" dirty="0">
                <a:solidFill>
                  <a:prstClr val="black"/>
                </a:solidFill>
                <a:latin typeface="微软雅黑" panose="020B0503020204020204" pitchFamily="34" charset="-122"/>
                <a:ea typeface="微软雅黑" panose="020B0503020204020204" pitchFamily="34" charset="-122"/>
                <a:sym typeface="+mn-ea"/>
              </a:rPr>
              <a:t>万，其中：</a:t>
            </a:r>
            <a:endParaRPr lang="zh-CN" altLang="en-US" sz="950" b="1" dirty="0">
              <a:solidFill>
                <a:prstClr val="black"/>
              </a:solidFill>
              <a:latin typeface="微软雅黑" panose="020B0503020204020204" pitchFamily="34" charset="-122"/>
              <a:ea typeface="微软雅黑" panose="020B0503020204020204" pitchFamily="34" charset="-122"/>
              <a:sym typeface="+mn-ea"/>
            </a:endParaRPr>
          </a:p>
          <a:p>
            <a:r>
              <a:rPr lang="zh-CN" altLang="en-US" sz="950" b="1" dirty="0">
                <a:solidFill>
                  <a:prstClr val="black"/>
                </a:solidFill>
                <a:latin typeface="微软雅黑" panose="020B0503020204020204" pitchFamily="34" charset="-122"/>
                <a:ea typeface="微软雅黑" panose="020B0503020204020204" pitchFamily="34" charset="-122"/>
                <a:sym typeface="+mn-ea"/>
              </a:rPr>
              <a:t>沙井荣御</a:t>
            </a:r>
            <a:r>
              <a:rPr lang="zh-CN" altLang="en-US" sz="950" dirty="0">
                <a:solidFill>
                  <a:prstClr val="black"/>
                </a:solidFill>
                <a:latin typeface="微软雅黑" panose="020B0503020204020204" pitchFamily="34" charset="-122"/>
                <a:ea typeface="微软雅黑" panose="020B0503020204020204" pitchFamily="34" charset="-122"/>
                <a:sym typeface="+mn-ea"/>
              </a:rPr>
              <a:t>：</a:t>
            </a:r>
            <a:r>
              <a:rPr lang="en-US" altLang="zh-CN" sz="950" dirty="0">
                <a:solidFill>
                  <a:prstClr val="black"/>
                </a:solidFill>
                <a:latin typeface="微软雅黑" panose="020B0503020204020204" pitchFamily="34" charset="-122"/>
                <a:ea typeface="微软雅黑" panose="020B0503020204020204" pitchFamily="34" charset="-122"/>
                <a:sym typeface="+mn-ea"/>
              </a:rPr>
              <a:t>26</a:t>
            </a:r>
            <a:r>
              <a:rPr lang="zh-CN" altLang="en-US" sz="950" dirty="0">
                <a:solidFill>
                  <a:prstClr val="black"/>
                </a:solidFill>
                <a:latin typeface="微软雅黑" panose="020B0503020204020204" pitchFamily="34" charset="-122"/>
                <a:ea typeface="微软雅黑" panose="020B0503020204020204" pitchFamily="34" charset="-122"/>
                <a:sym typeface="+mn-ea"/>
              </a:rPr>
              <a:t>年XH收回</a:t>
            </a:r>
            <a:r>
              <a:rPr lang="en-US" altLang="zh-CN" sz="950" dirty="0">
                <a:solidFill>
                  <a:prstClr val="black"/>
                </a:solidFill>
                <a:latin typeface="微软雅黑" panose="020B0503020204020204" pitchFamily="34" charset="-122"/>
                <a:ea typeface="微软雅黑" panose="020B0503020204020204" pitchFamily="34" charset="-122"/>
                <a:sym typeface="+mn-ea"/>
              </a:rPr>
              <a:t>424</a:t>
            </a:r>
            <a:r>
              <a:rPr lang="zh-CN" altLang="en-US" sz="950" dirty="0">
                <a:solidFill>
                  <a:prstClr val="black"/>
                </a:solidFill>
                <a:latin typeface="微软雅黑" panose="020B0503020204020204" pitchFamily="34" charset="-122"/>
                <a:ea typeface="微软雅黑" panose="020B0503020204020204" pitchFamily="34" charset="-122"/>
                <a:sym typeface="+mn-ea"/>
              </a:rPr>
              <a:t>套房源（</a:t>
            </a:r>
            <a:r>
              <a:rPr lang="en-US" altLang="zh-CN" sz="950" dirty="0">
                <a:solidFill>
                  <a:prstClr val="black"/>
                </a:solidFill>
                <a:latin typeface="微软雅黑" panose="020B0503020204020204" pitchFamily="34" charset="-122"/>
                <a:ea typeface="微软雅黑" panose="020B0503020204020204" pitchFamily="34" charset="-122"/>
                <a:sym typeface="+mn-ea"/>
              </a:rPr>
              <a:t>87</a:t>
            </a:r>
            <a:r>
              <a:rPr lang="zh-CN" altLang="en-US" sz="950" dirty="0">
                <a:solidFill>
                  <a:prstClr val="black"/>
                </a:solidFill>
                <a:latin typeface="微软雅黑" panose="020B0503020204020204" pitchFamily="34" charset="-122"/>
                <a:ea typeface="微软雅黑" panose="020B0503020204020204" pitchFamily="34" charset="-122"/>
                <a:sym typeface="+mn-ea"/>
              </a:rPr>
              <a:t>平以上大户型）自营，</a:t>
            </a:r>
            <a:r>
              <a:rPr lang="en-US" altLang="zh-CN" sz="950" dirty="0">
                <a:solidFill>
                  <a:srgbClr val="C00000"/>
                </a:solidFill>
                <a:latin typeface="微软雅黑" panose="020B0503020204020204" pitchFamily="34" charset="-122"/>
                <a:ea typeface="微软雅黑" panose="020B0503020204020204" pitchFamily="34" charset="-122"/>
                <a:sym typeface="+mn-ea"/>
              </a:rPr>
              <a:t>2C</a:t>
            </a:r>
            <a:r>
              <a:rPr lang="zh-CN" altLang="en-US" sz="950" dirty="0">
                <a:solidFill>
                  <a:srgbClr val="C00000"/>
                </a:solidFill>
                <a:latin typeface="微软雅黑" panose="020B0503020204020204" pitchFamily="34" charset="-122"/>
                <a:ea typeface="微软雅黑" panose="020B0503020204020204" pitchFamily="34" charset="-122"/>
                <a:sym typeface="+mn-ea"/>
              </a:rPr>
              <a:t>栋：</a:t>
            </a:r>
            <a:r>
              <a:rPr lang="en-US" altLang="zh-CN" sz="950" dirty="0">
                <a:solidFill>
                  <a:srgbClr val="C00000"/>
                </a:solidFill>
                <a:latin typeface="微软雅黑" panose="020B0503020204020204" pitchFamily="34" charset="-122"/>
                <a:ea typeface="微软雅黑" panose="020B0503020204020204" pitchFamily="34" charset="-122"/>
                <a:sym typeface="+mn-ea"/>
              </a:rPr>
              <a:t>2026</a:t>
            </a:r>
            <a:r>
              <a:rPr lang="zh-CN" altLang="en-US" sz="950" dirty="0">
                <a:solidFill>
                  <a:srgbClr val="C00000"/>
                </a:solidFill>
                <a:latin typeface="微软雅黑" panose="020B0503020204020204" pitchFamily="34" charset="-122"/>
                <a:ea typeface="微软雅黑" panose="020B0503020204020204" pitchFamily="34" charset="-122"/>
                <a:sym typeface="+mn-ea"/>
              </a:rPr>
              <a:t>年</a:t>
            </a:r>
            <a:r>
              <a:rPr lang="en-US" altLang="zh-CN" sz="950" dirty="0">
                <a:solidFill>
                  <a:srgbClr val="C00000"/>
                </a:solidFill>
                <a:latin typeface="微软雅黑" panose="020B0503020204020204" pitchFamily="34" charset="-122"/>
                <a:ea typeface="微软雅黑" panose="020B0503020204020204" pitchFamily="34" charset="-122"/>
                <a:sym typeface="+mn-ea"/>
              </a:rPr>
              <a:t>3</a:t>
            </a:r>
            <a:r>
              <a:rPr lang="zh-CN" altLang="en-US" sz="950" dirty="0">
                <a:solidFill>
                  <a:srgbClr val="C00000"/>
                </a:solidFill>
                <a:latin typeface="微软雅黑" panose="020B0503020204020204" pitchFamily="34" charset="-122"/>
                <a:ea typeface="微软雅黑" panose="020B0503020204020204" pitchFamily="34" charset="-122"/>
                <a:sym typeface="+mn-ea"/>
              </a:rPr>
              <a:t>月</a:t>
            </a:r>
            <a:r>
              <a:rPr lang="en-US" altLang="zh-CN" sz="950" dirty="0">
                <a:solidFill>
                  <a:srgbClr val="C00000"/>
                </a:solidFill>
                <a:latin typeface="微软雅黑" panose="020B0503020204020204" pitchFamily="34" charset="-122"/>
                <a:ea typeface="微软雅黑" panose="020B0503020204020204" pitchFamily="34" charset="-122"/>
                <a:sym typeface="+mn-ea"/>
              </a:rPr>
              <a:t>29</a:t>
            </a:r>
            <a:r>
              <a:rPr lang="zh-CN" altLang="en-US" sz="950" dirty="0">
                <a:solidFill>
                  <a:srgbClr val="C00000"/>
                </a:solidFill>
                <a:latin typeface="微软雅黑" panose="020B0503020204020204" pitchFamily="34" charset="-122"/>
                <a:ea typeface="微软雅黑" panose="020B0503020204020204" pitchFamily="34" charset="-122"/>
                <a:sym typeface="+mn-ea"/>
              </a:rPr>
              <a:t>号到期</a:t>
            </a:r>
            <a:r>
              <a:rPr lang="en-US" altLang="zh-CN" sz="950" dirty="0">
                <a:solidFill>
                  <a:srgbClr val="C00000"/>
                </a:solidFill>
                <a:latin typeface="微软雅黑" panose="020B0503020204020204" pitchFamily="34" charset="-122"/>
                <a:ea typeface="微软雅黑" panose="020B0503020204020204" pitchFamily="34" charset="-122"/>
                <a:sym typeface="+mn-ea"/>
              </a:rPr>
              <a:t>207</a:t>
            </a:r>
            <a:r>
              <a:rPr lang="zh-CN" altLang="en-US" sz="950" dirty="0">
                <a:solidFill>
                  <a:srgbClr val="C00000"/>
                </a:solidFill>
                <a:latin typeface="微软雅黑" panose="020B0503020204020204" pitchFamily="34" charset="-122"/>
                <a:ea typeface="微软雅黑" panose="020B0503020204020204" pitchFamily="34" charset="-122"/>
                <a:sym typeface="+mn-ea"/>
              </a:rPr>
              <a:t>套，预计年底出租率</a:t>
            </a:r>
            <a:r>
              <a:rPr lang="en-US" altLang="zh-CN" sz="950" dirty="0">
                <a:solidFill>
                  <a:srgbClr val="C00000"/>
                </a:solidFill>
                <a:latin typeface="微软雅黑" panose="020B0503020204020204" pitchFamily="34" charset="-122"/>
                <a:ea typeface="微软雅黑" panose="020B0503020204020204" pitchFamily="34" charset="-122"/>
                <a:sym typeface="+mn-ea"/>
              </a:rPr>
              <a:t>70%</a:t>
            </a:r>
            <a:r>
              <a:rPr lang="zh-CN" altLang="en-US" sz="950" dirty="0">
                <a:solidFill>
                  <a:srgbClr val="C00000"/>
                </a:solidFill>
                <a:latin typeface="微软雅黑" panose="020B0503020204020204" pitchFamily="34" charset="-122"/>
                <a:ea typeface="微软雅黑" panose="020B0503020204020204" pitchFamily="34" charset="-122"/>
                <a:sym typeface="+mn-ea"/>
              </a:rPr>
              <a:t>；</a:t>
            </a:r>
            <a:r>
              <a:rPr lang="en-US" altLang="zh-CN" sz="950" dirty="0">
                <a:solidFill>
                  <a:srgbClr val="C00000"/>
                </a:solidFill>
                <a:latin typeface="微软雅黑" panose="020B0503020204020204" pitchFamily="34" charset="-122"/>
                <a:ea typeface="微软雅黑" panose="020B0503020204020204" pitchFamily="34" charset="-122"/>
                <a:sym typeface="+mn-ea"/>
              </a:rPr>
              <a:t>2B</a:t>
            </a:r>
            <a:r>
              <a:rPr lang="zh-CN" altLang="en-US" sz="950" dirty="0">
                <a:solidFill>
                  <a:srgbClr val="C00000"/>
                </a:solidFill>
                <a:latin typeface="微软雅黑" panose="020B0503020204020204" pitchFamily="34" charset="-122"/>
                <a:ea typeface="微软雅黑" panose="020B0503020204020204" pitchFamily="34" charset="-122"/>
                <a:sym typeface="+mn-ea"/>
              </a:rPr>
              <a:t>栋：</a:t>
            </a:r>
            <a:r>
              <a:rPr lang="en-US" altLang="zh-CN" sz="950" dirty="0">
                <a:solidFill>
                  <a:srgbClr val="C00000"/>
                </a:solidFill>
                <a:latin typeface="微软雅黑" panose="020B0503020204020204" pitchFamily="34" charset="-122"/>
                <a:ea typeface="微软雅黑" panose="020B0503020204020204" pitchFamily="34" charset="-122"/>
                <a:sym typeface="+mn-ea"/>
              </a:rPr>
              <a:t>2026</a:t>
            </a:r>
            <a:r>
              <a:rPr lang="zh-CN" altLang="en-US" sz="950" dirty="0">
                <a:solidFill>
                  <a:srgbClr val="C00000"/>
                </a:solidFill>
                <a:latin typeface="微软雅黑" panose="020B0503020204020204" pitchFamily="34" charset="-122"/>
                <a:ea typeface="微软雅黑" panose="020B0503020204020204" pitchFamily="34" charset="-122"/>
                <a:sym typeface="+mn-ea"/>
              </a:rPr>
              <a:t>年</a:t>
            </a:r>
            <a:r>
              <a:rPr lang="en-US" altLang="zh-CN" sz="950" dirty="0">
                <a:solidFill>
                  <a:srgbClr val="C00000"/>
                </a:solidFill>
                <a:latin typeface="微软雅黑" panose="020B0503020204020204" pitchFamily="34" charset="-122"/>
                <a:ea typeface="微软雅黑" panose="020B0503020204020204" pitchFamily="34" charset="-122"/>
                <a:sym typeface="+mn-ea"/>
              </a:rPr>
              <a:t>8</a:t>
            </a:r>
            <a:r>
              <a:rPr lang="zh-CN" altLang="en-US" sz="950" dirty="0">
                <a:solidFill>
                  <a:srgbClr val="C00000"/>
                </a:solidFill>
                <a:latin typeface="微软雅黑" panose="020B0503020204020204" pitchFamily="34" charset="-122"/>
                <a:ea typeface="微软雅黑" panose="020B0503020204020204" pitchFamily="34" charset="-122"/>
                <a:sym typeface="+mn-ea"/>
              </a:rPr>
              <a:t>月</a:t>
            </a:r>
            <a:r>
              <a:rPr lang="en-US" altLang="zh-CN" sz="950" dirty="0">
                <a:solidFill>
                  <a:srgbClr val="C00000"/>
                </a:solidFill>
                <a:latin typeface="微软雅黑" panose="020B0503020204020204" pitchFamily="34" charset="-122"/>
                <a:ea typeface="微软雅黑" panose="020B0503020204020204" pitchFamily="34" charset="-122"/>
                <a:sym typeface="+mn-ea"/>
              </a:rPr>
              <a:t>27</a:t>
            </a:r>
            <a:r>
              <a:rPr lang="zh-CN" altLang="en-US" sz="950" dirty="0">
                <a:solidFill>
                  <a:srgbClr val="C00000"/>
                </a:solidFill>
                <a:latin typeface="微软雅黑" panose="020B0503020204020204" pitchFamily="34" charset="-122"/>
                <a:ea typeface="微软雅黑" panose="020B0503020204020204" pitchFamily="34" charset="-122"/>
                <a:sym typeface="+mn-ea"/>
              </a:rPr>
              <a:t>号到期</a:t>
            </a:r>
            <a:r>
              <a:rPr lang="en-US" altLang="zh-CN" sz="950" dirty="0">
                <a:solidFill>
                  <a:srgbClr val="C00000"/>
                </a:solidFill>
                <a:latin typeface="微软雅黑" panose="020B0503020204020204" pitchFamily="34" charset="-122"/>
                <a:ea typeface="微软雅黑" panose="020B0503020204020204" pitchFamily="34" charset="-122"/>
                <a:sym typeface="+mn-ea"/>
              </a:rPr>
              <a:t>217</a:t>
            </a:r>
            <a:r>
              <a:rPr lang="zh-CN" altLang="en-US" sz="950" dirty="0">
                <a:solidFill>
                  <a:srgbClr val="C00000"/>
                </a:solidFill>
                <a:latin typeface="微软雅黑" panose="020B0503020204020204" pitchFamily="34" charset="-122"/>
                <a:ea typeface="微软雅黑" panose="020B0503020204020204" pitchFamily="34" charset="-122"/>
                <a:sym typeface="+mn-ea"/>
              </a:rPr>
              <a:t>套，预计年底出租率</a:t>
            </a:r>
            <a:r>
              <a:rPr lang="en-US" altLang="zh-CN" sz="950" dirty="0">
                <a:solidFill>
                  <a:srgbClr val="C00000"/>
                </a:solidFill>
                <a:latin typeface="微软雅黑" panose="020B0503020204020204" pitchFamily="34" charset="-122"/>
                <a:ea typeface="微软雅黑" panose="020B0503020204020204" pitchFamily="34" charset="-122"/>
                <a:sym typeface="+mn-ea"/>
              </a:rPr>
              <a:t>52%</a:t>
            </a:r>
            <a:r>
              <a:rPr lang="zh-CN" altLang="en-US" sz="950" dirty="0">
                <a:solidFill>
                  <a:srgbClr val="C00000"/>
                </a:solidFill>
                <a:latin typeface="微软雅黑" panose="020B0503020204020204" pitchFamily="34" charset="-122"/>
                <a:ea typeface="微软雅黑" panose="020B0503020204020204" pitchFamily="34" charset="-122"/>
                <a:sym typeface="+mn-ea"/>
              </a:rPr>
              <a:t>；</a:t>
            </a:r>
            <a:r>
              <a:rPr lang="zh-CN" altLang="en-US" sz="950" dirty="0">
                <a:solidFill>
                  <a:prstClr val="black"/>
                </a:solidFill>
                <a:latin typeface="微软雅黑" panose="020B0503020204020204" pitchFamily="34" charset="-122"/>
                <a:ea typeface="微软雅黑" panose="020B0503020204020204" pitchFamily="34" charset="-122"/>
                <a:sym typeface="+mn-ea"/>
              </a:rPr>
              <a:t>租金单价：未到期配租人才房</a:t>
            </a:r>
            <a:r>
              <a:rPr lang="en-US" altLang="zh-CN" sz="950" dirty="0">
                <a:solidFill>
                  <a:prstClr val="black"/>
                </a:solidFill>
                <a:latin typeface="微软雅黑" panose="020B0503020204020204" pitchFamily="34" charset="-122"/>
                <a:ea typeface="微软雅黑" panose="020B0503020204020204" pitchFamily="34" charset="-122"/>
                <a:sym typeface="+mn-ea"/>
              </a:rPr>
              <a:t>86.14</a:t>
            </a:r>
            <a:r>
              <a:rPr lang="zh-CN" altLang="en-US" sz="950" dirty="0">
                <a:solidFill>
                  <a:prstClr val="black"/>
                </a:solidFill>
                <a:latin typeface="微软雅黑" panose="020B0503020204020204" pitchFamily="34" charset="-122"/>
                <a:ea typeface="微软雅黑" panose="020B0503020204020204" pitchFamily="34" charset="-122"/>
                <a:sym typeface="+mn-ea"/>
              </a:rPr>
              <a:t>元</a:t>
            </a:r>
            <a:r>
              <a:rPr lang="en-US" altLang="zh-CN" sz="950" dirty="0">
                <a:solidFill>
                  <a:prstClr val="black"/>
                </a:solidFill>
                <a:latin typeface="微软雅黑" panose="020B0503020204020204" pitchFamily="34" charset="-122"/>
                <a:ea typeface="微软雅黑" panose="020B0503020204020204" pitchFamily="34" charset="-122"/>
                <a:sym typeface="+mn-ea"/>
              </a:rPr>
              <a:t>/</a:t>
            </a:r>
            <a:r>
              <a:rPr lang="zh-CN" altLang="en-US" sz="950" dirty="0">
                <a:solidFill>
                  <a:prstClr val="black"/>
                </a:solidFill>
                <a:latin typeface="微软雅黑" panose="020B0503020204020204" pitchFamily="34" charset="-122"/>
                <a:ea typeface="微软雅黑" panose="020B0503020204020204" pitchFamily="34" charset="-122"/>
                <a:sym typeface="+mn-ea"/>
              </a:rPr>
              <a:t>平，</a:t>
            </a:r>
            <a:r>
              <a:rPr lang="zh-CN" altLang="en-US" sz="950" dirty="0">
                <a:solidFill>
                  <a:srgbClr val="C00000"/>
                </a:solidFill>
                <a:latin typeface="微软雅黑" panose="020B0503020204020204" pitchFamily="34" charset="-122"/>
                <a:ea typeface="微软雅黑" panose="020B0503020204020204" pitchFamily="34" charset="-122"/>
                <a:sym typeface="+mn-ea"/>
              </a:rPr>
              <a:t>到期后自营</a:t>
            </a:r>
            <a:r>
              <a:rPr lang="en-US" altLang="zh-CN" sz="950" dirty="0">
                <a:solidFill>
                  <a:srgbClr val="C00000"/>
                </a:solidFill>
                <a:latin typeface="微软雅黑" panose="020B0503020204020204" pitchFamily="34" charset="-122"/>
                <a:ea typeface="微软雅黑" panose="020B0503020204020204" pitchFamily="34" charset="-122"/>
                <a:sym typeface="+mn-ea"/>
              </a:rPr>
              <a:t>50</a:t>
            </a:r>
            <a:r>
              <a:rPr lang="zh-CN" altLang="en-US" sz="950" dirty="0">
                <a:solidFill>
                  <a:srgbClr val="C00000"/>
                </a:solidFill>
                <a:latin typeface="微软雅黑" panose="020B0503020204020204" pitchFamily="34" charset="-122"/>
                <a:ea typeface="微软雅黑" panose="020B0503020204020204" pitchFamily="34" charset="-122"/>
                <a:sym typeface="+mn-ea"/>
              </a:rPr>
              <a:t>元</a:t>
            </a:r>
            <a:r>
              <a:rPr lang="en-US" altLang="zh-CN" sz="950" dirty="0">
                <a:solidFill>
                  <a:srgbClr val="C00000"/>
                </a:solidFill>
                <a:latin typeface="微软雅黑" panose="020B0503020204020204" pitchFamily="34" charset="-122"/>
                <a:ea typeface="微软雅黑" panose="020B0503020204020204" pitchFamily="34" charset="-122"/>
                <a:sym typeface="+mn-ea"/>
              </a:rPr>
              <a:t>/</a:t>
            </a:r>
            <a:r>
              <a:rPr lang="zh-CN" altLang="en-US" sz="950" dirty="0">
                <a:solidFill>
                  <a:srgbClr val="C00000"/>
                </a:solidFill>
                <a:latin typeface="微软雅黑" panose="020B0503020204020204" pitchFamily="34" charset="-122"/>
                <a:ea typeface="微软雅黑" panose="020B0503020204020204" pitchFamily="34" charset="-122"/>
                <a:sym typeface="+mn-ea"/>
              </a:rPr>
              <a:t>平</a:t>
            </a:r>
            <a:r>
              <a:rPr lang="zh-CN" altLang="en-US" sz="950" dirty="0">
                <a:solidFill>
                  <a:srgbClr val="FF0000"/>
                </a:solidFill>
                <a:latin typeface="微软雅黑" panose="020B0503020204020204" pitchFamily="34" charset="-122"/>
                <a:ea typeface="微软雅黑" panose="020B0503020204020204" pitchFamily="34" charset="-122"/>
                <a:sym typeface="+mn-ea"/>
              </a:rPr>
              <a:t>，</a:t>
            </a:r>
            <a:r>
              <a:rPr lang="zh-CN" altLang="en-US" sz="950" dirty="0">
                <a:solidFill>
                  <a:prstClr val="black"/>
                </a:solidFill>
                <a:latin typeface="微软雅黑" panose="020B0503020204020204" pitchFamily="34" charset="-122"/>
                <a:ea typeface="微软雅黑" panose="020B0503020204020204" pitchFamily="34" charset="-122"/>
                <a:sym typeface="+mn-ea"/>
              </a:rPr>
              <a:t>配租人才房</a:t>
            </a:r>
            <a:r>
              <a:rPr lang="en-US" altLang="zh-CN" sz="950" dirty="0">
                <a:solidFill>
                  <a:prstClr val="black"/>
                </a:solidFill>
                <a:latin typeface="微软雅黑" panose="020B0503020204020204" pitchFamily="34" charset="-122"/>
                <a:ea typeface="微软雅黑" panose="020B0503020204020204" pitchFamily="34" charset="-122"/>
                <a:sym typeface="+mn-ea"/>
              </a:rPr>
              <a:t>49.5</a:t>
            </a:r>
            <a:r>
              <a:rPr lang="zh-CN" altLang="en-US" sz="950" dirty="0">
                <a:solidFill>
                  <a:prstClr val="black"/>
                </a:solidFill>
                <a:latin typeface="微软雅黑" panose="020B0503020204020204" pitchFamily="34" charset="-122"/>
                <a:ea typeface="微软雅黑" panose="020B0503020204020204" pitchFamily="34" charset="-122"/>
                <a:sym typeface="+mn-ea"/>
              </a:rPr>
              <a:t>元</a:t>
            </a:r>
            <a:r>
              <a:rPr lang="en-US" altLang="zh-CN" sz="950" dirty="0">
                <a:solidFill>
                  <a:prstClr val="black"/>
                </a:solidFill>
                <a:latin typeface="微软雅黑" panose="020B0503020204020204" pitchFamily="34" charset="-122"/>
                <a:ea typeface="微软雅黑" panose="020B0503020204020204" pitchFamily="34" charset="-122"/>
                <a:sym typeface="+mn-ea"/>
              </a:rPr>
              <a:t>/</a:t>
            </a:r>
            <a:r>
              <a:rPr lang="zh-CN" altLang="en-US" sz="950" dirty="0">
                <a:solidFill>
                  <a:prstClr val="black"/>
                </a:solidFill>
                <a:latin typeface="微软雅黑" panose="020B0503020204020204" pitchFamily="34" charset="-122"/>
                <a:ea typeface="微软雅黑" panose="020B0503020204020204" pitchFamily="34" charset="-122"/>
                <a:sym typeface="+mn-ea"/>
              </a:rPr>
              <a:t>平，不进行兜底部分协商自营提升收入。收入减少</a:t>
            </a:r>
            <a:r>
              <a:rPr lang="en-US" altLang="zh-CN" sz="950" dirty="0">
                <a:solidFill>
                  <a:prstClr val="black"/>
                </a:solidFill>
                <a:latin typeface="微软雅黑" panose="020B0503020204020204" pitchFamily="34" charset="-122"/>
                <a:ea typeface="微软雅黑" panose="020B0503020204020204" pitchFamily="34" charset="-122"/>
                <a:sym typeface="+mn-ea"/>
              </a:rPr>
              <a:t>2,759</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r>
              <a:rPr lang="en-US" altLang="zh-CN" sz="950" dirty="0">
                <a:solidFill>
                  <a:prstClr val="black"/>
                </a:solidFill>
                <a:latin typeface="微软雅黑" panose="020B0503020204020204" pitchFamily="34" charset="-122"/>
                <a:ea typeface="微软雅黑" panose="020B0503020204020204" pitchFamily="34" charset="-122"/>
                <a:sym typeface="+mn-ea"/>
              </a:rPr>
              <a:t>NOI</a:t>
            </a:r>
            <a:r>
              <a:rPr lang="zh-CN" altLang="en-US" sz="950" dirty="0">
                <a:solidFill>
                  <a:prstClr val="black"/>
                </a:solidFill>
                <a:latin typeface="微软雅黑" panose="020B0503020204020204" pitchFamily="34" charset="-122"/>
                <a:ea typeface="微软雅黑" panose="020B0503020204020204" pitchFamily="34" charset="-122"/>
                <a:sym typeface="+mn-ea"/>
              </a:rPr>
              <a:t>减少</a:t>
            </a:r>
            <a:r>
              <a:rPr lang="en-US" altLang="zh-CN" sz="950" dirty="0">
                <a:solidFill>
                  <a:prstClr val="black"/>
                </a:solidFill>
                <a:latin typeface="微软雅黑" panose="020B0503020204020204" pitchFamily="34" charset="-122"/>
                <a:ea typeface="微软雅黑" panose="020B0503020204020204" pitchFamily="34" charset="-122"/>
                <a:sym typeface="+mn-ea"/>
              </a:rPr>
              <a:t>2,687</a:t>
            </a:r>
            <a:r>
              <a:rPr lang="zh-CN" altLang="en-US" sz="950" dirty="0">
                <a:solidFill>
                  <a:prstClr val="black"/>
                </a:solidFill>
                <a:latin typeface="微软雅黑" panose="020B0503020204020204" pitchFamily="34" charset="-122"/>
                <a:ea typeface="微软雅黑" panose="020B0503020204020204" pitchFamily="34" charset="-122"/>
                <a:sym typeface="+mn-ea"/>
              </a:rPr>
              <a:t>万。</a:t>
            </a:r>
            <a:endParaRPr lang="zh-CN" altLang="en-US" sz="950" dirty="0">
              <a:solidFill>
                <a:prstClr val="black"/>
              </a:solidFill>
              <a:latin typeface="微软雅黑" panose="020B0503020204020204" pitchFamily="34" charset="-122"/>
              <a:ea typeface="微软雅黑" panose="020B0503020204020204" pitchFamily="34" charset="-122"/>
              <a:sym typeface="+mn-ea"/>
            </a:endParaRPr>
          </a:p>
          <a:p>
            <a:r>
              <a:rPr lang="zh-CN" altLang="en-US" sz="950" b="1" dirty="0">
                <a:solidFill>
                  <a:prstClr val="black"/>
                </a:solidFill>
                <a:latin typeface="微软雅黑" panose="020B0503020204020204" pitchFamily="34" charset="-122"/>
                <a:ea typeface="微软雅黑" panose="020B0503020204020204" pitchFamily="34" charset="-122"/>
                <a:sym typeface="+mn-ea"/>
              </a:rPr>
              <a:t>深圳北站</a:t>
            </a:r>
            <a:r>
              <a:rPr lang="zh-CN" altLang="en-US" sz="950" dirty="0">
                <a:solidFill>
                  <a:prstClr val="black"/>
                </a:solidFill>
                <a:latin typeface="微软雅黑" panose="020B0503020204020204" pitchFamily="34" charset="-122"/>
                <a:ea typeface="微软雅黑" panose="020B0503020204020204" pitchFamily="34" charset="-122"/>
                <a:sym typeface="+mn-ea"/>
              </a:rPr>
              <a:t>：按照高区及低区分三个标段交付，第一批</a:t>
            </a:r>
            <a:r>
              <a:rPr lang="en-US" altLang="zh-CN" sz="950" dirty="0">
                <a:solidFill>
                  <a:prstClr val="black"/>
                </a:solidFill>
                <a:latin typeface="微软雅黑" panose="020B0503020204020204" pitchFamily="34" charset="-122"/>
                <a:ea typeface="微软雅黑" panose="020B0503020204020204" pitchFamily="34" charset="-122"/>
                <a:sym typeface="+mn-ea"/>
              </a:rPr>
              <a:t>5</a:t>
            </a:r>
            <a:r>
              <a:rPr lang="zh-CN" altLang="en-US" sz="950" dirty="0">
                <a:solidFill>
                  <a:prstClr val="black"/>
                </a:solidFill>
                <a:latin typeface="微软雅黑" panose="020B0503020204020204" pitchFamily="34" charset="-122"/>
                <a:ea typeface="微软雅黑" panose="020B0503020204020204" pitchFamily="34" charset="-122"/>
                <a:sym typeface="+mn-ea"/>
              </a:rPr>
              <a:t>月</a:t>
            </a:r>
            <a:r>
              <a:rPr lang="en-US" altLang="zh-CN" sz="950" dirty="0">
                <a:solidFill>
                  <a:prstClr val="black"/>
                </a:solidFill>
                <a:latin typeface="微软雅黑" panose="020B0503020204020204" pitchFamily="34" charset="-122"/>
                <a:ea typeface="微软雅黑" panose="020B0503020204020204" pitchFamily="34" charset="-122"/>
                <a:sym typeface="+mn-ea"/>
              </a:rPr>
              <a:t>15</a:t>
            </a:r>
            <a:r>
              <a:rPr lang="zh-CN" altLang="en-US" sz="950" dirty="0">
                <a:solidFill>
                  <a:prstClr val="black"/>
                </a:solidFill>
                <a:latin typeface="微软雅黑" panose="020B0503020204020204" pitchFamily="34" charset="-122"/>
                <a:ea typeface="微软雅黑" panose="020B0503020204020204" pitchFamily="34" charset="-122"/>
                <a:sym typeface="+mn-ea"/>
              </a:rPr>
              <a:t>日开业低区</a:t>
            </a:r>
            <a:r>
              <a:rPr lang="en-US" altLang="zh-CN" sz="950" dirty="0">
                <a:solidFill>
                  <a:prstClr val="black"/>
                </a:solidFill>
                <a:latin typeface="微软雅黑" panose="020B0503020204020204" pitchFamily="34" charset="-122"/>
                <a:ea typeface="微软雅黑" panose="020B0503020204020204" pitchFamily="34" charset="-122"/>
                <a:sym typeface="+mn-ea"/>
              </a:rPr>
              <a:t>270</a:t>
            </a:r>
            <a:r>
              <a:rPr lang="zh-CN" altLang="en-US" sz="950" dirty="0">
                <a:solidFill>
                  <a:prstClr val="black"/>
                </a:solidFill>
                <a:latin typeface="微软雅黑" panose="020B0503020204020204" pitchFamily="34" charset="-122"/>
                <a:ea typeface="微软雅黑" panose="020B0503020204020204" pitchFamily="34" charset="-122"/>
                <a:sym typeface="+mn-ea"/>
              </a:rPr>
              <a:t>间，第二批</a:t>
            </a:r>
            <a:r>
              <a:rPr lang="en-US" altLang="zh-CN" sz="950" dirty="0">
                <a:solidFill>
                  <a:prstClr val="black"/>
                </a:solidFill>
                <a:latin typeface="微软雅黑" panose="020B0503020204020204" pitchFamily="34" charset="-122"/>
                <a:ea typeface="微软雅黑" panose="020B0503020204020204" pitchFamily="34" charset="-122"/>
                <a:sym typeface="+mn-ea"/>
              </a:rPr>
              <a:t>7</a:t>
            </a:r>
            <a:r>
              <a:rPr lang="zh-CN" altLang="en-US" sz="950" dirty="0">
                <a:solidFill>
                  <a:prstClr val="black"/>
                </a:solidFill>
                <a:latin typeface="微软雅黑" panose="020B0503020204020204" pitchFamily="34" charset="-122"/>
                <a:ea typeface="微软雅黑" panose="020B0503020204020204" pitchFamily="34" charset="-122"/>
                <a:sym typeface="+mn-ea"/>
              </a:rPr>
              <a:t>月</a:t>
            </a:r>
            <a:r>
              <a:rPr lang="en-US" altLang="zh-CN" sz="950" dirty="0">
                <a:solidFill>
                  <a:prstClr val="black"/>
                </a:solidFill>
                <a:latin typeface="微软雅黑" panose="020B0503020204020204" pitchFamily="34" charset="-122"/>
                <a:ea typeface="微软雅黑" panose="020B0503020204020204" pitchFamily="34" charset="-122"/>
                <a:sym typeface="+mn-ea"/>
              </a:rPr>
              <a:t>15</a:t>
            </a:r>
            <a:r>
              <a:rPr lang="zh-CN" altLang="en-US" sz="950" dirty="0">
                <a:solidFill>
                  <a:prstClr val="black"/>
                </a:solidFill>
                <a:latin typeface="微软雅黑" panose="020B0503020204020204" pitchFamily="34" charset="-122"/>
                <a:ea typeface="微软雅黑" panose="020B0503020204020204" pitchFamily="34" charset="-122"/>
                <a:sym typeface="+mn-ea"/>
              </a:rPr>
              <a:t>日开业高区</a:t>
            </a:r>
            <a:r>
              <a:rPr lang="en-US" altLang="zh-CN" sz="950" dirty="0">
                <a:solidFill>
                  <a:prstClr val="black"/>
                </a:solidFill>
                <a:latin typeface="微软雅黑" panose="020B0503020204020204" pitchFamily="34" charset="-122"/>
                <a:ea typeface="微软雅黑" panose="020B0503020204020204" pitchFamily="34" charset="-122"/>
                <a:sym typeface="+mn-ea"/>
              </a:rPr>
              <a:t>240</a:t>
            </a:r>
            <a:r>
              <a:rPr lang="zh-CN" altLang="en-US" sz="950" dirty="0">
                <a:solidFill>
                  <a:prstClr val="black"/>
                </a:solidFill>
                <a:latin typeface="微软雅黑" panose="020B0503020204020204" pitchFamily="34" charset="-122"/>
                <a:ea typeface="微软雅黑" panose="020B0503020204020204" pitchFamily="34" charset="-122"/>
                <a:sym typeface="+mn-ea"/>
              </a:rPr>
              <a:t>间，第三批</a:t>
            </a:r>
            <a:r>
              <a:rPr lang="en-US" altLang="zh-CN" sz="950" dirty="0">
                <a:solidFill>
                  <a:prstClr val="black"/>
                </a:solidFill>
                <a:latin typeface="微软雅黑" panose="020B0503020204020204" pitchFamily="34" charset="-122"/>
                <a:ea typeface="微软雅黑" panose="020B0503020204020204" pitchFamily="34" charset="-122"/>
                <a:sym typeface="+mn-ea"/>
              </a:rPr>
              <a:t>7</a:t>
            </a:r>
            <a:r>
              <a:rPr lang="zh-CN" altLang="en-US" sz="950" dirty="0">
                <a:solidFill>
                  <a:prstClr val="black"/>
                </a:solidFill>
                <a:latin typeface="微软雅黑" panose="020B0503020204020204" pitchFamily="34" charset="-122"/>
                <a:ea typeface="微软雅黑" panose="020B0503020204020204" pitchFamily="34" charset="-122"/>
                <a:sym typeface="+mn-ea"/>
              </a:rPr>
              <a:t>月</a:t>
            </a:r>
            <a:r>
              <a:rPr lang="en-US" altLang="zh-CN" sz="950" dirty="0">
                <a:solidFill>
                  <a:prstClr val="black"/>
                </a:solidFill>
                <a:latin typeface="微软雅黑" panose="020B0503020204020204" pitchFamily="34" charset="-122"/>
                <a:ea typeface="微软雅黑" panose="020B0503020204020204" pitchFamily="34" charset="-122"/>
                <a:sym typeface="+mn-ea"/>
              </a:rPr>
              <a:t>30</a:t>
            </a:r>
            <a:r>
              <a:rPr lang="zh-CN" altLang="en-US" sz="950" dirty="0">
                <a:solidFill>
                  <a:prstClr val="black"/>
                </a:solidFill>
                <a:latin typeface="微软雅黑" panose="020B0503020204020204" pitchFamily="34" charset="-122"/>
                <a:ea typeface="微软雅黑" panose="020B0503020204020204" pitchFamily="34" charset="-122"/>
                <a:sym typeface="+mn-ea"/>
              </a:rPr>
              <a:t>日开业两层酒店</a:t>
            </a:r>
            <a:r>
              <a:rPr lang="en-US" altLang="zh-CN" sz="950" dirty="0">
                <a:solidFill>
                  <a:prstClr val="black"/>
                </a:solidFill>
                <a:latin typeface="微软雅黑" panose="020B0503020204020204" pitchFamily="34" charset="-122"/>
                <a:ea typeface="微软雅黑" panose="020B0503020204020204" pitchFamily="34" charset="-122"/>
                <a:sym typeface="+mn-ea"/>
              </a:rPr>
              <a:t>46</a:t>
            </a:r>
            <a:r>
              <a:rPr lang="zh-CN" altLang="en-US" sz="950" dirty="0">
                <a:solidFill>
                  <a:prstClr val="black"/>
                </a:solidFill>
                <a:latin typeface="微软雅黑" panose="020B0503020204020204" pitchFamily="34" charset="-122"/>
                <a:ea typeface="微软雅黑" panose="020B0503020204020204" pitchFamily="34" charset="-122"/>
                <a:sym typeface="+mn-ea"/>
              </a:rPr>
              <a:t>间，合计</a:t>
            </a:r>
            <a:r>
              <a:rPr lang="en-US" altLang="zh-CN" sz="950" dirty="0">
                <a:solidFill>
                  <a:prstClr val="black"/>
                </a:solidFill>
                <a:latin typeface="微软雅黑" panose="020B0503020204020204" pitchFamily="34" charset="-122"/>
                <a:ea typeface="微软雅黑" panose="020B0503020204020204" pitchFamily="34" charset="-122"/>
                <a:sym typeface="+mn-ea"/>
              </a:rPr>
              <a:t>556</a:t>
            </a:r>
            <a:r>
              <a:rPr lang="zh-CN" altLang="en-US" sz="950" dirty="0">
                <a:solidFill>
                  <a:prstClr val="black"/>
                </a:solidFill>
                <a:latin typeface="微软雅黑" panose="020B0503020204020204" pitchFamily="34" charset="-122"/>
                <a:ea typeface="微软雅黑" panose="020B0503020204020204" pitchFamily="34" charset="-122"/>
                <a:sym typeface="+mn-ea"/>
              </a:rPr>
              <a:t>间（含</a:t>
            </a:r>
            <a:r>
              <a:rPr lang="en-US" altLang="zh-CN" sz="950" dirty="0">
                <a:solidFill>
                  <a:prstClr val="black"/>
                </a:solidFill>
                <a:latin typeface="微软雅黑" panose="020B0503020204020204" pitchFamily="34" charset="-122"/>
                <a:ea typeface="微软雅黑" panose="020B0503020204020204" pitchFamily="34" charset="-122"/>
                <a:sym typeface="+mn-ea"/>
              </a:rPr>
              <a:t>6</a:t>
            </a:r>
            <a:r>
              <a:rPr lang="zh-CN" altLang="en-US" sz="950" dirty="0">
                <a:solidFill>
                  <a:prstClr val="black"/>
                </a:solidFill>
                <a:latin typeface="微软雅黑" panose="020B0503020204020204" pitchFamily="34" charset="-122"/>
                <a:ea typeface="微软雅黑" panose="020B0503020204020204" pitchFamily="34" charset="-122"/>
                <a:sym typeface="+mn-ea"/>
              </a:rPr>
              <a:t>间员工宿舍），</a:t>
            </a:r>
            <a:r>
              <a:rPr lang="zh-CN" altLang="en-US" sz="950" dirty="0">
                <a:solidFill>
                  <a:srgbClr val="C00000"/>
                </a:solidFill>
                <a:latin typeface="微软雅黑" panose="020B0503020204020204" pitchFamily="34" charset="-122"/>
                <a:ea typeface="微软雅黑" panose="020B0503020204020204" pitchFamily="34" charset="-122"/>
                <a:sym typeface="+mn-ea"/>
              </a:rPr>
              <a:t>平均出租率</a:t>
            </a:r>
            <a:r>
              <a:rPr lang="en-US" altLang="zh-CN" sz="950" dirty="0">
                <a:solidFill>
                  <a:srgbClr val="C00000"/>
                </a:solidFill>
                <a:latin typeface="微软雅黑" panose="020B0503020204020204" pitchFamily="34" charset="-122"/>
                <a:ea typeface="微软雅黑" panose="020B0503020204020204" pitchFamily="34" charset="-122"/>
                <a:sym typeface="+mn-ea"/>
              </a:rPr>
              <a:t>56.2%</a:t>
            </a:r>
            <a:r>
              <a:rPr lang="zh-CN" altLang="en-US" sz="950" dirty="0">
                <a:solidFill>
                  <a:srgbClr val="C00000"/>
                </a:solidFill>
                <a:latin typeface="微软雅黑" panose="020B0503020204020204" pitchFamily="34" charset="-122"/>
                <a:ea typeface="微软雅黑" panose="020B0503020204020204" pitchFamily="34" charset="-122"/>
                <a:sym typeface="+mn-ea"/>
              </a:rPr>
              <a:t>，</a:t>
            </a:r>
            <a:r>
              <a:rPr lang="en-US" altLang="zh-CN" sz="950" dirty="0">
                <a:solidFill>
                  <a:srgbClr val="C00000"/>
                </a:solidFill>
                <a:latin typeface="微软雅黑" panose="020B0503020204020204" pitchFamily="34" charset="-122"/>
                <a:ea typeface="微软雅黑" panose="020B0503020204020204" pitchFamily="34" charset="-122"/>
                <a:sym typeface="+mn-ea"/>
              </a:rPr>
              <a:t>2026</a:t>
            </a:r>
            <a:r>
              <a:rPr lang="zh-CN" altLang="en-US" sz="950" dirty="0">
                <a:solidFill>
                  <a:srgbClr val="C00000"/>
                </a:solidFill>
                <a:latin typeface="微软雅黑" panose="020B0503020204020204" pitchFamily="34" charset="-122"/>
                <a:ea typeface="微软雅黑" panose="020B0503020204020204" pitchFamily="34" charset="-122"/>
                <a:sym typeface="+mn-ea"/>
              </a:rPr>
              <a:t>年收入</a:t>
            </a:r>
            <a:r>
              <a:rPr lang="en-US" altLang="zh-CN" sz="950" dirty="0">
                <a:solidFill>
                  <a:srgbClr val="C00000"/>
                </a:solidFill>
                <a:latin typeface="微软雅黑" panose="020B0503020204020204" pitchFamily="34" charset="-122"/>
                <a:ea typeface="微软雅黑" panose="020B0503020204020204" pitchFamily="34" charset="-122"/>
                <a:sym typeface="+mn-ea"/>
              </a:rPr>
              <a:t>1,062</a:t>
            </a:r>
            <a:r>
              <a:rPr lang="zh-CN" altLang="en-US" sz="950" dirty="0">
                <a:solidFill>
                  <a:srgbClr val="C00000"/>
                </a:solidFill>
                <a:latin typeface="微软雅黑" panose="020B0503020204020204" pitchFamily="34" charset="-122"/>
                <a:ea typeface="微软雅黑" panose="020B0503020204020204" pitchFamily="34" charset="-122"/>
                <a:sym typeface="+mn-ea"/>
              </a:rPr>
              <a:t>万，</a:t>
            </a:r>
            <a:r>
              <a:rPr lang="en-US" altLang="zh-CN" sz="950" dirty="0">
                <a:solidFill>
                  <a:srgbClr val="C00000"/>
                </a:solidFill>
                <a:latin typeface="微软雅黑" panose="020B0503020204020204" pitchFamily="34" charset="-122"/>
                <a:ea typeface="微软雅黑" panose="020B0503020204020204" pitchFamily="34" charset="-122"/>
                <a:sym typeface="+mn-ea"/>
              </a:rPr>
              <a:t>NOI 619</a:t>
            </a:r>
            <a:r>
              <a:rPr lang="zh-CN" altLang="en-US" sz="950" dirty="0">
                <a:solidFill>
                  <a:srgbClr val="C00000"/>
                </a:solidFill>
                <a:latin typeface="微软雅黑" panose="020B0503020204020204" pitchFamily="34" charset="-122"/>
                <a:ea typeface="微软雅黑" panose="020B0503020204020204" pitchFamily="34" charset="-122"/>
                <a:sym typeface="+mn-ea"/>
              </a:rPr>
              <a:t>万。</a:t>
            </a:r>
            <a:endParaRPr lang="zh-CN" altLang="en-US" sz="950" dirty="0">
              <a:solidFill>
                <a:srgbClr val="C00000"/>
              </a:solidFill>
              <a:latin typeface="微软雅黑" panose="020B0503020204020204" pitchFamily="34" charset="-122"/>
              <a:ea typeface="微软雅黑" panose="020B0503020204020204" pitchFamily="34" charset="-122"/>
              <a:sym typeface="+mn-ea"/>
            </a:endParaRPr>
          </a:p>
          <a:p>
            <a:r>
              <a:rPr lang="zh-CN" altLang="en-US" sz="750" dirty="0">
                <a:solidFill>
                  <a:prstClr val="black"/>
                </a:solidFill>
                <a:latin typeface="微软雅黑" panose="020B0503020204020204" pitchFamily="34" charset="-122"/>
                <a:ea typeface="微软雅黑" panose="020B0503020204020204" pitchFamily="34" charset="-122"/>
                <a:sym typeface="+mn-ea"/>
              </a:rPr>
              <a:t>龙岗龙华：新增悦民路</a:t>
            </a:r>
            <a:r>
              <a:rPr lang="en-US" altLang="zh-CN" sz="750" dirty="0">
                <a:solidFill>
                  <a:prstClr val="black"/>
                </a:solidFill>
                <a:latin typeface="微软雅黑" panose="020B0503020204020204" pitchFamily="34" charset="-122"/>
                <a:ea typeface="微软雅黑" panose="020B0503020204020204" pitchFamily="34" charset="-122"/>
                <a:sym typeface="+mn-ea"/>
              </a:rPr>
              <a:t>59</a:t>
            </a:r>
            <a:r>
              <a:rPr lang="zh-CN" altLang="en-US" sz="750" dirty="0">
                <a:solidFill>
                  <a:prstClr val="black"/>
                </a:solidFill>
                <a:latin typeface="微软雅黑" panose="020B0503020204020204" pitchFamily="34" charset="-122"/>
                <a:ea typeface="微软雅黑" panose="020B0503020204020204" pitchFamily="34" charset="-122"/>
                <a:sym typeface="+mn-ea"/>
              </a:rPr>
              <a:t>号及上围老村</a:t>
            </a:r>
            <a:r>
              <a:rPr lang="en-US" altLang="zh-CN" sz="750" dirty="0">
                <a:solidFill>
                  <a:prstClr val="black"/>
                </a:solidFill>
                <a:latin typeface="微软雅黑" panose="020B0503020204020204" pitchFamily="34" charset="-122"/>
                <a:ea typeface="微软雅黑" panose="020B0503020204020204" pitchFamily="34" charset="-122"/>
                <a:sym typeface="+mn-ea"/>
              </a:rPr>
              <a:t>63</a:t>
            </a:r>
            <a:r>
              <a:rPr lang="zh-CN" altLang="en-US" sz="750" dirty="0">
                <a:solidFill>
                  <a:prstClr val="black"/>
                </a:solidFill>
                <a:latin typeface="微软雅黑" panose="020B0503020204020204" pitchFamily="34" charset="-122"/>
                <a:ea typeface="微软雅黑" panose="020B0503020204020204" pitchFamily="34" charset="-122"/>
                <a:sym typeface="+mn-ea"/>
              </a:rPr>
              <a:t>号平均租金仅</a:t>
            </a:r>
            <a:r>
              <a:rPr lang="en-US" altLang="zh-CN" sz="750" dirty="0">
                <a:solidFill>
                  <a:prstClr val="black"/>
                </a:solidFill>
                <a:latin typeface="微软雅黑" panose="020B0503020204020204" pitchFamily="34" charset="-122"/>
                <a:ea typeface="微软雅黑" panose="020B0503020204020204" pitchFamily="34" charset="-122"/>
                <a:sym typeface="+mn-ea"/>
              </a:rPr>
              <a:t>900</a:t>
            </a:r>
            <a:r>
              <a:rPr lang="zh-CN" altLang="en-US" sz="750" dirty="0">
                <a:solidFill>
                  <a:prstClr val="black"/>
                </a:solidFill>
                <a:latin typeface="微软雅黑" panose="020B0503020204020204" pitchFamily="34" charset="-122"/>
                <a:ea typeface="微软雅黑" panose="020B0503020204020204" pitchFamily="34" charset="-122"/>
                <a:sym typeface="+mn-ea"/>
              </a:rPr>
              <a:t>元拉低平均房价。</a:t>
            </a:r>
            <a:endParaRPr lang="zh-CN" altLang="en-US" sz="750" dirty="0">
              <a:solidFill>
                <a:prstClr val="black"/>
              </a:solidFill>
              <a:latin typeface="微软雅黑" panose="020B0503020204020204" pitchFamily="34" charset="-122"/>
              <a:ea typeface="微软雅黑" panose="020B0503020204020204" pitchFamily="34" charset="-122"/>
              <a:sym typeface="+mn-ea"/>
            </a:endParaRPr>
          </a:p>
          <a:p>
            <a:r>
              <a:rPr lang="zh-CN" altLang="en-US" sz="750" dirty="0">
                <a:solidFill>
                  <a:prstClr val="black"/>
                </a:solidFill>
                <a:latin typeface="微软雅黑" panose="020B0503020204020204" pitchFamily="34" charset="-122"/>
                <a:ea typeface="微软雅黑" panose="020B0503020204020204" pitchFamily="34" charset="-122"/>
              </a:rPr>
              <a:t>上海郡寓：上海吉酒店员工宿舍均价</a:t>
            </a:r>
            <a:r>
              <a:rPr lang="en-US" altLang="zh-CN" sz="750" dirty="0">
                <a:solidFill>
                  <a:prstClr val="black"/>
                </a:solidFill>
                <a:latin typeface="微软雅黑" panose="020B0503020204020204" pitchFamily="34" charset="-122"/>
                <a:ea typeface="微软雅黑" panose="020B0503020204020204" pitchFamily="34" charset="-122"/>
              </a:rPr>
              <a:t>4,035</a:t>
            </a:r>
            <a:r>
              <a:rPr lang="zh-CN" altLang="en-US" sz="750" dirty="0">
                <a:solidFill>
                  <a:prstClr val="black"/>
                </a:solidFill>
                <a:latin typeface="微软雅黑" panose="020B0503020204020204" pitchFamily="34" charset="-122"/>
                <a:ea typeface="微软雅黑" panose="020B0503020204020204" pitchFamily="34" charset="-122"/>
              </a:rPr>
              <a:t>元拉低平均房价</a:t>
            </a:r>
            <a:endParaRPr lang="en-US" altLang="zh-CN" sz="750" dirty="0">
              <a:solidFill>
                <a:prstClr val="black"/>
              </a:solidFill>
              <a:latin typeface="微软雅黑" panose="020B0503020204020204" pitchFamily="34" charset="-122"/>
              <a:ea typeface="微软雅黑" panose="020B0503020204020204" pitchFamily="34" charset="-122"/>
            </a:endParaRPr>
          </a:p>
          <a:p>
            <a:endParaRPr lang="en-US" altLang="zh-CN" sz="750" dirty="0">
              <a:solidFill>
                <a:prstClr val="black"/>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2924" y="240162"/>
            <a:ext cx="4841475" cy="359064"/>
          </a:xfrm>
        </p:spPr>
        <p:txBody>
          <a:bodyPr/>
          <a:lstStyle/>
          <a:p>
            <a:pPr>
              <a:defRPr/>
            </a:pPr>
            <a:r>
              <a:rPr lang="zh-CN" altLang="en-US" b="1" dirty="0"/>
              <a:t>第一部分</a:t>
            </a:r>
            <a:r>
              <a:rPr lang="zh-CN" altLang="en-US" b="1" dirty="0" smtClean="0"/>
              <a:t>：202</a:t>
            </a:r>
            <a:r>
              <a:rPr lang="en-US" altLang="zh-CN" b="1" dirty="0" smtClean="0"/>
              <a:t>6</a:t>
            </a:r>
            <a:r>
              <a:rPr lang="zh-CN" altLang="en-US" b="1" dirty="0" smtClean="0"/>
              <a:t>年</a:t>
            </a:r>
            <a:r>
              <a:rPr lang="zh-CN" altLang="en-US" b="1" dirty="0"/>
              <a:t>经营目标（</a:t>
            </a:r>
            <a:r>
              <a:rPr lang="zh-CN" altLang="en-US" b="1" noProof="0" dirty="0"/>
              <a:t>南京</a:t>
            </a:r>
            <a:r>
              <a:rPr lang="zh-CN" altLang="en-US" b="1" dirty="0"/>
              <a:t>产业公司）</a:t>
            </a:r>
            <a:endParaRPr lang="zh-CN" altLang="en-US" b="1" dirty="0"/>
          </a:p>
        </p:txBody>
      </p:sp>
      <p:sp>
        <p:nvSpPr>
          <p:cNvPr id="10" name="矩形 1"/>
          <p:cNvSpPr/>
          <p:nvPr>
            <p:custDataLst>
              <p:tags r:id="rId1"/>
            </p:custDataLst>
          </p:nvPr>
        </p:nvSpPr>
        <p:spPr>
          <a:xfrm>
            <a:off x="132656" y="675545"/>
            <a:ext cx="1943576" cy="281845"/>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kumimoji="0" lang="en-US" altLang="zh-CN"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2026</a:t>
            </a:r>
            <a:r>
              <a:rPr kumimoji="0" lang="zh-CN" altLang="en-US"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年经营目标</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graphicFrame>
        <p:nvGraphicFramePr>
          <p:cNvPr id="8" name="表格 7"/>
          <p:cNvGraphicFramePr>
            <a:graphicFrameLocks noGrp="1"/>
          </p:cNvGraphicFramePr>
          <p:nvPr/>
        </p:nvGraphicFramePr>
        <p:xfrm>
          <a:off x="348615" y="2557145"/>
          <a:ext cx="9524365" cy="2068195"/>
        </p:xfrm>
        <a:graphic>
          <a:graphicData uri="http://schemas.openxmlformats.org/drawingml/2006/table">
            <a:tbl>
              <a:tblPr/>
              <a:tblGrid>
                <a:gridCol w="433070"/>
                <a:gridCol w="424815"/>
                <a:gridCol w="424815"/>
                <a:gridCol w="408940"/>
                <a:gridCol w="424815"/>
                <a:gridCol w="392430"/>
                <a:gridCol w="414020"/>
                <a:gridCol w="375920"/>
                <a:gridCol w="408940"/>
                <a:gridCol w="386080"/>
                <a:gridCol w="366395"/>
                <a:gridCol w="381000"/>
                <a:gridCol w="398780"/>
                <a:gridCol w="359410"/>
                <a:gridCol w="405765"/>
                <a:gridCol w="330200"/>
                <a:gridCol w="361315"/>
                <a:gridCol w="354330"/>
                <a:gridCol w="386715"/>
                <a:gridCol w="414020"/>
                <a:gridCol w="419735"/>
                <a:gridCol w="423545"/>
                <a:gridCol w="415290"/>
                <a:gridCol w="414020"/>
              </a:tblGrid>
              <a:tr h="702945">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业态</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总可售面积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总可售货值</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期初已售面积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期初已售货值</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期初已回款</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 期初已售未回款 </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期初剩余可售面积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chemeClr val="bg1"/>
                          </a:solidFill>
                          <a:effectLst/>
                          <a:latin typeface="微软雅黑" panose="020B0503020204020204" pitchFamily="34" charset="-122"/>
                          <a:ea typeface="微软雅黑" panose="020B0503020204020204" pitchFamily="34" charset="-122"/>
                        </a:rPr>
                        <a:t>期初剩余货值</a:t>
                      </a:r>
                      <a:endParaRPr lang="zh-CN" altLang="en-US" sz="900" b="1" i="0" u="none" strike="noStrike" dirty="0">
                        <a:solidFill>
                          <a:schemeClr val="bg1"/>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年可售面积合计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年可售货值合计</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年签约面积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实际</a:t>
                      </a: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单价</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年签约额</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当期去化率（按面积）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年当期去化</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期初已销售本年回款</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当期销售当期回款</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年回款</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 累计签约面积 </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 累计签约额 </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累计去化</a:t>
                      </a:r>
                      <a:r>
                        <a:rPr lang="zh-CN" altLang="en-US" sz="900" b="1" i="0" u="none" strike="noStrike" dirty="0" smtClean="0">
                          <a:solidFill>
                            <a:srgbClr val="FFFFFF"/>
                          </a:solidFill>
                          <a:effectLst/>
                          <a:latin typeface="微软雅黑" panose="020B0503020204020204" pitchFamily="34" charset="-122"/>
                          <a:ea typeface="微软雅黑" panose="020B0503020204020204" pitchFamily="34" charset="-122"/>
                        </a:rPr>
                        <a:t>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 累计回款额 </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累计回款率</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BDD7EE"/>
                      </a:solidFill>
                      <a:prstDash val="solid"/>
                      <a:round/>
                      <a:headEnd type="none" w="med" len="med"/>
                      <a:tailEnd type="none" w="med" len="med"/>
                    </a:lnL>
                    <a:lnR w="6350" cap="flat" cmpd="sng" algn="ctr">
                      <a:solidFill>
                        <a:srgbClr val="BDD7EE"/>
                      </a:solidFill>
                      <a:prstDash val="solid"/>
                      <a:round/>
                      <a:headEnd type="none" w="med" len="med"/>
                      <a:tailEnd type="none" w="med" len="med"/>
                    </a:lnR>
                    <a:lnT w="6350" cap="flat" cmpd="sng" algn="ctr">
                      <a:solidFill>
                        <a:srgbClr val="BDD7EE"/>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C00000"/>
                    </a:solidFill>
                  </a:tcPr>
                </a:tc>
              </a:tr>
              <a:tr h="455295">
                <a:tc>
                  <a:txBody>
                    <a:bodyPr/>
                    <a:lstStyle/>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XH中心地产</a:t>
                      </a:r>
                      <a:endParaRPr lang="zh-CN" altLang="en-US"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000000"/>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en-US" altLang="zh-CN" sz="800" b="0" i="0">
                          <a:solidFill>
                            <a:schemeClr val="tx1"/>
                          </a:solidFill>
                          <a:latin typeface="微软雅黑" panose="020B0503020204020204" pitchFamily="34" charset="-122"/>
                          <a:ea typeface="微软雅黑" panose="020B0503020204020204" pitchFamily="34" charset="-122"/>
                        </a:rPr>
                        <a:t> 21,972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mpd="sng">
                      <a:solidFill>
                        <a:schemeClr val="tx1"/>
                      </a:solidFill>
                      <a:prstDash val="solid"/>
                    </a:lnB>
                  </a:tcPr>
                </a:tc>
                <a:tc rowSpan="2">
                  <a:txBody>
                    <a:bodyPr/>
                    <a:lstStyle/>
                    <a:p>
                      <a:pPr algn="ctr" fontAlgn="ctr"/>
                      <a:r>
                        <a:rPr lang="en-US" altLang="zh-CN" sz="800" b="0" i="0">
                          <a:solidFill>
                            <a:schemeClr val="tx1"/>
                          </a:solidFill>
                          <a:latin typeface="微软雅黑" panose="020B0503020204020204" pitchFamily="34" charset="-122"/>
                          <a:ea typeface="微软雅黑" panose="020B0503020204020204" pitchFamily="34" charset="-122"/>
                        </a:rPr>
                        <a:t> 28,577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mpd="sng">
                      <a:solidFill>
                        <a:schemeClr val="tx1"/>
                      </a:solidFill>
                      <a:prstDash val="soli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3,233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3,971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3,180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792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rowSpan="2">
                  <a:txBody>
                    <a:bodyPr/>
                    <a:lstStyle/>
                    <a:p>
                      <a:pPr algn="ctr" fontAlgn="ctr"/>
                      <a:r>
                        <a:rPr lang="en-US" altLang="zh-CN" sz="800" b="0" i="0">
                          <a:solidFill>
                            <a:schemeClr val="tx1"/>
                          </a:solidFill>
                          <a:latin typeface="微软雅黑" panose="020B0503020204020204" pitchFamily="34" charset="-122"/>
                          <a:ea typeface="微软雅黑" panose="020B0503020204020204" pitchFamily="34" charset="-122"/>
                        </a:rPr>
                        <a:t> 2,632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mpd="sng">
                      <a:solidFill>
                        <a:schemeClr val="tx1"/>
                      </a:solidFill>
                      <a:prstDash val="solid"/>
                    </a:lnB>
                  </a:tcPr>
                </a:tc>
                <a:tc rowSpan="2">
                  <a:txBody>
                    <a:bodyPr/>
                    <a:lstStyle/>
                    <a:p>
                      <a:pPr algn="ctr" fontAlgn="ctr"/>
                      <a:r>
                        <a:rPr lang="en-US" altLang="zh-CN" sz="800" b="0" i="0">
                          <a:solidFill>
                            <a:schemeClr val="tx1"/>
                          </a:solidFill>
                          <a:latin typeface="微软雅黑" panose="020B0503020204020204" pitchFamily="34" charset="-122"/>
                          <a:ea typeface="微软雅黑" panose="020B0503020204020204" pitchFamily="34" charset="-122"/>
                        </a:rPr>
                        <a:t> 2,996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mpd="sng">
                      <a:solidFill>
                        <a:schemeClr val="tx1"/>
                      </a:solidFill>
                      <a:prstDash val="solid"/>
                    </a:lnB>
                  </a:tcPr>
                </a:tc>
                <a:tc>
                  <a:txBody>
                    <a:bodyPr/>
                    <a:lstStyle/>
                    <a:p>
                      <a:pPr algn="r" fontAlgn="ct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792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792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3,233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3,971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3,971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r>
              <a:tr h="455295">
                <a:tc>
                  <a:txBody>
                    <a:bodyPr/>
                    <a:lstStyle/>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XH中心产业</a:t>
                      </a:r>
                      <a:endParaRPr lang="zh-CN" altLang="en-US"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000000"/>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B w="6350" cmpd="sng">
                      <a:solidFill>
                        <a:schemeClr val="tx1"/>
                      </a:solidFill>
                      <a:prstDash val="solid"/>
                    </a:lnB>
                  </a:tcPr>
                </a:tc>
                <a:tc vMerge="1">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B w="6350" cmpd="sng">
                      <a:solidFill>
                        <a:schemeClr val="tx1"/>
                      </a:solidFill>
                      <a:prstDash val="soli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16,107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21,610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21,345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265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vMerge="1">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B w="6350" cmpd="sng">
                      <a:solidFill>
                        <a:schemeClr val="tx1"/>
                      </a:solidFill>
                      <a:prstDash val="solid"/>
                    </a:lnB>
                  </a:tcPr>
                </a:tc>
                <a:tc vMerge="1">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B w="6350" cmpd="sng">
                      <a:solidFill>
                        <a:schemeClr val="tx1"/>
                      </a:solidFill>
                      <a:prstDash val="soli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2,632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2,996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2,632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11,385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2,996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265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2,996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3,261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18,739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24,606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 24,606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r>
              <a:tr h="454660">
                <a:tc>
                  <a:txBody>
                    <a:bodyPr/>
                    <a:lstStyle/>
                    <a:p>
                      <a:pPr algn="ctr" fontAlgn="ctr"/>
                      <a:r>
                        <a:rPr lang="zh-CN" altLang="en-US" sz="900" b="1" i="0" u="none" strike="noStrike" dirty="0">
                          <a:solidFill>
                            <a:srgbClr val="000000"/>
                          </a:solidFill>
                          <a:effectLst/>
                          <a:latin typeface="微软雅黑" panose="020B0503020204020204" pitchFamily="34" charset="-122"/>
                          <a:ea typeface="微软雅黑" panose="020B0503020204020204" pitchFamily="34" charset="-122"/>
                        </a:rPr>
                        <a:t> XH中心合计 </a:t>
                      </a:r>
                      <a:endParaRPr lang="zh-CN" altLang="en-US" sz="900" b="1" i="0" u="none" strike="noStrike" dirty="0">
                        <a:solidFill>
                          <a:srgbClr val="000000"/>
                        </a:solidFill>
                        <a:effectLst/>
                        <a:latin typeface="微软雅黑" panose="020B0503020204020204" pitchFamily="34" charset="-122"/>
                        <a:ea typeface="微软雅黑" panose="020B0503020204020204" pitchFamily="34" charset="-122"/>
                      </a:endParaRPr>
                    </a:p>
                  </a:txBody>
                  <a:tcPr marL="4562" marR="4562" marT="4562" marB="0" anchor="ctr">
                    <a:lnL w="6350" cap="flat" cmpd="sng" algn="ctr">
                      <a:solidFill>
                        <a:srgbClr val="000000"/>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21,972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28,577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19,340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25,581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24,524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1,057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2,632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2,996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2,632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2,996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2,632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11,385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2,996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000"/>
                    </a:solidFill>
                  </a:tcPr>
                </a:tc>
                <a:tc>
                  <a:txBody>
                    <a:bodyPr/>
                    <a:lstStyle/>
                    <a:p>
                      <a:pPr algn="r" fontAlgn="ctr"/>
                      <a:endParaRPr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100%</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1,057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2,996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4,053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000"/>
                    </a:solidFill>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21,972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28,577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100%</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 28,577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r" fontAlgn="ctr"/>
                      <a:r>
                        <a:rPr lang="en-US" altLang="zh-CN" sz="800" b="1" i="0">
                          <a:solidFill>
                            <a:schemeClr val="tx1"/>
                          </a:solidFill>
                          <a:latin typeface="微软雅黑" panose="020B0503020204020204" pitchFamily="34" charset="-122"/>
                          <a:ea typeface="微软雅黑" panose="020B0503020204020204" pitchFamily="34" charset="-122"/>
                        </a:rPr>
                        <a:t>100%</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r>
            </a:tbl>
          </a:graphicData>
        </a:graphic>
      </p:graphicFrame>
      <p:sp>
        <p:nvSpPr>
          <p:cNvPr id="9" name="标题 1"/>
          <p:cNvSpPr txBox="1"/>
          <p:nvPr/>
        </p:nvSpPr>
        <p:spPr>
          <a:xfrm>
            <a:off x="420688" y="1043415"/>
            <a:ext cx="9724953" cy="1241548"/>
          </a:xfrm>
          <a:prstGeom prst="rect">
            <a:avLst/>
          </a:prstGeom>
          <a:noFill/>
          <a:ln w="9525">
            <a:noFill/>
          </a:ln>
        </p:spPr>
        <p:txBody>
          <a:bodyPr lIns="75347" tIns="0" rIns="75347" bIns="37674" anchor="ctr"/>
          <a:lstStyle/>
          <a:p>
            <a:pPr marL="235585" indent="-235585" eaLnBrk="0" hangingPunct="0">
              <a:lnSpc>
                <a:spcPct val="150000"/>
              </a:lnSpc>
              <a:spcAft>
                <a:spcPts val="0"/>
              </a:spcAft>
              <a:buFont typeface="Wingdings" panose="05000000000000000000" pitchFamily="2" charset="2"/>
              <a:buChar char="n"/>
              <a:defRPr/>
            </a:pPr>
            <a:r>
              <a:rPr lang="zh-CN" altLang="en-US" sz="1200" dirty="0">
                <a:solidFill>
                  <a:prstClr val="black"/>
                </a:solidFill>
                <a:latin typeface="微软雅黑" panose="020B0503020204020204" pitchFamily="34" charset="-122"/>
                <a:ea typeface="微软雅黑" panose="020B0503020204020204" pitchFamily="34" charset="-122"/>
                <a:sym typeface="+mn-ea"/>
              </a:rPr>
              <a:t>截至</a:t>
            </a:r>
            <a:r>
              <a:rPr lang="en-US" altLang="zh-CN" sz="1200" dirty="0">
                <a:solidFill>
                  <a:prstClr val="black"/>
                </a:solidFill>
                <a:latin typeface="微软雅黑" panose="020B0503020204020204" pitchFamily="34" charset="-122"/>
                <a:ea typeface="微软雅黑" panose="020B0503020204020204" pitchFamily="34" charset="-122"/>
                <a:sym typeface="+mn-ea"/>
              </a:rPr>
              <a:t>2025</a:t>
            </a:r>
            <a:r>
              <a:rPr lang="zh-CN" altLang="en-US" sz="1200" dirty="0">
                <a:solidFill>
                  <a:prstClr val="black"/>
                </a:solidFill>
                <a:latin typeface="微软雅黑" panose="020B0503020204020204" pitchFamily="34" charset="-122"/>
                <a:ea typeface="微软雅黑" panose="020B0503020204020204" pitchFamily="34" charset="-122"/>
                <a:sym typeface="+mn-ea"/>
              </a:rPr>
              <a:t>年</a:t>
            </a:r>
            <a:r>
              <a:rPr lang="en-US" altLang="zh-CN" sz="1200" dirty="0">
                <a:solidFill>
                  <a:prstClr val="black"/>
                </a:solidFill>
                <a:latin typeface="微软雅黑" panose="020B0503020204020204" pitchFamily="34" charset="-122"/>
                <a:ea typeface="微软雅黑" panose="020B0503020204020204" pitchFamily="34" charset="-122"/>
                <a:sym typeface="+mn-ea"/>
              </a:rPr>
              <a:t>12</a:t>
            </a:r>
            <a:r>
              <a:rPr lang="zh-CN" altLang="en-US" sz="1200" dirty="0">
                <a:solidFill>
                  <a:prstClr val="black"/>
                </a:solidFill>
                <a:latin typeface="微软雅黑" panose="020B0503020204020204" pitchFamily="34" charset="-122"/>
                <a:ea typeface="微软雅黑" panose="020B0503020204020204" pitchFamily="34" charset="-122"/>
                <a:sym typeface="+mn-ea"/>
              </a:rPr>
              <a:t>月底，XH中心预计可达成签约面积</a:t>
            </a:r>
            <a:r>
              <a:rPr lang="en-US" altLang="zh-CN" sz="1200" b="1" dirty="0">
                <a:solidFill>
                  <a:srgbClr val="C00000"/>
                </a:solidFill>
                <a:latin typeface="微软雅黑" panose="020B0503020204020204" pitchFamily="34" charset="-122"/>
                <a:ea typeface="微软雅黑" panose="020B0503020204020204" pitchFamily="34" charset="-122"/>
                <a:sym typeface="+mn-ea"/>
              </a:rPr>
              <a:t>6,620</a:t>
            </a:r>
            <a:r>
              <a:rPr lang="zh-CN" altLang="en-US" sz="1200" dirty="0">
                <a:solidFill>
                  <a:prstClr val="black"/>
                </a:solidFill>
                <a:latin typeface="微软雅黑" panose="020B0503020204020204" pitchFamily="34" charset="-122"/>
                <a:ea typeface="微软雅黑" panose="020B0503020204020204" pitchFamily="34" charset="-122"/>
                <a:sym typeface="+mn-ea"/>
              </a:rPr>
              <a:t>㎡，签约额</a:t>
            </a:r>
            <a:r>
              <a:rPr lang="en-US" altLang="zh-CN" sz="1200" dirty="0">
                <a:solidFill>
                  <a:srgbClr val="C00000"/>
                </a:solidFill>
                <a:latin typeface="微软雅黑" panose="020B0503020204020204" pitchFamily="34" charset="-122"/>
                <a:ea typeface="微软雅黑" panose="020B0503020204020204" pitchFamily="34" charset="-122"/>
                <a:sym typeface="+mn-ea"/>
              </a:rPr>
              <a:t>6,300</a:t>
            </a:r>
            <a:r>
              <a:rPr lang="zh-CN" altLang="en-US" sz="1200" dirty="0">
                <a:solidFill>
                  <a:prstClr val="black"/>
                </a:solidFill>
                <a:latin typeface="微软雅黑" panose="020B0503020204020204" pitchFamily="34" charset="-122"/>
                <a:ea typeface="微软雅黑" panose="020B0503020204020204" pitchFamily="34" charset="-122"/>
                <a:sym typeface="+mn-ea"/>
              </a:rPr>
              <a:t>万元，销售回款</a:t>
            </a:r>
            <a:r>
              <a:rPr lang="en-US" altLang="zh-CN" sz="1200" dirty="0">
                <a:solidFill>
                  <a:srgbClr val="C00000"/>
                </a:solidFill>
                <a:latin typeface="微软雅黑" panose="020B0503020204020204" pitchFamily="34" charset="-122"/>
                <a:ea typeface="微软雅黑" panose="020B0503020204020204" pitchFamily="34" charset="-122"/>
                <a:sym typeface="+mn-ea"/>
              </a:rPr>
              <a:t>13,765</a:t>
            </a:r>
            <a:r>
              <a:rPr lang="zh-CN" altLang="en-US" sz="1200" dirty="0">
                <a:solidFill>
                  <a:prstClr val="black"/>
                </a:solidFill>
                <a:latin typeface="微软雅黑" panose="020B0503020204020204" pitchFamily="34" charset="-122"/>
                <a:ea typeface="微软雅黑" panose="020B0503020204020204" pitchFamily="34" charset="-122"/>
                <a:sym typeface="+mn-ea"/>
              </a:rPr>
              <a:t>万元；</a:t>
            </a:r>
            <a:endParaRPr lang="en-US" altLang="zh-CN" sz="1200" dirty="0">
              <a:solidFill>
                <a:prstClr val="black"/>
              </a:solidFill>
              <a:latin typeface="微软雅黑" panose="020B0503020204020204" pitchFamily="34" charset="-122"/>
              <a:ea typeface="微软雅黑" panose="020B0503020204020204" pitchFamily="34" charset="-122"/>
              <a:sym typeface="+mn-ea"/>
            </a:endParaRPr>
          </a:p>
          <a:p>
            <a:pPr marL="235585" indent="-235585" eaLnBrk="0" fontAlgn="base" hangingPunct="0">
              <a:lnSpc>
                <a:spcPct val="150000"/>
              </a:lnSpc>
              <a:spcAft>
                <a:spcPts val="0"/>
              </a:spcAft>
              <a:buFont typeface="Wingdings" panose="05000000000000000000" pitchFamily="2" charset="2"/>
              <a:buChar char="n"/>
              <a:defRPr/>
            </a:pPr>
            <a:r>
              <a:rPr lang="en-US" altLang="zh-CN" sz="1200" dirty="0">
                <a:solidFill>
                  <a:prstClr val="black"/>
                </a:solidFill>
                <a:latin typeface="微软雅黑" panose="020B0503020204020204" pitchFamily="34" charset="-122"/>
                <a:ea typeface="微软雅黑" panose="020B0503020204020204" pitchFamily="34" charset="-122"/>
                <a:sym typeface="+mn-ea"/>
              </a:rPr>
              <a:t>2026</a:t>
            </a:r>
            <a:r>
              <a:rPr lang="zh-CN" altLang="en-US" sz="1200" dirty="0">
                <a:solidFill>
                  <a:prstClr val="black"/>
                </a:solidFill>
                <a:latin typeface="微软雅黑" panose="020B0503020204020204" pitchFamily="34" charset="-122"/>
                <a:ea typeface="微软雅黑" panose="020B0503020204020204" pitchFamily="34" charset="-122"/>
                <a:sym typeface="+mn-ea"/>
              </a:rPr>
              <a:t>年，XH中心预计期初剩余可售货</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量</a:t>
            </a:r>
            <a:r>
              <a:rPr lang="en-US" altLang="zh-CN" sz="1200" dirty="0" smtClean="0">
                <a:solidFill>
                  <a:srgbClr val="C00000"/>
                </a:solidFill>
                <a:latin typeface="微软雅黑" panose="020B0503020204020204" pitchFamily="34" charset="-122"/>
                <a:ea typeface="微软雅黑" panose="020B0503020204020204" pitchFamily="34" charset="-122"/>
                <a:sym typeface="+mn-ea"/>
              </a:rPr>
              <a:t>2,631.61</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a:t>
            </a:r>
            <a:r>
              <a:rPr lang="zh-CN" altLang="en-US" sz="1200" dirty="0">
                <a:solidFill>
                  <a:prstClr val="black"/>
                </a:solidFill>
                <a:latin typeface="微软雅黑" panose="020B0503020204020204" pitchFamily="34" charset="-122"/>
                <a:ea typeface="微软雅黑" panose="020B0503020204020204" pitchFamily="34" charset="-122"/>
                <a:sym typeface="+mn-ea"/>
              </a:rPr>
              <a:t>，货</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值</a:t>
            </a:r>
            <a:r>
              <a:rPr lang="en-US" altLang="zh-CN" sz="1200" dirty="0">
                <a:solidFill>
                  <a:srgbClr val="C00000"/>
                </a:solidFill>
                <a:latin typeface="微软雅黑" panose="020B0503020204020204" pitchFamily="34" charset="-122"/>
                <a:ea typeface="微软雅黑" panose="020B0503020204020204" pitchFamily="34" charset="-122"/>
                <a:sym typeface="+mn-ea"/>
              </a:rPr>
              <a:t>2,995.97</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200" dirty="0">
                <a:solidFill>
                  <a:prstClr val="black"/>
                </a:solidFill>
                <a:latin typeface="微软雅黑" panose="020B0503020204020204" pitchFamily="34" charset="-122"/>
                <a:ea typeface="微软雅黑" panose="020B0503020204020204" pitchFamily="34" charset="-122"/>
                <a:sym typeface="+mn-ea"/>
              </a:rPr>
              <a:t>元，销售均价按</a:t>
            </a:r>
            <a:r>
              <a:rPr lang="en-US" altLang="zh-CN" sz="1200" dirty="0" smtClean="0">
                <a:solidFill>
                  <a:prstClr val="black"/>
                </a:solidFill>
                <a:latin typeface="微软雅黑" panose="020B0503020204020204" pitchFamily="34" charset="-122"/>
                <a:ea typeface="微软雅黑" panose="020B0503020204020204" pitchFamily="34" charset="-122"/>
                <a:sym typeface="+mn-ea"/>
              </a:rPr>
              <a:t>1.1</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万元</a:t>
            </a:r>
            <a:r>
              <a:rPr lang="en-US" altLang="zh-CN" sz="1200" dirty="0">
                <a:solidFill>
                  <a:prstClr val="black"/>
                </a:solidFill>
                <a:latin typeface="微软雅黑" panose="020B0503020204020204" pitchFamily="34" charset="-122"/>
                <a:ea typeface="微软雅黑" panose="020B0503020204020204" pitchFamily="34" charset="-122"/>
                <a:sym typeface="+mn-ea"/>
              </a:rPr>
              <a:t>/</a:t>
            </a:r>
            <a:r>
              <a:rPr lang="zh-CN" altLang="en-US" sz="1200" dirty="0">
                <a:solidFill>
                  <a:prstClr val="black"/>
                </a:solidFill>
                <a:latin typeface="微软雅黑" panose="020B0503020204020204" pitchFamily="34" charset="-122"/>
                <a:ea typeface="微软雅黑" panose="020B0503020204020204" pitchFamily="34" charset="-122"/>
                <a:sym typeface="+mn-ea"/>
              </a:rPr>
              <a:t>㎡计；</a:t>
            </a:r>
            <a:endParaRPr lang="en-US" altLang="zh-CN" sz="1200" dirty="0">
              <a:solidFill>
                <a:prstClr val="black"/>
              </a:solidFill>
              <a:latin typeface="微软雅黑" panose="020B0503020204020204" pitchFamily="34" charset="-122"/>
              <a:ea typeface="微软雅黑" panose="020B0503020204020204" pitchFamily="34" charset="-122"/>
              <a:sym typeface="+mn-ea"/>
            </a:endParaRPr>
          </a:p>
          <a:p>
            <a:pPr marL="235585" indent="-235585" eaLnBrk="0" fontAlgn="base" hangingPunct="0">
              <a:lnSpc>
                <a:spcPct val="150000"/>
              </a:lnSpc>
              <a:spcAft>
                <a:spcPts val="0"/>
              </a:spcAft>
              <a:buFont typeface="Wingdings" panose="05000000000000000000" pitchFamily="2" charset="2"/>
              <a:buChar char="n"/>
              <a:defRPr/>
            </a:pPr>
            <a:r>
              <a:rPr lang="zh-CN" altLang="en-US" sz="1200" b="1" dirty="0">
                <a:solidFill>
                  <a:srgbClr val="C00000"/>
                </a:solidFill>
                <a:latin typeface="微软雅黑" panose="020B0503020204020204" pitchFamily="34" charset="-122"/>
                <a:ea typeface="微软雅黑" panose="020B0503020204020204" pitchFamily="34" charset="-122"/>
                <a:sym typeface="+mn-ea"/>
              </a:rPr>
              <a:t>XH中心</a:t>
            </a:r>
            <a:r>
              <a:rPr lang="en-US" altLang="zh-CN" sz="1200" b="1" dirty="0">
                <a:solidFill>
                  <a:srgbClr val="C00000"/>
                </a:solidFill>
                <a:latin typeface="微软雅黑" panose="020B0503020204020204" pitchFamily="34" charset="-122"/>
                <a:ea typeface="微软雅黑" panose="020B0503020204020204" pitchFamily="34" charset="-122"/>
                <a:sym typeface="+mn-ea"/>
              </a:rPr>
              <a:t>2026</a:t>
            </a:r>
            <a:r>
              <a:rPr lang="zh-CN" altLang="en-US" sz="1200" b="1" dirty="0">
                <a:solidFill>
                  <a:srgbClr val="C00000"/>
                </a:solidFill>
                <a:latin typeface="微软雅黑" panose="020B0503020204020204" pitchFamily="34" charset="-122"/>
                <a:ea typeface="微软雅黑" panose="020B0503020204020204" pitchFamily="34" charset="-122"/>
                <a:sym typeface="+mn-ea"/>
              </a:rPr>
              <a:t>年</a:t>
            </a:r>
            <a:r>
              <a:rPr lang="zh-CN" altLang="en-US" sz="1200" b="1" u="sng" dirty="0">
                <a:solidFill>
                  <a:srgbClr val="C00000"/>
                </a:solidFill>
                <a:latin typeface="微软雅黑" panose="020B0503020204020204" pitchFamily="34" charset="-122"/>
                <a:ea typeface="微软雅黑" panose="020B0503020204020204" pitchFamily="34" charset="-122"/>
                <a:sym typeface="+mn-ea"/>
              </a:rPr>
              <a:t>销售总</a:t>
            </a:r>
            <a:r>
              <a:rPr lang="zh-CN" altLang="en-US" sz="1200" b="1" u="sng" dirty="0" smtClean="0">
                <a:solidFill>
                  <a:srgbClr val="C00000"/>
                </a:solidFill>
                <a:latin typeface="微软雅黑" panose="020B0503020204020204" pitchFamily="34" charset="-122"/>
                <a:ea typeface="微软雅黑" panose="020B0503020204020204" pitchFamily="34" charset="-122"/>
                <a:sym typeface="+mn-ea"/>
              </a:rPr>
              <a:t>目标清盘</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a:t>
            </a:r>
            <a:r>
              <a:rPr lang="zh-CN" altLang="en-US" sz="1200" b="1" dirty="0">
                <a:solidFill>
                  <a:prstClr val="black"/>
                </a:solidFill>
                <a:latin typeface="微软雅黑" panose="020B0503020204020204" pitchFamily="34" charset="-122"/>
                <a:ea typeface="微软雅黑" panose="020B0503020204020204" pitchFamily="34" charset="-122"/>
                <a:sym typeface="+mn-ea"/>
              </a:rPr>
              <a:t>签约</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面积</a:t>
            </a:r>
            <a:r>
              <a:rPr lang="en-US" altLang="zh-CN" sz="1200" b="1" dirty="0">
                <a:solidFill>
                  <a:srgbClr val="C00000"/>
                </a:solidFill>
                <a:latin typeface="微软雅黑" panose="020B0503020204020204" pitchFamily="34" charset="-122"/>
                <a:ea typeface="微软雅黑" panose="020B0503020204020204" pitchFamily="34" charset="-122"/>
                <a:sym typeface="+mn-ea"/>
              </a:rPr>
              <a:t>2,631.61</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 </a:t>
            </a:r>
            <a:r>
              <a:rPr lang="zh-CN" altLang="en-US" sz="1200" b="1" dirty="0">
                <a:solidFill>
                  <a:prstClr val="black"/>
                </a:solidFill>
                <a:latin typeface="微软雅黑" panose="020B0503020204020204" pitchFamily="34" charset="-122"/>
                <a:ea typeface="微软雅黑" panose="020B0503020204020204" pitchFamily="34" charset="-122"/>
                <a:sym typeface="+mn-ea"/>
              </a:rPr>
              <a:t>，签约</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额</a:t>
            </a:r>
            <a:r>
              <a:rPr lang="en-US" altLang="zh-CN" sz="1200" b="1" dirty="0">
                <a:solidFill>
                  <a:srgbClr val="C00000"/>
                </a:solidFill>
                <a:latin typeface="微软雅黑" panose="020B0503020204020204" pitchFamily="34" charset="-122"/>
                <a:ea typeface="微软雅黑" panose="020B0503020204020204" pitchFamily="34" charset="-122"/>
                <a:sym typeface="+mn-ea"/>
              </a:rPr>
              <a:t>2,995.97</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200" b="1" dirty="0">
                <a:solidFill>
                  <a:prstClr val="black"/>
                </a:solidFill>
                <a:latin typeface="微软雅黑" panose="020B0503020204020204" pitchFamily="34" charset="-122"/>
                <a:ea typeface="微软雅黑" panose="020B0503020204020204" pitchFamily="34" charset="-122"/>
                <a:sym typeface="+mn-ea"/>
              </a:rPr>
              <a:t>元，销售回</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款</a:t>
            </a:r>
            <a:r>
              <a:rPr lang="en-US" altLang="zh-CN" sz="1200" b="1" dirty="0">
                <a:solidFill>
                  <a:srgbClr val="C00000"/>
                </a:solidFill>
                <a:latin typeface="微软雅黑" panose="020B0503020204020204" pitchFamily="34" charset="-122"/>
                <a:ea typeface="微软雅黑" panose="020B0503020204020204" pitchFamily="34" charset="-122"/>
                <a:sym typeface="+mn-ea"/>
              </a:rPr>
              <a:t>4,052.63</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1200" b="1" dirty="0">
                <a:solidFill>
                  <a:prstClr val="black"/>
                </a:solidFill>
                <a:latin typeface="微软雅黑" panose="020B0503020204020204" pitchFamily="34" charset="-122"/>
                <a:ea typeface="微软雅黑" panose="020B0503020204020204" pitchFamily="34" charset="-122"/>
                <a:sym typeface="+mn-ea"/>
              </a:rPr>
              <a:t>元</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a:t>
            </a:r>
            <a:endParaRPr lang="en-US" altLang="zh-CN" sz="1200" b="1" dirty="0" smtClean="0">
              <a:solidFill>
                <a:prstClr val="black"/>
              </a:solidFill>
              <a:latin typeface="微软雅黑" panose="020B0503020204020204" pitchFamily="34" charset="-122"/>
              <a:ea typeface="微软雅黑" panose="020B0503020204020204" pitchFamily="34" charset="-122"/>
              <a:sym typeface="+mn-ea"/>
            </a:endParaRPr>
          </a:p>
          <a:p>
            <a:pPr eaLnBrk="0" fontAlgn="base" hangingPunct="0">
              <a:lnSpc>
                <a:spcPct val="150000"/>
              </a:lnSpc>
              <a:spcAft>
                <a:spcPts val="0"/>
              </a:spcAft>
              <a:defRPr/>
            </a:pPr>
            <a:r>
              <a:rPr lang="zh-CN" altLang="en-US" sz="1200" dirty="0" smtClean="0">
                <a:solidFill>
                  <a:prstClr val="black"/>
                </a:solidFill>
                <a:latin typeface="微软雅黑" panose="020B0503020204020204" pitchFamily="34" charset="-122"/>
                <a:ea typeface="微软雅黑" panose="020B0503020204020204" pitchFamily="34" charset="-122"/>
                <a:sym typeface="+mn-ea"/>
              </a:rPr>
              <a:t>南京XH中心项目至</a:t>
            </a:r>
            <a:r>
              <a:rPr lang="en-US" altLang="zh-CN" sz="1200" dirty="0" smtClean="0">
                <a:solidFill>
                  <a:prstClr val="black"/>
                </a:solidFill>
                <a:latin typeface="微软雅黑" panose="020B0503020204020204" pitchFamily="34" charset="-122"/>
                <a:ea typeface="微软雅黑" panose="020B0503020204020204" pitchFamily="34" charset="-122"/>
                <a:sym typeface="+mn-ea"/>
              </a:rPr>
              <a:t>2026</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年底，当年签约完成率</a:t>
            </a:r>
            <a:r>
              <a:rPr lang="en-US" altLang="zh-CN" sz="1200" dirty="0" smtClean="0">
                <a:solidFill>
                  <a:prstClr val="black"/>
                </a:solidFill>
                <a:latin typeface="微软雅黑" panose="020B0503020204020204" pitchFamily="34" charset="-122"/>
                <a:ea typeface="微软雅黑" panose="020B0503020204020204" pitchFamily="34" charset="-122"/>
                <a:sym typeface="+mn-ea"/>
              </a:rPr>
              <a:t>100%</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，项目累计签约完成率</a:t>
            </a:r>
            <a:r>
              <a:rPr lang="en-US" altLang="zh-CN" sz="1200" dirty="0" smtClean="0">
                <a:solidFill>
                  <a:prstClr val="black"/>
                </a:solidFill>
                <a:latin typeface="微软雅黑" panose="020B0503020204020204" pitchFamily="34" charset="-122"/>
                <a:ea typeface="微软雅黑" panose="020B0503020204020204" pitchFamily="34" charset="-122"/>
                <a:sym typeface="+mn-ea"/>
              </a:rPr>
              <a:t>100%</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，累计回款率</a:t>
            </a:r>
            <a:r>
              <a:rPr lang="en-US" altLang="zh-CN" sz="1200" dirty="0" smtClean="0">
                <a:solidFill>
                  <a:prstClr val="black"/>
                </a:solidFill>
                <a:latin typeface="微软雅黑" panose="020B0503020204020204" pitchFamily="34" charset="-122"/>
                <a:ea typeface="微软雅黑" panose="020B0503020204020204" pitchFamily="34" charset="-122"/>
                <a:sym typeface="+mn-ea"/>
              </a:rPr>
              <a:t>100%</a:t>
            </a:r>
            <a:r>
              <a:rPr lang="zh-CN" altLang="en-US" sz="1200" dirty="0" smtClean="0">
                <a:solidFill>
                  <a:prstClr val="black"/>
                </a:solidFill>
                <a:latin typeface="微软雅黑" panose="020B0503020204020204" pitchFamily="34" charset="-122"/>
                <a:ea typeface="微软雅黑" panose="020B0503020204020204" pitchFamily="34" charset="-122"/>
                <a:sym typeface="+mn-ea"/>
              </a:rPr>
              <a:t>；</a:t>
            </a:r>
            <a:endParaRPr lang="zh-CN" altLang="en-US" sz="1200" dirty="0">
              <a:solidFill>
                <a:prstClr val="black"/>
              </a:solidFill>
              <a:latin typeface="微软雅黑" panose="020B0503020204020204" pitchFamily="34" charset="-122"/>
              <a:ea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0563" y="238853"/>
            <a:ext cx="7557554" cy="359245"/>
          </a:xfrm>
        </p:spPr>
        <p:txBody>
          <a:bodyPr/>
          <a:lstStyle/>
          <a:p>
            <a:pPr>
              <a:defRPr/>
            </a:pPr>
            <a:r>
              <a:rPr lang="zh-CN" altLang="en-US" b="1" dirty="0"/>
              <a:t>第一部分</a:t>
            </a:r>
            <a:r>
              <a:rPr lang="zh-CN" altLang="en-US" b="1" dirty="0" smtClean="0"/>
              <a:t>：202</a:t>
            </a:r>
            <a:r>
              <a:rPr lang="en-US" altLang="zh-CN" b="1" dirty="0" smtClean="0"/>
              <a:t>6</a:t>
            </a:r>
            <a:r>
              <a:rPr lang="zh-CN" altLang="en-US" b="1" dirty="0" smtClean="0"/>
              <a:t>年</a:t>
            </a:r>
            <a:r>
              <a:rPr lang="zh-CN" altLang="en-US" b="1" dirty="0"/>
              <a:t>经营目标（</a:t>
            </a:r>
            <a:r>
              <a:rPr lang="zh-CN" altLang="en-US" b="1" noProof="0" dirty="0" smtClean="0"/>
              <a:t>成都</a:t>
            </a:r>
            <a:r>
              <a:rPr lang="zh-CN" altLang="en-US" b="1" dirty="0"/>
              <a:t>产业公司）</a:t>
            </a:r>
            <a:endParaRPr lang="zh-CN" altLang="en-US" b="1" dirty="0"/>
          </a:p>
        </p:txBody>
      </p:sp>
      <p:sp>
        <p:nvSpPr>
          <p:cNvPr id="10" name="矩形 1"/>
          <p:cNvSpPr/>
          <p:nvPr>
            <p:custDataLst>
              <p:tags r:id="rId1"/>
            </p:custDataLst>
          </p:nvPr>
        </p:nvSpPr>
        <p:spPr>
          <a:xfrm>
            <a:off x="132656" y="675545"/>
            <a:ext cx="1943576" cy="281845"/>
          </a:xfrm>
          <a:prstGeom prst="rect">
            <a:avLst/>
          </a:prstGeom>
          <a:solidFill>
            <a:srgbClr val="595959"/>
          </a:solidFill>
          <a:ln w="9525">
            <a:noFill/>
          </a:ln>
        </p:spPr>
        <p:txBody>
          <a:bodyPr anchor="ctr" anchorCtr="0"/>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p"/>
              <a:defRPr/>
            </a:pPr>
            <a:r>
              <a:rPr kumimoji="0" lang="en-US" altLang="zh-CN"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2026</a:t>
            </a:r>
            <a:r>
              <a:rPr kumimoji="0" lang="zh-CN" altLang="en-US" sz="1600" b="1" i="0" u="none" strike="noStrike" kern="1200" cap="none" spc="0" normalizeH="0" baseline="0" noProof="0" dirty="0" smtClean="0">
                <a:ln>
                  <a:noFill/>
                </a:ln>
                <a:solidFill>
                  <a:prstClr val="white"/>
                </a:solidFill>
                <a:effectLst/>
                <a:uLnTx/>
                <a:uFillTx/>
                <a:latin typeface="Arial" panose="020B0604020202020204" pitchFamily="34" charset="0"/>
                <a:ea typeface="微软雅黑" panose="020B0503020204020204" pitchFamily="34" charset="-122"/>
                <a:cs typeface="+mn-cs"/>
              </a:rPr>
              <a:t>年经营目标</a:t>
            </a:r>
            <a:endParaRPr kumimoji="0" lang="zh-CN" altLang="en-US" sz="1600" b="1"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endParaRPr>
          </a:p>
        </p:txBody>
      </p:sp>
      <p:sp>
        <p:nvSpPr>
          <p:cNvPr id="6" name="矩形 5"/>
          <p:cNvSpPr/>
          <p:nvPr/>
        </p:nvSpPr>
        <p:spPr>
          <a:xfrm>
            <a:off x="276860" y="1035050"/>
            <a:ext cx="9584690" cy="1134110"/>
          </a:xfrm>
          <a:prstGeom prst="rect">
            <a:avLst/>
          </a:prstGeom>
        </p:spPr>
        <p:txBody>
          <a:bodyPr wrap="square">
            <a:noAutofit/>
          </a:bodyPr>
          <a:lstStyle/>
          <a:p>
            <a:pPr marL="346075" indent="-346075" defTabSz="1108075" eaLnBrk="0" hangingPunct="0">
              <a:spcAft>
                <a:spcPts val="725"/>
              </a:spcAft>
              <a:buFont typeface="Wingdings" panose="05000000000000000000" pitchFamily="2" charset="2"/>
              <a:buChar char="n"/>
              <a:defRPr/>
            </a:pPr>
            <a:r>
              <a:rPr lang="zh-CN" altLang="en-US" sz="1400" kern="100" dirty="0">
                <a:solidFill>
                  <a:prstClr val="black"/>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项目</a:t>
            </a:r>
            <a:r>
              <a:rPr lang="zh-CN" altLang="en-US" sz="1400" kern="100" dirty="0" smtClean="0">
                <a:solidFill>
                  <a:prstClr val="black"/>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总面积</a:t>
            </a:r>
            <a:r>
              <a:rPr lang="en-US" altLang="zh-CN" sz="1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15.6</a:t>
            </a:r>
            <a:r>
              <a:rPr lang="zh-CN" altLang="en-US" sz="1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(1</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号地</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13.5</a:t>
            </a:r>
            <a:r>
              <a:rPr lang="zh-CN" altLang="en-US" sz="1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+3</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号地</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2.1</a:t>
            </a:r>
            <a:r>
              <a:rPr lang="zh-CN" altLang="en-US" sz="1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r>
              <a:rPr lang="zh-CN" altLang="en-US" sz="1400" b="1" kern="100" dirty="0" smtClean="0">
                <a:solidFill>
                  <a:prstClr val="black"/>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，其中自由销售</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6.35</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r>
              <a:rPr lang="zh-CN" altLang="en-US" sz="1400" b="1" kern="100" dirty="0" smtClean="0">
                <a:solidFill>
                  <a:prstClr val="black"/>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r>
              <a:rPr lang="zh-CN" altLang="en-US" sz="1400" b="1" kern="100" dirty="0">
                <a:solidFill>
                  <a:prstClr val="black"/>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带条件</a:t>
            </a:r>
            <a:r>
              <a:rPr lang="zh-CN" altLang="en-US" sz="1400" b="1" kern="100" dirty="0" smtClean="0">
                <a:solidFill>
                  <a:prstClr val="black"/>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销售</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9.24</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endPar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endParaRPr>
          </a:p>
          <a:p>
            <a:pPr marL="346075" indent="-346075" defTabSz="1108075" eaLnBrk="0" hangingPunct="0">
              <a:spcAft>
                <a:spcPts val="725"/>
              </a:spcAft>
              <a:buFont typeface="Wingdings" panose="05000000000000000000" pitchFamily="2" charset="2"/>
              <a:buChar char="n"/>
              <a:defRPr/>
            </a:pPr>
            <a:r>
              <a:rPr lang="en-US" altLang="zh-CN"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2026</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年预计去</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化</a:t>
            </a:r>
            <a:r>
              <a:rPr lang="en-US" altLang="zh-CN" sz="1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5840</a:t>
            </a:r>
            <a:r>
              <a:rPr lang="zh-CN" altLang="en-US" sz="1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，截止</a:t>
            </a:r>
            <a:r>
              <a:rPr lang="en-US" altLang="zh-CN"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2026</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年底科创大厦</a:t>
            </a:r>
            <a:r>
              <a:rPr lang="en-US" altLang="zh-CN"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T3</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写字楼去化</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率</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82%</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，科创大厦商铺去化</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率</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82%</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endParaRPr lang="en-US" altLang="zh-CN"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endParaRPr>
          </a:p>
          <a:p>
            <a:pPr marL="346075" indent="-346075" defTabSz="1108075" eaLnBrk="0" hangingPunct="0">
              <a:spcAft>
                <a:spcPts val="725"/>
              </a:spcAft>
              <a:buFont typeface="Wingdings" panose="05000000000000000000" pitchFamily="2" charset="2"/>
              <a:buChar char="n"/>
              <a:defRPr/>
            </a:pPr>
            <a:r>
              <a:rPr lang="en-US" altLang="zh-CN"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3</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号地独</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栋，</a:t>
            </a:r>
            <a:r>
              <a:rPr lang="en-US" altLang="zh-CN"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2026</a:t>
            </a:r>
            <a:r>
              <a:rPr lang="zh-CN" altLang="en-US"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年</a:t>
            </a:r>
            <a:r>
              <a:rPr lang="en-US" altLang="zh-CN"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8</a:t>
            </a:r>
            <a:r>
              <a:rPr lang="zh-CN" altLang="en-US"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月份平顶办理预售证，</a:t>
            </a:r>
            <a:r>
              <a:rPr lang="en-US" altLang="zh-CN"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10</a:t>
            </a:r>
            <a:r>
              <a:rPr lang="zh-CN" altLang="en-US"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月份正式销售</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，销售面积</a:t>
            </a:r>
            <a:r>
              <a:rPr lang="en-US" altLang="zh-CN"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2,650</a:t>
            </a:r>
            <a:r>
              <a:rPr lang="zh-CN" altLang="en-US"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，货值</a:t>
            </a:r>
            <a:r>
              <a:rPr lang="en-US" altLang="zh-CN"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3,,048</a:t>
            </a:r>
            <a:r>
              <a:rPr lang="zh-CN" altLang="en-US" sz="1400" b="1"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r>
              <a:rPr lang="zh-CN" altLang="en-US" sz="1400" kern="100" dirty="0" smtClean="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，去</a:t>
            </a:r>
            <a:r>
              <a:rPr lang="zh-CN" altLang="en-US" sz="1400" kern="100" dirty="0">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化率</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12.5%</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。销售回款</a:t>
            </a:r>
            <a:r>
              <a:rPr lang="en-US" altLang="zh-CN"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9,353</a:t>
            </a:r>
            <a:r>
              <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rPr>
              <a:t>万。</a:t>
            </a:r>
            <a:endPar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endParaRPr>
          </a:p>
          <a:p>
            <a:pPr marL="346075" indent="-346075" defTabSz="1108075" eaLnBrk="0" hangingPunct="0">
              <a:spcAft>
                <a:spcPts val="725"/>
              </a:spcAft>
              <a:buFont typeface="Wingdings" panose="05000000000000000000" pitchFamily="2" charset="2"/>
              <a:buChar char="n"/>
              <a:defRPr/>
            </a:pPr>
            <a:endParaRPr lang="zh-CN" altLang="en-US" sz="1400" b="1" kern="1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微软雅黑" panose="020B0503020204020204" pitchFamily="34" charset="-122"/>
            </a:endParaRPr>
          </a:p>
        </p:txBody>
      </p:sp>
      <p:graphicFrame>
        <p:nvGraphicFramePr>
          <p:cNvPr id="7" name="表格 6"/>
          <p:cNvGraphicFramePr>
            <a:graphicFrameLocks noGrp="1"/>
          </p:cNvGraphicFramePr>
          <p:nvPr/>
        </p:nvGraphicFramePr>
        <p:xfrm>
          <a:off x="278554" y="2253531"/>
          <a:ext cx="9359158" cy="3060745"/>
        </p:xfrm>
        <a:graphic>
          <a:graphicData uri="http://schemas.openxmlformats.org/drawingml/2006/table">
            <a:tbl>
              <a:tblPr/>
              <a:tblGrid>
                <a:gridCol w="453839"/>
                <a:gridCol w="800385"/>
                <a:gridCol w="500763"/>
                <a:gridCol w="500763"/>
                <a:gridCol w="584223"/>
                <a:gridCol w="584223"/>
                <a:gridCol w="584223"/>
                <a:gridCol w="584223"/>
                <a:gridCol w="584223"/>
                <a:gridCol w="584223"/>
                <a:gridCol w="584223"/>
                <a:gridCol w="584223"/>
                <a:gridCol w="584223"/>
                <a:gridCol w="584223"/>
                <a:gridCol w="630589"/>
                <a:gridCol w="630589"/>
              </a:tblGrid>
              <a:tr h="620513">
                <a:tc rowSpan="2">
                  <a:txBody>
                    <a:body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分类</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业态</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总可售面积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rowSpan="2">
                  <a:txBody>
                    <a:body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总可售货值</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rtl="0" fontAlgn="ct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年末剩余可售</a:t>
                      </a:r>
                      <a:b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①</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rowSpan="2">
                  <a:txBody>
                    <a:bodyPr/>
                    <a:lstStyle/>
                    <a:p>
                      <a:pPr algn="ctr" rtl="0"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截止</a:t>
                      </a: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2025</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年去化率</a:t>
                      </a:r>
                      <a:r>
                        <a:rPr lang="en-US" altLang="zh-CN" sz="900" b="1" i="0" u="none" strike="noStrike" dirty="0">
                          <a:solidFill>
                            <a:srgbClr val="FFFFFF"/>
                          </a:solidFill>
                          <a:effectLst/>
                          <a:latin typeface="微软雅黑" panose="020B0503020204020204" pitchFamily="34" charset="-122"/>
                          <a:ea typeface="微软雅黑" panose="020B0503020204020204" pitchFamily="34" charset="-122"/>
                        </a:rPr>
                        <a:t>(</a:t>
                      </a: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按已供货面积）</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年新增可售</a:t>
                      </a:r>
                      <a:br>
                        <a:rPr lang="zh-CN" altLang="en-US" sz="900" b="1" i="0" u="none" strike="noStrike">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②</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gridSpan="2">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年可售合计</a:t>
                      </a:r>
                      <a:br>
                        <a:rPr lang="zh-CN" altLang="en-US" sz="900" b="1" i="0" u="none" strike="noStrike">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③</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=①+②</a:t>
                      </a:r>
                      <a:endParaRPr lang="en-US" altLang="zh-CN"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gridSpan="2">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年签约</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目标</a:t>
                      </a:r>
                      <a:br>
                        <a:rPr lang="zh-CN" altLang="en-US" sz="900" b="1" i="0" u="none" strike="noStrike">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④</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D7D31"/>
                    </a:solidFill>
                  </a:tcPr>
                </a:tc>
                <a:tc hMerge="1">
                  <a:tcPr/>
                </a:tc>
                <a:tc gridSpan="2">
                  <a:txBody>
                    <a:bodyPr/>
                    <a:lstStyle/>
                    <a:p>
                      <a:pPr algn="ctr" rtl="0"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年末剩余可签约</a:t>
                      </a:r>
                      <a:br>
                        <a:rPr lang="zh-CN" altLang="en-US" sz="900" b="1" i="0" u="none" strike="noStrike">
                          <a:solidFill>
                            <a:srgbClr val="FFFFFF"/>
                          </a:solidFill>
                          <a:effectLst/>
                          <a:latin typeface="微软雅黑" panose="020B0503020204020204" pitchFamily="34" charset="-122"/>
                          <a:ea typeface="微软雅黑" panose="020B0503020204020204" pitchFamily="34" charset="-122"/>
                        </a:rPr>
                      </a:b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⑤</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=③-④</a:t>
                      </a:r>
                      <a:endParaRPr lang="en-US" altLang="zh-CN"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rowSpan="2">
                  <a:txBody>
                    <a:bodyPr/>
                    <a:lstStyle/>
                    <a:p>
                      <a:pPr algn="ctr"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截止</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年去化率</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按已供货面积）</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231172">
                <a:tc vMerge="1">
                  <a:tcPr/>
                </a:tc>
                <a:tc vMerge="1">
                  <a:tcPr/>
                </a:tc>
                <a:tc vMerge="1">
                  <a:tcPr/>
                </a:tc>
                <a:tc vMerge="1">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货值（万元）</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vMerge="1">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货值（万元）</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货值（万元）</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D7D31"/>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货值（万元）</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D7D31"/>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面积（㎡）</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rtl="0"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货值（万元）</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vMerge="1">
                  <a:tcPr/>
                </a:tc>
              </a:tr>
              <a:tr h="441812">
                <a:tc rowSpan="5">
                  <a:txBody>
                    <a:bodyPr/>
                    <a:lstStyle/>
                    <a:p>
                      <a:pPr algn="ctr"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可自由</a:t>
                      </a:r>
                      <a:r>
                        <a:rPr lang="zh-CN" altLang="en-US" sz="900" b="0" i="0" u="none" strike="noStrike" dirty="0" smtClean="0">
                          <a:solidFill>
                            <a:srgbClr val="000000"/>
                          </a:solidFill>
                          <a:effectLst/>
                          <a:latin typeface="微软雅黑" panose="020B0503020204020204" pitchFamily="34" charset="-122"/>
                          <a:ea typeface="微软雅黑" panose="020B0503020204020204" pitchFamily="34" charset="-122"/>
                        </a:rPr>
                        <a:t>销售</a:t>
                      </a:r>
                      <a:endParaRPr lang="en-US" altLang="zh-CN" sz="900" b="0" i="0" u="none" strike="noStrike" dirty="0" smtClean="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900" b="0" i="0" u="none" strike="noStrike" dirty="0" smtClean="0">
                          <a:solidFill>
                            <a:srgbClr val="000000"/>
                          </a:solidFill>
                          <a:effectLst/>
                          <a:latin typeface="微软雅黑" panose="020B0503020204020204" pitchFamily="34" charset="-122"/>
                          <a:ea typeface="微软雅黑" panose="020B0503020204020204" pitchFamily="34" charset="-122"/>
                        </a:rPr>
                        <a:t>部分</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900" b="0" i="0" u="none" strike="noStrike" dirty="0">
                          <a:solidFill>
                            <a:srgbClr val="000000"/>
                          </a:solidFill>
                          <a:effectLst/>
                          <a:latin typeface="微软雅黑" panose="020B0503020204020204" pitchFamily="34" charset="-122"/>
                          <a:ea typeface="微软雅黑" panose="020B0503020204020204" pitchFamily="34" charset="-122"/>
                        </a:rPr>
                        <a:t>IEO</a:t>
                      </a: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总部独栋</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22,038</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26,039</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100%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100%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41812">
                <a:tc vMerge="1">
                  <a:tcPr/>
                </a:tc>
                <a:tc>
                  <a:txBody>
                    <a:bodyPr/>
                    <a:lstStyle/>
                    <a:p>
                      <a:pPr algn="ctr" rtl="0" fontAlgn="ctr"/>
                      <a:r>
                        <a:rPr lang="zh-CN" altLang="en-US" sz="900" b="0" i="0" u="none" strike="noStrike" dirty="0">
                          <a:solidFill>
                            <a:srgbClr val="FF0000"/>
                          </a:solidFill>
                          <a:effectLst/>
                          <a:latin typeface="微软雅黑" panose="020B0503020204020204" pitchFamily="34" charset="-122"/>
                          <a:ea typeface="微软雅黑" panose="020B0503020204020204" pitchFamily="34" charset="-122"/>
                        </a:rPr>
                        <a:t>科创大厦</a:t>
                      </a:r>
                      <a:r>
                        <a:rPr lang="en-US" altLang="zh-CN" sz="900" b="0" i="0" u="none" strike="noStrike" dirty="0" smtClean="0">
                          <a:solidFill>
                            <a:srgbClr val="FF0000"/>
                          </a:solidFill>
                          <a:effectLst/>
                          <a:latin typeface="微软雅黑" panose="020B0503020204020204" pitchFamily="34" charset="-122"/>
                          <a:ea typeface="微软雅黑" panose="020B0503020204020204" pitchFamily="34" charset="-122"/>
                        </a:rPr>
                        <a:t>T3</a:t>
                      </a:r>
                      <a:endParaRPr lang="en-US" altLang="zh-CN" sz="900" b="0" i="0" u="none" strike="noStrike" dirty="0" smtClean="0">
                        <a:solidFill>
                          <a:srgbClr val="FF0000"/>
                        </a:solidFill>
                        <a:effectLst/>
                        <a:latin typeface="微软雅黑" panose="020B0503020204020204" pitchFamily="34" charset="-122"/>
                        <a:ea typeface="微软雅黑" panose="020B0503020204020204" pitchFamily="34" charset="-122"/>
                      </a:endParaRPr>
                    </a:p>
                    <a:p>
                      <a:pPr algn="ctr" rtl="0" fontAlgn="ctr"/>
                      <a:r>
                        <a:rPr lang="zh-CN" altLang="en-US" sz="900" b="0" i="0" u="none" strike="noStrike" dirty="0" smtClean="0">
                          <a:solidFill>
                            <a:srgbClr val="FF0000"/>
                          </a:solidFill>
                          <a:effectLst/>
                          <a:latin typeface="微软雅黑" panose="020B0503020204020204" pitchFamily="34" charset="-122"/>
                          <a:ea typeface="微软雅黑" panose="020B0503020204020204" pitchFamily="34" charset="-122"/>
                        </a:rPr>
                        <a:t>写字楼</a:t>
                      </a:r>
                      <a:endParaRPr lang="zh-CN" altLang="en-US" sz="900" b="0" i="0" u="none" strike="noStrike" dirty="0" smtClean="0">
                        <a:solidFill>
                          <a:srgbClr val="FF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12,679</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9,704</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4,536</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3,168</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64%</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4,536</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3,168</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2,214</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1,550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2,322</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1,618</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FF0000"/>
                          </a:solidFill>
                          <a:effectLst/>
                          <a:latin typeface="微软雅黑" panose="020B0503020204020204" pitchFamily="34" charset="-122"/>
                          <a:ea typeface="微软雅黑" panose="020B0503020204020204" pitchFamily="34" charset="-122"/>
                        </a:rPr>
                        <a:t>82%</a:t>
                      </a:r>
                      <a:endParaRPr lang="en-US" altLang="zh-CN" sz="900" b="0" i="0" u="none" strike="noStrike">
                        <a:solidFill>
                          <a:srgbClr val="FF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41812">
                <a:tc vMerge="1">
                  <a:tcPr/>
                </a:tc>
                <a:tc>
                  <a:txBody>
                    <a:bodyPr/>
                    <a:lstStyle/>
                    <a:p>
                      <a:pPr algn="ctr" rtl="0" fontAlgn="ctr"/>
                      <a:r>
                        <a:rPr lang="zh-CN" altLang="en-US" sz="900" b="0" i="0" u="none" strike="noStrike" dirty="0">
                          <a:solidFill>
                            <a:srgbClr val="FF0000"/>
                          </a:solidFill>
                          <a:effectLst/>
                          <a:latin typeface="微软雅黑" panose="020B0503020204020204" pitchFamily="34" charset="-122"/>
                          <a:ea typeface="微软雅黑" panose="020B0503020204020204" pitchFamily="34" charset="-122"/>
                        </a:rPr>
                        <a:t>科创大厦底商</a:t>
                      </a:r>
                      <a:endParaRPr lang="zh-CN" altLang="en-US" sz="900" b="0" i="0" u="none" strike="noStrike" dirty="0">
                        <a:solidFill>
                          <a:srgbClr val="FF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7,677</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11,551</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2,386</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2,362</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69%</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2,386</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2,362</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976</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1,007</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1,410</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1,355</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FF0000"/>
                          </a:solidFill>
                          <a:effectLst/>
                          <a:latin typeface="微软雅黑" panose="020B0503020204020204" pitchFamily="34" charset="-122"/>
                          <a:ea typeface="微软雅黑" panose="020B0503020204020204" pitchFamily="34" charset="-122"/>
                        </a:rPr>
                        <a:t>82%</a:t>
                      </a:r>
                      <a:endParaRPr lang="en-US" altLang="zh-CN" sz="900" b="0" i="0" u="none" strike="noStrike">
                        <a:solidFill>
                          <a:srgbClr val="FF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41812">
                <a:tc vMerge="1">
                  <a:tcPr/>
                </a:tc>
                <a:tc>
                  <a:txBody>
                    <a:bodyPr/>
                    <a:lstStyle/>
                    <a:p>
                      <a:pPr algn="ctr" rtl="0" fontAlgn="ctr"/>
                      <a:r>
                        <a:rPr lang="en-US" altLang="zh-CN" sz="900" b="0" i="0" u="none" strike="noStrike" dirty="0" smtClean="0">
                          <a:solidFill>
                            <a:srgbClr val="000000"/>
                          </a:solidFill>
                          <a:effectLst/>
                          <a:latin typeface="微软雅黑" panose="020B0503020204020204" pitchFamily="34" charset="-122"/>
                          <a:ea typeface="微软雅黑" panose="020B0503020204020204" pitchFamily="34" charset="-122"/>
                        </a:rPr>
                        <a:t>3</a:t>
                      </a:r>
                      <a:r>
                        <a:rPr lang="zh-CN" altLang="en-US" sz="900" b="0" i="0" u="none" strike="noStrike" dirty="0" smtClean="0">
                          <a:solidFill>
                            <a:srgbClr val="000000"/>
                          </a:solidFill>
                          <a:effectLst/>
                          <a:latin typeface="微软雅黑" panose="020B0503020204020204" pitchFamily="34" charset="-122"/>
                          <a:ea typeface="微软雅黑" panose="020B0503020204020204" pitchFamily="34" charset="-122"/>
                        </a:rPr>
                        <a:t>号地独栋</a:t>
                      </a:r>
                      <a:endParaRPr lang="zh-CN" altLang="en-US" sz="900" b="0" i="0" u="none" strike="noStrike" dirty="0" smtClean="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21,148</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24,320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21,148</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24,320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21,148</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24,320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2,650</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3,048</a:t>
                      </a:r>
                      <a:endParaRPr lang="en-US" altLang="zh-CN"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18,498</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21,273</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13%</a:t>
                      </a:r>
                      <a:endParaRPr lang="en-US" altLang="zh-CN" sz="900" b="0"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41812">
                <a:tc vMerge="1">
                  <a:tcPr/>
                </a:tc>
                <a:tc>
                  <a:txBody>
                    <a:bodyPr/>
                    <a:lstStyle/>
                    <a:p>
                      <a:pPr algn="ctr" fontAlgn="ctr"/>
                      <a:r>
                        <a:rPr lang="zh-CN" altLang="en-US" sz="900" b="1" i="0" u="none" strike="noStrike" dirty="0">
                          <a:solidFill>
                            <a:srgbClr val="C00000"/>
                          </a:solidFill>
                          <a:effectLst/>
                          <a:latin typeface="微软雅黑" panose="020B0503020204020204" pitchFamily="34" charset="-122"/>
                          <a:ea typeface="微软雅黑" panose="020B0503020204020204" pitchFamily="34" charset="-122"/>
                        </a:rPr>
                        <a:t>小计</a:t>
                      </a:r>
                      <a:endParaRPr lang="zh-CN" altLang="en-US" sz="900" b="1" i="0" u="none" strike="noStrike" dirty="0">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63,541</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dirty="0">
                          <a:solidFill>
                            <a:srgbClr val="C00000"/>
                          </a:solidFill>
                          <a:effectLst/>
                          <a:latin typeface="微软雅黑" panose="020B0503020204020204" pitchFamily="34" charset="-122"/>
                          <a:ea typeface="微软雅黑" panose="020B0503020204020204" pitchFamily="34" charset="-122"/>
                        </a:rPr>
                        <a:t>71,614</a:t>
                      </a:r>
                      <a:endParaRPr lang="en-US" altLang="zh-CN" sz="900" b="1" i="0" u="none" strike="noStrike" dirty="0">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6,922</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5,529</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dirty="0">
                          <a:solidFill>
                            <a:srgbClr val="C00000"/>
                          </a:solidFill>
                          <a:effectLst/>
                          <a:latin typeface="微软雅黑" panose="020B0503020204020204" pitchFamily="34" charset="-122"/>
                          <a:ea typeface="微软雅黑" panose="020B0503020204020204" pitchFamily="34" charset="-122"/>
                        </a:rPr>
                        <a:t>84%</a:t>
                      </a:r>
                      <a:endParaRPr lang="en-US" altLang="zh-CN" sz="900" b="1" i="0" u="none" strike="noStrike" dirty="0">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21,148</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24,320</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28,070</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dirty="0">
                          <a:solidFill>
                            <a:srgbClr val="C00000"/>
                          </a:solidFill>
                          <a:effectLst/>
                          <a:latin typeface="微软雅黑" panose="020B0503020204020204" pitchFamily="34" charset="-122"/>
                          <a:ea typeface="微软雅黑" panose="020B0503020204020204" pitchFamily="34" charset="-122"/>
                        </a:rPr>
                        <a:t>29,849</a:t>
                      </a:r>
                      <a:endParaRPr lang="en-US" altLang="zh-CN" sz="900" b="1" i="0" u="none" strike="noStrike" dirty="0">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5,840</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5,604</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22,230</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a:solidFill>
                            <a:srgbClr val="C00000"/>
                          </a:solidFill>
                          <a:effectLst/>
                          <a:latin typeface="微软雅黑" panose="020B0503020204020204" pitchFamily="34" charset="-122"/>
                          <a:ea typeface="微软雅黑" panose="020B0503020204020204" pitchFamily="34" charset="-122"/>
                        </a:rPr>
                        <a:t>24,245</a:t>
                      </a:r>
                      <a:endParaRPr lang="en-US" altLang="zh-CN" sz="900" b="1" i="0" u="none" strike="noStrike">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altLang="zh-CN" sz="900" b="1" i="0" u="none" strike="noStrike" dirty="0">
                          <a:solidFill>
                            <a:srgbClr val="C00000"/>
                          </a:solidFill>
                          <a:effectLst/>
                          <a:latin typeface="微软雅黑" panose="020B0503020204020204" pitchFamily="34" charset="-122"/>
                          <a:ea typeface="微软雅黑" panose="020B0503020204020204" pitchFamily="34" charset="-122"/>
                        </a:rPr>
                        <a:t>65%</a:t>
                      </a:r>
                      <a:endParaRPr lang="en-US" altLang="zh-CN" sz="900" b="1" i="0" u="none" strike="noStrike" dirty="0">
                        <a:solidFill>
                          <a:srgbClr val="C00000"/>
                        </a:solidFill>
                        <a:effectLst/>
                        <a:latin typeface="微软雅黑" panose="020B0503020204020204" pitchFamily="34" charset="-122"/>
                        <a:ea typeface="微软雅黑" panose="020B0503020204020204" pitchFamily="34" charset="-122"/>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50563" y="238853"/>
            <a:ext cx="7557554" cy="359245"/>
          </a:xfrm>
        </p:spPr>
        <p:txBody>
          <a:bodyPr/>
          <a:lstStyle/>
          <a:p>
            <a:pPr>
              <a:defRPr/>
            </a:pPr>
            <a:r>
              <a:rPr lang="zh-CN" altLang="en-US" b="1" dirty="0"/>
              <a:t>第一部分</a:t>
            </a:r>
            <a:r>
              <a:rPr lang="zh-CN" altLang="en-US" b="1" dirty="0" smtClean="0"/>
              <a:t>：202</a:t>
            </a:r>
            <a:r>
              <a:rPr lang="en-US" altLang="zh-CN" b="1" dirty="0" smtClean="0"/>
              <a:t>6</a:t>
            </a:r>
            <a:r>
              <a:rPr lang="zh-CN" altLang="en-US" b="1" dirty="0" smtClean="0"/>
              <a:t>年</a:t>
            </a:r>
            <a:r>
              <a:rPr lang="zh-CN" altLang="en-US" b="1" dirty="0"/>
              <a:t>经营目标（</a:t>
            </a:r>
            <a:r>
              <a:rPr lang="zh-CN" altLang="en-US" b="1" noProof="0" dirty="0" smtClean="0"/>
              <a:t>黄江</a:t>
            </a:r>
            <a:r>
              <a:rPr lang="zh-CN" altLang="en-US" b="1" dirty="0"/>
              <a:t>）</a:t>
            </a:r>
            <a:endParaRPr lang="zh-CN" altLang="en-US" b="1" dirty="0"/>
          </a:p>
        </p:txBody>
      </p:sp>
      <p:graphicFrame>
        <p:nvGraphicFramePr>
          <p:cNvPr id="3" name="表格 2"/>
          <p:cNvGraphicFramePr/>
          <p:nvPr/>
        </p:nvGraphicFramePr>
        <p:xfrm>
          <a:off x="1084580" y="669290"/>
          <a:ext cx="6797675" cy="4603750"/>
        </p:xfrm>
        <a:graphic>
          <a:graphicData uri="http://schemas.openxmlformats.org/drawingml/2006/table">
            <a:tbl>
              <a:tblPr/>
              <a:tblGrid>
                <a:gridCol w="1405255"/>
                <a:gridCol w="641985"/>
                <a:gridCol w="4750435"/>
              </a:tblGrid>
              <a:tr h="271145">
                <a:tc>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项目</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C00000"/>
                    </a:solidFill>
                  </a:tcPr>
                </a:tc>
                <a:tc>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预算编制说明（重点写变化原因）</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C00000"/>
                    </a:solidFill>
                  </a:tcPr>
                </a:tc>
              </a:tr>
              <a:tr h="170180">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收入合计（不含税）</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4,403.67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DE9D9"/>
                    </a:solidFill>
                  </a:tcPr>
                </a:tc>
                <a:tc>
                  <a:txBody>
                    <a:bodyPr/>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DE9D9"/>
                    </a:solidFill>
                  </a:tcPr>
                </a:tc>
              </a:tr>
              <a:tr h="27622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一、收入合计（含税）</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4,800.00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l" fontAlgn="ctr"/>
                      <a:r>
                        <a:rPr lang="en-US" altLang="zh-CN" sz="900" b="1" i="0">
                          <a:solidFill>
                            <a:srgbClr val="000000"/>
                          </a:solidFill>
                          <a:latin typeface="微软雅黑" panose="020B0503020204020204" pitchFamily="34" charset="-122"/>
                          <a:ea typeface="微软雅黑" panose="020B0503020204020204" pitchFamily="34" charset="-122"/>
                        </a:rPr>
                        <a:t>2026</a:t>
                      </a:r>
                      <a:r>
                        <a:rPr lang="zh-CN" altLang="en-US" sz="900" b="1" i="0">
                          <a:solidFill>
                            <a:srgbClr val="000000"/>
                          </a:solidFill>
                          <a:latin typeface="微软雅黑" panose="020B0503020204020204" pitchFamily="34" charset="-122"/>
                          <a:ea typeface="微软雅黑" panose="020B0503020204020204" pitchFamily="34" charset="-122"/>
                        </a:rPr>
                        <a:t>年可售面积</a:t>
                      </a:r>
                      <a:r>
                        <a:rPr lang="en-US" altLang="zh-CN" sz="900" b="1" i="0">
                          <a:solidFill>
                            <a:srgbClr val="000000"/>
                          </a:solidFill>
                          <a:latin typeface="微软雅黑" panose="020B0503020204020204" pitchFamily="34" charset="-122"/>
                          <a:ea typeface="微软雅黑" panose="020B0503020204020204" pitchFamily="34" charset="-122"/>
                        </a:rPr>
                        <a:t>1.7</a:t>
                      </a:r>
                      <a:r>
                        <a:rPr lang="zh-CN" altLang="en-US" sz="900" b="1" i="0">
                          <a:solidFill>
                            <a:srgbClr val="000000"/>
                          </a:solidFill>
                          <a:latin typeface="微软雅黑" panose="020B0503020204020204" pitchFamily="34" charset="-122"/>
                          <a:ea typeface="微软雅黑" panose="020B0503020204020204" pitchFamily="34" charset="-122"/>
                        </a:rPr>
                        <a:t>万㎡，全年去化</a:t>
                      </a:r>
                      <a:r>
                        <a:rPr lang="en-US" altLang="zh-CN" sz="900" b="1" i="0">
                          <a:solidFill>
                            <a:srgbClr val="000000"/>
                          </a:solidFill>
                          <a:latin typeface="微软雅黑" panose="020B0503020204020204" pitchFamily="34" charset="-122"/>
                          <a:ea typeface="微软雅黑" panose="020B0503020204020204" pitchFamily="34" charset="-122"/>
                        </a:rPr>
                        <a:t>1</a:t>
                      </a:r>
                      <a:r>
                        <a:rPr lang="zh-CN" altLang="en-US" sz="900" b="1" i="0">
                          <a:solidFill>
                            <a:srgbClr val="000000"/>
                          </a:solidFill>
                          <a:latin typeface="微软雅黑" panose="020B0503020204020204" pitchFamily="34" charset="-122"/>
                          <a:ea typeface="微软雅黑" panose="020B0503020204020204" pitchFamily="34" charset="-122"/>
                        </a:rPr>
                        <a:t>万㎡，约</a:t>
                      </a:r>
                      <a:r>
                        <a:rPr lang="en-US" altLang="zh-CN" sz="900" b="1" i="0">
                          <a:solidFill>
                            <a:srgbClr val="000000"/>
                          </a:solidFill>
                          <a:latin typeface="微软雅黑" panose="020B0503020204020204" pitchFamily="34" charset="-122"/>
                          <a:ea typeface="微软雅黑" panose="020B0503020204020204" pitchFamily="34" charset="-122"/>
                        </a:rPr>
                        <a:t>59%</a:t>
                      </a:r>
                      <a:r>
                        <a:rPr lang="zh-CN" altLang="en-US" sz="900" b="1" i="0">
                          <a:solidFill>
                            <a:srgbClr val="000000"/>
                          </a:solidFill>
                          <a:latin typeface="微软雅黑" panose="020B0503020204020204" pitchFamily="34" charset="-122"/>
                          <a:ea typeface="微软雅黑" panose="020B0503020204020204" pitchFamily="34" charset="-122"/>
                        </a:rPr>
                        <a:t>，单价</a:t>
                      </a:r>
                      <a:r>
                        <a:rPr lang="en-US" altLang="zh-CN" sz="900" b="1" i="0">
                          <a:solidFill>
                            <a:srgbClr val="000000"/>
                          </a:solidFill>
                          <a:latin typeface="微软雅黑" panose="020B0503020204020204" pitchFamily="34" charset="-122"/>
                          <a:ea typeface="微软雅黑" panose="020B0503020204020204" pitchFamily="34" charset="-122"/>
                        </a:rPr>
                        <a:t>4800</a:t>
                      </a:r>
                      <a:r>
                        <a:rPr lang="zh-CN" altLang="en-US" sz="900" b="1" i="0">
                          <a:solidFill>
                            <a:srgbClr val="000000"/>
                          </a:solidFill>
                          <a:latin typeface="微软雅黑" panose="020B0503020204020204" pitchFamily="34" charset="-122"/>
                          <a:ea typeface="微软雅黑" panose="020B0503020204020204" pitchFamily="34" charset="-122"/>
                        </a:rPr>
                        <a:t>元</a:t>
                      </a:r>
                      <a:r>
                        <a:rPr lang="en-US" altLang="zh-CN" sz="900" b="1" i="0">
                          <a:solidFill>
                            <a:srgbClr val="000000"/>
                          </a:solidFill>
                          <a:latin typeface="微软雅黑" panose="020B0503020204020204" pitchFamily="34" charset="-122"/>
                          <a:ea typeface="微软雅黑" panose="020B0503020204020204" pitchFamily="34" charset="-122"/>
                        </a:rPr>
                        <a:t>/</a:t>
                      </a:r>
                      <a:r>
                        <a:rPr lang="zh-CN" altLang="en-US" sz="900" b="1" i="0">
                          <a:solidFill>
                            <a:srgbClr val="000000"/>
                          </a:solidFill>
                          <a:latin typeface="微软雅黑" panose="020B0503020204020204" pitchFamily="34" charset="-122"/>
                          <a:ea typeface="微软雅黑" panose="020B0503020204020204" pitchFamily="34" charset="-122"/>
                        </a:rPr>
                        <a:t>㎡，全年销售额</a:t>
                      </a:r>
                      <a:r>
                        <a:rPr lang="en-US" altLang="zh-CN" sz="900" b="1" i="0">
                          <a:solidFill>
                            <a:srgbClr val="000000"/>
                          </a:solidFill>
                          <a:latin typeface="微软雅黑" panose="020B0503020204020204" pitchFamily="34" charset="-122"/>
                          <a:ea typeface="微软雅黑" panose="020B0503020204020204" pitchFamily="34" charset="-122"/>
                        </a:rPr>
                        <a:t>4800</a:t>
                      </a:r>
                      <a:r>
                        <a:rPr lang="zh-CN" altLang="en-US" sz="900" b="1" i="0">
                          <a:solidFill>
                            <a:srgbClr val="000000"/>
                          </a:solidFill>
                          <a:latin typeface="微软雅黑" panose="020B0503020204020204" pitchFamily="34" charset="-122"/>
                          <a:ea typeface="微软雅黑" panose="020B0503020204020204" pitchFamily="34" charset="-122"/>
                        </a:rPr>
                        <a:t>万</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r>
              <a:tr h="168275">
                <a:tc>
                  <a:txBody>
                    <a:bodyPr/>
                    <a:p>
                      <a:pPr algn="ctr"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收入抵减项：增值税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396.33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17081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二、成本费用支出合计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437.74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r>
              <a:tr h="17081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a:t>
                      </a:r>
                      <a:r>
                        <a:rPr lang="zh-CN" altLang="en-US" sz="900" b="0" i="0">
                          <a:solidFill>
                            <a:srgbClr val="000000"/>
                          </a:solidFill>
                          <a:latin typeface="微软雅黑" panose="020B0503020204020204" pitchFamily="34" charset="-122"/>
                          <a:ea typeface="微软雅黑" panose="020B0503020204020204" pitchFamily="34" charset="-122"/>
                        </a:rPr>
                        <a:t>营运费用小计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437.74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17145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1.1</a:t>
                      </a:r>
                      <a:r>
                        <a:rPr lang="zh-CN" altLang="en-US" sz="900" b="0" i="0">
                          <a:solidFill>
                            <a:srgbClr val="000000"/>
                          </a:solidFill>
                          <a:latin typeface="微软雅黑" panose="020B0503020204020204" pitchFamily="34" charset="-122"/>
                          <a:ea typeface="微软雅黑" panose="020B0503020204020204" pitchFamily="34" charset="-122"/>
                        </a:rPr>
                        <a:t>管理费用小计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149.74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17145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人工费用类</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108.85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编制</a:t>
                      </a:r>
                      <a:r>
                        <a:rPr lang="en-US" altLang="zh-CN" sz="900" b="0" i="0">
                          <a:solidFill>
                            <a:srgbClr val="000000"/>
                          </a:solidFill>
                          <a:latin typeface="微软雅黑" panose="020B0503020204020204" pitchFamily="34" charset="-122"/>
                          <a:ea typeface="微软雅黑" panose="020B0503020204020204" pitchFamily="34" charset="-122"/>
                        </a:rPr>
                        <a:t>4</a:t>
                      </a:r>
                      <a:r>
                        <a:rPr lang="zh-CN" altLang="en-US" sz="900" b="0" i="0">
                          <a:solidFill>
                            <a:srgbClr val="000000"/>
                          </a:solidFill>
                          <a:latin typeface="微软雅黑" panose="020B0503020204020204" pitchFamily="34" charset="-122"/>
                          <a:ea typeface="微软雅黑" panose="020B0503020204020204" pitchFamily="34" charset="-122"/>
                        </a:rPr>
                        <a:t>人，按人力提供数据</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65341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办公事务类</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9.95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a:t>
                      </a:r>
                      <a:r>
                        <a:rPr lang="zh-CN" altLang="en-US"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2026</a:t>
                      </a:r>
                      <a:r>
                        <a:rPr lang="zh-CN" altLang="en-US" sz="900" b="0" i="0">
                          <a:solidFill>
                            <a:srgbClr val="000000"/>
                          </a:solidFill>
                          <a:latin typeface="微软雅黑" panose="020B0503020204020204" pitchFamily="34" charset="-122"/>
                          <a:ea typeface="微软雅黑" panose="020B0503020204020204" pitchFamily="34" charset="-122"/>
                        </a:rPr>
                        <a:t>年按编制</a:t>
                      </a:r>
                      <a:r>
                        <a:rPr lang="en-US" altLang="zh-CN" sz="900" b="0" i="0">
                          <a:solidFill>
                            <a:srgbClr val="000000"/>
                          </a:solidFill>
                          <a:latin typeface="微软雅黑" panose="020B0503020204020204" pitchFamily="34" charset="-122"/>
                          <a:ea typeface="微软雅黑" panose="020B0503020204020204" pitchFamily="34" charset="-122"/>
                        </a:rPr>
                        <a:t>4</a:t>
                      </a:r>
                      <a:r>
                        <a:rPr lang="zh-CN" altLang="en-US" sz="900" b="0" i="0">
                          <a:solidFill>
                            <a:srgbClr val="000000"/>
                          </a:solidFill>
                          <a:latin typeface="微软雅黑" panose="020B0503020204020204" pitchFamily="34" charset="-122"/>
                          <a:ea typeface="微软雅黑" panose="020B0503020204020204" pitchFamily="34" charset="-122"/>
                        </a:rPr>
                        <a:t>人，</a:t>
                      </a:r>
                      <a:r>
                        <a:rPr lang="en-US" altLang="zh-CN" sz="900" b="0" i="0">
                          <a:solidFill>
                            <a:srgbClr val="000000"/>
                          </a:solidFill>
                          <a:latin typeface="微软雅黑" panose="020B0503020204020204" pitchFamily="34" charset="-122"/>
                          <a:ea typeface="微软雅黑" panose="020B0503020204020204" pitchFamily="34" charset="-122"/>
                        </a:rPr>
                        <a:t>1350</a:t>
                      </a:r>
                      <a:r>
                        <a:rPr lang="zh-CN" altLang="en-US" sz="900" b="0" i="0">
                          <a:solidFill>
                            <a:srgbClr val="000000"/>
                          </a:solidFill>
                          <a:latin typeface="微软雅黑" panose="020B0503020204020204" pitchFamily="34" charset="-122"/>
                          <a:ea typeface="微软雅黑" panose="020B0503020204020204" pitchFamily="34" charset="-122"/>
                        </a:rPr>
                        <a:t>元</a:t>
                      </a:r>
                      <a:r>
                        <a:rPr lang="en-US" altLang="zh-CN" sz="900" b="0" i="0">
                          <a:solidFill>
                            <a:srgbClr val="000000"/>
                          </a:solidFill>
                          <a:latin typeface="微软雅黑" panose="020B0503020204020204" pitchFamily="34" charset="-122"/>
                          <a:ea typeface="微软雅黑" panose="020B0503020204020204" pitchFamily="34" charset="-122"/>
                        </a:rPr>
                        <a:t>/</a:t>
                      </a:r>
                      <a:r>
                        <a:rPr lang="zh-CN" altLang="en-US" sz="900" b="0" i="0">
                          <a:solidFill>
                            <a:srgbClr val="000000"/>
                          </a:solidFill>
                          <a:latin typeface="微软雅黑" panose="020B0503020204020204" pitchFamily="34" charset="-122"/>
                          <a:ea typeface="微软雅黑" panose="020B0503020204020204" pitchFamily="34" charset="-122"/>
                        </a:rPr>
                        <a:t>人</a:t>
                      </a:r>
                      <a:r>
                        <a:rPr lang="en-US" altLang="zh-CN" sz="900" b="0" i="0">
                          <a:solidFill>
                            <a:srgbClr val="000000"/>
                          </a:solidFill>
                          <a:latin typeface="微软雅黑" panose="020B0503020204020204" pitchFamily="34" charset="-122"/>
                          <a:ea typeface="微软雅黑" panose="020B0503020204020204" pitchFamily="34" charset="-122"/>
                        </a:rPr>
                        <a:t>/</a:t>
                      </a:r>
                      <a:r>
                        <a:rPr lang="zh-CN" altLang="en-US" sz="900" b="0" i="0">
                          <a:solidFill>
                            <a:srgbClr val="000000"/>
                          </a:solidFill>
                          <a:latin typeface="微软雅黑" panose="020B0503020204020204" pitchFamily="34" charset="-122"/>
                          <a:ea typeface="微软雅黑" panose="020B0503020204020204" pitchFamily="34" charset="-122"/>
                        </a:rPr>
                        <a:t>年核算</a:t>
                      </a:r>
                      <a:r>
                        <a:rPr lang="en-US" altLang="zh-CN" sz="900" b="0" i="0">
                          <a:solidFill>
                            <a:srgbClr val="000000"/>
                          </a:solidFill>
                          <a:latin typeface="微软雅黑" panose="020B0503020204020204" pitchFamily="34" charset="-122"/>
                          <a:ea typeface="微软雅黑" panose="020B0503020204020204" pitchFamily="34" charset="-122"/>
                        </a:rPr>
                        <a:t>,</a:t>
                      </a:r>
                      <a:r>
                        <a:rPr lang="zh-CN" altLang="en-US" sz="900" b="0" i="0">
                          <a:solidFill>
                            <a:srgbClr val="000000"/>
                          </a:solidFill>
                          <a:latin typeface="微软雅黑" panose="020B0503020204020204" pitchFamily="34" charset="-122"/>
                          <a:ea typeface="微软雅黑" panose="020B0503020204020204" pitchFamily="34" charset="-122"/>
                        </a:rPr>
                        <a:t>、预计半年</a:t>
                      </a:r>
                      <a:r>
                        <a:rPr lang="en-US" altLang="zh-CN" sz="900" b="0" i="0">
                          <a:solidFill>
                            <a:srgbClr val="000000"/>
                          </a:solidFill>
                          <a:latin typeface="微软雅黑" panose="020B0503020204020204" pitchFamily="34" charset="-122"/>
                          <a:ea typeface="微软雅黑" panose="020B0503020204020204" pitchFamily="34" charset="-122"/>
                        </a:rPr>
                        <a:t>0.27</a:t>
                      </a:r>
                      <a:r>
                        <a:rPr lang="zh-CN" altLang="en-US" sz="900" b="0" i="0">
                          <a:solidFill>
                            <a:srgbClr val="000000"/>
                          </a:solidFill>
                          <a:latin typeface="微软雅黑" panose="020B0503020204020204" pitchFamily="34" charset="-122"/>
                          <a:ea typeface="微软雅黑" panose="020B0503020204020204" pitchFamily="34" charset="-122"/>
                        </a:rPr>
                        <a:t>万；</a:t>
                      </a:r>
                      <a:br>
                        <a:rPr lang="zh-CN" altLang="en-US" sz="900" b="0" i="0">
                          <a:solidFill>
                            <a:srgbClr val="000000"/>
                          </a:solidFill>
                          <a:latin typeface="微软雅黑" panose="020B0503020204020204" pitchFamily="34" charset="-122"/>
                          <a:ea typeface="微软雅黑" panose="020B0503020204020204" pitchFamily="34" charset="-122"/>
                        </a:rPr>
                      </a:br>
                      <a:r>
                        <a:rPr lang="en-US" altLang="zh-CN" sz="900" b="0" i="0">
                          <a:solidFill>
                            <a:srgbClr val="000000"/>
                          </a:solidFill>
                          <a:latin typeface="微软雅黑" panose="020B0503020204020204" pitchFamily="34" charset="-122"/>
                          <a:ea typeface="微软雅黑" panose="020B0503020204020204" pitchFamily="34" charset="-122"/>
                        </a:rPr>
                        <a:t>2</a:t>
                      </a:r>
                      <a:r>
                        <a:rPr lang="zh-CN" altLang="en-US" sz="900" b="0" i="0">
                          <a:solidFill>
                            <a:srgbClr val="000000"/>
                          </a:solidFill>
                          <a:latin typeface="微软雅黑" panose="020B0503020204020204" pitchFamily="34" charset="-122"/>
                          <a:ea typeface="微软雅黑" panose="020B0503020204020204" pitchFamily="34" charset="-122"/>
                        </a:rPr>
                        <a:t>、办公网络</a:t>
                      </a:r>
                      <a:r>
                        <a:rPr lang="en-US" altLang="zh-CN" sz="900" b="0" i="0">
                          <a:solidFill>
                            <a:srgbClr val="000000"/>
                          </a:solidFill>
                          <a:latin typeface="微软雅黑" panose="020B0503020204020204" pitchFamily="34" charset="-122"/>
                          <a:ea typeface="微软雅黑" panose="020B0503020204020204" pitchFamily="34" charset="-122"/>
                        </a:rPr>
                        <a:t>0.16</a:t>
                      </a:r>
                      <a:r>
                        <a:rPr lang="zh-CN" altLang="en-US" sz="900" b="0" i="0">
                          <a:solidFill>
                            <a:srgbClr val="000000"/>
                          </a:solidFill>
                          <a:latin typeface="微软雅黑" panose="020B0503020204020204" pitchFamily="34" charset="-122"/>
                          <a:ea typeface="微软雅黑" panose="020B0503020204020204" pitchFamily="34" charset="-122"/>
                        </a:rPr>
                        <a:t>万元</a:t>
                      </a:r>
                      <a:r>
                        <a:rPr lang="en-US" altLang="zh-CN" sz="900" b="0" i="0">
                          <a:solidFill>
                            <a:srgbClr val="000000"/>
                          </a:solidFill>
                          <a:latin typeface="微软雅黑" panose="020B0503020204020204" pitchFamily="34" charset="-122"/>
                          <a:ea typeface="微软雅黑" panose="020B0503020204020204" pitchFamily="34" charset="-122"/>
                        </a:rPr>
                        <a:t>/</a:t>
                      </a:r>
                      <a:r>
                        <a:rPr lang="zh-CN" altLang="en-US" sz="900" b="0" i="0">
                          <a:solidFill>
                            <a:srgbClr val="000000"/>
                          </a:solidFill>
                          <a:latin typeface="微软雅黑" panose="020B0503020204020204" pitchFamily="34" charset="-122"/>
                          <a:ea typeface="微软雅黑" panose="020B0503020204020204" pitchFamily="34" charset="-122"/>
                        </a:rPr>
                        <a:t>月，合计</a:t>
                      </a:r>
                      <a:r>
                        <a:rPr lang="en-US" altLang="zh-CN" sz="900" b="0" i="0">
                          <a:solidFill>
                            <a:srgbClr val="000000"/>
                          </a:solidFill>
                          <a:latin typeface="微软雅黑" panose="020B0503020204020204" pitchFamily="34" charset="-122"/>
                          <a:ea typeface="微软雅黑" panose="020B0503020204020204" pitchFamily="34" charset="-122"/>
                        </a:rPr>
                        <a:t>1.28</a:t>
                      </a:r>
                      <a:r>
                        <a:rPr lang="zh-CN" altLang="en-US" sz="900" b="0" i="0">
                          <a:solidFill>
                            <a:srgbClr val="000000"/>
                          </a:solidFill>
                          <a:latin typeface="微软雅黑" panose="020B0503020204020204" pitchFamily="34" charset="-122"/>
                          <a:ea typeface="微软雅黑" panose="020B0503020204020204" pitchFamily="34" charset="-122"/>
                        </a:rPr>
                        <a:t>万；</a:t>
                      </a:r>
                      <a:br>
                        <a:rPr lang="zh-CN" altLang="en-US" sz="900" b="0" i="0">
                          <a:solidFill>
                            <a:srgbClr val="000000"/>
                          </a:solidFill>
                          <a:latin typeface="微软雅黑" panose="020B0503020204020204" pitchFamily="34" charset="-122"/>
                          <a:ea typeface="微软雅黑" panose="020B0503020204020204" pitchFamily="34" charset="-122"/>
                        </a:rPr>
                      </a:br>
                      <a:r>
                        <a:rPr lang="en-US" altLang="zh-CN" sz="900" b="0" i="0">
                          <a:solidFill>
                            <a:srgbClr val="000000"/>
                          </a:solidFill>
                          <a:latin typeface="微软雅黑" panose="020B0503020204020204" pitchFamily="34" charset="-122"/>
                          <a:ea typeface="微软雅黑" panose="020B0503020204020204" pitchFamily="34" charset="-122"/>
                        </a:rPr>
                        <a:t>3</a:t>
                      </a:r>
                      <a:r>
                        <a:rPr lang="zh-CN" altLang="en-US" sz="900" b="0" i="0">
                          <a:solidFill>
                            <a:srgbClr val="000000"/>
                          </a:solidFill>
                          <a:latin typeface="微软雅黑" panose="020B0503020204020204" pitchFamily="34" charset="-122"/>
                          <a:ea typeface="微软雅黑" panose="020B0503020204020204" pitchFamily="34" charset="-122"/>
                        </a:rPr>
                        <a:t>、预计办公室水电费</a:t>
                      </a:r>
                      <a:r>
                        <a:rPr lang="en-US" altLang="zh-CN" sz="900" b="0" i="0">
                          <a:solidFill>
                            <a:srgbClr val="000000"/>
                          </a:solidFill>
                          <a:latin typeface="微软雅黑" panose="020B0503020204020204" pitchFamily="34" charset="-122"/>
                          <a:ea typeface="微软雅黑" panose="020B0503020204020204" pitchFamily="34" charset="-122"/>
                        </a:rPr>
                        <a:t>3.6</a:t>
                      </a:r>
                      <a:r>
                        <a:rPr lang="zh-CN" altLang="en-US" sz="900" b="0" i="0">
                          <a:solidFill>
                            <a:srgbClr val="000000"/>
                          </a:solidFill>
                          <a:latin typeface="微软雅黑" panose="020B0503020204020204" pitchFamily="34" charset="-122"/>
                          <a:ea typeface="微软雅黑" panose="020B0503020204020204" pitchFamily="34" charset="-122"/>
                        </a:rPr>
                        <a:t>万；</a:t>
                      </a:r>
                      <a:br>
                        <a:rPr lang="zh-CN" altLang="en-US" sz="900" b="0" i="0">
                          <a:solidFill>
                            <a:srgbClr val="000000"/>
                          </a:solidFill>
                          <a:latin typeface="微软雅黑" panose="020B0503020204020204" pitchFamily="34" charset="-122"/>
                          <a:ea typeface="微软雅黑" panose="020B0503020204020204" pitchFamily="34" charset="-122"/>
                        </a:rPr>
                      </a:br>
                      <a:r>
                        <a:rPr lang="en-US" altLang="zh-CN" sz="900" b="0" i="0">
                          <a:solidFill>
                            <a:srgbClr val="000000"/>
                          </a:solidFill>
                          <a:latin typeface="微软雅黑" panose="020B0503020204020204" pitchFamily="34" charset="-122"/>
                          <a:ea typeface="微软雅黑" panose="020B0503020204020204" pitchFamily="34" charset="-122"/>
                        </a:rPr>
                        <a:t>4</a:t>
                      </a:r>
                      <a:r>
                        <a:rPr lang="zh-CN" altLang="en-US" sz="900" b="0" i="0">
                          <a:solidFill>
                            <a:srgbClr val="000000"/>
                          </a:solidFill>
                          <a:latin typeface="微软雅黑" panose="020B0503020204020204" pitchFamily="34" charset="-122"/>
                          <a:ea typeface="微软雅黑" panose="020B0503020204020204" pitchFamily="34" charset="-122"/>
                        </a:rPr>
                        <a:t>、租金每月</a:t>
                      </a:r>
                      <a:r>
                        <a:rPr lang="en-US" altLang="zh-CN" sz="900" b="0" i="0">
                          <a:solidFill>
                            <a:srgbClr val="000000"/>
                          </a:solidFill>
                          <a:latin typeface="微软雅黑" panose="020B0503020204020204" pitchFamily="34" charset="-122"/>
                          <a:ea typeface="微软雅黑" panose="020B0503020204020204" pitchFamily="34" charset="-122"/>
                        </a:rPr>
                        <a:t>0.6</a:t>
                      </a:r>
                      <a:r>
                        <a:rPr lang="zh-CN" altLang="en-US" sz="900" b="0" i="0">
                          <a:solidFill>
                            <a:srgbClr val="000000"/>
                          </a:solidFill>
                          <a:latin typeface="微软雅黑" panose="020B0503020204020204" pitchFamily="34" charset="-122"/>
                          <a:ea typeface="微软雅黑" panose="020B0503020204020204" pitchFamily="34" charset="-122"/>
                        </a:rPr>
                        <a:t>万（办公室），</a:t>
                      </a:r>
                      <a:r>
                        <a:rPr lang="en-US" altLang="zh-CN" sz="900" b="0" i="0">
                          <a:solidFill>
                            <a:srgbClr val="000000"/>
                          </a:solidFill>
                          <a:latin typeface="微软雅黑" panose="020B0503020204020204" pitchFamily="34" charset="-122"/>
                          <a:ea typeface="微软雅黑" panose="020B0503020204020204" pitchFamily="34" charset="-122"/>
                        </a:rPr>
                        <a:t>8</a:t>
                      </a:r>
                      <a:r>
                        <a:rPr lang="zh-CN" altLang="en-US" sz="900" b="0" i="0">
                          <a:solidFill>
                            <a:srgbClr val="000000"/>
                          </a:solidFill>
                          <a:latin typeface="微软雅黑" panose="020B0503020204020204" pitchFamily="34" charset="-122"/>
                          <a:ea typeface="微软雅黑" panose="020B0503020204020204" pitchFamily="34" charset="-122"/>
                        </a:rPr>
                        <a:t>个月租金约</a:t>
                      </a:r>
                      <a:r>
                        <a:rPr lang="en-US" altLang="zh-CN" sz="900" b="0" i="0">
                          <a:solidFill>
                            <a:srgbClr val="000000"/>
                          </a:solidFill>
                          <a:latin typeface="微软雅黑" panose="020B0503020204020204" pitchFamily="34" charset="-122"/>
                          <a:ea typeface="微软雅黑" panose="020B0503020204020204" pitchFamily="34" charset="-122"/>
                        </a:rPr>
                        <a:t>4.8</a:t>
                      </a:r>
                      <a:r>
                        <a:rPr lang="zh-CN" altLang="en-US" sz="900" b="0" i="0">
                          <a:solidFill>
                            <a:srgbClr val="000000"/>
                          </a:solidFill>
                          <a:latin typeface="微软雅黑" panose="020B0503020204020204" pitchFamily="34" charset="-122"/>
                          <a:ea typeface="微软雅黑" panose="020B0503020204020204" pitchFamily="34" charset="-122"/>
                        </a:rPr>
                        <a:t>万</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33274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业务活动类</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27.60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a:t>
                      </a:r>
                      <a:r>
                        <a:rPr lang="zh-CN" altLang="en-US" sz="900" b="0" i="0">
                          <a:solidFill>
                            <a:srgbClr val="000000"/>
                          </a:solidFill>
                          <a:latin typeface="微软雅黑" panose="020B0503020204020204" pitchFamily="34" charset="-122"/>
                          <a:ea typeface="微软雅黑" panose="020B0503020204020204" pitchFamily="34" charset="-122"/>
                        </a:rPr>
                        <a:t>、差旅费</a:t>
                      </a:r>
                      <a:r>
                        <a:rPr lang="en-US" altLang="zh-CN" sz="900" b="0" i="0">
                          <a:solidFill>
                            <a:srgbClr val="000000"/>
                          </a:solidFill>
                          <a:latin typeface="微软雅黑" panose="020B0503020204020204" pitchFamily="34" charset="-122"/>
                          <a:ea typeface="微软雅黑" panose="020B0503020204020204" pitchFamily="34" charset="-122"/>
                        </a:rPr>
                        <a:t>6</a:t>
                      </a:r>
                      <a:r>
                        <a:rPr lang="zh-CN" altLang="en-US" sz="900" b="0" i="0">
                          <a:solidFill>
                            <a:srgbClr val="000000"/>
                          </a:solidFill>
                          <a:latin typeface="微软雅黑" panose="020B0503020204020204" pitchFamily="34" charset="-122"/>
                          <a:ea typeface="微软雅黑" panose="020B0503020204020204" pitchFamily="34" charset="-122"/>
                        </a:rPr>
                        <a:t>万；</a:t>
                      </a:r>
                      <a:br>
                        <a:rPr lang="zh-CN" altLang="en-US" sz="900" b="0" i="0">
                          <a:solidFill>
                            <a:srgbClr val="000000"/>
                          </a:solidFill>
                          <a:latin typeface="微软雅黑" panose="020B0503020204020204" pitchFamily="34" charset="-122"/>
                          <a:ea typeface="微软雅黑" panose="020B0503020204020204" pitchFamily="34" charset="-122"/>
                        </a:rPr>
                      </a:br>
                      <a:r>
                        <a:rPr lang="en-US" altLang="zh-CN" sz="900" b="0" i="0">
                          <a:solidFill>
                            <a:srgbClr val="000000"/>
                          </a:solidFill>
                          <a:latin typeface="微软雅黑" panose="020B0503020204020204" pitchFamily="34" charset="-122"/>
                          <a:ea typeface="微软雅黑" panose="020B0503020204020204" pitchFamily="34" charset="-122"/>
                        </a:rPr>
                        <a:t>2</a:t>
                      </a:r>
                      <a:r>
                        <a:rPr lang="zh-CN" altLang="en-US" sz="900" b="0" i="0">
                          <a:solidFill>
                            <a:srgbClr val="000000"/>
                          </a:solidFill>
                          <a:latin typeface="微软雅黑" panose="020B0503020204020204" pitchFamily="34" charset="-122"/>
                          <a:ea typeface="微软雅黑" panose="020B0503020204020204" pitchFamily="34" charset="-122"/>
                        </a:rPr>
                        <a:t>、业务招待费</a:t>
                      </a:r>
                      <a:r>
                        <a:rPr lang="en-US" altLang="zh-CN" sz="900" b="0" i="0">
                          <a:solidFill>
                            <a:srgbClr val="000000"/>
                          </a:solidFill>
                          <a:latin typeface="微软雅黑" panose="020B0503020204020204" pitchFamily="34" charset="-122"/>
                          <a:ea typeface="微软雅黑" panose="020B0503020204020204" pitchFamily="34" charset="-122"/>
                        </a:rPr>
                        <a:t>21.6</a:t>
                      </a:r>
                      <a:r>
                        <a:rPr lang="zh-CN" altLang="en-US" sz="900" b="0" i="0">
                          <a:solidFill>
                            <a:srgbClr val="000000"/>
                          </a:solidFill>
                          <a:latin typeface="微软雅黑" panose="020B0503020204020204" pitchFamily="34" charset="-122"/>
                          <a:ea typeface="微软雅黑" panose="020B0503020204020204" pitchFamily="34" charset="-122"/>
                        </a:rPr>
                        <a:t>万；</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27432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财产费用类</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3.34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公司商务车使用费（</a:t>
                      </a:r>
                      <a:r>
                        <a:rPr lang="en-US" altLang="zh-CN" sz="900" b="0" i="0">
                          <a:solidFill>
                            <a:srgbClr val="000000"/>
                          </a:solidFill>
                          <a:latin typeface="微软雅黑" panose="020B0503020204020204" pitchFamily="34" charset="-122"/>
                          <a:ea typeface="微软雅黑" panose="020B0503020204020204" pitchFamily="34" charset="-122"/>
                        </a:rPr>
                        <a:t>ETC</a:t>
                      </a:r>
                      <a:r>
                        <a:rPr lang="zh-CN" altLang="en-US" sz="900" b="0" i="0">
                          <a:solidFill>
                            <a:srgbClr val="000000"/>
                          </a:solidFill>
                          <a:latin typeface="微软雅黑" panose="020B0503020204020204" pitchFamily="34" charset="-122"/>
                          <a:ea typeface="微软雅黑" panose="020B0503020204020204" pitchFamily="34" charset="-122"/>
                        </a:rPr>
                        <a:t>、油卡）、</a:t>
                      </a:r>
                      <a:r>
                        <a:rPr lang="en-US" altLang="zh-CN" sz="900" b="0" i="0">
                          <a:solidFill>
                            <a:srgbClr val="000000"/>
                          </a:solidFill>
                          <a:latin typeface="微软雅黑" panose="020B0503020204020204" pitchFamily="34" charset="-122"/>
                          <a:ea typeface="微软雅黑" panose="020B0503020204020204" pitchFamily="34" charset="-122"/>
                        </a:rPr>
                        <a:t>2025</a:t>
                      </a:r>
                      <a:r>
                        <a:rPr lang="zh-CN" altLang="en-US" sz="900" b="0" i="0">
                          <a:solidFill>
                            <a:srgbClr val="000000"/>
                          </a:solidFill>
                          <a:latin typeface="微软雅黑" panose="020B0503020204020204" pitchFamily="34" charset="-122"/>
                          <a:ea typeface="微软雅黑" panose="020B0503020204020204" pitchFamily="34" charset="-122"/>
                        </a:rPr>
                        <a:t>年出险次数增加预计保险保养费提升</a:t>
                      </a:r>
                      <a:r>
                        <a:rPr lang="en-US" altLang="zh-CN" sz="900" b="0" i="0">
                          <a:solidFill>
                            <a:srgbClr val="000000"/>
                          </a:solidFill>
                          <a:latin typeface="微软雅黑" panose="020B0503020204020204" pitchFamily="34" charset="-122"/>
                          <a:ea typeface="微软雅黑" panose="020B0503020204020204" pitchFamily="34" charset="-122"/>
                        </a:rPr>
                        <a:t>3.34</a:t>
                      </a:r>
                      <a:r>
                        <a:rPr lang="zh-CN" altLang="en-US" sz="900" b="0" i="0">
                          <a:solidFill>
                            <a:srgbClr val="000000"/>
                          </a:solidFill>
                          <a:latin typeface="微软雅黑" panose="020B0503020204020204" pitchFamily="34" charset="-122"/>
                          <a:ea typeface="微软雅黑" panose="020B0503020204020204" pitchFamily="34" charset="-122"/>
                        </a:rPr>
                        <a:t>万</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56959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1.3</a:t>
                      </a:r>
                      <a:r>
                        <a:rPr lang="zh-CN" altLang="en-US" sz="900" b="0" i="0">
                          <a:solidFill>
                            <a:srgbClr val="000000"/>
                          </a:solidFill>
                          <a:latin typeface="微软雅黑" panose="020B0503020204020204" pitchFamily="34" charset="-122"/>
                          <a:ea typeface="微软雅黑" panose="020B0503020204020204" pitchFamily="34" charset="-122"/>
                        </a:rPr>
                        <a:t>营销费用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288.00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广告费</a:t>
                      </a:r>
                      <a:r>
                        <a:rPr lang="en-US" altLang="zh-CN" sz="900" b="0" i="0">
                          <a:solidFill>
                            <a:srgbClr val="000000"/>
                          </a:solidFill>
                          <a:latin typeface="微软雅黑" panose="020B0503020204020204" pitchFamily="34" charset="-122"/>
                          <a:ea typeface="微软雅黑" panose="020B0503020204020204" pitchFamily="34" charset="-122"/>
                        </a:rPr>
                        <a:t>17</a:t>
                      </a:r>
                      <a:r>
                        <a:rPr lang="zh-CN" altLang="en-US" sz="900" b="0" i="0">
                          <a:solidFill>
                            <a:srgbClr val="000000"/>
                          </a:solidFill>
                          <a:latin typeface="微软雅黑" panose="020B0503020204020204" pitchFamily="34" charset="-122"/>
                          <a:ea typeface="微软雅黑" panose="020B0503020204020204" pitchFamily="34" charset="-122"/>
                        </a:rPr>
                        <a:t>万，策划费</a:t>
                      </a:r>
                      <a:r>
                        <a:rPr lang="en-US" altLang="zh-CN" sz="900" b="0" i="0">
                          <a:solidFill>
                            <a:srgbClr val="000000"/>
                          </a:solidFill>
                          <a:latin typeface="微软雅黑" panose="020B0503020204020204" pitchFamily="34" charset="-122"/>
                          <a:ea typeface="微软雅黑" panose="020B0503020204020204" pitchFamily="34" charset="-122"/>
                        </a:rPr>
                        <a:t>43</a:t>
                      </a:r>
                      <a:r>
                        <a:rPr lang="zh-CN" altLang="en-US" sz="900" b="0" i="0">
                          <a:solidFill>
                            <a:srgbClr val="000000"/>
                          </a:solidFill>
                          <a:latin typeface="微软雅黑" panose="020B0503020204020204" pitchFamily="34" charset="-122"/>
                          <a:ea typeface="微软雅黑" panose="020B0503020204020204" pitchFamily="34" charset="-122"/>
                        </a:rPr>
                        <a:t>万，展览费</a:t>
                      </a:r>
                      <a:r>
                        <a:rPr lang="en-US" altLang="zh-CN" sz="900" b="0" i="0">
                          <a:solidFill>
                            <a:srgbClr val="000000"/>
                          </a:solidFill>
                          <a:latin typeface="微软雅黑" panose="020B0503020204020204" pitchFamily="34" charset="-122"/>
                          <a:ea typeface="微软雅黑" panose="020B0503020204020204" pitchFamily="34" charset="-122"/>
                        </a:rPr>
                        <a:t>21</a:t>
                      </a:r>
                      <a:r>
                        <a:rPr lang="zh-CN" altLang="en-US" sz="900" b="0" i="0">
                          <a:solidFill>
                            <a:srgbClr val="000000"/>
                          </a:solidFill>
                          <a:latin typeface="微软雅黑" panose="020B0503020204020204" pitchFamily="34" charset="-122"/>
                          <a:ea typeface="微软雅黑" panose="020B0503020204020204" pitchFamily="34" charset="-122"/>
                        </a:rPr>
                        <a:t>万，促销费</a:t>
                      </a:r>
                      <a:r>
                        <a:rPr lang="en-US" altLang="zh-CN" sz="900" b="0" i="0">
                          <a:solidFill>
                            <a:srgbClr val="000000"/>
                          </a:solidFill>
                          <a:latin typeface="微软雅黑" panose="020B0503020204020204" pitchFamily="34" charset="-122"/>
                          <a:ea typeface="微软雅黑" panose="020B0503020204020204" pitchFamily="34" charset="-122"/>
                        </a:rPr>
                        <a:t>14</a:t>
                      </a:r>
                      <a:r>
                        <a:rPr lang="zh-CN" altLang="en-US" sz="900" b="0" i="0">
                          <a:solidFill>
                            <a:srgbClr val="000000"/>
                          </a:solidFill>
                          <a:latin typeface="微软雅黑" panose="020B0503020204020204" pitchFamily="34" charset="-122"/>
                          <a:ea typeface="微软雅黑" panose="020B0503020204020204" pitchFamily="34" charset="-122"/>
                        </a:rPr>
                        <a:t>万，销售材料</a:t>
                      </a:r>
                      <a:r>
                        <a:rPr lang="en-US" altLang="zh-CN" sz="900" b="0" i="0">
                          <a:solidFill>
                            <a:srgbClr val="000000"/>
                          </a:solidFill>
                          <a:latin typeface="微软雅黑" panose="020B0503020204020204" pitchFamily="34" charset="-122"/>
                          <a:ea typeface="微软雅黑" panose="020B0503020204020204" pitchFamily="34" charset="-122"/>
                        </a:rPr>
                        <a:t>3</a:t>
                      </a:r>
                      <a:r>
                        <a:rPr lang="zh-CN" altLang="en-US" sz="900" b="0" i="0">
                          <a:solidFill>
                            <a:srgbClr val="000000"/>
                          </a:solidFill>
                          <a:latin typeface="微软雅黑" panose="020B0503020204020204" pitchFamily="34" charset="-122"/>
                          <a:ea typeface="微软雅黑" panose="020B0503020204020204" pitchFamily="34" charset="-122"/>
                        </a:rPr>
                        <a:t>万，其他营销费用</a:t>
                      </a:r>
                      <a:r>
                        <a:rPr lang="en-US" altLang="zh-CN" sz="900" b="0" i="0">
                          <a:solidFill>
                            <a:srgbClr val="000000"/>
                          </a:solidFill>
                          <a:latin typeface="微软雅黑" panose="020B0503020204020204" pitchFamily="34" charset="-122"/>
                          <a:ea typeface="微软雅黑" panose="020B0503020204020204" pitchFamily="34" charset="-122"/>
                        </a:rPr>
                        <a:t>2</a:t>
                      </a:r>
                      <a:r>
                        <a:rPr lang="zh-CN" altLang="en-US" sz="900" b="0" i="0">
                          <a:solidFill>
                            <a:srgbClr val="000000"/>
                          </a:solidFill>
                          <a:latin typeface="微软雅黑" panose="020B0503020204020204" pitchFamily="34" charset="-122"/>
                          <a:ea typeface="微软雅黑" panose="020B0503020204020204" pitchFamily="34" charset="-122"/>
                        </a:rPr>
                        <a:t>万，</a:t>
                      </a:r>
                      <a:br>
                        <a:rPr lang="zh-CN" altLang="en-US" sz="900" b="0" i="0">
                          <a:solidFill>
                            <a:srgbClr val="000000"/>
                          </a:solidFill>
                          <a:latin typeface="微软雅黑" panose="020B0503020204020204" pitchFamily="34" charset="-122"/>
                          <a:ea typeface="微软雅黑" panose="020B0503020204020204" pitchFamily="34" charset="-122"/>
                        </a:rPr>
                      </a:br>
                      <a:r>
                        <a:rPr lang="zh-CN" altLang="en-US" sz="900" b="0" i="0">
                          <a:solidFill>
                            <a:srgbClr val="000000"/>
                          </a:solidFill>
                          <a:latin typeface="微软雅黑" panose="020B0503020204020204" pitchFamily="34" charset="-122"/>
                          <a:ea typeface="微软雅黑" panose="020B0503020204020204" pitchFamily="34" charset="-122"/>
                        </a:rPr>
                        <a:t>销售佣金费率按</a:t>
                      </a:r>
                      <a:r>
                        <a:rPr lang="en-US" altLang="zh-CN" sz="900" b="0" i="0">
                          <a:solidFill>
                            <a:srgbClr val="000000"/>
                          </a:solidFill>
                          <a:latin typeface="微软雅黑" panose="020B0503020204020204" pitchFamily="34" charset="-122"/>
                          <a:ea typeface="微软雅黑" panose="020B0503020204020204" pitchFamily="34" charset="-122"/>
                        </a:rPr>
                        <a:t>2.417%</a:t>
                      </a:r>
                      <a:r>
                        <a:rPr lang="zh-CN" altLang="en-US" sz="900" b="0" i="0">
                          <a:solidFill>
                            <a:srgbClr val="000000"/>
                          </a:solidFill>
                          <a:latin typeface="微软雅黑" panose="020B0503020204020204" pitchFamily="34" charset="-122"/>
                          <a:ea typeface="微软雅黑" panose="020B0503020204020204" pitchFamily="34" charset="-122"/>
                        </a:rPr>
                        <a:t>，销售额</a:t>
                      </a:r>
                      <a:r>
                        <a:rPr lang="en-US" altLang="zh-CN" sz="900" b="0" i="0">
                          <a:solidFill>
                            <a:srgbClr val="000000"/>
                          </a:solidFill>
                          <a:latin typeface="微软雅黑" panose="020B0503020204020204" pitchFamily="34" charset="-122"/>
                          <a:ea typeface="微软雅黑" panose="020B0503020204020204" pitchFamily="34" charset="-122"/>
                        </a:rPr>
                        <a:t>4800</a:t>
                      </a:r>
                      <a:r>
                        <a:rPr lang="zh-CN" altLang="en-US" sz="900" b="0" i="0">
                          <a:solidFill>
                            <a:srgbClr val="000000"/>
                          </a:solidFill>
                          <a:latin typeface="微软雅黑" panose="020B0503020204020204" pitchFamily="34" charset="-122"/>
                          <a:ea typeface="微软雅黑" panose="020B0503020204020204" pitchFamily="34" charset="-122"/>
                        </a:rPr>
                        <a:t>万，佣金</a:t>
                      </a:r>
                      <a:r>
                        <a:rPr lang="en-US" altLang="zh-CN" sz="900" b="0" i="0">
                          <a:solidFill>
                            <a:srgbClr val="000000"/>
                          </a:solidFill>
                          <a:latin typeface="微软雅黑" panose="020B0503020204020204" pitchFamily="34" charset="-122"/>
                          <a:ea typeface="微软雅黑" panose="020B0503020204020204" pitchFamily="34" charset="-122"/>
                        </a:rPr>
                        <a:t>116</a:t>
                      </a:r>
                      <a:r>
                        <a:rPr lang="zh-CN" altLang="en-US" sz="900" b="0" i="0">
                          <a:solidFill>
                            <a:srgbClr val="000000"/>
                          </a:solidFill>
                          <a:latin typeface="微软雅黑" panose="020B0503020204020204" pitchFamily="34" charset="-122"/>
                          <a:ea typeface="微软雅黑" panose="020B0503020204020204" pitchFamily="34" charset="-122"/>
                        </a:rPr>
                        <a:t>万；</a:t>
                      </a:r>
                      <a:br>
                        <a:rPr lang="zh-CN" altLang="en-US" sz="900" b="0" i="0">
                          <a:solidFill>
                            <a:srgbClr val="000000"/>
                          </a:solidFill>
                          <a:latin typeface="微软雅黑" panose="020B0503020204020204" pitchFamily="34" charset="-122"/>
                          <a:ea typeface="微软雅黑" panose="020B0503020204020204" pitchFamily="34" charset="-122"/>
                        </a:rPr>
                      </a:br>
                      <a:r>
                        <a:rPr lang="zh-CN" altLang="en-US" sz="900" b="0" i="0">
                          <a:solidFill>
                            <a:srgbClr val="000000"/>
                          </a:solidFill>
                          <a:latin typeface="微软雅黑" panose="020B0503020204020204" pitchFamily="34" charset="-122"/>
                          <a:ea typeface="微软雅黑" panose="020B0503020204020204" pitchFamily="34" charset="-122"/>
                        </a:rPr>
                        <a:t>赠送物业费</a:t>
                      </a:r>
                      <a:r>
                        <a:rPr lang="en-US" altLang="zh-CN" sz="900" b="0" i="0">
                          <a:solidFill>
                            <a:srgbClr val="000000"/>
                          </a:solidFill>
                          <a:latin typeface="微软雅黑" panose="020B0503020204020204" pitchFamily="34" charset="-122"/>
                          <a:ea typeface="微软雅黑" panose="020B0503020204020204" pitchFamily="34" charset="-122"/>
                        </a:rPr>
                        <a:t>3</a:t>
                      </a:r>
                      <a:r>
                        <a:rPr lang="zh-CN" altLang="en-US" sz="900" b="0" i="0">
                          <a:solidFill>
                            <a:srgbClr val="000000"/>
                          </a:solidFill>
                          <a:latin typeface="微软雅黑" panose="020B0503020204020204" pitchFamily="34" charset="-122"/>
                          <a:ea typeface="微软雅黑" panose="020B0503020204020204" pitchFamily="34" charset="-122"/>
                        </a:rPr>
                        <a:t>年，每平米</a:t>
                      </a:r>
                      <a:r>
                        <a:rPr lang="en-US" altLang="zh-CN" sz="900" b="0" i="0">
                          <a:solidFill>
                            <a:srgbClr val="000000"/>
                          </a:solidFill>
                          <a:latin typeface="微软雅黑" panose="020B0503020204020204" pitchFamily="34" charset="-122"/>
                          <a:ea typeface="微软雅黑" panose="020B0503020204020204" pitchFamily="34" charset="-122"/>
                        </a:rPr>
                        <a:t>2</a:t>
                      </a:r>
                      <a:r>
                        <a:rPr lang="zh-CN" altLang="en-US" sz="900" b="0" i="0">
                          <a:solidFill>
                            <a:srgbClr val="000000"/>
                          </a:solidFill>
                          <a:latin typeface="微软雅黑" panose="020B0503020204020204" pitchFamily="34" charset="-122"/>
                          <a:ea typeface="微软雅黑" panose="020B0503020204020204" pitchFamily="34" charset="-122"/>
                        </a:rPr>
                        <a:t>元，销售面积</a:t>
                      </a:r>
                      <a:r>
                        <a:rPr lang="en-US" altLang="zh-CN" sz="900" b="0" i="0">
                          <a:solidFill>
                            <a:srgbClr val="000000"/>
                          </a:solidFill>
                          <a:latin typeface="微软雅黑" panose="020B0503020204020204" pitchFamily="34" charset="-122"/>
                          <a:ea typeface="微软雅黑" panose="020B0503020204020204" pitchFamily="34" charset="-122"/>
                        </a:rPr>
                        <a:t>1</a:t>
                      </a:r>
                      <a:r>
                        <a:rPr lang="zh-CN" altLang="en-US" sz="900" b="0" i="0">
                          <a:solidFill>
                            <a:srgbClr val="000000"/>
                          </a:solidFill>
                          <a:latin typeface="微软雅黑" panose="020B0503020204020204" pitchFamily="34" charset="-122"/>
                          <a:ea typeface="微软雅黑" panose="020B0503020204020204" pitchFamily="34" charset="-122"/>
                        </a:rPr>
                        <a:t>万平米，金额</a:t>
                      </a:r>
                      <a:r>
                        <a:rPr lang="en-US" altLang="zh-CN" sz="900" b="0" i="0">
                          <a:solidFill>
                            <a:srgbClr val="000000"/>
                          </a:solidFill>
                          <a:latin typeface="微软雅黑" panose="020B0503020204020204" pitchFamily="34" charset="-122"/>
                          <a:ea typeface="微软雅黑" panose="020B0503020204020204" pitchFamily="34" charset="-122"/>
                        </a:rPr>
                        <a:t>72</a:t>
                      </a:r>
                      <a:r>
                        <a:rPr lang="zh-CN" altLang="en-US" sz="900" b="0" i="0">
                          <a:solidFill>
                            <a:srgbClr val="000000"/>
                          </a:solidFill>
                          <a:latin typeface="微软雅黑" panose="020B0503020204020204" pitchFamily="34" charset="-122"/>
                          <a:ea typeface="微软雅黑" panose="020B0503020204020204" pitchFamily="34" charset="-122"/>
                        </a:rPr>
                        <a:t>万；</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278130">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地产成本、税金、利息</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 -   </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l" fontAlgn="ctr"/>
                      <a:r>
                        <a:rPr lang="zh-CN" sz="900" b="0" i="0">
                          <a:solidFill>
                            <a:srgbClr val="FF0000"/>
                          </a:solidFill>
                          <a:latin typeface="微软雅黑" panose="020B0503020204020204" pitchFamily="34" charset="-122"/>
                          <a:ea typeface="微软雅黑" panose="020B0503020204020204" pitchFamily="34" charset="-122"/>
                        </a:rPr>
                        <a:t>待地产提供</a:t>
                      </a:r>
                      <a:endParaRPr 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r>
              <a:tr h="17081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业主成本</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60.39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r>
              <a:tr h="1701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折旧摊销费用小计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60.39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16954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三、净利润</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3,905.54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c>
                  <a:txBody>
                    <a:bodyPr/>
                    <a:p>
                      <a:pPr algn="l" fontAlgn="ctr"/>
                      <a:endParaRPr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2DCDB"/>
                    </a:solidFill>
                  </a:tcPr>
                </a:tc>
              </a:tr>
              <a:tr h="19875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固定资产支出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购买投影仪一台</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r h="21590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长期资产支出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60.00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临建招商中心（集装箱</a:t>
                      </a:r>
                      <a:r>
                        <a:rPr lang="en-US" altLang="zh-CN" sz="900" b="0" i="0">
                          <a:solidFill>
                            <a:srgbClr val="000000"/>
                          </a:solidFill>
                          <a:latin typeface="微软雅黑" panose="020B0503020204020204" pitchFamily="34" charset="-122"/>
                          <a:ea typeface="微软雅黑" panose="020B0503020204020204" pitchFamily="34" charset="-122"/>
                        </a:rPr>
                        <a:t>+</a:t>
                      </a:r>
                      <a:r>
                        <a:rPr lang="zh-CN" altLang="en-US" sz="900" b="0" i="0">
                          <a:solidFill>
                            <a:srgbClr val="000000"/>
                          </a:solidFill>
                          <a:latin typeface="微软雅黑" panose="020B0503020204020204" pitchFamily="34" charset="-122"/>
                          <a:ea typeface="微软雅黑" panose="020B0503020204020204" pitchFamily="34" charset="-122"/>
                        </a:rPr>
                        <a:t>钢架构）建设成本</a:t>
                      </a:r>
                      <a:r>
                        <a:rPr lang="en-US" altLang="zh-CN" sz="900" b="0" i="0">
                          <a:solidFill>
                            <a:srgbClr val="000000"/>
                          </a:solidFill>
                          <a:latin typeface="微软雅黑" panose="020B0503020204020204" pitchFamily="34" charset="-122"/>
                          <a:ea typeface="微软雅黑" panose="020B0503020204020204" pitchFamily="34" charset="-122"/>
                        </a:rPr>
                        <a:t>60</a:t>
                      </a:r>
                      <a:r>
                        <a:rPr lang="zh-CN" altLang="en-US" sz="900" b="0" i="0">
                          <a:solidFill>
                            <a:srgbClr val="000000"/>
                          </a:solidFill>
                          <a:latin typeface="微软雅黑" panose="020B0503020204020204" pitchFamily="34" charset="-122"/>
                          <a:ea typeface="微软雅黑" panose="020B0503020204020204" pitchFamily="34" charset="-122"/>
                        </a:rPr>
                        <a:t>万</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6D9F0"/>
                      </a:solidFill>
                      <a:prstDash val="solid"/>
                      <a:headEnd type="none" w="med" len="med"/>
                      <a:tailEnd type="none" w="med" len="med"/>
                    </a:lnL>
                    <a:lnR w="6350" cap="flat" cmpd="sng">
                      <a:solidFill>
                        <a:srgbClr val="C6D9F0"/>
                      </a:solidFill>
                      <a:prstDash val="solid"/>
                      <a:headEnd type="none" w="med" len="med"/>
                      <a:tailEnd type="none" w="med" len="med"/>
                    </a:lnR>
                    <a:lnT w="6350" cap="flat" cmpd="sng">
                      <a:solidFill>
                        <a:srgbClr val="C6D9F0"/>
                      </a:solidFill>
                      <a:prstDash val="solid"/>
                      <a:headEnd type="none" w="med" len="med"/>
                      <a:tailEnd type="none" w="med" len="med"/>
                    </a:lnT>
                    <a:lnB w="6350" cap="flat" cmpd="sng">
                      <a:solidFill>
                        <a:srgbClr val="C6D9F0"/>
                      </a:solidFill>
                      <a:prstDash val="solid"/>
                      <a:headEnd type="none" w="med" len="med"/>
                      <a:tailEnd type="none" w="med" len="med"/>
                    </a:lnB>
                    <a:solidFill>
                      <a:srgbClr val="FFFFFF"/>
                    </a:solidFill>
                  </a:tcPr>
                </a:tc>
              </a:tr>
            </a:tbl>
          </a:graphicData>
        </a:graphic>
      </p:graphicFrame>
    </p:spTree>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84063" y="82097"/>
            <a:ext cx="7559675" cy="359346"/>
          </a:xfrm>
        </p:spPr>
        <p:txBody>
          <a:bodyPr/>
          <a:lstStyle/>
          <a:p>
            <a:pPr>
              <a:defRPr/>
            </a:pPr>
            <a:r>
              <a:rPr lang="zh-CN" altLang="en-US" b="1" dirty="0"/>
              <a:t>第一部分：</a:t>
            </a:r>
            <a:r>
              <a:rPr lang="zh-CN" altLang="en-US" b="1" dirty="0">
                <a:sym typeface="+mn-ea"/>
              </a:rPr>
              <a:t> </a:t>
            </a:r>
            <a:r>
              <a:rPr lang="en-US" altLang="zh-CN" b="1" dirty="0" smtClean="0">
                <a:sym typeface="+mn-ea"/>
              </a:rPr>
              <a:t>2026年</a:t>
            </a:r>
            <a:r>
              <a:rPr lang="zh-CN" altLang="en-US" b="1" dirty="0">
                <a:sym typeface="+mn-ea"/>
              </a:rPr>
              <a:t>经营目标 </a:t>
            </a:r>
            <a:r>
              <a:rPr lang="en-US" altLang="zh-CN" b="1" dirty="0">
                <a:solidFill>
                  <a:srgbClr val="002060"/>
                </a:solidFill>
                <a:sym typeface="+mn-ea"/>
              </a:rPr>
              <a:t>–</a:t>
            </a:r>
            <a:r>
              <a:rPr lang="zh-CN" altLang="en-US" b="1" dirty="0">
                <a:solidFill>
                  <a:srgbClr val="002060"/>
                </a:solidFill>
                <a:sym typeface="+mn-ea"/>
              </a:rPr>
              <a:t>产业销售板块汇总</a:t>
            </a:r>
            <a:endParaRPr lang="zh-CN" altLang="en-US" b="1" dirty="0">
              <a:solidFill>
                <a:srgbClr val="002060"/>
              </a:solidFill>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3" name="文本框 2"/>
          <p:cNvSpPr txBox="1"/>
          <p:nvPr/>
        </p:nvSpPr>
        <p:spPr>
          <a:xfrm>
            <a:off x="9959340" y="220980"/>
            <a:ext cx="3352800" cy="914400"/>
          </a:xfrm>
          <a:prstGeom prst="rect">
            <a:avLst/>
          </a:prstGeom>
          <a:noFill/>
        </p:spPr>
        <p:txBody>
          <a:bodyPr wrap="square" rtlCol="0">
            <a:noAutofit/>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aphicFrame>
        <p:nvGraphicFramePr>
          <p:cNvPr id="4" name="表格 3"/>
          <p:cNvGraphicFramePr/>
          <p:nvPr/>
        </p:nvGraphicFramePr>
        <p:xfrm>
          <a:off x="494030" y="596900"/>
          <a:ext cx="8942070" cy="4731385"/>
        </p:xfrm>
        <a:graphic>
          <a:graphicData uri="http://schemas.openxmlformats.org/drawingml/2006/table">
            <a:tbl>
              <a:tblPr/>
              <a:tblGrid>
                <a:gridCol w="1630045"/>
                <a:gridCol w="522605"/>
                <a:gridCol w="525145"/>
                <a:gridCol w="523875"/>
                <a:gridCol w="524510"/>
                <a:gridCol w="523875"/>
                <a:gridCol w="524510"/>
                <a:gridCol w="523875"/>
                <a:gridCol w="524510"/>
                <a:gridCol w="497840"/>
                <a:gridCol w="524510"/>
                <a:gridCol w="523875"/>
                <a:gridCol w="524510"/>
                <a:gridCol w="523240"/>
                <a:gridCol w="525145"/>
              </a:tblGrid>
              <a:tr h="424815">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业态</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总可售面积</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总可售货值</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26</a:t>
                      </a:r>
                      <a:r>
                        <a:rPr lang="zh-CN" altLang="en-US" sz="800" b="1" i="0">
                          <a:solidFill>
                            <a:srgbClr val="FFFFFF"/>
                          </a:solidFill>
                          <a:latin typeface="微软雅黑" panose="020B0503020204020204" pitchFamily="34" charset="-122"/>
                          <a:ea typeface="微软雅黑" panose="020B0503020204020204" pitchFamily="34" charset="-122"/>
                        </a:rPr>
                        <a:t>年可售面积合计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26</a:t>
                      </a:r>
                      <a:r>
                        <a:rPr lang="zh-CN" altLang="en-US" sz="800" b="1" i="0">
                          <a:solidFill>
                            <a:srgbClr val="FFFFFF"/>
                          </a:solidFill>
                          <a:latin typeface="微软雅黑" panose="020B0503020204020204" pitchFamily="34" charset="-122"/>
                          <a:ea typeface="微软雅黑" panose="020B0503020204020204" pitchFamily="34" charset="-122"/>
                        </a:rPr>
                        <a:t>年可售货值合计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2026</a:t>
                      </a:r>
                      <a:endParaRPr lang="en-US" altLang="zh-CN" sz="800" b="1" i="0">
                        <a:solidFill>
                          <a:srgbClr val="000000"/>
                        </a:solidFill>
                        <a:latin typeface="微软雅黑" panose="020B0503020204020204" pitchFamily="34" charset="-122"/>
                        <a:ea typeface="微软雅黑" panose="020B0503020204020204" pitchFamily="34" charset="-122"/>
                      </a:endParaRPr>
                    </a:p>
                    <a:p>
                      <a:pPr algn="ctr" fontAlgn="ctr"/>
                      <a:r>
                        <a:rPr lang="zh-CN" altLang="en-US" sz="800" b="1" i="0">
                          <a:solidFill>
                            <a:srgbClr val="000000"/>
                          </a:solidFill>
                          <a:latin typeface="微软雅黑" panose="020B0503020204020204" pitchFamily="34" charset="-122"/>
                          <a:ea typeface="微软雅黑" panose="020B0503020204020204" pitchFamily="34" charset="-122"/>
                        </a:rPr>
                        <a:t>年签约面积</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实际</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单价</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2026</a:t>
                      </a:r>
                      <a:r>
                        <a:rPr lang="zh-CN" altLang="en-US" sz="800" b="1" i="0">
                          <a:solidFill>
                            <a:srgbClr val="000000"/>
                          </a:solidFill>
                          <a:latin typeface="微软雅黑" panose="020B0503020204020204" pitchFamily="34" charset="-122"/>
                          <a:ea typeface="微软雅黑" panose="020B0503020204020204" pitchFamily="34" charset="-122"/>
                        </a:rPr>
                        <a:t>年签约额</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2026</a:t>
                      </a:r>
                      <a:r>
                        <a:rPr lang="zh-CN" altLang="en-US" sz="800" b="1" i="0">
                          <a:solidFill>
                            <a:srgbClr val="000000"/>
                          </a:solidFill>
                          <a:latin typeface="微软雅黑" panose="020B0503020204020204" pitchFamily="34" charset="-122"/>
                          <a:ea typeface="微软雅黑" panose="020B0503020204020204" pitchFamily="34" charset="-122"/>
                        </a:rPr>
                        <a:t>年</a:t>
                      </a:r>
                      <a:endParaRPr lang="zh-CN" altLang="en-US" sz="800" b="1" i="0">
                        <a:solidFill>
                          <a:srgbClr val="000000"/>
                        </a:solidFill>
                        <a:latin typeface="微软雅黑" panose="020B0503020204020204" pitchFamily="34" charset="-122"/>
                        <a:ea typeface="微软雅黑" panose="020B0503020204020204" pitchFamily="34" charset="-122"/>
                      </a:endParaRPr>
                    </a:p>
                    <a:p>
                      <a:pPr algn="ctr" fontAlgn="ctr"/>
                      <a:r>
                        <a:rPr lang="zh-CN" altLang="en-US" sz="800" b="1" i="0">
                          <a:solidFill>
                            <a:srgbClr val="000000"/>
                          </a:solidFill>
                          <a:latin typeface="微软雅黑" panose="020B0503020204020204" pitchFamily="34" charset="-122"/>
                          <a:ea typeface="微软雅黑" panose="020B0503020204020204" pitchFamily="34" charset="-122"/>
                        </a:rPr>
                        <a:t>回款</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年滚动回款率</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累计签约面积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累计签约额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累计去化率（按已供货值）</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累计</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回款额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累计</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回款率</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北地块：独栋办公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18,471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36,041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18,471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36,041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36,041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北地块：独栋办公</a:t>
                      </a:r>
                      <a:r>
                        <a:rPr lang="en-US" altLang="zh-CN" sz="800" b="0" i="0">
                          <a:solidFill>
                            <a:srgbClr val="000000"/>
                          </a:solidFill>
                          <a:latin typeface="微软雅黑" panose="020B0503020204020204" pitchFamily="34" charset="-122"/>
                          <a:ea typeface="微软雅黑" panose="020B0503020204020204" pitchFamily="34" charset="-122"/>
                        </a:rPr>
                        <a:t>6</a:t>
                      </a:r>
                      <a:r>
                        <a:rPr lang="zh-CN" altLang="en-US" sz="800" b="0" i="0">
                          <a:solidFill>
                            <a:srgbClr val="000000"/>
                          </a:solidFill>
                          <a:latin typeface="微软雅黑" panose="020B0503020204020204" pitchFamily="34" charset="-122"/>
                          <a:ea typeface="微软雅黑" panose="020B0503020204020204" pitchFamily="34" charset="-122"/>
                        </a:rPr>
                        <a:t>年后可售</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南地块：写字楼</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南地块：写字楼</a:t>
                      </a:r>
                      <a:r>
                        <a:rPr lang="en-US" altLang="zh-CN" sz="800" b="0" i="0">
                          <a:solidFill>
                            <a:srgbClr val="000000"/>
                          </a:solidFill>
                          <a:latin typeface="微软雅黑" panose="020B0503020204020204" pitchFamily="34" charset="-122"/>
                          <a:ea typeface="微软雅黑" panose="020B0503020204020204" pitchFamily="34" charset="-122"/>
                        </a:rPr>
                        <a:t>6</a:t>
                      </a:r>
                      <a:r>
                        <a:rPr lang="zh-CN" altLang="en-US" sz="800" b="0" i="0">
                          <a:solidFill>
                            <a:srgbClr val="000000"/>
                          </a:solidFill>
                          <a:latin typeface="微软雅黑" panose="020B0503020204020204" pitchFamily="34" charset="-122"/>
                          <a:ea typeface="微软雅黑" panose="020B0503020204020204" pitchFamily="34" charset="-122"/>
                        </a:rPr>
                        <a:t>年后可售</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2,788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北地块：商业</a:t>
                      </a:r>
                      <a:r>
                        <a:rPr lang="en-US" altLang="zh-CN" sz="800" b="0" i="0">
                          <a:solidFill>
                            <a:srgbClr val="000000"/>
                          </a:solidFill>
                          <a:latin typeface="微软雅黑" panose="020B0503020204020204" pitchFamily="34" charset="-122"/>
                          <a:ea typeface="微软雅黑" panose="020B0503020204020204" pitchFamily="34" charset="-122"/>
                        </a:rPr>
                        <a:t>6</a:t>
                      </a:r>
                      <a:r>
                        <a:rPr lang="zh-CN" altLang="en-US" sz="800" b="0" i="0">
                          <a:solidFill>
                            <a:srgbClr val="000000"/>
                          </a:solidFill>
                          <a:latin typeface="微软雅黑" panose="020B0503020204020204" pitchFamily="34" charset="-122"/>
                          <a:ea typeface="微软雅黑" panose="020B0503020204020204" pitchFamily="34" charset="-122"/>
                        </a:rPr>
                        <a:t>年后可售</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4,653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苏州横塘小计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34,839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58,774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4,028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BBB5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28,983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49,047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46,615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IEO</a:t>
                      </a:r>
                      <a:r>
                        <a:rPr lang="zh-CN" altLang="en-US" sz="800" b="0" i="0">
                          <a:solidFill>
                            <a:srgbClr val="000000"/>
                          </a:solidFill>
                          <a:latin typeface="微软雅黑" panose="020B0503020204020204" pitchFamily="34" charset="-122"/>
                          <a:ea typeface="微软雅黑" panose="020B0503020204020204" pitchFamily="34" charset="-122"/>
                        </a:rPr>
                        <a:t>总部独栋（自由）</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22,038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26,039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22,038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26,039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26,039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科创</a:t>
                      </a:r>
                      <a:r>
                        <a:rPr lang="en-US" altLang="zh-CN" sz="800" b="0" i="0">
                          <a:solidFill>
                            <a:srgbClr val="000000"/>
                          </a:solidFill>
                          <a:latin typeface="微软雅黑" panose="020B0503020204020204" pitchFamily="34" charset="-122"/>
                          <a:ea typeface="微软雅黑" panose="020B0503020204020204" pitchFamily="34" charset="-122"/>
                        </a:rPr>
                        <a:t>T3</a:t>
                      </a:r>
                      <a:r>
                        <a:rPr lang="zh-CN" altLang="en-US" sz="800" b="0" i="0">
                          <a:solidFill>
                            <a:srgbClr val="000000"/>
                          </a:solidFill>
                          <a:latin typeface="微软雅黑" panose="020B0503020204020204" pitchFamily="34" charset="-122"/>
                          <a:ea typeface="微软雅黑" panose="020B0503020204020204" pitchFamily="34" charset="-122"/>
                        </a:rPr>
                        <a:t>写字楼（自由）</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12,679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2,214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7,000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1,550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10,356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8,086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83%</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7,792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96%</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科创</a:t>
                      </a:r>
                      <a:r>
                        <a:rPr lang="en-US" altLang="zh-CN" sz="800" b="0" i="0">
                          <a:solidFill>
                            <a:srgbClr val="000000"/>
                          </a:solidFill>
                          <a:latin typeface="微软雅黑" panose="020B0503020204020204" pitchFamily="34" charset="-122"/>
                          <a:ea typeface="微软雅黑" panose="020B0503020204020204" pitchFamily="34" charset="-122"/>
                        </a:rPr>
                        <a:t>T3</a:t>
                      </a:r>
                      <a:r>
                        <a:rPr lang="zh-CN" altLang="en-US" sz="800" b="0" i="0">
                          <a:solidFill>
                            <a:srgbClr val="000000"/>
                          </a:solidFill>
                          <a:latin typeface="微软雅黑" panose="020B0503020204020204" pitchFamily="34" charset="-122"/>
                          <a:ea typeface="微软雅黑" panose="020B0503020204020204" pitchFamily="34" charset="-122"/>
                        </a:rPr>
                        <a:t>底商（自由）</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3,631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科创</a:t>
                      </a:r>
                      <a:r>
                        <a:rPr lang="en-US" altLang="zh-CN" sz="800" b="0" i="0">
                          <a:solidFill>
                            <a:srgbClr val="000000"/>
                          </a:solidFill>
                          <a:latin typeface="微软雅黑" panose="020B0503020204020204" pitchFamily="34" charset="-122"/>
                          <a:ea typeface="微软雅黑" panose="020B0503020204020204" pitchFamily="34" charset="-122"/>
                        </a:rPr>
                        <a:t>T2</a:t>
                      </a:r>
                      <a:r>
                        <a:rPr lang="zh-CN" altLang="en-US" sz="800" b="0" i="0">
                          <a:solidFill>
                            <a:srgbClr val="000000"/>
                          </a:solidFill>
                          <a:latin typeface="微软雅黑" panose="020B0503020204020204" pitchFamily="34" charset="-122"/>
                          <a:ea typeface="微软雅黑" panose="020B0503020204020204" pitchFamily="34" charset="-122"/>
                        </a:rPr>
                        <a:t>底商（自由）</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5,481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7,920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976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10,319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1,007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83%</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6,394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97%</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科创</a:t>
                      </a:r>
                      <a:r>
                        <a:rPr lang="en-US" altLang="zh-CN" sz="800" b="0" i="0">
                          <a:solidFill>
                            <a:srgbClr val="000000"/>
                          </a:solidFill>
                          <a:latin typeface="微软雅黑" panose="020B0503020204020204" pitchFamily="34" charset="-122"/>
                          <a:ea typeface="微软雅黑" panose="020B0503020204020204" pitchFamily="34" charset="-122"/>
                        </a:rPr>
                        <a:t>T2</a:t>
                      </a:r>
                      <a:r>
                        <a:rPr lang="zh-CN" altLang="en-US" sz="800" b="0" i="0">
                          <a:solidFill>
                            <a:srgbClr val="000000"/>
                          </a:solidFill>
                          <a:latin typeface="微软雅黑" panose="020B0503020204020204" pitchFamily="34" charset="-122"/>
                          <a:ea typeface="微软雅黑" panose="020B0503020204020204" pitchFamily="34" charset="-122"/>
                        </a:rPr>
                        <a:t>写字楼（带条件）</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35,444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24,348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5,702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9,250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6,012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100%</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6,012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sz="800" b="0" i="0">
                          <a:solidFill>
                            <a:schemeClr val="tx1"/>
                          </a:solidFill>
                          <a:latin typeface="微软雅黑" panose="020B0503020204020204" pitchFamily="34" charset="-122"/>
                          <a:ea typeface="微软雅黑" panose="020B0503020204020204" pitchFamily="34" charset="-122"/>
                        </a:rPr>
                        <a:t>100%</a:t>
                      </a:r>
                      <a:endParaRPr lang="en-US"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总部大厦写字楼（带条件）</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总部大厦底商（带条件）</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530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3</a:t>
                      </a:r>
                      <a:r>
                        <a:rPr lang="zh-CN" altLang="en-US" sz="800" b="0" i="0">
                          <a:solidFill>
                            <a:srgbClr val="000000"/>
                          </a:solidFill>
                          <a:latin typeface="微软雅黑" panose="020B0503020204020204" pitchFamily="34" charset="-122"/>
                          <a:ea typeface="微软雅黑" panose="020B0503020204020204" pitchFamily="34" charset="-122"/>
                        </a:rPr>
                        <a:t>号地独栋</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21,148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24,320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21,148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24,320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2,650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11,500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3,048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13%</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1,366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45%</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成都温江小计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99,515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96,916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28,070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29,849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5,840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9,597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5,604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9,353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BBB5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50,561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53,381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51,233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03</a:t>
                      </a:r>
                      <a:r>
                        <a:rPr lang="zh-CN" altLang="en-US" sz="800" b="0" i="0">
                          <a:solidFill>
                            <a:srgbClr val="000000"/>
                          </a:solidFill>
                          <a:latin typeface="微软雅黑" panose="020B0503020204020204" pitchFamily="34" charset="-122"/>
                          <a:ea typeface="微软雅黑" panose="020B0503020204020204" pitchFamily="34" charset="-122"/>
                        </a:rPr>
                        <a:t>地块高层厂房</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87,471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42,989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87,471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42,989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42,989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03</a:t>
                      </a:r>
                      <a:r>
                        <a:rPr lang="zh-CN" altLang="en-US" sz="800" b="0" i="0">
                          <a:solidFill>
                            <a:srgbClr val="000000"/>
                          </a:solidFill>
                          <a:latin typeface="微软雅黑" panose="020B0503020204020204" pitchFamily="34" charset="-122"/>
                          <a:ea typeface="微软雅黑" panose="020B0503020204020204" pitchFamily="34" charset="-122"/>
                        </a:rPr>
                        <a:t>地块小独栋</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25,968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15,448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25,968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15,448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15,248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03</a:t>
                      </a:r>
                      <a:r>
                        <a:rPr lang="zh-CN" altLang="en-US" sz="800" b="0" i="0">
                          <a:solidFill>
                            <a:srgbClr val="000000"/>
                          </a:solidFill>
                          <a:latin typeface="微软雅黑" panose="020B0503020204020204" pitchFamily="34" charset="-122"/>
                          <a:ea typeface="微软雅黑" panose="020B0503020204020204" pitchFamily="34" charset="-122"/>
                        </a:rPr>
                        <a:t>地块小独栋（</a:t>
                      </a:r>
                      <a:r>
                        <a:rPr lang="en-US" altLang="zh-CN" sz="800" b="0" i="0">
                          <a:solidFill>
                            <a:srgbClr val="000000"/>
                          </a:solidFill>
                          <a:latin typeface="微软雅黑" panose="020B0503020204020204" pitchFamily="34" charset="-122"/>
                          <a:ea typeface="微软雅黑" panose="020B0503020204020204" pitchFamily="34" charset="-122"/>
                        </a:rPr>
                        <a:t>2026</a:t>
                      </a:r>
                      <a:r>
                        <a:rPr lang="zh-CN" altLang="en-US" sz="800" b="0" i="0">
                          <a:solidFill>
                            <a:srgbClr val="000000"/>
                          </a:solidFill>
                          <a:latin typeface="微软雅黑" panose="020B0503020204020204" pitchFamily="34" charset="-122"/>
                          <a:ea typeface="微软雅黑" panose="020B0503020204020204" pitchFamily="34" charset="-122"/>
                        </a:rPr>
                        <a:t>年到期）</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03</a:t>
                      </a:r>
                      <a:r>
                        <a:rPr lang="zh-CN" altLang="en-US" sz="800" b="0" i="0">
                          <a:solidFill>
                            <a:srgbClr val="000000"/>
                          </a:solidFill>
                          <a:latin typeface="微软雅黑" panose="020B0503020204020204" pitchFamily="34" charset="-122"/>
                          <a:ea typeface="微软雅黑" panose="020B0503020204020204" pitchFamily="34" charset="-122"/>
                        </a:rPr>
                        <a:t>地块商铺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6,175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02</a:t>
                      </a:r>
                      <a:r>
                        <a:rPr lang="zh-CN" altLang="en-US" sz="800" b="0" i="0">
                          <a:solidFill>
                            <a:srgbClr val="000000"/>
                          </a:solidFill>
                          <a:latin typeface="微软雅黑" panose="020B0503020204020204" pitchFamily="34" charset="-122"/>
                          <a:ea typeface="微软雅黑" panose="020B0503020204020204" pitchFamily="34" charset="-122"/>
                        </a:rPr>
                        <a:t>大独栋</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78,589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39,281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78,589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39,281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39,129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02</a:t>
                      </a:r>
                      <a:r>
                        <a:rPr lang="zh-CN" altLang="en-US" sz="800" b="0" i="0">
                          <a:solidFill>
                            <a:srgbClr val="000000"/>
                          </a:solidFill>
                          <a:latin typeface="微软雅黑" panose="020B0503020204020204" pitchFamily="34" charset="-122"/>
                          <a:ea typeface="微软雅黑" panose="020B0503020204020204" pitchFamily="34" charset="-122"/>
                        </a:rPr>
                        <a:t>高层厂房</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64,833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27,754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64,833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27,754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27,754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02</a:t>
                      </a:r>
                      <a:r>
                        <a:rPr lang="zh-CN" altLang="en-US" sz="800" b="0" i="0">
                          <a:solidFill>
                            <a:srgbClr val="000000"/>
                          </a:solidFill>
                          <a:latin typeface="微软雅黑" panose="020B0503020204020204" pitchFamily="34" charset="-122"/>
                          <a:ea typeface="微软雅黑" panose="020B0503020204020204" pitchFamily="34" charset="-122"/>
                        </a:rPr>
                        <a:t>地块商铺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惠州仲恺小计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268,931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138,564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2,518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BBB5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96%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256,861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125,472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125,375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XH中心地产</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21,972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28,577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792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3,971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3,971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XH中心产业</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2,632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2,996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2,632</a:t>
                      </a:r>
                      <a:r>
                        <a:rPr lang="en-US" altLang="zh-CN" sz="800" b="0" i="0">
                          <a:solidFill>
                            <a:srgbClr val="FF0000"/>
                          </a:solidFill>
                          <a:latin typeface="微软雅黑" panose="020B0503020204020204" pitchFamily="34" charset="-122"/>
                          <a:ea typeface="微软雅黑" panose="020B0503020204020204" pitchFamily="34" charset="-122"/>
                        </a:rPr>
                        <a:t>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11,385</a:t>
                      </a:r>
                      <a:r>
                        <a:rPr lang="en-US" altLang="zh-CN" sz="800" b="0" i="0">
                          <a:solidFill>
                            <a:srgbClr val="FF0000"/>
                          </a:solidFill>
                          <a:latin typeface="微软雅黑" panose="020B0503020204020204" pitchFamily="34" charset="-122"/>
                          <a:ea typeface="微软雅黑" panose="020B0503020204020204" pitchFamily="34" charset="-122"/>
                        </a:rPr>
                        <a:t>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FF0000"/>
                          </a:solidFill>
                          <a:latin typeface="微软雅黑" panose="020B0503020204020204" pitchFamily="34" charset="-122"/>
                          <a:ea typeface="微软雅黑" panose="020B0503020204020204" pitchFamily="34" charset="-122"/>
                        </a:rPr>
                        <a:t> 2,996</a:t>
                      </a:r>
                      <a:r>
                        <a:rPr lang="en-US" altLang="zh-CN" sz="800" b="0" i="0">
                          <a:solidFill>
                            <a:srgbClr val="FF0000"/>
                          </a:solidFill>
                          <a:latin typeface="微软雅黑" panose="020B0503020204020204" pitchFamily="34" charset="-122"/>
                          <a:ea typeface="微软雅黑" panose="020B0503020204020204" pitchFamily="34" charset="-122"/>
                        </a:rPr>
                        <a:t> </a:t>
                      </a:r>
                      <a:endParaRPr lang="en-US" altLang="zh-CN" sz="8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3,261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18,739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24,606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24,606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7653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南京项目小计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21,972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28,577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2,632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2,632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11,385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4,053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BBB5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21,972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28,577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28,577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地块一高层厂房</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17,000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8,160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17,000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8,160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10,000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4,800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4,800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10,000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4,800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地块三高层厂房</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17,000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8,160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地块四高层厂房</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55,060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26,429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3144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黄江小计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89,060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42,749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17,000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8,160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10,000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 576 </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BBB5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2DCDB"/>
                    </a:solidFill>
                  </a:tcPr>
                </a:tc>
              </a:tr>
              <a:tr h="131445">
                <a:tc>
                  <a:txBody>
                    <a:bodyPr/>
                    <a:p>
                      <a:pPr algn="l" fontAlgn="ctr"/>
                      <a:r>
                        <a:rPr lang="zh-CN" altLang="en-US" sz="800" b="1" i="0">
                          <a:solidFill>
                            <a:srgbClr val="FFFFFF"/>
                          </a:solidFill>
                          <a:latin typeface="微软雅黑" panose="020B0503020204020204" pitchFamily="34" charset="-122"/>
                          <a:ea typeface="微软雅黑" panose="020B0503020204020204" pitchFamily="34" charset="-122"/>
                        </a:rPr>
                        <a:t>产业销售合计（全口径）</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514,317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365,580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47,702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41,005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18,472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13,400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800" b="1" i="0">
                          <a:solidFill>
                            <a:schemeClr val="tx1"/>
                          </a:solidFill>
                          <a:latin typeface="微软雅黑" panose="020B0503020204020204" pitchFamily="34" charset="-122"/>
                          <a:ea typeface="微软雅黑" panose="020B0503020204020204" pitchFamily="34" charset="-122"/>
                        </a:rPr>
                        <a:t> 20,527</a:t>
                      </a:r>
                      <a:r>
                        <a:rPr lang="en-US" altLang="zh-CN" sz="800" b="1" i="0">
                          <a:solidFill>
                            <a:srgbClr val="FFFFFF"/>
                          </a:solidFill>
                          <a:latin typeface="微软雅黑" panose="020B0503020204020204" pitchFamily="34" charset="-122"/>
                          <a:ea typeface="微软雅黑" panose="020B0503020204020204" pitchFamily="34" charset="-122"/>
                        </a:rPr>
                        <a:t>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BBB59"/>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70%</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368,377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261,278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90%</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 252,375 </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c>
                  <a:txBody>
                    <a:bodyPr/>
                    <a:p>
                      <a:pPr algn="r" fontAlgn="ctr"/>
                      <a:r>
                        <a:rPr lang="en-US" altLang="zh-CN" sz="800" b="1" i="0">
                          <a:solidFill>
                            <a:srgbClr val="FFFFFF"/>
                          </a:solidFill>
                          <a:latin typeface="微软雅黑" panose="020B0503020204020204" pitchFamily="34" charset="-122"/>
                          <a:ea typeface="微软雅黑" panose="020B0503020204020204" pitchFamily="34" charset="-122"/>
                        </a:rPr>
                        <a:t>97%</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963634"/>
                    </a:solidFill>
                  </a:tcPr>
                </a:tc>
              </a:tr>
            </a:tbl>
          </a:graphicData>
        </a:graphic>
      </p:graphicFrame>
      <p:sp>
        <p:nvSpPr>
          <p:cNvPr id="2" name="文本框 1"/>
          <p:cNvSpPr txBox="1"/>
          <p:nvPr/>
        </p:nvSpPr>
        <p:spPr>
          <a:xfrm>
            <a:off x="494030" y="5205730"/>
            <a:ext cx="9069705" cy="368300"/>
          </a:xfrm>
          <a:prstGeom prst="rect">
            <a:avLst/>
          </a:prstGeom>
          <a:noFill/>
        </p:spPr>
        <p:txBody>
          <a:bodyPr wrap="square" rtlCol="0" anchor="t">
            <a:spAutoFit/>
          </a:bodyPr>
          <a:p>
            <a:r>
              <a:rPr lang="zh-CN" altLang="en-US" sz="900">
                <a:latin typeface="微软雅黑" panose="020B0503020204020204" pitchFamily="34" charset="-122"/>
                <a:ea typeface="微软雅黑" panose="020B0503020204020204" pitchFamily="34" charset="-122"/>
                <a:cs typeface="微软雅黑" panose="020B0503020204020204" pitchFamily="34" charset="-122"/>
              </a:rPr>
              <a:t>注：体彩原合同总价</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7,</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645.11</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万已缴款</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1,</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200</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万，现扣减精装修</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853.58</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万及房屋优惠总价</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185.56</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万（小计</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1039.14</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万），剩余款项为</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5,405.97</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a:t>
            </a:r>
            <a:endParaRPr lang="zh-CN" altLang="en-US" sz="900">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900">
                <a:latin typeface="微软雅黑" panose="020B0503020204020204" pitchFamily="34" charset="-122"/>
                <a:ea typeface="微软雅黑" panose="020B0503020204020204" pitchFamily="34" charset="-122"/>
                <a:cs typeface="微软雅黑" panose="020B0503020204020204" pitchFamily="34" charset="-122"/>
              </a:rPr>
              <a:t>若</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年底回款全部剩余款项</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5,405.97</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万，则剔除</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年预算涉及到体彩的</a:t>
            </a:r>
            <a:r>
              <a:rPr lang="en-US" altLang="zh-CN" sz="900">
                <a:latin typeface="微软雅黑" panose="020B0503020204020204" pitchFamily="34" charset="-122"/>
                <a:ea typeface="微软雅黑" panose="020B0503020204020204" pitchFamily="34" charset="-122"/>
                <a:cs typeface="微软雅黑" panose="020B0503020204020204" pitchFamily="34" charset="-122"/>
              </a:rPr>
              <a:t>3286.31</a:t>
            </a:r>
            <a:r>
              <a:rPr lang="zh-CN" altLang="en-US" sz="900">
                <a:latin typeface="微软雅黑" panose="020B0503020204020204" pitchFamily="34" charset="-122"/>
                <a:ea typeface="微软雅黑" panose="020B0503020204020204" pitchFamily="34" charset="-122"/>
                <a:cs typeface="微软雅黑" panose="020B0503020204020204" pitchFamily="34" charset="-122"/>
              </a:rPr>
              <a:t>万回款预算指标。</a:t>
            </a:r>
            <a:endParaRPr lang="zh-CN" altLang="en-US" sz="90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8680" y="165423"/>
            <a:ext cx="7559675" cy="359346"/>
          </a:xfrm>
        </p:spPr>
        <p:txBody>
          <a:bodyPr/>
          <a:lstStyle/>
          <a:p>
            <a:pPr lvl="0">
              <a:defRPr/>
            </a:pPr>
            <a:r>
              <a:rPr kumimoji="0" lang="zh-CN" altLang="en-US" sz="1800" b="1" i="0" u="none" strike="noStrike" kern="1200" cap="none" spc="-41" normalizeH="0" baseline="0" noProof="0" dirty="0">
                <a:ln>
                  <a:noFill/>
                </a:ln>
                <a:solidFill>
                  <a:schemeClr val="tx1">
                    <a:lumMod val="75000"/>
                    <a:lumOff val="25000"/>
                  </a:schemeClr>
                </a:solidFill>
                <a:effectLst/>
                <a:highlight>
                  <a:srgbClr val="000000">
                    <a:alpha val="0"/>
                  </a:srgbClr>
                </a:highlight>
                <a:uLnTx/>
                <a:uFillTx/>
              </a:rPr>
              <a:t>第</a:t>
            </a:r>
            <a:r>
              <a:rPr lang="zh-CN" altLang="en-US" b="1" dirty="0">
                <a:highlight>
                  <a:srgbClr val="000000">
                    <a:alpha val="0"/>
                  </a:srgbClr>
                </a:highlight>
              </a:rPr>
              <a:t>一</a:t>
            </a:r>
            <a:r>
              <a:rPr kumimoji="0" lang="zh-CN" altLang="en-US" sz="1800" b="1" i="0" u="none" strike="noStrike" kern="1200" cap="none" spc="-41" normalizeH="0" baseline="0" noProof="0" dirty="0">
                <a:ln>
                  <a:noFill/>
                </a:ln>
                <a:solidFill>
                  <a:schemeClr val="tx1">
                    <a:lumMod val="75000"/>
                    <a:lumOff val="25000"/>
                  </a:schemeClr>
                </a:solidFill>
                <a:effectLst/>
                <a:highlight>
                  <a:srgbClr val="000000">
                    <a:alpha val="0"/>
                  </a:srgbClr>
                </a:highlight>
                <a:uLnTx/>
                <a:uFillTx/>
              </a:rPr>
              <a:t>部分：</a:t>
            </a:r>
            <a:r>
              <a:rPr lang="zh-CN" altLang="en-US" b="1" dirty="0">
                <a:highlight>
                  <a:srgbClr val="000000">
                    <a:alpha val="0"/>
                  </a:srgbClr>
                </a:highlight>
                <a:sym typeface="+mn-ea"/>
              </a:rPr>
              <a:t> </a:t>
            </a:r>
            <a:r>
              <a:rPr lang="zh-CN" altLang="en-US" b="1" dirty="0" smtClean="0">
                <a:highlight>
                  <a:srgbClr val="000000">
                    <a:alpha val="0"/>
                  </a:srgbClr>
                </a:highlight>
                <a:sym typeface="+mn-ea"/>
              </a:rPr>
              <a:t>202</a:t>
            </a:r>
            <a:r>
              <a:rPr lang="en-US" altLang="zh-CN" b="1" dirty="0" smtClean="0">
                <a:highlight>
                  <a:srgbClr val="000000">
                    <a:alpha val="0"/>
                  </a:srgbClr>
                </a:highlight>
                <a:sym typeface="+mn-ea"/>
              </a:rPr>
              <a:t>6</a:t>
            </a:r>
            <a:r>
              <a:rPr lang="zh-CN" altLang="en-US" b="1" dirty="0" smtClean="0">
                <a:highlight>
                  <a:srgbClr val="000000">
                    <a:alpha val="0"/>
                  </a:srgbClr>
                </a:highlight>
                <a:sym typeface="+mn-ea"/>
              </a:rPr>
              <a:t>年</a:t>
            </a:r>
            <a:r>
              <a:rPr lang="zh-CN" altLang="en-US" b="1" dirty="0">
                <a:highlight>
                  <a:srgbClr val="000000">
                    <a:alpha val="0"/>
                  </a:srgbClr>
                </a:highlight>
                <a:sym typeface="+mn-ea"/>
              </a:rPr>
              <a:t>经营目标 </a:t>
            </a:r>
            <a:r>
              <a:rPr lang="en-US" altLang="zh-CN" b="1" dirty="0">
                <a:solidFill>
                  <a:srgbClr val="002060"/>
                </a:solidFill>
                <a:highlight>
                  <a:srgbClr val="000000">
                    <a:alpha val="0"/>
                  </a:srgbClr>
                </a:highlight>
                <a:sym typeface="+mn-ea"/>
              </a:rPr>
              <a:t>–</a:t>
            </a:r>
            <a:r>
              <a:rPr lang="zh-CN" altLang="en-US" b="1" dirty="0">
                <a:solidFill>
                  <a:srgbClr val="002060"/>
                </a:solidFill>
                <a:highlight>
                  <a:srgbClr val="000000">
                    <a:alpha val="0"/>
                  </a:srgbClr>
                </a:highlight>
                <a:sym typeface="+mn-ea"/>
              </a:rPr>
              <a:t>产业销售板块预算情况（现金流）</a:t>
            </a:r>
            <a:endParaRPr kumimoji="0" lang="zh-CN" altLang="en-US" sz="1800" b="1" i="0" u="none" strike="noStrike" kern="1200" cap="none" spc="-41" normalizeH="0" baseline="0" noProof="0" dirty="0">
              <a:ln>
                <a:noFill/>
              </a:ln>
              <a:solidFill>
                <a:srgbClr val="002060"/>
              </a:solidFill>
              <a:effectLst/>
              <a:highlight>
                <a:srgbClr val="000000">
                  <a:alpha val="0"/>
                </a:srgbClr>
              </a:highligh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4" name="文本框 3"/>
          <p:cNvSpPr txBox="1"/>
          <p:nvPr/>
        </p:nvSpPr>
        <p:spPr>
          <a:xfrm>
            <a:off x="421005" y="4557395"/>
            <a:ext cx="9258300" cy="1012190"/>
          </a:xfrm>
          <a:prstGeom prst="rect">
            <a:avLst/>
          </a:prstGeom>
          <a:noFill/>
        </p:spPr>
        <p:txBody>
          <a:bodyPr wrap="square" rtlCol="0">
            <a:noAutofit/>
          </a:bodyPr>
          <a:lstStyle/>
          <a:p>
            <a:pPr lvl="0">
              <a:defRPr/>
            </a:pP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上表中成都</a:t>
            </a:r>
            <a:r>
              <a:rPr lang="zh-CN" altLang="en-US" sz="1000" dirty="0">
                <a:solidFill>
                  <a:prstClr val="black"/>
                </a:solidFill>
                <a:latin typeface="微软雅黑" panose="020B0503020204020204" pitchFamily="34" charset="-122"/>
                <a:ea typeface="微软雅黑" panose="020B0503020204020204" pitchFamily="34" charset="-122"/>
              </a:rPr>
              <a:t>、惠州、苏州、</a:t>
            </a:r>
            <a:r>
              <a:rPr lang="zh-CN" altLang="en-US" sz="1000" dirty="0" smtClean="0">
                <a:solidFill>
                  <a:prstClr val="black"/>
                </a:solidFill>
                <a:latin typeface="微软雅黑" panose="020B0503020204020204" pitchFamily="34" charset="-122"/>
                <a:ea typeface="微软雅黑" panose="020B0503020204020204" pitchFamily="34" charset="-122"/>
              </a:rPr>
              <a:t>南京、黄江</a:t>
            </a: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已含工程款支出（地产提供）及融资情况，黄江项目含地价款支出</a:t>
            </a:r>
            <a:r>
              <a:rPr kumimoji="0" lang="en-US" altLang="zh-CN"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3,725</a:t>
            </a:r>
            <a:r>
              <a:rPr kumimoji="0" lang="zh-CN" altLang="en-US"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万（地产提供）。</a:t>
            </a:r>
            <a:endParaRPr kumimoji="0" lang="en-US" altLang="zh-CN" sz="10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r>
              <a:rPr lang="zh-CN" altLang="en-US" sz="1000" b="1" dirty="0">
                <a:solidFill>
                  <a:prstClr val="black"/>
                </a:solidFill>
                <a:latin typeface="微软雅黑" panose="020B0503020204020204" pitchFamily="34" charset="-122"/>
                <a:ea typeface="微软雅黑" panose="020B0503020204020204" pitchFamily="34" charset="-122"/>
              </a:rPr>
              <a:t>成都融资：</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目前融资余额</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6,308</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万，预计</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2025</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年末还款</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2,876</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万，年末融资余额</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3,432</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2026</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年还款</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3,432</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万，其中</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 </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成都农商银行</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2026</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年</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3</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月还款</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2,000</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2026</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年</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5</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月还款</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1,432</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万，年未融资余额为</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0</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。还利息：</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2026</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年合计付息</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50</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a:t>
            </a:r>
            <a:endPar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黄江项目：融资流入</a:t>
            </a:r>
            <a:r>
              <a:rPr kumimoji="0" lang="en-US" altLang="zh-CN"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3,000</a:t>
            </a:r>
            <a:r>
              <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万（地产提供）。</a:t>
            </a:r>
            <a:endPar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endParaRPr kumimoji="0" lang="zh-CN" altLang="en-US" sz="10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r>
              <a:rPr kumimoji="0" lang="zh-CN" altLang="en-US" sz="7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注：地价款支出、工程款支出、融资流入流出均不纳入产业集团考核。</a:t>
            </a:r>
            <a:endParaRPr kumimoji="0" lang="zh-CN" altLang="en-US" sz="8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endParaRPr kumimoji="0" lang="zh-CN" altLang="en-US" sz="8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custDataLst>
              <p:tags r:id="rId1"/>
            </p:custDataLst>
          </p:nvPr>
        </p:nvGraphicFramePr>
        <p:xfrm>
          <a:off x="492760" y="525145"/>
          <a:ext cx="8281670" cy="3991610"/>
        </p:xfrm>
        <a:graphic>
          <a:graphicData uri="http://schemas.openxmlformats.org/drawingml/2006/table">
            <a:tbl>
              <a:tblPr/>
              <a:tblGrid>
                <a:gridCol w="1798320"/>
                <a:gridCol w="1128395"/>
                <a:gridCol w="1127125"/>
                <a:gridCol w="1128395"/>
                <a:gridCol w="1127760"/>
                <a:gridCol w="1127760"/>
                <a:gridCol w="86995"/>
                <a:gridCol w="756920"/>
              </a:tblGrid>
              <a:tr h="511175">
                <a:tc>
                  <a:txBody>
                    <a:bodyPr/>
                    <a:lstStyle/>
                    <a:p>
                      <a:pPr algn="ctr" fontAlgn="ct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 项目 </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11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合计（不含黄江）</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成都产业</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惠州产业</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苏州产业</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南京产业</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p>
                      <a:pPr algn="ctr" fontAlgn="ctr">
                        <a:buNone/>
                      </a:pP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noFill/>
                      <a:prstDash val="solid"/>
                      <a:round/>
                      <a:headEnd type="none" w="med" len="med"/>
                      <a:tailEnd type="none" w="med" len="med"/>
                    </a:lnB>
                    <a:noFill/>
                  </a:tcPr>
                </a:tc>
                <a:tc>
                  <a:txBody>
                    <a:bodyPr/>
                    <a:p>
                      <a:pPr algn="ctr" fontAlgn="ctr">
                        <a:buNone/>
                      </a:pP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黄江</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buNone/>
                      </a:pPr>
                      <a:r>
                        <a:rPr lang="zh-CN" altLang="en-US" sz="1100" b="1" i="0" u="none" strike="noStrike">
                          <a:solidFill>
                            <a:srgbClr val="FFFFFF"/>
                          </a:solidFill>
                          <a:effectLst/>
                          <a:latin typeface="微软雅黑" panose="020B0503020204020204" pitchFamily="34" charset="-122"/>
                          <a:ea typeface="微软雅黑" panose="020B0503020204020204" pitchFamily="34" charset="-122"/>
                        </a:rPr>
                        <a:t>（单列）</a:t>
                      </a:r>
                      <a:endParaRPr lang="zh-CN" altLang="en-US" sz="1100" b="1" i="0" u="none" strike="noStrike">
                        <a:solidFill>
                          <a:srgbClr val="FFFFFF"/>
                        </a:solidFill>
                        <a:effectLst/>
                        <a:latin typeface="微软雅黑" panose="020B0503020204020204" pitchFamily="34" charset="-122"/>
                        <a:ea typeface="微软雅黑" panose="020B0503020204020204" pitchFamily="34" charset="-122"/>
                      </a:endParaRPr>
                    </a:p>
                  </a:txBody>
                  <a:tcPr marL="8203" marR="8203" marT="820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r>
              <a:tr h="18351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销售收入回款</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19,951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9,353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2,518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4,028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4,053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576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3515">
                <a:tc>
                  <a:txBody>
                    <a:bodyPr/>
                    <a:lstStyle/>
                    <a:p>
                      <a:pPr algn="l" fontAlgn="ctr"/>
                      <a:r>
                        <a:rPr lang="zh-CN" altLang="en-US" sz="1100" b="1" i="0" u="none" strike="noStrike">
                          <a:solidFill>
                            <a:srgbClr val="000000"/>
                          </a:solidFill>
                          <a:effectLst/>
                          <a:latin typeface="微软雅黑" panose="020B0503020204020204" pitchFamily="34" charset="-122"/>
                          <a:ea typeface="微软雅黑" panose="020B0503020204020204" pitchFamily="34" charset="-122"/>
                        </a:rPr>
                        <a:t>经营流入小计</a:t>
                      </a: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19,951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9,353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2,518</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4,028</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4,053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buNone/>
                      </a:pP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576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83515">
                <a:tc>
                  <a:txBody>
                    <a:bodyPr/>
                    <a:p>
                      <a:pPr algn="l" fontAlgn="ctr">
                        <a:buNone/>
                      </a:pP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地价款支出</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3,725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351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工程款流出</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6,352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3,860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818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1,067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1,326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24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管理费用</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344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150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4150">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营销费用</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1,066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379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288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351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物业等其他费用</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880">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支付税金</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438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257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24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土地使用税</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24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企业所得税</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351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土地增值税及附加</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213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162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351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其他资产支出</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245">
                <a:tc>
                  <a:txBody>
                    <a:bodyPr/>
                    <a:lstStyle/>
                    <a:p>
                      <a:pPr algn="l" fontAlgn="ctr"/>
                      <a:r>
                        <a:rPr lang="zh-CN" altLang="en-US" sz="1100" b="1" i="0" u="none" strike="noStrike">
                          <a:solidFill>
                            <a:srgbClr val="000000"/>
                          </a:solidFill>
                          <a:effectLst/>
                          <a:latin typeface="微软雅黑" panose="020B0503020204020204" pitchFamily="34" charset="-122"/>
                          <a:ea typeface="微软雅黑" panose="020B0503020204020204" pitchFamily="34" charset="-122"/>
                        </a:rPr>
                        <a:t>经营流出小计</a:t>
                      </a: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9,182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5,097</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1,625</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1,228</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1,232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buNone/>
                      </a:pP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5,577</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84150">
                <a:tc>
                  <a:txBody>
                    <a:bodyPr/>
                    <a:lstStyle/>
                    <a:p>
                      <a:pPr algn="l" fontAlgn="ctr"/>
                      <a:r>
                        <a:rPr lang="zh-CN" altLang="en-US" sz="1100" b="1" i="0" u="none" strike="noStrike">
                          <a:solidFill>
                            <a:srgbClr val="FF0000"/>
                          </a:solidFill>
                          <a:effectLst/>
                          <a:latin typeface="微软雅黑" panose="020B0503020204020204" pitchFamily="34" charset="-122"/>
                          <a:ea typeface="微软雅黑" panose="020B0503020204020204" pitchFamily="34" charset="-122"/>
                        </a:rPr>
                        <a:t>经营活动现金流量净额</a:t>
                      </a:r>
                      <a:endParaRPr lang="zh-CN" altLang="en-US" sz="1100" b="1" i="0" u="none" strike="noStrike">
                        <a:solidFill>
                          <a:srgbClr val="FF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10,770</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4,256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893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2,800</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2,821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c>
                  <a:txBody>
                    <a:bodyPr/>
                    <a:p>
                      <a:pPr algn="r" fontAlgn="ctr">
                        <a:buNone/>
                      </a:pP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-5,001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ABF8F"/>
                    </a:solidFill>
                  </a:tcPr>
                </a:tc>
              </a:tr>
              <a:tr h="182880">
                <a:tc>
                  <a:txBody>
                    <a:bodyPr/>
                    <a:lstStyle/>
                    <a:p>
                      <a:pPr algn="l" fontAlgn="ctr"/>
                      <a:r>
                        <a:rPr lang="zh-CN" altLang="en-US" sz="1100" b="1" i="0" u="none" strike="noStrike">
                          <a:solidFill>
                            <a:srgbClr val="000000"/>
                          </a:solidFill>
                          <a:effectLst/>
                          <a:latin typeface="微软雅黑" panose="020B0503020204020204" pitchFamily="34" charset="-122"/>
                          <a:ea typeface="微软雅黑" panose="020B0503020204020204" pitchFamily="34" charset="-122"/>
                        </a:rPr>
                        <a:t>筹资流入小计</a:t>
                      </a: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buNone/>
                      </a:pP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3,000</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82880">
                <a:tc>
                  <a:txBody>
                    <a:bodyPr/>
                    <a:lstStyle/>
                    <a:p>
                      <a:pPr algn="l" fontAlgn="ctr"/>
                      <a:r>
                        <a:rPr lang="zh-CN" altLang="en-US" sz="1100" b="1" i="0" u="none" strike="noStrike">
                          <a:solidFill>
                            <a:srgbClr val="000000"/>
                          </a:solidFill>
                          <a:effectLst/>
                          <a:latin typeface="微软雅黑" panose="020B0503020204020204" pitchFamily="34" charset="-122"/>
                          <a:ea typeface="微软雅黑" panose="020B0503020204020204" pitchFamily="34" charset="-122"/>
                        </a:rPr>
                        <a:t>筹资流出小计</a:t>
                      </a: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3,482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3,482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buNone/>
                      </a:pP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84150">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其中：还本金</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3,432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3,432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245">
                <a:tc>
                  <a:txBody>
                    <a:bodyPr/>
                    <a:lstStyle/>
                    <a:p>
                      <a:pPr algn="l" fontAlgn="ct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          还利息</a:t>
                      </a:r>
                      <a:endParaRPr lang="zh-CN" altLang="en-US" sz="1100" b="0" i="0" u="none" strike="noStrike">
                        <a:solidFill>
                          <a:srgbClr val="00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buNone/>
                      </a:pP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3515">
                <a:tc>
                  <a:txBody>
                    <a:bodyPr/>
                    <a:lstStyle/>
                    <a:p>
                      <a:pPr algn="l" fontAlgn="ctr"/>
                      <a:r>
                        <a:rPr lang="zh-CN" altLang="en-US" sz="1100" b="1" i="0" u="none" strike="noStrike">
                          <a:solidFill>
                            <a:srgbClr val="FF0000"/>
                          </a:solidFill>
                          <a:effectLst/>
                          <a:latin typeface="微软雅黑" panose="020B0503020204020204" pitchFamily="34" charset="-122"/>
                          <a:ea typeface="微软雅黑" panose="020B0503020204020204" pitchFamily="34" charset="-122"/>
                        </a:rPr>
                        <a:t>筹资现金流量净额</a:t>
                      </a:r>
                      <a:endParaRPr lang="zh-CN" altLang="en-US" sz="1100" b="1" i="0" u="none" strike="noStrike">
                        <a:solidFill>
                          <a:srgbClr val="FF0000"/>
                        </a:solidFill>
                        <a:effectLst/>
                        <a:latin typeface="微软雅黑" panose="020B0503020204020204" pitchFamily="34" charset="-122"/>
                        <a:ea typeface="微软雅黑" panose="020B0503020204020204" pitchFamily="34" charset="-122"/>
                      </a:endParaRPr>
                    </a:p>
                  </a:txBody>
                  <a:tcPr marL="8203" marR="8203" marT="820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-3,482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-3,482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c>
                  <a:txBody>
                    <a:bodyPr/>
                    <a:lstStyle/>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c>
                  <a:txBody>
                    <a:bodyPr/>
                    <a:p>
                      <a:pPr algn="r" fontAlgn="ctr">
                        <a:buNone/>
                      </a:pP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3,000</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F8F"/>
                    </a:solidFill>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134230" y="165780"/>
            <a:ext cx="9233978" cy="368300"/>
          </a:xfrm>
          <a:prstGeom prst="rect">
            <a:avLst/>
          </a:prstGeom>
          <a:noFill/>
        </p:spPr>
        <p:txBody>
          <a:bodyPr wrap="square" rtlCol="0">
            <a:spAutoFit/>
          </a:bodyPr>
          <a:lstStyle/>
          <a:p>
            <a:pPr defTabSz="1108075" eaLnBrk="0" fontAlgn="base" hangingPunct="0">
              <a:spcBef>
                <a:spcPct val="0"/>
              </a:spcBef>
              <a:spcAft>
                <a:spcPct val="0"/>
              </a:spcAft>
            </a:pPr>
            <a:r>
              <a:rPr lang="zh-CN" altLang="en-US" sz="1800" b="1" dirty="0">
                <a:solidFill>
                  <a:prstClr val="black"/>
                </a:solidFill>
                <a:latin typeface="微软雅黑" panose="020B0503020204020204" pitchFamily="34" charset="-122"/>
                <a:ea typeface="微软雅黑" panose="020B0503020204020204" pitchFamily="34" charset="-122"/>
              </a:rPr>
              <a:t>产业集团组织架构</a:t>
            </a:r>
            <a:endParaRPr lang="zh-CN" altLang="en-US" sz="1800" b="1" dirty="0">
              <a:solidFill>
                <a:prstClr val="black"/>
              </a:solidFill>
              <a:latin typeface="微软雅黑" panose="020B0503020204020204" pitchFamily="34" charset="-122"/>
              <a:ea typeface="微软雅黑" panose="020B0503020204020204" pitchFamily="34" charset="-122"/>
            </a:endParaRPr>
          </a:p>
        </p:txBody>
      </p:sp>
      <p:sp>
        <p:nvSpPr>
          <p:cNvPr id="3" name="矩形 2"/>
          <p:cNvSpPr/>
          <p:nvPr/>
        </p:nvSpPr>
        <p:spPr>
          <a:xfrm>
            <a:off x="3949384" y="1656633"/>
            <a:ext cx="1794081" cy="402419"/>
          </a:xfrm>
          <a:prstGeom prst="rect">
            <a:avLst/>
          </a:prstGeom>
          <a:noFill/>
          <a:ln w="6350" cap="flat" cmpd="sng" algn="ctr">
            <a:solidFill>
              <a:sysClr val="windowText" lastClr="000000"/>
            </a:solidFill>
            <a:prstDash val="solid"/>
          </a:ln>
          <a:effectLst/>
        </p:spPr>
        <p:txBody>
          <a:bodyPr rtlCol="0" anchor="ctr"/>
          <a:lstStyle/>
          <a:p>
            <a:pPr algn="ctr" defTabSz="1108075">
              <a:defRPr/>
            </a:pPr>
            <a:r>
              <a:rPr lang="zh-CN" altLang="en-US" sz="1200" b="1" kern="0" dirty="0">
                <a:solidFill>
                  <a:srgbClr val="242331"/>
                </a:solidFill>
                <a:latin typeface="微软雅黑" panose="020B0503020204020204" pitchFamily="34" charset="-122"/>
                <a:ea typeface="微软雅黑" panose="020B0503020204020204" pitchFamily="34" charset="-122"/>
              </a:rPr>
              <a:t>XH产业集团</a:t>
            </a:r>
            <a:endParaRPr lang="en-US" altLang="zh-CN" sz="12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200" b="1" kern="0" dirty="0">
                <a:solidFill>
                  <a:srgbClr val="C00000"/>
                </a:solidFill>
                <a:latin typeface="微软雅黑" panose="020B0503020204020204" pitchFamily="34" charset="-122"/>
                <a:ea typeface="微软雅黑" panose="020B0503020204020204" pitchFamily="34" charset="-122"/>
              </a:rPr>
              <a:t>911/873</a:t>
            </a:r>
            <a:endParaRPr lang="en-US" altLang="zh-CN" sz="1200" b="1" kern="0" dirty="0">
              <a:solidFill>
                <a:srgbClr val="C00000"/>
              </a:solidFill>
              <a:latin typeface="微软雅黑" panose="020B0503020204020204" pitchFamily="34" charset="-122"/>
              <a:ea typeface="微软雅黑" panose="020B0503020204020204" pitchFamily="34" charset="-122"/>
            </a:endParaRPr>
          </a:p>
        </p:txBody>
      </p:sp>
      <p:sp>
        <p:nvSpPr>
          <p:cNvPr id="5" name="矩形 4"/>
          <p:cNvSpPr/>
          <p:nvPr/>
        </p:nvSpPr>
        <p:spPr>
          <a:xfrm>
            <a:off x="3066955" y="2447458"/>
            <a:ext cx="1086715" cy="408288"/>
          </a:xfrm>
          <a:prstGeom prst="rect">
            <a:avLst/>
          </a:prstGeom>
          <a:noFill/>
          <a:ln w="6350" cap="flat" cmpd="sng" algn="ctr">
            <a:solidFill>
              <a:sysClr val="windowText" lastClr="000000"/>
            </a:solidFill>
            <a:prstDash val="solid"/>
          </a:ln>
          <a:effectLst/>
        </p:spPr>
        <p:txBody>
          <a:bodyPr rtlCol="0" anchor="ctr"/>
          <a:lstStyle/>
          <a:p>
            <a:pPr algn="ctr" defTabSz="1108075">
              <a:defRPr/>
            </a:pPr>
            <a:r>
              <a:rPr lang="zh-CN" altLang="en-US" sz="1050" b="1" kern="0" dirty="0">
                <a:solidFill>
                  <a:srgbClr val="242331"/>
                </a:solidFill>
                <a:latin typeface="微软雅黑" panose="020B0503020204020204" pitchFamily="34" charset="-122"/>
                <a:ea typeface="微软雅黑" panose="020B0503020204020204" pitchFamily="34" charset="-122"/>
              </a:rPr>
              <a:t>财务管理中心</a:t>
            </a:r>
            <a:endParaRPr lang="en-US" altLang="zh-CN" sz="105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50" b="1" kern="0" dirty="0">
                <a:solidFill>
                  <a:srgbClr val="C00000"/>
                </a:solidFill>
                <a:latin typeface="微软雅黑" panose="020B0503020204020204" pitchFamily="34" charset="-122"/>
                <a:ea typeface="微软雅黑" panose="020B0503020204020204" pitchFamily="34" charset="-122"/>
              </a:rPr>
              <a:t>16/17</a:t>
            </a:r>
            <a:endParaRPr lang="en-US" altLang="zh-CN" sz="1050" b="1" kern="0" dirty="0">
              <a:solidFill>
                <a:srgbClr val="C00000"/>
              </a:solidFill>
              <a:latin typeface="微软雅黑" panose="020B0503020204020204" pitchFamily="34" charset="-122"/>
              <a:ea typeface="微软雅黑" panose="020B0503020204020204" pitchFamily="34" charset="-122"/>
            </a:endParaRPr>
          </a:p>
        </p:txBody>
      </p:sp>
      <p:sp>
        <p:nvSpPr>
          <p:cNvPr id="6" name="矩形 5"/>
          <p:cNvSpPr/>
          <p:nvPr/>
        </p:nvSpPr>
        <p:spPr>
          <a:xfrm>
            <a:off x="5548901" y="2447458"/>
            <a:ext cx="1086715" cy="408288"/>
          </a:xfrm>
          <a:prstGeom prst="rect">
            <a:avLst/>
          </a:prstGeom>
          <a:noFill/>
          <a:ln w="6350" cap="flat" cmpd="sng" algn="ctr">
            <a:solidFill>
              <a:sysClr val="windowText" lastClr="000000"/>
            </a:solidFill>
            <a:prstDash val="solid"/>
          </a:ln>
          <a:effectLst/>
        </p:spPr>
        <p:txBody>
          <a:bodyPr rtlCol="0" anchor="ctr"/>
          <a:lstStyle/>
          <a:p>
            <a:pPr algn="ctr" defTabSz="1108075">
              <a:defRPr/>
            </a:pPr>
            <a:r>
              <a:rPr lang="zh-CN" altLang="en-US" sz="1050" b="1" kern="0" dirty="0">
                <a:solidFill>
                  <a:srgbClr val="242331"/>
                </a:solidFill>
                <a:latin typeface="微软雅黑" panose="020B0503020204020204" pitchFamily="34" charset="-122"/>
                <a:ea typeface="微软雅黑" panose="020B0503020204020204" pitchFamily="34" charset="-122"/>
              </a:rPr>
              <a:t>人力行政中心</a:t>
            </a:r>
            <a:endParaRPr lang="en-US" altLang="zh-CN" sz="105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50" b="1" kern="0" dirty="0">
                <a:solidFill>
                  <a:srgbClr val="242331"/>
                </a:solidFill>
                <a:latin typeface="微软雅黑" panose="020B0503020204020204" pitchFamily="34" charset="-122"/>
                <a:ea typeface="微软雅黑" panose="020B0503020204020204" pitchFamily="34" charset="-122"/>
              </a:rPr>
              <a:t>12/12</a:t>
            </a:r>
            <a:endParaRPr lang="en-US" altLang="zh-CN" sz="1050" b="1" kern="0" dirty="0">
              <a:solidFill>
                <a:srgbClr val="242331"/>
              </a:solidFill>
              <a:latin typeface="微软雅黑" panose="020B0503020204020204" pitchFamily="34" charset="-122"/>
              <a:ea typeface="微软雅黑" panose="020B0503020204020204" pitchFamily="34" charset="-122"/>
            </a:endParaRPr>
          </a:p>
        </p:txBody>
      </p:sp>
      <p:sp>
        <p:nvSpPr>
          <p:cNvPr id="7" name="矩形 6"/>
          <p:cNvSpPr/>
          <p:nvPr/>
        </p:nvSpPr>
        <p:spPr>
          <a:xfrm>
            <a:off x="600518" y="2447458"/>
            <a:ext cx="1603185" cy="408288"/>
          </a:xfrm>
          <a:prstGeom prst="rect">
            <a:avLst/>
          </a:prstGeom>
          <a:noFill/>
          <a:ln w="6350" cap="flat" cmpd="sng" algn="ctr">
            <a:solidFill>
              <a:sysClr val="windowText" lastClr="000000"/>
            </a:solidFill>
            <a:prstDash val="solid"/>
          </a:ln>
          <a:effectLst/>
        </p:spPr>
        <p:txBody>
          <a:bodyPr rtlCol="0" anchor="ctr"/>
          <a:lstStyle/>
          <a:p>
            <a:pPr algn="ctr" defTabSz="1108075">
              <a:defRPr/>
            </a:pPr>
            <a:r>
              <a:rPr lang="zh-CN" altLang="en-US" sz="1050" b="1" kern="0" dirty="0">
                <a:solidFill>
                  <a:srgbClr val="242331"/>
                </a:solidFill>
                <a:latin typeface="微软雅黑" panose="020B0503020204020204" pitchFamily="34" charset="-122"/>
                <a:ea typeface="微软雅黑" panose="020B0503020204020204" pitchFamily="34" charset="-122"/>
              </a:rPr>
              <a:t> 产业发展运营中心</a:t>
            </a:r>
            <a:endParaRPr lang="en-US" altLang="zh-CN" sz="105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50" b="1" kern="0" dirty="0">
                <a:solidFill>
                  <a:srgbClr val="C00000"/>
                </a:solidFill>
                <a:latin typeface="微软雅黑" panose="020B0503020204020204" pitchFamily="34" charset="-122"/>
                <a:ea typeface="微软雅黑" panose="020B0503020204020204" pitchFamily="34" charset="-122"/>
              </a:rPr>
              <a:t>7/5</a:t>
            </a:r>
            <a:endParaRPr lang="en-US" altLang="zh-CN" sz="1050" b="1" kern="0" dirty="0">
              <a:solidFill>
                <a:srgbClr val="C00000"/>
              </a:solidFill>
              <a:latin typeface="微软雅黑" panose="020B0503020204020204" pitchFamily="34" charset="-122"/>
              <a:ea typeface="微软雅黑" panose="020B0503020204020204" pitchFamily="34" charset="-122"/>
            </a:endParaRPr>
          </a:p>
        </p:txBody>
      </p:sp>
      <p:sp>
        <p:nvSpPr>
          <p:cNvPr id="8" name="矩形 7"/>
          <p:cNvSpPr/>
          <p:nvPr/>
        </p:nvSpPr>
        <p:spPr>
          <a:xfrm>
            <a:off x="764456" y="3244152"/>
            <a:ext cx="457906"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计划</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运营</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C00000"/>
                </a:solidFill>
                <a:latin typeface="微软雅黑" panose="020B0503020204020204" pitchFamily="34" charset="-122"/>
                <a:ea typeface="微软雅黑" panose="020B0503020204020204" pitchFamily="34" charset="-122"/>
              </a:rPr>
              <a:t>2/1</a:t>
            </a:r>
            <a:endParaRPr lang="en-US" altLang="zh-CN" sz="1000" b="1" kern="0" dirty="0">
              <a:solidFill>
                <a:srgbClr val="C00000"/>
              </a:solidFill>
              <a:latin typeface="微软雅黑" panose="020B0503020204020204" pitchFamily="34" charset="-122"/>
              <a:ea typeface="微软雅黑" panose="020B0503020204020204" pitchFamily="34" charset="-122"/>
            </a:endParaRPr>
          </a:p>
        </p:txBody>
      </p:sp>
      <p:sp>
        <p:nvSpPr>
          <p:cNvPr id="9" name="矩形 8"/>
          <p:cNvSpPr/>
          <p:nvPr/>
        </p:nvSpPr>
        <p:spPr>
          <a:xfrm>
            <a:off x="1433211" y="3244153"/>
            <a:ext cx="499870"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产业发展</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C00000"/>
                </a:solidFill>
                <a:latin typeface="微软雅黑" panose="020B0503020204020204" pitchFamily="34" charset="-122"/>
                <a:ea typeface="微软雅黑" panose="020B0503020204020204" pitchFamily="34" charset="-122"/>
              </a:rPr>
              <a:t>4/3</a:t>
            </a:r>
            <a:endParaRPr lang="en-US" altLang="zh-CN" sz="1000" b="1" kern="0" dirty="0">
              <a:solidFill>
                <a:srgbClr val="C00000"/>
              </a:solidFill>
              <a:latin typeface="微软雅黑" panose="020B0503020204020204" pitchFamily="34" charset="-122"/>
              <a:ea typeface="微软雅黑" panose="020B0503020204020204" pitchFamily="34" charset="-122"/>
            </a:endParaRPr>
          </a:p>
        </p:txBody>
      </p:sp>
      <p:sp>
        <p:nvSpPr>
          <p:cNvPr id="10" name="矩形 9"/>
          <p:cNvSpPr/>
          <p:nvPr/>
        </p:nvSpPr>
        <p:spPr>
          <a:xfrm>
            <a:off x="6667814" y="3244151"/>
            <a:ext cx="464268" cy="665226"/>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法务内控</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2/2</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sp>
        <p:nvSpPr>
          <p:cNvPr id="11" name="矩形 10"/>
          <p:cNvSpPr/>
          <p:nvPr/>
        </p:nvSpPr>
        <p:spPr>
          <a:xfrm>
            <a:off x="5648725" y="3244151"/>
            <a:ext cx="475731" cy="665226"/>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行政管理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3/3</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sp>
        <p:nvSpPr>
          <p:cNvPr id="12" name="矩形 11"/>
          <p:cNvSpPr/>
          <p:nvPr/>
        </p:nvSpPr>
        <p:spPr>
          <a:xfrm>
            <a:off x="5101189" y="3244151"/>
            <a:ext cx="486055" cy="665226"/>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人力资源</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4/4</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sp>
        <p:nvSpPr>
          <p:cNvPr id="13" name="矩形 12"/>
          <p:cNvSpPr/>
          <p:nvPr/>
        </p:nvSpPr>
        <p:spPr>
          <a:xfrm>
            <a:off x="6166754" y="3244151"/>
            <a:ext cx="461476" cy="665226"/>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品牌管理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2/2</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cxnSp>
        <p:nvCxnSpPr>
          <p:cNvPr id="14" name="肘形连接符 13"/>
          <p:cNvCxnSpPr>
            <a:stCxn id="7" idx="0"/>
            <a:endCxn id="3" idx="2"/>
          </p:cNvCxnSpPr>
          <p:nvPr/>
        </p:nvCxnSpPr>
        <p:spPr>
          <a:xfrm rot="5400000" flipH="1" flipV="1">
            <a:off x="2930063" y="531098"/>
            <a:ext cx="388408" cy="3444315"/>
          </a:xfrm>
          <a:prstGeom prst="bentConnector3">
            <a:avLst/>
          </a:prstGeom>
          <a:noFill/>
          <a:ln w="12700" cap="flat" cmpd="sng" algn="ctr">
            <a:solidFill>
              <a:sysClr val="windowText" lastClr="000000"/>
            </a:solidFill>
            <a:prstDash val="solid"/>
          </a:ln>
          <a:effectLst/>
        </p:spPr>
      </p:cxnSp>
      <p:cxnSp>
        <p:nvCxnSpPr>
          <p:cNvPr id="15" name="肘形连接符 14"/>
          <p:cNvCxnSpPr>
            <a:stCxn id="5" idx="0"/>
            <a:endCxn id="3" idx="2"/>
          </p:cNvCxnSpPr>
          <p:nvPr/>
        </p:nvCxnSpPr>
        <p:spPr>
          <a:xfrm rot="5400000" flipH="1" flipV="1">
            <a:off x="4034164" y="1635200"/>
            <a:ext cx="388407" cy="1236112"/>
          </a:xfrm>
          <a:prstGeom prst="bentConnector3">
            <a:avLst/>
          </a:prstGeom>
          <a:noFill/>
          <a:ln w="12700" cap="flat" cmpd="sng" algn="ctr">
            <a:solidFill>
              <a:sysClr val="windowText" lastClr="000000"/>
            </a:solidFill>
            <a:prstDash val="solid"/>
          </a:ln>
          <a:effectLst/>
        </p:spPr>
      </p:cxnSp>
      <p:cxnSp>
        <p:nvCxnSpPr>
          <p:cNvPr id="16" name="肘形连接符 15"/>
          <p:cNvCxnSpPr>
            <a:stCxn id="6" idx="0"/>
            <a:endCxn id="3" idx="2"/>
          </p:cNvCxnSpPr>
          <p:nvPr/>
        </p:nvCxnSpPr>
        <p:spPr>
          <a:xfrm rot="16200000" flipV="1">
            <a:off x="5275139" y="1630337"/>
            <a:ext cx="388407" cy="1245836"/>
          </a:xfrm>
          <a:prstGeom prst="bentConnector3">
            <a:avLst/>
          </a:prstGeom>
          <a:noFill/>
          <a:ln w="12700" cap="flat" cmpd="sng" algn="ctr">
            <a:solidFill>
              <a:sysClr val="windowText" lastClr="000000"/>
            </a:solidFill>
            <a:prstDash val="solid"/>
          </a:ln>
          <a:effectLst/>
        </p:spPr>
      </p:cxnSp>
      <p:cxnSp>
        <p:nvCxnSpPr>
          <p:cNvPr id="17" name="肘形连接符 16"/>
          <p:cNvCxnSpPr>
            <a:stCxn id="42" idx="0"/>
            <a:endCxn id="3" idx="2"/>
          </p:cNvCxnSpPr>
          <p:nvPr/>
        </p:nvCxnSpPr>
        <p:spPr>
          <a:xfrm rot="16200000" flipV="1">
            <a:off x="6476043" y="429433"/>
            <a:ext cx="388114" cy="3647349"/>
          </a:xfrm>
          <a:prstGeom prst="bentConnector3">
            <a:avLst/>
          </a:prstGeom>
          <a:noFill/>
          <a:ln w="12700" cap="flat" cmpd="sng" algn="ctr">
            <a:solidFill>
              <a:sysClr val="windowText" lastClr="000000"/>
            </a:solidFill>
            <a:prstDash val="solid"/>
          </a:ln>
          <a:effectLst/>
        </p:spPr>
      </p:cxnSp>
      <p:cxnSp>
        <p:nvCxnSpPr>
          <p:cNvPr id="18" name="肘形连接符 17"/>
          <p:cNvCxnSpPr>
            <a:stCxn id="8" idx="0"/>
            <a:endCxn id="7" idx="2"/>
          </p:cNvCxnSpPr>
          <p:nvPr/>
        </p:nvCxnSpPr>
        <p:spPr>
          <a:xfrm rot="5400000" flipH="1" flipV="1">
            <a:off x="1003557" y="2845598"/>
            <a:ext cx="388406" cy="408702"/>
          </a:xfrm>
          <a:prstGeom prst="bentConnector3">
            <a:avLst/>
          </a:prstGeom>
          <a:noFill/>
          <a:ln w="12700" cap="flat" cmpd="sng" algn="ctr">
            <a:solidFill>
              <a:sysClr val="windowText" lastClr="000000"/>
            </a:solidFill>
            <a:prstDash val="solid"/>
          </a:ln>
          <a:effectLst/>
        </p:spPr>
      </p:cxnSp>
      <p:cxnSp>
        <p:nvCxnSpPr>
          <p:cNvPr id="19" name="肘形连接符 18"/>
          <p:cNvCxnSpPr>
            <a:stCxn id="9" idx="0"/>
            <a:endCxn id="7" idx="2"/>
          </p:cNvCxnSpPr>
          <p:nvPr/>
        </p:nvCxnSpPr>
        <p:spPr>
          <a:xfrm rot="16200000" flipV="1">
            <a:off x="1348425" y="2909431"/>
            <a:ext cx="388407" cy="281036"/>
          </a:xfrm>
          <a:prstGeom prst="bentConnector3">
            <a:avLst/>
          </a:prstGeom>
          <a:noFill/>
          <a:ln w="12700" cap="flat" cmpd="sng" algn="ctr">
            <a:solidFill>
              <a:sysClr val="windowText" lastClr="000000"/>
            </a:solidFill>
            <a:prstDash val="solid"/>
          </a:ln>
          <a:effectLst/>
        </p:spPr>
      </p:cxnSp>
      <p:cxnSp>
        <p:nvCxnSpPr>
          <p:cNvPr id="20" name="肘形连接符 19"/>
          <p:cNvCxnSpPr>
            <a:stCxn id="12" idx="0"/>
            <a:endCxn id="6" idx="2"/>
          </p:cNvCxnSpPr>
          <p:nvPr/>
        </p:nvCxnSpPr>
        <p:spPr>
          <a:xfrm rot="5400000" flipH="1" flipV="1">
            <a:off x="5524034" y="2675928"/>
            <a:ext cx="388405" cy="748043"/>
          </a:xfrm>
          <a:prstGeom prst="bentConnector3">
            <a:avLst/>
          </a:prstGeom>
          <a:noFill/>
          <a:ln w="12700" cap="flat" cmpd="sng" algn="ctr">
            <a:solidFill>
              <a:sysClr val="windowText" lastClr="000000"/>
            </a:solidFill>
            <a:prstDash val="solid"/>
          </a:ln>
          <a:effectLst/>
        </p:spPr>
      </p:cxnSp>
      <p:cxnSp>
        <p:nvCxnSpPr>
          <p:cNvPr id="21" name="肘形连接符 20"/>
          <p:cNvCxnSpPr>
            <a:stCxn id="11" idx="0"/>
            <a:endCxn id="6" idx="2"/>
          </p:cNvCxnSpPr>
          <p:nvPr/>
        </p:nvCxnSpPr>
        <p:spPr>
          <a:xfrm rot="5400000" flipH="1" flipV="1">
            <a:off x="5795222" y="2947114"/>
            <a:ext cx="388405" cy="205668"/>
          </a:xfrm>
          <a:prstGeom prst="bentConnector3">
            <a:avLst/>
          </a:prstGeom>
          <a:noFill/>
          <a:ln w="12700" cap="flat" cmpd="sng" algn="ctr">
            <a:solidFill>
              <a:sysClr val="windowText" lastClr="000000"/>
            </a:solidFill>
            <a:prstDash val="solid"/>
          </a:ln>
          <a:effectLst/>
        </p:spPr>
      </p:cxnSp>
      <p:cxnSp>
        <p:nvCxnSpPr>
          <p:cNvPr id="22" name="肘形连接符 21"/>
          <p:cNvCxnSpPr>
            <a:stCxn id="13" idx="0"/>
            <a:endCxn id="6" idx="2"/>
          </p:cNvCxnSpPr>
          <p:nvPr/>
        </p:nvCxnSpPr>
        <p:spPr>
          <a:xfrm rot="16200000" flipV="1">
            <a:off x="6050674" y="2897331"/>
            <a:ext cx="388405" cy="305234"/>
          </a:xfrm>
          <a:prstGeom prst="bentConnector3">
            <a:avLst/>
          </a:prstGeom>
          <a:noFill/>
          <a:ln w="12700" cap="flat" cmpd="sng" algn="ctr">
            <a:solidFill>
              <a:sysClr val="windowText" lastClr="000000"/>
            </a:solidFill>
            <a:prstDash val="solid"/>
          </a:ln>
          <a:effectLst/>
        </p:spPr>
      </p:cxnSp>
      <p:cxnSp>
        <p:nvCxnSpPr>
          <p:cNvPr id="23" name="肘形连接符 22"/>
          <p:cNvCxnSpPr>
            <a:stCxn id="10" idx="0"/>
            <a:endCxn id="6" idx="2"/>
          </p:cNvCxnSpPr>
          <p:nvPr/>
        </p:nvCxnSpPr>
        <p:spPr>
          <a:xfrm rot="16200000" flipV="1">
            <a:off x="6301901" y="2646104"/>
            <a:ext cx="388405" cy="807689"/>
          </a:xfrm>
          <a:prstGeom prst="bentConnector3">
            <a:avLst/>
          </a:prstGeom>
          <a:noFill/>
          <a:ln w="12700" cap="flat" cmpd="sng" algn="ctr">
            <a:solidFill>
              <a:sysClr val="windowText" lastClr="000000"/>
            </a:solidFill>
            <a:prstDash val="solid"/>
          </a:ln>
          <a:effectLst/>
        </p:spPr>
      </p:cxnSp>
      <p:sp>
        <p:nvSpPr>
          <p:cNvPr id="24" name="文本框 23"/>
          <p:cNvSpPr txBox="1"/>
          <p:nvPr/>
        </p:nvSpPr>
        <p:spPr>
          <a:xfrm>
            <a:off x="1582096" y="3984072"/>
            <a:ext cx="1897942" cy="243205"/>
          </a:xfrm>
          <a:prstGeom prst="rect">
            <a:avLst/>
          </a:prstGeom>
          <a:noFill/>
        </p:spPr>
        <p:txBody>
          <a:bodyPr wrap="square" rtlCol="0">
            <a:spAutoFit/>
          </a:bodyPr>
          <a:lstStyle/>
          <a:p>
            <a:pPr defTabSz="913765">
              <a:defRPr/>
            </a:pPr>
            <a:r>
              <a:rPr lang="zh-CN" altLang="en-US" sz="990" b="1" dirty="0">
                <a:solidFill>
                  <a:srgbClr val="242331"/>
                </a:solidFill>
                <a:latin typeface="微软雅黑" panose="020B0503020204020204" pitchFamily="34" charset="-122"/>
                <a:ea typeface="微软雅黑" panose="020B0503020204020204" pitchFamily="34" charset="-122"/>
              </a:rPr>
              <a:t>产业业务</a:t>
            </a:r>
            <a:endParaRPr lang="zh-CN" altLang="en-US" sz="990" b="1" dirty="0">
              <a:solidFill>
                <a:srgbClr val="242331"/>
              </a:solidFill>
              <a:latin typeface="微软雅黑" panose="020B0503020204020204" pitchFamily="34" charset="-122"/>
              <a:ea typeface="微软雅黑" panose="020B0503020204020204" pitchFamily="34" charset="-122"/>
            </a:endParaRPr>
          </a:p>
        </p:txBody>
      </p:sp>
      <p:sp>
        <p:nvSpPr>
          <p:cNvPr id="25" name="文本框 24"/>
          <p:cNvSpPr txBox="1"/>
          <p:nvPr/>
        </p:nvSpPr>
        <p:spPr>
          <a:xfrm>
            <a:off x="5549600" y="3984072"/>
            <a:ext cx="1451372" cy="243205"/>
          </a:xfrm>
          <a:prstGeom prst="rect">
            <a:avLst/>
          </a:prstGeom>
          <a:noFill/>
        </p:spPr>
        <p:txBody>
          <a:bodyPr wrap="square" rtlCol="0">
            <a:spAutoFit/>
          </a:bodyPr>
          <a:lstStyle/>
          <a:p>
            <a:pPr defTabSz="913765">
              <a:defRPr/>
            </a:pPr>
            <a:r>
              <a:rPr lang="zh-CN" altLang="en-US" sz="990" b="1" dirty="0">
                <a:solidFill>
                  <a:srgbClr val="242331"/>
                </a:solidFill>
                <a:latin typeface="微软雅黑" panose="020B0503020204020204" pitchFamily="34" charset="-122"/>
                <a:ea typeface="微软雅黑" panose="020B0503020204020204" pitchFamily="34" charset="-122"/>
              </a:rPr>
              <a:t>酒店业务</a:t>
            </a:r>
            <a:endParaRPr lang="zh-CN" altLang="en-US" sz="990" b="1" dirty="0">
              <a:solidFill>
                <a:srgbClr val="242331"/>
              </a:solidFill>
              <a:latin typeface="微软雅黑" panose="020B0503020204020204" pitchFamily="34" charset="-122"/>
              <a:ea typeface="微软雅黑" panose="020B0503020204020204" pitchFamily="34" charset="-122"/>
            </a:endParaRPr>
          </a:p>
        </p:txBody>
      </p:sp>
      <p:sp>
        <p:nvSpPr>
          <p:cNvPr id="26" name="文本框 25"/>
          <p:cNvSpPr txBox="1"/>
          <p:nvPr/>
        </p:nvSpPr>
        <p:spPr>
          <a:xfrm>
            <a:off x="8329673" y="3985090"/>
            <a:ext cx="1481724" cy="243205"/>
          </a:xfrm>
          <a:prstGeom prst="rect">
            <a:avLst/>
          </a:prstGeom>
          <a:noFill/>
        </p:spPr>
        <p:txBody>
          <a:bodyPr wrap="square" rtlCol="0">
            <a:spAutoFit/>
          </a:bodyPr>
          <a:lstStyle/>
          <a:p>
            <a:pPr defTabSz="913765">
              <a:defRPr/>
            </a:pPr>
            <a:r>
              <a:rPr lang="zh-CN" altLang="en-US" sz="990" b="1" dirty="0">
                <a:solidFill>
                  <a:srgbClr val="242331"/>
                </a:solidFill>
                <a:latin typeface="微软雅黑" panose="020B0503020204020204" pitchFamily="34" charset="-122"/>
                <a:ea typeface="微软雅黑" panose="020B0503020204020204" pitchFamily="34" charset="-122"/>
              </a:rPr>
              <a:t>公寓业务</a:t>
            </a:r>
            <a:endParaRPr lang="zh-CN" altLang="en-US" sz="990" b="1" dirty="0">
              <a:solidFill>
                <a:srgbClr val="242331"/>
              </a:solidFill>
              <a:latin typeface="微软雅黑" panose="020B0503020204020204" pitchFamily="34" charset="-122"/>
              <a:ea typeface="微软雅黑" panose="020B0503020204020204" pitchFamily="34" charset="-122"/>
            </a:endParaRPr>
          </a:p>
        </p:txBody>
      </p:sp>
      <p:sp>
        <p:nvSpPr>
          <p:cNvPr id="27" name="矩形 26"/>
          <p:cNvSpPr/>
          <p:nvPr/>
        </p:nvSpPr>
        <p:spPr>
          <a:xfrm>
            <a:off x="4256936" y="4293973"/>
            <a:ext cx="611657" cy="565313"/>
          </a:xfrm>
          <a:prstGeom prst="rect">
            <a:avLst/>
          </a:prstGeom>
          <a:solidFill>
            <a:sysClr val="window" lastClr="FFFFFF"/>
          </a:solidFill>
          <a:ln w="15875" cap="flat" cmpd="sng" algn="ctr">
            <a:solidFill>
              <a:srgbClr val="B27D49"/>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深圳</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吉酒店</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800" b="1" kern="0" dirty="0">
                <a:solidFill>
                  <a:srgbClr val="FF0000"/>
                </a:solidFill>
                <a:latin typeface="微软雅黑" panose="020B0503020204020204" pitchFamily="34" charset="-122"/>
                <a:ea typeface="微软雅黑" panose="020B0503020204020204" pitchFamily="34" charset="-122"/>
              </a:rPr>
              <a:t>219/212</a:t>
            </a:r>
            <a:endParaRPr lang="en-US" altLang="zh-CN" sz="800" b="1" kern="0" dirty="0">
              <a:solidFill>
                <a:srgbClr val="FF0000"/>
              </a:solidFill>
              <a:latin typeface="微软雅黑" panose="020B0503020204020204" pitchFamily="34" charset="-122"/>
              <a:ea typeface="微软雅黑" panose="020B0503020204020204" pitchFamily="34" charset="-122"/>
            </a:endParaRPr>
          </a:p>
        </p:txBody>
      </p:sp>
      <p:sp>
        <p:nvSpPr>
          <p:cNvPr id="28" name="矩形 27"/>
          <p:cNvSpPr/>
          <p:nvPr/>
        </p:nvSpPr>
        <p:spPr>
          <a:xfrm>
            <a:off x="4936178" y="4293973"/>
            <a:ext cx="611657" cy="565313"/>
          </a:xfrm>
          <a:prstGeom prst="rect">
            <a:avLst/>
          </a:prstGeom>
          <a:solidFill>
            <a:sysClr val="window" lastClr="FFFFFF"/>
          </a:solidFill>
          <a:ln w="15875" cap="flat" cmpd="sng" algn="ctr">
            <a:solidFill>
              <a:srgbClr val="B27D49"/>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东山</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酒店</a:t>
            </a:r>
            <a:endParaRPr lang="en-US" altLang="zh-CN" sz="66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825" b="1" kern="0" dirty="0">
                <a:solidFill>
                  <a:srgbClr val="FF0000"/>
                </a:solidFill>
                <a:latin typeface="微软雅黑" panose="020B0503020204020204" pitchFamily="34" charset="-122"/>
                <a:ea typeface="微软雅黑" panose="020B0503020204020204" pitchFamily="34" charset="-122"/>
              </a:rPr>
              <a:t>61/42</a:t>
            </a:r>
            <a:endParaRPr lang="en-US" altLang="zh-CN" sz="825" b="1" kern="0" dirty="0">
              <a:solidFill>
                <a:srgbClr val="FF0000"/>
              </a:solidFill>
              <a:latin typeface="微软雅黑" panose="020B0503020204020204" pitchFamily="34" charset="-122"/>
              <a:ea typeface="微软雅黑" panose="020B0503020204020204" pitchFamily="34" charset="-122"/>
            </a:endParaRPr>
          </a:p>
        </p:txBody>
      </p:sp>
      <p:sp>
        <p:nvSpPr>
          <p:cNvPr id="29" name="矩形 28"/>
          <p:cNvSpPr/>
          <p:nvPr/>
        </p:nvSpPr>
        <p:spPr>
          <a:xfrm>
            <a:off x="5615419" y="4293974"/>
            <a:ext cx="611657" cy="561043"/>
          </a:xfrm>
          <a:prstGeom prst="rect">
            <a:avLst/>
          </a:prstGeom>
          <a:solidFill>
            <a:sysClr val="window" lastClr="FFFFFF"/>
          </a:solidFill>
          <a:ln w="15875" cap="flat" cmpd="sng" algn="ctr">
            <a:solidFill>
              <a:srgbClr val="B27D49"/>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星度假酒店</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825" b="1" kern="0" dirty="0">
                <a:solidFill>
                  <a:srgbClr val="FF0000"/>
                </a:solidFill>
                <a:latin typeface="微软雅黑" panose="020B0503020204020204" pitchFamily="34" charset="-122"/>
                <a:ea typeface="微软雅黑" panose="020B0503020204020204" pitchFamily="34" charset="-122"/>
              </a:rPr>
              <a:t>102/99</a:t>
            </a:r>
            <a:endParaRPr lang="en-US" altLang="zh-CN" sz="825" b="1" kern="0" dirty="0">
              <a:solidFill>
                <a:srgbClr val="FF0000"/>
              </a:solidFill>
              <a:latin typeface="微软雅黑" panose="020B0503020204020204" pitchFamily="34" charset="-122"/>
              <a:ea typeface="微软雅黑" panose="020B0503020204020204" pitchFamily="34" charset="-122"/>
            </a:endParaRPr>
          </a:p>
        </p:txBody>
      </p:sp>
      <p:sp>
        <p:nvSpPr>
          <p:cNvPr id="30" name="矩形 29"/>
          <p:cNvSpPr/>
          <p:nvPr/>
        </p:nvSpPr>
        <p:spPr>
          <a:xfrm>
            <a:off x="6973900" y="4293974"/>
            <a:ext cx="611657" cy="561043"/>
          </a:xfrm>
          <a:prstGeom prst="rect">
            <a:avLst/>
          </a:prstGeom>
          <a:solidFill>
            <a:sysClr val="window" lastClr="FFFFFF"/>
          </a:solidFill>
          <a:ln w="15875" cap="flat" cmpd="sng" algn="ctr">
            <a:solidFill>
              <a:srgbClr val="B27D49"/>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上海</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吉酒店</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800" b="1" kern="0" dirty="0">
                <a:solidFill>
                  <a:srgbClr val="242331"/>
                </a:solidFill>
                <a:latin typeface="微软雅黑" panose="020B0503020204020204" pitchFamily="34" charset="-122"/>
                <a:ea typeface="微软雅黑" panose="020B0503020204020204" pitchFamily="34" charset="-122"/>
              </a:rPr>
              <a:t>101/101</a:t>
            </a:r>
            <a:endParaRPr lang="en-US" altLang="zh-CN" sz="800" b="1" kern="0" dirty="0">
              <a:solidFill>
                <a:srgbClr val="242331"/>
              </a:solidFill>
              <a:latin typeface="微软雅黑" panose="020B0503020204020204" pitchFamily="34" charset="-122"/>
              <a:ea typeface="微软雅黑" panose="020B0503020204020204" pitchFamily="34" charset="-122"/>
            </a:endParaRPr>
          </a:p>
        </p:txBody>
      </p:sp>
      <p:sp>
        <p:nvSpPr>
          <p:cNvPr id="31" name="矩形 30"/>
          <p:cNvSpPr/>
          <p:nvPr/>
        </p:nvSpPr>
        <p:spPr>
          <a:xfrm>
            <a:off x="7783053" y="4294993"/>
            <a:ext cx="611657" cy="561043"/>
          </a:xfrm>
          <a:prstGeom prst="rect">
            <a:avLst/>
          </a:prstGeom>
          <a:solidFill>
            <a:sysClr val="window" lastClr="FFFFFF"/>
          </a:solidFill>
          <a:ln w="15875" cap="flat" cmpd="sng" algn="ctr">
            <a:solidFill>
              <a:srgbClr val="A5300F"/>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郡寓</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项目</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990" b="1" kern="0" dirty="0">
                <a:solidFill>
                  <a:srgbClr val="FF0000"/>
                </a:solidFill>
                <a:latin typeface="微软雅黑" panose="020B0503020204020204" pitchFamily="34" charset="-122"/>
                <a:ea typeface="微软雅黑" panose="020B0503020204020204" pitchFamily="34" charset="-122"/>
              </a:rPr>
              <a:t>13/20</a:t>
            </a:r>
            <a:endParaRPr lang="en-US" altLang="zh-CN" sz="990" b="1" kern="0" dirty="0">
              <a:solidFill>
                <a:srgbClr val="FF0000"/>
              </a:solidFill>
              <a:latin typeface="微软雅黑" panose="020B0503020204020204" pitchFamily="34" charset="-122"/>
              <a:ea typeface="微软雅黑" panose="020B0503020204020204" pitchFamily="34" charset="-122"/>
            </a:endParaRPr>
          </a:p>
        </p:txBody>
      </p:sp>
      <p:sp>
        <p:nvSpPr>
          <p:cNvPr id="32" name="矩形 31"/>
          <p:cNvSpPr/>
          <p:nvPr/>
        </p:nvSpPr>
        <p:spPr>
          <a:xfrm>
            <a:off x="8462294" y="4294993"/>
            <a:ext cx="611657" cy="561043"/>
          </a:xfrm>
          <a:prstGeom prst="rect">
            <a:avLst/>
          </a:prstGeom>
          <a:solidFill>
            <a:sysClr val="window" lastClr="FFFFFF"/>
          </a:solidFill>
          <a:ln w="15875" cap="flat" cmpd="sng" algn="ctr">
            <a:solidFill>
              <a:srgbClr val="A5300F"/>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盟客</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项目</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990" b="1" kern="0" dirty="0">
                <a:solidFill>
                  <a:srgbClr val="FF0000"/>
                </a:solidFill>
                <a:latin typeface="微软雅黑" panose="020B0503020204020204" pitchFamily="34" charset="-122"/>
                <a:ea typeface="微软雅黑" panose="020B0503020204020204" pitchFamily="34" charset="-122"/>
              </a:rPr>
              <a:t>15/18</a:t>
            </a:r>
            <a:endParaRPr lang="en-US" altLang="zh-CN" sz="990" b="1" kern="0" dirty="0">
              <a:solidFill>
                <a:srgbClr val="FF0000"/>
              </a:solidFill>
              <a:latin typeface="微软雅黑" panose="020B0503020204020204" pitchFamily="34" charset="-122"/>
              <a:ea typeface="微软雅黑" panose="020B0503020204020204" pitchFamily="34" charset="-122"/>
            </a:endParaRPr>
          </a:p>
        </p:txBody>
      </p:sp>
      <p:sp>
        <p:nvSpPr>
          <p:cNvPr id="33" name="矩形 32"/>
          <p:cNvSpPr/>
          <p:nvPr/>
        </p:nvSpPr>
        <p:spPr>
          <a:xfrm>
            <a:off x="9141529" y="4294993"/>
            <a:ext cx="611657" cy="561043"/>
          </a:xfrm>
          <a:prstGeom prst="rect">
            <a:avLst/>
          </a:prstGeom>
          <a:solidFill>
            <a:sysClr val="window" lastClr="FFFFFF"/>
          </a:solidFill>
          <a:ln w="15875" cap="flat" cmpd="sng" algn="ctr">
            <a:solidFill>
              <a:srgbClr val="A5300F"/>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类住宅</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项目</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990" b="1" kern="0" dirty="0">
                <a:solidFill>
                  <a:srgbClr val="242331"/>
                </a:solidFill>
                <a:latin typeface="微软雅黑" panose="020B0503020204020204" pitchFamily="34" charset="-122"/>
                <a:ea typeface="微软雅黑" panose="020B0503020204020204" pitchFamily="34" charset="-122"/>
              </a:rPr>
              <a:t>6/6</a:t>
            </a:r>
            <a:endParaRPr lang="en-US" altLang="zh-CN" sz="990" b="1" kern="0" dirty="0">
              <a:solidFill>
                <a:srgbClr val="242331"/>
              </a:solidFill>
              <a:latin typeface="微软雅黑" panose="020B0503020204020204" pitchFamily="34" charset="-122"/>
              <a:ea typeface="微软雅黑" panose="020B0503020204020204" pitchFamily="34" charset="-122"/>
            </a:endParaRPr>
          </a:p>
        </p:txBody>
      </p:sp>
      <p:sp>
        <p:nvSpPr>
          <p:cNvPr id="34" name="矩形 33"/>
          <p:cNvSpPr/>
          <p:nvPr/>
        </p:nvSpPr>
        <p:spPr>
          <a:xfrm>
            <a:off x="6294658" y="4293974"/>
            <a:ext cx="611657" cy="561043"/>
          </a:xfrm>
          <a:prstGeom prst="rect">
            <a:avLst/>
          </a:prstGeom>
          <a:solidFill>
            <a:sysClr val="window" lastClr="FFFFFF"/>
          </a:solidFill>
          <a:ln w="15875" cap="flat" cmpd="sng" algn="ctr">
            <a:solidFill>
              <a:srgbClr val="B27D49"/>
            </a:solidFill>
            <a:prstDash val="solid"/>
          </a:ln>
          <a:effectLst/>
        </p:spPr>
        <p:txBody>
          <a:bodyPr rtlCol="0" anchor="ctr"/>
          <a:lstStyle/>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广州</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zh-CN" altLang="en-US" sz="990" b="1" kern="0" dirty="0">
                <a:solidFill>
                  <a:srgbClr val="242331"/>
                </a:solidFill>
                <a:latin typeface="微软雅黑" panose="020B0503020204020204" pitchFamily="34" charset="-122"/>
                <a:ea typeface="微软雅黑" panose="020B0503020204020204" pitchFamily="34" charset="-122"/>
              </a:rPr>
              <a:t>吉酒店</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913765">
              <a:defRPr/>
            </a:pPr>
            <a:r>
              <a:rPr lang="en-US" altLang="zh-CN" sz="800" b="1" kern="0" dirty="0">
                <a:solidFill>
                  <a:srgbClr val="FF0000"/>
                </a:solidFill>
                <a:latin typeface="微软雅黑" panose="020B0503020204020204" pitchFamily="34" charset="-122"/>
                <a:ea typeface="微软雅黑" panose="020B0503020204020204" pitchFamily="34" charset="-122"/>
              </a:rPr>
              <a:t>136/125</a:t>
            </a:r>
            <a:endParaRPr lang="en-US" altLang="zh-CN" sz="800" b="1" kern="0" dirty="0">
              <a:solidFill>
                <a:srgbClr val="FF0000"/>
              </a:solidFill>
              <a:latin typeface="微软雅黑" panose="020B0503020204020204" pitchFamily="34" charset="-122"/>
              <a:ea typeface="微软雅黑" panose="020B0503020204020204" pitchFamily="34" charset="-122"/>
            </a:endParaRPr>
          </a:p>
        </p:txBody>
      </p:sp>
      <p:sp>
        <p:nvSpPr>
          <p:cNvPr id="35" name="矩形 34"/>
          <p:cNvSpPr/>
          <p:nvPr/>
        </p:nvSpPr>
        <p:spPr>
          <a:xfrm>
            <a:off x="2994394" y="4293973"/>
            <a:ext cx="460050" cy="565313"/>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华南</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产业</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FF0000"/>
                </a:solidFill>
                <a:latin typeface="微软雅黑" panose="020B0503020204020204" pitchFamily="34" charset="-122"/>
                <a:ea typeface="微软雅黑" panose="020B0503020204020204" pitchFamily="34" charset="-122"/>
              </a:rPr>
              <a:t>23/24</a:t>
            </a:r>
            <a:endParaRPr lang="en-US" altLang="zh-CN" sz="660" b="1" kern="0" dirty="0">
              <a:solidFill>
                <a:srgbClr val="FF0000"/>
              </a:solidFill>
              <a:latin typeface="微软雅黑" panose="020B0503020204020204" pitchFamily="34" charset="-122"/>
              <a:ea typeface="微软雅黑" panose="020B0503020204020204" pitchFamily="34" charset="-122"/>
            </a:endParaRPr>
          </a:p>
        </p:txBody>
      </p:sp>
      <p:sp>
        <p:nvSpPr>
          <p:cNvPr id="36" name="矩形 35"/>
          <p:cNvSpPr/>
          <p:nvPr/>
        </p:nvSpPr>
        <p:spPr>
          <a:xfrm>
            <a:off x="1263473" y="4293975"/>
            <a:ext cx="460047" cy="556611"/>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南京</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产业</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242331"/>
                </a:solidFill>
                <a:latin typeface="微软雅黑" panose="020B0503020204020204" pitchFamily="34" charset="-122"/>
                <a:ea typeface="微软雅黑" panose="020B0503020204020204" pitchFamily="34" charset="-122"/>
              </a:rPr>
              <a:t>35/35</a:t>
            </a:r>
            <a:r>
              <a:rPr lang="zh-CN" altLang="en-US" sz="700" b="1" kern="0" dirty="0">
                <a:solidFill>
                  <a:srgbClr val="242331"/>
                </a:solidFill>
                <a:latin typeface="微软雅黑" panose="020B0503020204020204" pitchFamily="34" charset="-122"/>
                <a:ea typeface="微软雅黑" panose="020B0503020204020204" pitchFamily="34" charset="-122"/>
              </a:rPr>
              <a:t> </a:t>
            </a:r>
            <a:endParaRPr lang="en-US" altLang="zh-CN" sz="700" b="1" kern="0" dirty="0">
              <a:solidFill>
                <a:srgbClr val="242331"/>
              </a:solidFill>
              <a:latin typeface="微软雅黑" panose="020B0503020204020204" pitchFamily="34" charset="-122"/>
              <a:ea typeface="微软雅黑" panose="020B0503020204020204" pitchFamily="34" charset="-122"/>
            </a:endParaRPr>
          </a:p>
        </p:txBody>
      </p:sp>
      <p:sp>
        <p:nvSpPr>
          <p:cNvPr id="37" name="矩形 36"/>
          <p:cNvSpPr/>
          <p:nvPr/>
        </p:nvSpPr>
        <p:spPr>
          <a:xfrm>
            <a:off x="109527" y="4293973"/>
            <a:ext cx="460048" cy="565313"/>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惠州</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产业</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FF0000"/>
                </a:solidFill>
                <a:latin typeface="微软雅黑" panose="020B0503020204020204" pitchFamily="34" charset="-122"/>
                <a:ea typeface="微软雅黑" panose="020B0503020204020204" pitchFamily="34" charset="-122"/>
              </a:rPr>
              <a:t>58/47</a:t>
            </a:r>
            <a:endParaRPr lang="en-US" altLang="zh-CN" sz="660" b="1" kern="0" dirty="0">
              <a:solidFill>
                <a:srgbClr val="FF0000"/>
              </a:solidFill>
              <a:latin typeface="微软雅黑" panose="020B0503020204020204" pitchFamily="34" charset="-122"/>
              <a:ea typeface="微软雅黑" panose="020B0503020204020204" pitchFamily="34" charset="-122"/>
            </a:endParaRPr>
          </a:p>
        </p:txBody>
      </p:sp>
      <p:sp>
        <p:nvSpPr>
          <p:cNvPr id="38" name="矩形 37"/>
          <p:cNvSpPr/>
          <p:nvPr/>
        </p:nvSpPr>
        <p:spPr>
          <a:xfrm>
            <a:off x="2417421" y="4293973"/>
            <a:ext cx="460047" cy="565313"/>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深圳</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产业</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FF0000"/>
                </a:solidFill>
                <a:latin typeface="微软雅黑" panose="020B0503020204020204" pitchFamily="34" charset="-122"/>
                <a:ea typeface="微软雅黑" panose="020B0503020204020204" pitchFamily="34" charset="-122"/>
              </a:rPr>
              <a:t>65/68</a:t>
            </a:r>
            <a:endParaRPr lang="zh-CN" altLang="en-US" sz="660" b="1" kern="0" dirty="0">
              <a:solidFill>
                <a:srgbClr val="FF0000"/>
              </a:solidFill>
              <a:latin typeface="微软雅黑" panose="020B0503020204020204" pitchFamily="34" charset="-122"/>
              <a:ea typeface="微软雅黑" panose="020B0503020204020204" pitchFamily="34" charset="-122"/>
            </a:endParaRPr>
          </a:p>
        </p:txBody>
      </p:sp>
      <p:sp>
        <p:nvSpPr>
          <p:cNvPr id="39" name="矩形 38"/>
          <p:cNvSpPr/>
          <p:nvPr/>
        </p:nvSpPr>
        <p:spPr>
          <a:xfrm>
            <a:off x="686501" y="4293973"/>
            <a:ext cx="460047" cy="565313"/>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成都</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产业</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242331"/>
                </a:solidFill>
                <a:latin typeface="微软雅黑" panose="020B0503020204020204" pitchFamily="34" charset="-122"/>
                <a:ea typeface="微软雅黑" panose="020B0503020204020204" pitchFamily="34" charset="-122"/>
              </a:rPr>
              <a:t>13/13</a:t>
            </a:r>
            <a:endParaRPr lang="en-US" altLang="zh-CN" sz="660" b="1" kern="0" dirty="0">
              <a:solidFill>
                <a:srgbClr val="242331"/>
              </a:solidFill>
              <a:latin typeface="微软雅黑" panose="020B0503020204020204" pitchFamily="34" charset="-122"/>
              <a:ea typeface="微软雅黑" panose="020B0503020204020204" pitchFamily="34" charset="-122"/>
            </a:endParaRPr>
          </a:p>
        </p:txBody>
      </p:sp>
      <p:sp>
        <p:nvSpPr>
          <p:cNvPr id="40" name="矩形 39"/>
          <p:cNvSpPr/>
          <p:nvPr/>
        </p:nvSpPr>
        <p:spPr>
          <a:xfrm>
            <a:off x="1840447" y="4293975"/>
            <a:ext cx="460048" cy="556611"/>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苏州</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产业</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242331"/>
                </a:solidFill>
                <a:latin typeface="微软雅黑" panose="020B0503020204020204" pitchFamily="34" charset="-122"/>
                <a:ea typeface="微软雅黑" panose="020B0503020204020204" pitchFamily="34" charset="-122"/>
              </a:rPr>
              <a:t>13/13</a:t>
            </a:r>
            <a:endParaRPr lang="en-US" altLang="zh-CN" sz="660" b="1" kern="0" dirty="0">
              <a:solidFill>
                <a:srgbClr val="242331"/>
              </a:solidFill>
              <a:latin typeface="微软雅黑" panose="020B0503020204020204" pitchFamily="34" charset="-122"/>
              <a:ea typeface="微软雅黑" panose="020B0503020204020204" pitchFamily="34" charset="-122"/>
            </a:endParaRPr>
          </a:p>
        </p:txBody>
      </p:sp>
      <p:sp>
        <p:nvSpPr>
          <p:cNvPr id="41" name="矩形 40"/>
          <p:cNvSpPr/>
          <p:nvPr/>
        </p:nvSpPr>
        <p:spPr>
          <a:xfrm>
            <a:off x="4253653" y="4924617"/>
            <a:ext cx="902092" cy="279492"/>
          </a:xfrm>
          <a:prstGeom prst="rect">
            <a:avLst/>
          </a:prstGeom>
          <a:solidFill>
            <a:sysClr val="window" lastClr="FFFFFF"/>
          </a:solidFill>
          <a:ln w="15875" cap="flat" cmpd="sng" algn="ctr">
            <a:solidFill>
              <a:srgbClr val="0070C0"/>
            </a:solidFill>
            <a:prstDash val="solid"/>
          </a:ln>
          <a:effectLst/>
        </p:spPr>
        <p:txBody>
          <a:bodyPr rtlCol="0" anchor="ctr"/>
          <a:lstStyle/>
          <a:p>
            <a:pPr algn="ctr" defTabSz="913765">
              <a:defRPr/>
            </a:pPr>
            <a:r>
              <a:rPr lang="zh-CN" altLang="en-US" sz="910" b="1" kern="0" dirty="0">
                <a:solidFill>
                  <a:prstClr val="black"/>
                </a:solidFill>
                <a:latin typeface="微软雅黑" panose="020B0503020204020204" pitchFamily="34" charset="-122"/>
                <a:ea typeface="微软雅黑" panose="020B0503020204020204" pitchFamily="34" charset="-122"/>
              </a:rPr>
              <a:t>深圳丽思酒店</a:t>
            </a:r>
            <a:endParaRPr lang="en-US" altLang="zh-CN" sz="910" b="1" kern="0" dirty="0">
              <a:solidFill>
                <a:prstClr val="black"/>
              </a:solidFill>
              <a:latin typeface="微软雅黑" panose="020B0503020204020204" pitchFamily="34" charset="-122"/>
              <a:ea typeface="微软雅黑" panose="020B0503020204020204" pitchFamily="34" charset="-122"/>
            </a:endParaRPr>
          </a:p>
        </p:txBody>
      </p:sp>
      <p:sp>
        <p:nvSpPr>
          <p:cNvPr id="42" name="矩形 41"/>
          <p:cNvSpPr/>
          <p:nvPr/>
        </p:nvSpPr>
        <p:spPr>
          <a:xfrm>
            <a:off x="7783053" y="2447164"/>
            <a:ext cx="1421440" cy="408288"/>
          </a:xfrm>
          <a:prstGeom prst="rect">
            <a:avLst/>
          </a:prstGeom>
          <a:noFill/>
          <a:ln w="6350" cap="flat" cmpd="sng" algn="ctr">
            <a:solidFill>
              <a:sysClr val="windowText" lastClr="000000"/>
            </a:solidFill>
            <a:prstDash val="solid"/>
          </a:ln>
          <a:effectLst/>
        </p:spPr>
        <p:txBody>
          <a:bodyPr rtlCol="0" anchor="ctr"/>
          <a:lstStyle/>
          <a:p>
            <a:pPr algn="ctr" defTabSz="1108075">
              <a:defRPr/>
            </a:pPr>
            <a:r>
              <a:rPr lang="zh-CN" altLang="en-US" sz="1050" b="1" kern="0" dirty="0">
                <a:solidFill>
                  <a:srgbClr val="242331"/>
                </a:solidFill>
                <a:latin typeface="微软雅黑" panose="020B0503020204020204" pitchFamily="34" charset="-122"/>
                <a:ea typeface="微软雅黑" panose="020B0503020204020204" pitchFamily="34" charset="-122"/>
              </a:rPr>
              <a:t>酒店公寓事业部</a:t>
            </a:r>
            <a:endParaRPr lang="en-US" altLang="zh-CN" sz="105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50" b="1" kern="0" dirty="0">
                <a:solidFill>
                  <a:srgbClr val="242331"/>
                </a:solidFill>
                <a:latin typeface="微软雅黑" panose="020B0503020204020204" pitchFamily="34" charset="-122"/>
                <a:ea typeface="微软雅黑" panose="020B0503020204020204" pitchFamily="34" charset="-122"/>
              </a:rPr>
              <a:t>11/11</a:t>
            </a:r>
            <a:endParaRPr lang="en-US" altLang="zh-CN" sz="1050" b="1" kern="0" dirty="0">
              <a:solidFill>
                <a:srgbClr val="242331"/>
              </a:solidFill>
              <a:latin typeface="微软雅黑" panose="020B0503020204020204" pitchFamily="34" charset="-122"/>
              <a:ea typeface="微软雅黑" panose="020B0503020204020204" pitchFamily="34" charset="-122"/>
            </a:endParaRPr>
          </a:p>
        </p:txBody>
      </p:sp>
      <p:cxnSp>
        <p:nvCxnSpPr>
          <p:cNvPr id="43" name="直接连接符 42"/>
          <p:cNvCxnSpPr/>
          <p:nvPr/>
        </p:nvCxnSpPr>
        <p:spPr>
          <a:xfrm>
            <a:off x="4171187" y="4075554"/>
            <a:ext cx="0" cy="1201591"/>
          </a:xfrm>
          <a:prstGeom prst="line">
            <a:avLst/>
          </a:prstGeom>
          <a:noFill/>
          <a:ln w="19050" cap="flat" cmpd="sng" algn="ctr">
            <a:solidFill>
              <a:sysClr val="window" lastClr="FFFFFF">
                <a:lumMod val="65000"/>
              </a:sysClr>
            </a:solidFill>
            <a:prstDash val="dashDot"/>
          </a:ln>
          <a:effectLst/>
        </p:spPr>
      </p:cxnSp>
      <p:cxnSp>
        <p:nvCxnSpPr>
          <p:cNvPr id="44" name="直接连接符 43"/>
          <p:cNvCxnSpPr/>
          <p:nvPr/>
        </p:nvCxnSpPr>
        <p:spPr>
          <a:xfrm>
            <a:off x="7666126" y="4075554"/>
            <a:ext cx="0" cy="1201591"/>
          </a:xfrm>
          <a:prstGeom prst="line">
            <a:avLst/>
          </a:prstGeom>
          <a:noFill/>
          <a:ln w="19050" cap="flat" cmpd="sng" algn="ctr">
            <a:solidFill>
              <a:sysClr val="window" lastClr="FFFFFF">
                <a:lumMod val="65000"/>
              </a:sysClr>
            </a:solidFill>
            <a:prstDash val="dashDot"/>
          </a:ln>
          <a:effectLst/>
        </p:spPr>
      </p:cxnSp>
      <p:sp>
        <p:nvSpPr>
          <p:cNvPr id="45" name="矩形 44"/>
          <p:cNvSpPr/>
          <p:nvPr/>
        </p:nvSpPr>
        <p:spPr>
          <a:xfrm>
            <a:off x="2877469" y="3244151"/>
            <a:ext cx="441085"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财务</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7/7</a:t>
            </a:r>
            <a:endParaRPr lang="zh-CN" altLang="en-US" sz="1000" b="1" kern="0" dirty="0">
              <a:solidFill>
                <a:srgbClr val="FF0000"/>
              </a:solidFill>
              <a:latin typeface="微软雅黑" panose="020B0503020204020204" pitchFamily="34" charset="-122"/>
              <a:ea typeface="微软雅黑" panose="020B0503020204020204" pitchFamily="34" charset="-122"/>
            </a:endParaRPr>
          </a:p>
        </p:txBody>
      </p:sp>
      <p:sp>
        <p:nvSpPr>
          <p:cNvPr id="46" name="矩形 45"/>
          <p:cNvSpPr/>
          <p:nvPr/>
        </p:nvSpPr>
        <p:spPr>
          <a:xfrm>
            <a:off x="3949383" y="3244152"/>
            <a:ext cx="485152"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采购</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5/5</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sp>
        <p:nvSpPr>
          <p:cNvPr id="47" name="矩形 46"/>
          <p:cNvSpPr/>
          <p:nvPr/>
        </p:nvSpPr>
        <p:spPr>
          <a:xfrm>
            <a:off x="3394747" y="3244151"/>
            <a:ext cx="475347"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成本</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C00000"/>
                </a:solidFill>
                <a:latin typeface="微软雅黑" panose="020B0503020204020204" pitchFamily="34" charset="-122"/>
                <a:ea typeface="微软雅黑" panose="020B0503020204020204" pitchFamily="34" charset="-122"/>
              </a:rPr>
              <a:t>3/4</a:t>
            </a:r>
            <a:endParaRPr lang="en-US" altLang="zh-CN" sz="1000" b="1" kern="0" dirty="0">
              <a:solidFill>
                <a:srgbClr val="C00000"/>
              </a:solidFill>
              <a:latin typeface="微软雅黑" panose="020B0503020204020204" pitchFamily="34" charset="-122"/>
              <a:ea typeface="微软雅黑" panose="020B0503020204020204" pitchFamily="34" charset="-122"/>
            </a:endParaRPr>
          </a:p>
        </p:txBody>
      </p:sp>
      <p:sp>
        <p:nvSpPr>
          <p:cNvPr id="48" name="矩形 47"/>
          <p:cNvSpPr/>
          <p:nvPr/>
        </p:nvSpPr>
        <p:spPr>
          <a:xfrm>
            <a:off x="3542623" y="4293972"/>
            <a:ext cx="573318" cy="565313"/>
          </a:xfrm>
          <a:prstGeom prst="rect">
            <a:avLst/>
          </a:prstGeom>
          <a:solidFill>
            <a:sysClr val="window" lastClr="FFFFFF"/>
          </a:solidFill>
          <a:ln w="15875" cap="flat" cmpd="sng" algn="ctr">
            <a:solidFill>
              <a:srgbClr val="D55816"/>
            </a:solidFill>
            <a:prstDash val="solid"/>
          </a:ln>
          <a:effectLst/>
        </p:spPr>
        <p:txBody>
          <a:bodyPr rtlCol="0" anchor="ctr"/>
          <a:lstStyle/>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博文</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zh-CN" altLang="en-US" sz="990" b="1" kern="0" dirty="0">
                <a:solidFill>
                  <a:srgbClr val="242331"/>
                </a:solidFill>
                <a:latin typeface="微软雅黑" panose="020B0503020204020204" pitchFamily="34" charset="-122"/>
                <a:ea typeface="微软雅黑" panose="020B0503020204020204" pitchFamily="34" charset="-122"/>
              </a:rPr>
              <a:t>研究院</a:t>
            </a:r>
            <a:endParaRPr lang="en-US" altLang="zh-CN" sz="990" b="1" kern="0" dirty="0">
              <a:solidFill>
                <a:srgbClr val="242331"/>
              </a:solidFill>
              <a:latin typeface="微软雅黑" panose="020B0503020204020204" pitchFamily="34" charset="-122"/>
              <a:ea typeface="微软雅黑" panose="020B0503020204020204" pitchFamily="34" charset="-122"/>
            </a:endParaRPr>
          </a:p>
          <a:p>
            <a:pPr algn="ctr" defTabSz="1107440">
              <a:defRPr/>
            </a:pPr>
            <a:r>
              <a:rPr lang="en-US" altLang="zh-CN" sz="660" b="1" kern="0" dirty="0">
                <a:solidFill>
                  <a:srgbClr val="242331"/>
                </a:solidFill>
                <a:latin typeface="微软雅黑" panose="020B0503020204020204" pitchFamily="34" charset="-122"/>
                <a:ea typeface="微软雅黑" panose="020B0503020204020204" pitchFamily="34" charset="-122"/>
              </a:rPr>
              <a:t>4/4</a:t>
            </a:r>
            <a:endParaRPr lang="en-US" altLang="zh-CN" sz="660" b="1" kern="0" dirty="0">
              <a:solidFill>
                <a:srgbClr val="242331"/>
              </a:solidFill>
              <a:latin typeface="微软雅黑" panose="020B0503020204020204" pitchFamily="34" charset="-122"/>
              <a:ea typeface="微软雅黑" panose="020B0503020204020204" pitchFamily="34" charset="-122"/>
            </a:endParaRPr>
          </a:p>
        </p:txBody>
      </p:sp>
      <p:cxnSp>
        <p:nvCxnSpPr>
          <p:cNvPr id="49" name="肘形连接符 48"/>
          <p:cNvCxnSpPr>
            <a:stCxn id="45" idx="0"/>
            <a:endCxn id="5" idx="2"/>
          </p:cNvCxnSpPr>
          <p:nvPr/>
        </p:nvCxnSpPr>
        <p:spPr>
          <a:xfrm rot="5400000" flipH="1" flipV="1">
            <a:off x="3159959" y="2793799"/>
            <a:ext cx="388405" cy="512301"/>
          </a:xfrm>
          <a:prstGeom prst="bentConnector3">
            <a:avLst/>
          </a:prstGeom>
          <a:noFill/>
          <a:ln w="12700" cap="flat" cmpd="sng" algn="ctr">
            <a:solidFill>
              <a:sysClr val="windowText" lastClr="000000"/>
            </a:solidFill>
            <a:prstDash val="solid"/>
          </a:ln>
          <a:effectLst/>
        </p:spPr>
      </p:cxnSp>
      <p:cxnSp>
        <p:nvCxnSpPr>
          <p:cNvPr id="50" name="肘形连接符 49"/>
          <p:cNvCxnSpPr>
            <a:stCxn id="47" idx="0"/>
            <a:endCxn id="5" idx="2"/>
          </p:cNvCxnSpPr>
          <p:nvPr/>
        </p:nvCxnSpPr>
        <p:spPr>
          <a:xfrm rot="16200000" flipV="1">
            <a:off x="3427165" y="3038894"/>
            <a:ext cx="388405" cy="22109"/>
          </a:xfrm>
          <a:prstGeom prst="bentConnector3">
            <a:avLst/>
          </a:prstGeom>
          <a:noFill/>
          <a:ln w="12700" cap="flat" cmpd="sng" algn="ctr">
            <a:solidFill>
              <a:sysClr val="windowText" lastClr="000000"/>
            </a:solidFill>
            <a:prstDash val="solid"/>
          </a:ln>
          <a:effectLst/>
        </p:spPr>
      </p:cxnSp>
      <p:cxnSp>
        <p:nvCxnSpPr>
          <p:cNvPr id="51" name="肘形连接符 50"/>
          <p:cNvCxnSpPr>
            <a:stCxn id="46" idx="0"/>
            <a:endCxn id="5" idx="2"/>
          </p:cNvCxnSpPr>
          <p:nvPr/>
        </p:nvCxnSpPr>
        <p:spPr>
          <a:xfrm rot="16200000" flipV="1">
            <a:off x="3706934" y="2759126"/>
            <a:ext cx="388406" cy="581646"/>
          </a:xfrm>
          <a:prstGeom prst="bentConnector3">
            <a:avLst/>
          </a:prstGeom>
          <a:noFill/>
          <a:ln w="12700" cap="flat" cmpd="sng" algn="ctr">
            <a:solidFill>
              <a:sysClr val="windowText" lastClr="000000"/>
            </a:solidFill>
            <a:prstDash val="solid"/>
          </a:ln>
          <a:effectLst/>
        </p:spPr>
      </p:cxnSp>
      <p:sp>
        <p:nvSpPr>
          <p:cNvPr id="52" name="矩形 51"/>
          <p:cNvSpPr/>
          <p:nvPr/>
        </p:nvSpPr>
        <p:spPr>
          <a:xfrm>
            <a:off x="8586437" y="3244151"/>
            <a:ext cx="487513"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公寓管理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5/5</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sp>
        <p:nvSpPr>
          <p:cNvPr id="53" name="矩形 52"/>
          <p:cNvSpPr/>
          <p:nvPr/>
        </p:nvSpPr>
        <p:spPr>
          <a:xfrm>
            <a:off x="7950416" y="3244151"/>
            <a:ext cx="468863" cy="665225"/>
          </a:xfrm>
          <a:prstGeom prst="rect">
            <a:avLst/>
          </a:prstGeom>
          <a:noFill/>
          <a:ln w="6350" cap="flat" cmpd="sng" algn="ctr">
            <a:solidFill>
              <a:sysClr val="windowText" lastClr="000000"/>
            </a:solidFill>
            <a:prstDash val="solid"/>
          </a:ln>
          <a:effectLst/>
        </p:spPr>
        <p:txBody>
          <a:bodyPr vert="horz" rtlCol="0" anchor="ctr"/>
          <a:lstStyle/>
          <a:p>
            <a:pPr algn="ctr" defTabSz="1108075">
              <a:defRPr/>
            </a:pPr>
            <a:r>
              <a:rPr lang="zh-CN" altLang="en-US" sz="1000" b="1" kern="0" dirty="0">
                <a:solidFill>
                  <a:srgbClr val="242331"/>
                </a:solidFill>
                <a:latin typeface="微软雅黑" panose="020B0503020204020204" pitchFamily="34" charset="-122"/>
                <a:ea typeface="微软雅黑" panose="020B0503020204020204" pitchFamily="34" charset="-122"/>
              </a:rPr>
              <a:t>酒店管理</a:t>
            </a:r>
            <a:endParaRPr lang="en-US" altLang="zh-CN" sz="1000" b="1" kern="0" dirty="0">
              <a:solidFill>
                <a:srgbClr val="242331"/>
              </a:solidFill>
              <a:latin typeface="微软雅黑" panose="020B0503020204020204" pitchFamily="34" charset="-122"/>
              <a:ea typeface="微软雅黑" panose="020B0503020204020204" pitchFamily="34" charset="-122"/>
            </a:endParaRPr>
          </a:p>
          <a:p>
            <a:pPr algn="ctr" defTabSz="1108075">
              <a:defRPr/>
            </a:pPr>
            <a:r>
              <a:rPr lang="en-US" altLang="zh-CN" sz="1000" b="1" kern="0" dirty="0">
                <a:solidFill>
                  <a:srgbClr val="242331"/>
                </a:solidFill>
                <a:latin typeface="微软雅黑" panose="020B0503020204020204" pitchFamily="34" charset="-122"/>
                <a:ea typeface="微软雅黑" panose="020B0503020204020204" pitchFamily="34" charset="-122"/>
              </a:rPr>
              <a:t>6/6</a:t>
            </a:r>
            <a:endParaRPr lang="en-US" altLang="zh-CN" sz="1000" b="1" kern="0" dirty="0">
              <a:solidFill>
                <a:srgbClr val="242331"/>
              </a:solidFill>
              <a:latin typeface="微软雅黑" panose="020B0503020204020204" pitchFamily="34" charset="-122"/>
              <a:ea typeface="微软雅黑" panose="020B0503020204020204" pitchFamily="34" charset="-122"/>
            </a:endParaRPr>
          </a:p>
        </p:txBody>
      </p:sp>
      <p:cxnSp>
        <p:nvCxnSpPr>
          <p:cNvPr id="54" name="肘形连接符 53"/>
          <p:cNvCxnSpPr>
            <a:stCxn id="53" idx="0"/>
            <a:endCxn id="42" idx="2"/>
          </p:cNvCxnSpPr>
          <p:nvPr/>
        </p:nvCxnSpPr>
        <p:spPr>
          <a:xfrm rot="5400000" flipH="1" flipV="1">
            <a:off x="8144961" y="2895339"/>
            <a:ext cx="388699" cy="308925"/>
          </a:xfrm>
          <a:prstGeom prst="bentConnector3">
            <a:avLst/>
          </a:prstGeom>
          <a:noFill/>
          <a:ln w="12700" cap="flat" cmpd="sng" algn="ctr">
            <a:solidFill>
              <a:sysClr val="windowText" lastClr="000000"/>
            </a:solidFill>
            <a:prstDash val="solid"/>
          </a:ln>
          <a:effectLst/>
        </p:spPr>
      </p:cxnSp>
      <p:cxnSp>
        <p:nvCxnSpPr>
          <p:cNvPr id="55" name="肘形连接符 54"/>
          <p:cNvCxnSpPr>
            <a:stCxn id="52" idx="0"/>
            <a:endCxn id="42" idx="2"/>
          </p:cNvCxnSpPr>
          <p:nvPr/>
        </p:nvCxnSpPr>
        <p:spPr>
          <a:xfrm rot="16200000" flipV="1">
            <a:off x="8467634" y="2881591"/>
            <a:ext cx="388699" cy="336421"/>
          </a:xfrm>
          <a:prstGeom prst="bentConnector3">
            <a:avLst/>
          </a:prstGeom>
          <a:noFill/>
          <a:ln w="12700" cap="flat" cmpd="sng" algn="ctr">
            <a:solidFill>
              <a:sysClr val="windowText" lastClr="000000"/>
            </a:solidFill>
            <a:prstDash val="solid"/>
          </a:ln>
          <a:effectLst/>
        </p:spPr>
      </p:cxnSp>
      <p:sp>
        <p:nvSpPr>
          <p:cNvPr id="56" name="矩形 55"/>
          <p:cNvSpPr/>
          <p:nvPr/>
        </p:nvSpPr>
        <p:spPr>
          <a:xfrm>
            <a:off x="5272672" y="4920745"/>
            <a:ext cx="939759" cy="279492"/>
          </a:xfrm>
          <a:prstGeom prst="rect">
            <a:avLst/>
          </a:prstGeom>
          <a:solidFill>
            <a:sysClr val="window" lastClr="FFFFFF"/>
          </a:solidFill>
          <a:ln w="15875" cap="flat" cmpd="sng" algn="ctr">
            <a:solidFill>
              <a:srgbClr val="0070C0"/>
            </a:solidFill>
            <a:prstDash val="solid"/>
          </a:ln>
          <a:effectLst/>
        </p:spPr>
        <p:txBody>
          <a:bodyPr rtlCol="0" anchor="ctr"/>
          <a:lstStyle/>
          <a:p>
            <a:pPr algn="ctr" defTabSz="913765">
              <a:defRPr/>
            </a:pPr>
            <a:r>
              <a:rPr lang="zh-CN" altLang="en-US" sz="910" b="1" kern="0" dirty="0">
                <a:solidFill>
                  <a:prstClr val="black"/>
                </a:solidFill>
                <a:latin typeface="微软雅黑" panose="020B0503020204020204" pitchFamily="34" charset="-122"/>
                <a:ea typeface="微软雅黑" panose="020B0503020204020204" pitchFamily="34" charset="-122"/>
              </a:rPr>
              <a:t>常州万丽酒店</a:t>
            </a:r>
            <a:endParaRPr lang="en-US" altLang="zh-CN" sz="910" b="1" kern="0" dirty="0">
              <a:solidFill>
                <a:prstClr val="black"/>
              </a:solidFill>
              <a:latin typeface="微软雅黑" panose="020B0503020204020204" pitchFamily="34" charset="-122"/>
              <a:ea typeface="微软雅黑" panose="020B0503020204020204" pitchFamily="34" charset="-122"/>
            </a:endParaRPr>
          </a:p>
        </p:txBody>
      </p:sp>
      <p:sp>
        <p:nvSpPr>
          <p:cNvPr id="57" name="文本框 56"/>
          <p:cNvSpPr txBox="1"/>
          <p:nvPr/>
        </p:nvSpPr>
        <p:spPr>
          <a:xfrm>
            <a:off x="5155746" y="2071414"/>
            <a:ext cx="2509859" cy="184290"/>
          </a:xfrm>
          <a:prstGeom prst="rect">
            <a:avLst/>
          </a:prstGeom>
          <a:noFill/>
          <a:ln w="25400" cap="flat" cmpd="sng" algn="ctr">
            <a:noFill/>
            <a:prstDash val="solid"/>
          </a:ln>
          <a:effectLst/>
        </p:spPr>
        <p:txBody>
          <a:bodyPr wrap="square" rtlCol="0" anchor="ctr" anchorCtr="0">
            <a:noAutofit/>
          </a:bodyPr>
          <a:lstStyle/>
          <a:p>
            <a:pPr algn="ctr" defTabSz="914400">
              <a:defRPr/>
            </a:pPr>
            <a:r>
              <a:rPr lang="zh-CN" altLang="en-US" sz="745" kern="0" dirty="0">
                <a:solidFill>
                  <a:prstClr val="black"/>
                </a:solidFill>
                <a:latin typeface="微软雅黑" panose="020B0503020204020204" pitchFamily="34" charset="-122"/>
                <a:ea typeface="微软雅黑" panose="020B0503020204020204" pitchFamily="34" charset="-122"/>
              </a:rPr>
              <a:t>备注：（</a:t>
            </a:r>
            <a:r>
              <a:rPr lang="en-US" altLang="zh-CN" sz="745" kern="0" dirty="0">
                <a:solidFill>
                  <a:prstClr val="black"/>
                </a:solidFill>
                <a:latin typeface="微软雅黑" panose="020B0503020204020204" pitchFamily="34" charset="-122"/>
                <a:ea typeface="微软雅黑" panose="020B0503020204020204" pitchFamily="34" charset="-122"/>
              </a:rPr>
              <a:t>25</a:t>
            </a:r>
            <a:r>
              <a:rPr lang="zh-CN" altLang="en-US" sz="745" kern="0" dirty="0">
                <a:solidFill>
                  <a:prstClr val="black"/>
                </a:solidFill>
                <a:latin typeface="微软雅黑" panose="020B0503020204020204" pitchFamily="34" charset="-122"/>
                <a:ea typeface="微软雅黑" panose="020B0503020204020204" pitchFamily="34" charset="-122"/>
              </a:rPr>
              <a:t>年编制</a:t>
            </a:r>
            <a:r>
              <a:rPr lang="en-US" altLang="zh-CN" sz="745" kern="0" dirty="0">
                <a:solidFill>
                  <a:prstClr val="black"/>
                </a:solidFill>
                <a:latin typeface="微软雅黑" panose="020B0503020204020204" pitchFamily="34" charset="-122"/>
                <a:ea typeface="微软雅黑" panose="020B0503020204020204" pitchFamily="34" charset="-122"/>
              </a:rPr>
              <a:t>/26</a:t>
            </a:r>
            <a:r>
              <a:rPr lang="zh-CN" altLang="en-US" sz="745" kern="0" dirty="0">
                <a:solidFill>
                  <a:prstClr val="black"/>
                </a:solidFill>
                <a:latin typeface="微软雅黑" panose="020B0503020204020204" pitchFamily="34" charset="-122"/>
                <a:ea typeface="微软雅黑" panose="020B0503020204020204" pitchFamily="34" charset="-122"/>
              </a:rPr>
              <a:t>年申报编制）</a:t>
            </a:r>
            <a:endParaRPr lang="en-US" altLang="zh-CN" sz="745" kern="0" dirty="0">
              <a:solidFill>
                <a:prstClr val="black"/>
              </a:solidFill>
              <a:latin typeface="微软雅黑" panose="020B0503020204020204" pitchFamily="34" charset="-122"/>
              <a:ea typeface="微软雅黑" panose="020B0503020204020204" pitchFamily="34" charset="-122"/>
            </a:endParaRPr>
          </a:p>
        </p:txBody>
      </p:sp>
      <p:sp>
        <p:nvSpPr>
          <p:cNvPr id="58" name="标题 1"/>
          <p:cNvSpPr txBox="1"/>
          <p:nvPr/>
        </p:nvSpPr>
        <p:spPr>
          <a:xfrm>
            <a:off x="409116" y="726126"/>
            <a:ext cx="8795377" cy="1056194"/>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defTabSz="754380">
              <a:lnSpc>
                <a:spcPct val="150000"/>
              </a:lnSpc>
              <a:defRPr/>
            </a:pPr>
            <a:r>
              <a:rPr lang="en-US" altLang="zh-CN" sz="1200" b="1" dirty="0">
                <a:solidFill>
                  <a:srgbClr val="C00000"/>
                </a:solidFill>
              </a:rPr>
              <a:t>2026</a:t>
            </a:r>
            <a:r>
              <a:rPr lang="zh-CN" altLang="en-US" sz="1200" b="1" dirty="0">
                <a:solidFill>
                  <a:srgbClr val="C00000"/>
                </a:solidFill>
              </a:rPr>
              <a:t>年产业集团计划编制合计</a:t>
            </a:r>
            <a:r>
              <a:rPr lang="en-US" altLang="zh-CN" sz="1200" b="1" dirty="0">
                <a:solidFill>
                  <a:srgbClr val="C00000"/>
                </a:solidFill>
              </a:rPr>
              <a:t>873</a:t>
            </a:r>
            <a:r>
              <a:rPr lang="zh-CN" altLang="en-US" sz="1200" b="1" dirty="0" smtClean="0">
                <a:solidFill>
                  <a:srgbClr val="C00000"/>
                </a:solidFill>
              </a:rPr>
              <a:t>人（</a:t>
            </a:r>
            <a:r>
              <a:rPr lang="en-US" altLang="zh-CN" sz="1200" b="1" dirty="0" smtClean="0">
                <a:solidFill>
                  <a:srgbClr val="C00000"/>
                </a:solidFill>
              </a:rPr>
              <a:t>25</a:t>
            </a:r>
            <a:r>
              <a:rPr lang="zh-CN" altLang="en-US" sz="1200" b="1" dirty="0" smtClean="0">
                <a:solidFill>
                  <a:srgbClr val="C00000"/>
                </a:solidFill>
              </a:rPr>
              <a:t>年预算</a:t>
            </a:r>
            <a:r>
              <a:rPr lang="en-US" altLang="zh-CN" sz="1200" b="1" dirty="0" smtClean="0">
                <a:solidFill>
                  <a:srgbClr val="C00000"/>
                </a:solidFill>
              </a:rPr>
              <a:t>911</a:t>
            </a:r>
            <a:r>
              <a:rPr lang="zh-CN" altLang="en-US" sz="1200" b="1" dirty="0" smtClean="0">
                <a:solidFill>
                  <a:srgbClr val="C00000"/>
                </a:solidFill>
              </a:rPr>
              <a:t>人），</a:t>
            </a:r>
            <a:r>
              <a:rPr lang="zh-CN" altLang="en-US" sz="1200" b="1" dirty="0">
                <a:solidFill>
                  <a:srgbClr val="C00000"/>
                </a:solidFill>
              </a:rPr>
              <a:t>截至</a:t>
            </a:r>
            <a:r>
              <a:rPr lang="en-US" altLang="zh-CN" sz="1200" b="1" dirty="0">
                <a:solidFill>
                  <a:srgbClr val="C00000"/>
                </a:solidFill>
              </a:rPr>
              <a:t>10</a:t>
            </a:r>
            <a:r>
              <a:rPr lang="zh-CN" altLang="en-US" sz="1200" b="1" dirty="0">
                <a:solidFill>
                  <a:srgbClr val="C00000"/>
                </a:solidFill>
              </a:rPr>
              <a:t>月</a:t>
            </a:r>
            <a:r>
              <a:rPr lang="en-US" altLang="zh-CN" sz="1200" b="1" dirty="0">
                <a:solidFill>
                  <a:srgbClr val="C00000"/>
                </a:solidFill>
              </a:rPr>
              <a:t>30</a:t>
            </a:r>
            <a:r>
              <a:rPr lang="zh-CN" altLang="en-US" sz="1200" b="1" dirty="0">
                <a:solidFill>
                  <a:srgbClr val="C00000"/>
                </a:solidFill>
              </a:rPr>
              <a:t>日在岗</a:t>
            </a:r>
            <a:r>
              <a:rPr lang="en-US" altLang="zh-CN" sz="1200" b="1" dirty="0">
                <a:solidFill>
                  <a:srgbClr val="C00000"/>
                </a:solidFill>
              </a:rPr>
              <a:t>856</a:t>
            </a:r>
            <a:r>
              <a:rPr lang="zh-CN" altLang="en-US" sz="1200" b="1" dirty="0">
                <a:solidFill>
                  <a:srgbClr val="C00000"/>
                </a:solidFill>
              </a:rPr>
              <a:t>人</a:t>
            </a:r>
            <a:r>
              <a:rPr lang="zh-CN" altLang="en-US" sz="1200" b="1" dirty="0" smtClean="0">
                <a:solidFill>
                  <a:srgbClr val="C00000"/>
                </a:solidFill>
              </a:rPr>
              <a:t>。</a:t>
            </a:r>
            <a:r>
              <a:rPr lang="zh-CN" altLang="en-US" sz="1200" b="1" dirty="0" smtClean="0">
                <a:solidFill>
                  <a:sysClr val="windowText" lastClr="000000"/>
                </a:solidFill>
              </a:rPr>
              <a:t>其中</a:t>
            </a:r>
            <a:r>
              <a:rPr lang="zh-CN" altLang="en-US" sz="1200" b="1" dirty="0">
                <a:solidFill>
                  <a:sysClr val="windowText" lastClr="000000"/>
                </a:solidFill>
              </a:rPr>
              <a:t>：本部</a:t>
            </a:r>
            <a:r>
              <a:rPr lang="en-US" altLang="zh-CN" sz="1200" b="1" dirty="0">
                <a:solidFill>
                  <a:sysClr val="windowText" lastClr="000000"/>
                </a:solidFill>
              </a:rPr>
              <a:t>35</a:t>
            </a:r>
            <a:r>
              <a:rPr lang="zh-CN" altLang="en-US" sz="1200" b="1" dirty="0">
                <a:solidFill>
                  <a:sysClr val="windowText" lastClr="000000"/>
                </a:solidFill>
              </a:rPr>
              <a:t>人，酒店公寓事业部</a:t>
            </a:r>
            <a:r>
              <a:rPr lang="en-US" altLang="zh-CN" sz="1200" b="1" dirty="0">
                <a:solidFill>
                  <a:sysClr val="windowText" lastClr="000000"/>
                </a:solidFill>
              </a:rPr>
              <a:t>11</a:t>
            </a:r>
            <a:r>
              <a:rPr lang="zh-CN" altLang="en-US" sz="1200" b="1" dirty="0">
                <a:solidFill>
                  <a:sysClr val="windowText" lastClr="000000"/>
                </a:solidFill>
              </a:rPr>
              <a:t>人，产业项目</a:t>
            </a:r>
            <a:r>
              <a:rPr lang="en-US" altLang="zh-CN" sz="1200" b="1" dirty="0">
                <a:solidFill>
                  <a:sysClr val="windowText" lastClr="000000"/>
                </a:solidFill>
              </a:rPr>
              <a:t>204</a:t>
            </a:r>
            <a:r>
              <a:rPr lang="zh-CN" altLang="en-US" sz="1200" b="1" dirty="0" smtClean="0">
                <a:solidFill>
                  <a:sysClr val="windowText" lastClr="000000"/>
                </a:solidFill>
              </a:rPr>
              <a:t>人，公寓</a:t>
            </a:r>
            <a:r>
              <a:rPr lang="zh-CN" altLang="en-US" sz="1200" b="1" dirty="0">
                <a:solidFill>
                  <a:sysClr val="windowText" lastClr="000000"/>
                </a:solidFill>
              </a:rPr>
              <a:t>项目</a:t>
            </a:r>
            <a:r>
              <a:rPr lang="en-US" altLang="zh-CN" sz="1200" b="1" dirty="0">
                <a:solidFill>
                  <a:sysClr val="windowText" lastClr="000000"/>
                </a:solidFill>
              </a:rPr>
              <a:t>44</a:t>
            </a:r>
            <a:r>
              <a:rPr lang="zh-CN" altLang="en-US" sz="1200" b="1" dirty="0">
                <a:solidFill>
                  <a:sysClr val="windowText" lastClr="000000"/>
                </a:solidFill>
              </a:rPr>
              <a:t>人，酒店项目</a:t>
            </a:r>
            <a:r>
              <a:rPr lang="en-US" altLang="zh-CN" sz="1200" b="1" dirty="0">
                <a:solidFill>
                  <a:sysClr val="windowText" lastClr="000000"/>
                </a:solidFill>
              </a:rPr>
              <a:t>579</a:t>
            </a:r>
            <a:r>
              <a:rPr lang="zh-CN" altLang="en-US" sz="1200" b="1" dirty="0">
                <a:solidFill>
                  <a:sysClr val="windowText" lastClr="000000"/>
                </a:solidFill>
              </a:rPr>
              <a:t>人。</a:t>
            </a:r>
            <a:endParaRPr lang="en-US" altLang="zh-CN" sz="1200" b="1" dirty="0">
              <a:solidFill>
                <a:sysClr val="windowText" lastClr="000000"/>
              </a:solidFill>
            </a:endParaRPr>
          </a:p>
          <a:p>
            <a:pPr defTabSz="754380">
              <a:lnSpc>
                <a:spcPct val="150000"/>
              </a:lnSpc>
              <a:defRPr/>
            </a:pPr>
            <a:r>
              <a:rPr lang="zh-CN" altLang="en-US" sz="1155" b="1" dirty="0" smtClean="0">
                <a:solidFill>
                  <a:sysClr val="windowText" lastClr="000000"/>
                </a:solidFill>
              </a:rPr>
              <a:t>新增：深圳产业开市客项目 </a:t>
            </a:r>
            <a:r>
              <a:rPr lang="en-US" altLang="zh-CN" sz="1155" b="1" dirty="0" smtClean="0">
                <a:solidFill>
                  <a:sysClr val="windowText" lastClr="000000"/>
                </a:solidFill>
              </a:rPr>
              <a:t>4</a:t>
            </a:r>
            <a:r>
              <a:rPr lang="zh-CN" altLang="en-US" sz="1155" b="1" dirty="0" smtClean="0">
                <a:solidFill>
                  <a:sysClr val="windowText" lastClr="000000"/>
                </a:solidFill>
              </a:rPr>
              <a:t>人</a:t>
            </a:r>
            <a:endParaRPr lang="en-US" altLang="zh-CN" sz="1155" b="1" dirty="0" smtClean="0">
              <a:solidFill>
                <a:sysClr val="windowText" lastClr="000000"/>
              </a:solidFill>
            </a:endParaRPr>
          </a:p>
          <a:p>
            <a:pPr defTabSz="754380">
              <a:lnSpc>
                <a:spcPct val="150000"/>
              </a:lnSpc>
              <a:defRPr/>
            </a:pPr>
            <a:r>
              <a:rPr lang="en-US" altLang="zh-CN" sz="1155" b="1" dirty="0">
                <a:solidFill>
                  <a:sysClr val="windowText" lastClr="000000"/>
                </a:solidFill>
              </a:rPr>
              <a:t> </a:t>
            </a:r>
            <a:r>
              <a:rPr lang="en-US" altLang="zh-CN" sz="1155" b="1" dirty="0" smtClean="0">
                <a:solidFill>
                  <a:sysClr val="windowText" lastClr="000000"/>
                </a:solidFill>
              </a:rPr>
              <a:t>          </a:t>
            </a:r>
            <a:r>
              <a:rPr lang="zh-CN" altLang="en-US" sz="1155" b="1" dirty="0" smtClean="0">
                <a:solidFill>
                  <a:sysClr val="windowText" lastClr="000000"/>
                </a:solidFill>
              </a:rPr>
              <a:t>公寓开市客项目</a:t>
            </a:r>
            <a:r>
              <a:rPr lang="en-US" altLang="zh-CN" sz="1155" b="1" dirty="0" smtClean="0">
                <a:solidFill>
                  <a:sysClr val="windowText" lastClr="000000"/>
                </a:solidFill>
              </a:rPr>
              <a:t>8</a:t>
            </a:r>
            <a:r>
              <a:rPr lang="zh-CN" altLang="en-US" sz="1155" b="1" dirty="0" smtClean="0">
                <a:solidFill>
                  <a:sysClr val="windowText" lastClr="000000"/>
                </a:solidFill>
              </a:rPr>
              <a:t>人</a:t>
            </a:r>
            <a:endParaRPr lang="en-US" altLang="zh-CN" sz="1155" b="1" dirty="0" smtClean="0">
              <a:solidFill>
                <a:sysClr val="windowText" lastClr="000000"/>
              </a:solidFill>
            </a:endParaRPr>
          </a:p>
          <a:p>
            <a:pPr defTabSz="754380">
              <a:lnSpc>
                <a:spcPct val="150000"/>
              </a:lnSpc>
              <a:defRPr/>
            </a:pPr>
            <a:r>
              <a:rPr lang="en-US" altLang="zh-CN" sz="1155" b="1" dirty="0">
                <a:solidFill>
                  <a:sysClr val="windowText" lastClr="000000"/>
                </a:solidFill>
              </a:rPr>
              <a:t> </a:t>
            </a:r>
            <a:r>
              <a:rPr lang="en-US" altLang="zh-CN" sz="1155" b="1" dirty="0" smtClean="0">
                <a:solidFill>
                  <a:sysClr val="windowText" lastClr="000000"/>
                </a:solidFill>
              </a:rPr>
              <a:t>          </a:t>
            </a:r>
            <a:r>
              <a:rPr lang="zh-CN" altLang="en-US" sz="1155" b="1" dirty="0" smtClean="0">
                <a:solidFill>
                  <a:sysClr val="windowText" lastClr="000000"/>
                </a:solidFill>
              </a:rPr>
              <a:t>公寓沙井荣御项目</a:t>
            </a:r>
            <a:r>
              <a:rPr lang="en-US" altLang="zh-CN" sz="1155" b="1" dirty="0" smtClean="0">
                <a:solidFill>
                  <a:sysClr val="windowText" lastClr="000000"/>
                </a:solidFill>
              </a:rPr>
              <a:t>4</a:t>
            </a:r>
            <a:r>
              <a:rPr lang="zh-CN" altLang="en-US" sz="1155" b="1" dirty="0" smtClean="0">
                <a:solidFill>
                  <a:sysClr val="windowText" lastClr="000000"/>
                </a:solidFill>
              </a:rPr>
              <a:t>人</a:t>
            </a:r>
            <a:endParaRPr lang="zh-CN" altLang="en-US" sz="1155" b="1" dirty="0">
              <a:solidFill>
                <a:sysClr val="windowText" lastClr="000000"/>
              </a:solidFill>
            </a:endParaRPr>
          </a:p>
        </p:txBody>
      </p:sp>
      <p:sp>
        <p:nvSpPr>
          <p:cNvPr id="2" name="矩形 1"/>
          <p:cNvSpPr/>
          <p:nvPr/>
        </p:nvSpPr>
        <p:spPr>
          <a:xfrm>
            <a:off x="6701743" y="5241335"/>
            <a:ext cx="3255858" cy="319405"/>
          </a:xfrm>
          <a:prstGeom prst="rect">
            <a:avLst/>
          </a:prstGeom>
        </p:spPr>
        <p:txBody>
          <a:bodyPr wrap="square">
            <a:spAutoFit/>
          </a:bodyPr>
          <a:lstStyle/>
          <a:p>
            <a:pPr defTabSz="754380">
              <a:lnSpc>
                <a:spcPct val="150000"/>
              </a:lnSpc>
              <a:defRPr/>
            </a:pPr>
            <a:r>
              <a:rPr lang="zh-CN" altLang="en-US" sz="990" dirty="0">
                <a:solidFill>
                  <a:sysClr val="windowText" lastClr="000000"/>
                </a:solidFill>
              </a:rPr>
              <a:t>（不含委管酒店、银海项目，不含挂编、产配人员）</a:t>
            </a:r>
            <a:endParaRPr lang="zh-CN" altLang="en-US" sz="990" dirty="0">
              <a:solidFill>
                <a:sysClr val="windowText" lastClr="000000"/>
              </a:solidFill>
            </a:endParaRPr>
          </a:p>
        </p:txBody>
      </p:sp>
    </p:spTree>
  </p:cSld>
  <p:clrMapOvr>
    <a:masterClrMapping/>
  </p:clrMapOvr>
  <p:transition spd="slow"/>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852383" y="5549323"/>
            <a:ext cx="207714" cy="109162"/>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108075" eaLnBrk="0" fontAlgn="base" hangingPunct="0">
              <a:spcBef>
                <a:spcPct val="0"/>
              </a:spcBef>
              <a:spcAft>
                <a:spcPct val="0"/>
              </a:spcAft>
            </a:pPr>
            <a:endParaRPr lang="zh-CN" altLang="en-US" sz="1800">
              <a:solidFill>
                <a:prstClr val="white"/>
              </a:solidFill>
              <a:latin typeface="Calibri" panose="020F0502020204030204"/>
              <a:ea typeface="宋体" panose="02010600030101010101" pitchFamily="2" charset="-122"/>
            </a:endParaRPr>
          </a:p>
        </p:txBody>
      </p:sp>
      <p:sp>
        <p:nvSpPr>
          <p:cNvPr id="5" name="文本框 4"/>
          <p:cNvSpPr txBox="1"/>
          <p:nvPr/>
        </p:nvSpPr>
        <p:spPr>
          <a:xfrm>
            <a:off x="134230" y="165780"/>
            <a:ext cx="9233978" cy="368300"/>
          </a:xfrm>
          <a:prstGeom prst="rect">
            <a:avLst/>
          </a:prstGeom>
          <a:noFill/>
        </p:spPr>
        <p:txBody>
          <a:bodyPr wrap="square" rtlCol="0">
            <a:spAutoFit/>
          </a:bodyPr>
          <a:lstStyle/>
          <a:p>
            <a:pPr defTabSz="1108075" eaLnBrk="0" fontAlgn="base" hangingPunct="0">
              <a:spcBef>
                <a:spcPct val="0"/>
              </a:spcBef>
              <a:spcAft>
                <a:spcPct val="0"/>
              </a:spcAft>
            </a:pPr>
            <a:r>
              <a:rPr lang="zh-CN" altLang="en-US" sz="1800" b="1" dirty="0">
                <a:solidFill>
                  <a:prstClr val="black"/>
                </a:solidFill>
                <a:latin typeface="微软雅黑" panose="020B0503020204020204" pitchFamily="34" charset="-122"/>
                <a:ea typeface="微软雅黑" panose="020B0503020204020204" pitchFamily="34" charset="-122"/>
              </a:rPr>
              <a:t>人员编制</a:t>
            </a:r>
            <a:r>
              <a:rPr lang="en-US" altLang="zh-CN" sz="1800" b="1" dirty="0">
                <a:solidFill>
                  <a:prstClr val="black"/>
                </a:solidFill>
                <a:latin typeface="微软雅黑" panose="020B0503020204020204" pitchFamily="34" charset="-122"/>
                <a:ea typeface="微软雅黑" panose="020B0503020204020204" pitchFamily="34" charset="-122"/>
              </a:rPr>
              <a:t>-</a:t>
            </a:r>
            <a:r>
              <a:rPr lang="zh-CN" altLang="en-US" sz="1800" b="1" dirty="0">
                <a:solidFill>
                  <a:prstClr val="black"/>
                </a:solidFill>
                <a:latin typeface="微软雅黑" panose="020B0503020204020204" pitchFamily="34" charset="-122"/>
                <a:ea typeface="微软雅黑" panose="020B0503020204020204" pitchFamily="34" charset="-122"/>
              </a:rPr>
              <a:t>集团本部</a:t>
            </a:r>
            <a:r>
              <a:rPr lang="en-US" altLang="zh-CN" sz="1800" b="1" dirty="0">
                <a:solidFill>
                  <a:prstClr val="black"/>
                </a:solidFill>
                <a:latin typeface="微软雅黑" panose="020B0503020204020204" pitchFamily="34" charset="-122"/>
                <a:ea typeface="微软雅黑" panose="020B0503020204020204" pitchFamily="34" charset="-122"/>
              </a:rPr>
              <a:t>+</a:t>
            </a:r>
            <a:r>
              <a:rPr lang="zh-CN" altLang="en-US" sz="1800" b="1" dirty="0">
                <a:solidFill>
                  <a:prstClr val="black"/>
                </a:solidFill>
                <a:latin typeface="微软雅黑" panose="020B0503020204020204" pitchFamily="34" charset="-122"/>
                <a:ea typeface="微软雅黑" panose="020B0503020204020204" pitchFamily="34" charset="-122"/>
              </a:rPr>
              <a:t>产业业务</a:t>
            </a:r>
            <a:endParaRPr lang="zh-CN" altLang="en-US" sz="1800" b="1" dirty="0">
              <a:solidFill>
                <a:prstClr val="black"/>
              </a:solidFill>
              <a:latin typeface="微软雅黑" panose="020B0503020204020204" pitchFamily="34" charset="-122"/>
              <a:ea typeface="微软雅黑" panose="020B0503020204020204" pitchFamily="34" charset="-122"/>
            </a:endParaRPr>
          </a:p>
        </p:txBody>
      </p:sp>
      <p:sp>
        <p:nvSpPr>
          <p:cNvPr id="3" name="矩形 2"/>
          <p:cNvSpPr/>
          <p:nvPr/>
        </p:nvSpPr>
        <p:spPr>
          <a:xfrm>
            <a:off x="134232" y="1605768"/>
            <a:ext cx="2391891" cy="645160"/>
          </a:xfrm>
          <a:prstGeom prst="rect">
            <a:avLst/>
          </a:prstGeom>
        </p:spPr>
        <p:txBody>
          <a:bodyPr wrap="square">
            <a:spAutoFit/>
          </a:bodyPr>
          <a:lstStyle/>
          <a:p>
            <a:pPr defTabSz="1108075" eaLnBrk="0" fontAlgn="base" hangingPunct="0">
              <a:lnSpc>
                <a:spcPct val="150000"/>
              </a:lnSpc>
              <a:spcBef>
                <a:spcPct val="0"/>
              </a:spcBef>
              <a:spcAft>
                <a:spcPct val="0"/>
              </a:spcAft>
              <a:defRPr/>
            </a:pPr>
            <a:r>
              <a:rPr lang="zh-CN" altLang="en-US" sz="1200" b="1" dirty="0">
                <a:solidFill>
                  <a:sysClr val="windowText" lastClr="000000"/>
                </a:solidFill>
                <a:latin typeface="Arial" panose="020B0604020202020204" pitchFamily="34" charset="0"/>
                <a:ea typeface="宋体" panose="02010600030101010101" pitchFamily="2" charset="-122"/>
              </a:rPr>
              <a:t>产业本部，</a:t>
            </a:r>
            <a:r>
              <a:rPr lang="zh-CN" altLang="en-US" sz="1200" dirty="0">
                <a:solidFill>
                  <a:sysClr val="windowText" lastClr="000000"/>
                </a:solidFill>
                <a:latin typeface="Arial" panose="020B0604020202020204" pitchFamily="34" charset="0"/>
                <a:ea typeface="宋体" panose="02010600030101010101" pitchFamily="2" charset="-122"/>
              </a:rPr>
              <a:t>对职能工作进行优化合并，人员压缩；</a:t>
            </a:r>
            <a:endParaRPr lang="en-US" altLang="zh-CN" sz="1200" dirty="0">
              <a:solidFill>
                <a:sysClr val="windowText" lastClr="000000"/>
              </a:solidFill>
              <a:latin typeface="Arial" panose="020B0604020202020204" pitchFamily="34" charset="0"/>
              <a:ea typeface="宋体" panose="02010600030101010101" pitchFamily="2" charset="-122"/>
            </a:endParaRPr>
          </a:p>
        </p:txBody>
      </p:sp>
      <p:sp>
        <p:nvSpPr>
          <p:cNvPr id="8" name="标题 1"/>
          <p:cNvSpPr txBox="1"/>
          <p:nvPr/>
        </p:nvSpPr>
        <p:spPr>
          <a:xfrm>
            <a:off x="134231" y="3058294"/>
            <a:ext cx="2567655" cy="922020"/>
          </a:xfrm>
          <a:prstGeom prst="rect">
            <a:avLst/>
          </a:prstGeom>
        </p:spPr>
        <p:txBody>
          <a:bodyPr wrap="square">
            <a:spAutoFit/>
          </a:bodyPr>
          <a:lstStyle>
            <a:defPPr>
              <a:defRPr lang="zh-CN"/>
            </a:defPPr>
            <a:lvl1pPr lvl="0">
              <a:lnSpc>
                <a:spcPct val="150000"/>
              </a:lnSpc>
              <a:defRPr sz="1200" b="1">
                <a:solidFill>
                  <a:sysClr val="windowText" lastClr="000000"/>
                </a:solidFill>
              </a:defRPr>
            </a:lvl1pPr>
          </a:lstStyle>
          <a:p>
            <a:pPr defTabSz="1108075" eaLnBrk="0" fontAlgn="base" hangingPunct="0">
              <a:spcBef>
                <a:spcPct val="0"/>
              </a:spcBef>
              <a:spcAft>
                <a:spcPct val="0"/>
              </a:spcAft>
            </a:pPr>
            <a:r>
              <a:rPr lang="zh-CN" altLang="en-US" dirty="0">
                <a:latin typeface="Arial" panose="020B0604020202020204" pitchFamily="34" charset="0"/>
                <a:ea typeface="宋体" panose="02010600030101010101" pitchFamily="2" charset="-122"/>
              </a:rPr>
              <a:t>产业业务，</a:t>
            </a:r>
            <a:r>
              <a:rPr lang="zh-CN" altLang="en-US" b="0" dirty="0">
                <a:latin typeface="Arial" panose="020B0604020202020204" pitchFamily="34" charset="0"/>
                <a:ea typeface="宋体" panose="02010600030101010101" pitchFamily="2" charset="-122"/>
              </a:rPr>
              <a:t>新增项目增加一线招商岗、清盘项目开始减编。平稳经营项目配置保持不变。</a:t>
            </a:r>
            <a:endParaRPr lang="en-US" altLang="zh-CN" b="0" dirty="0">
              <a:latin typeface="Arial" panose="020B0604020202020204" pitchFamily="34" charset="0"/>
              <a:ea typeface="宋体" panose="02010600030101010101" pitchFamily="2" charset="-122"/>
            </a:endParaRPr>
          </a:p>
        </p:txBody>
      </p:sp>
      <p:graphicFrame>
        <p:nvGraphicFramePr>
          <p:cNvPr id="9" name="表格 8"/>
          <p:cNvGraphicFramePr>
            <a:graphicFrameLocks noGrp="1"/>
          </p:cNvGraphicFramePr>
          <p:nvPr/>
        </p:nvGraphicFramePr>
        <p:xfrm>
          <a:off x="2598031" y="830848"/>
          <a:ext cx="7357745" cy="4530090"/>
        </p:xfrm>
        <a:graphic>
          <a:graphicData uri="http://schemas.openxmlformats.org/drawingml/2006/table">
            <a:tbl>
              <a:tblPr/>
              <a:tblGrid>
                <a:gridCol w="1423035"/>
                <a:gridCol w="648335"/>
                <a:gridCol w="719455"/>
                <a:gridCol w="857250"/>
                <a:gridCol w="673735"/>
                <a:gridCol w="673735"/>
                <a:gridCol w="2362200"/>
              </a:tblGrid>
              <a:tr h="297180">
                <a:tc rowSpan="2">
                  <a:txBody>
                    <a:bodyPr/>
                    <a:lstStyle/>
                    <a:p>
                      <a:pPr algn="ctr" fontAlgn="ctr"/>
                      <a:r>
                        <a:rPr lang="zh-CN" altLang="en-US" sz="1075" b="1" i="0" u="none" strike="noStrike" dirty="0">
                          <a:solidFill>
                            <a:srgbClr val="000000"/>
                          </a:solidFill>
                          <a:effectLst/>
                          <a:latin typeface="微软雅黑" panose="020B0503020204020204" pitchFamily="34" charset="-122"/>
                          <a:ea typeface="微软雅黑" panose="020B0503020204020204" pitchFamily="34" charset="-122"/>
                        </a:rPr>
                        <a:t>单位</a:t>
                      </a:r>
                      <a:endParaRPr lang="zh-CN" altLang="en-US" sz="1075"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c rowSpan="2">
                  <a:txBody>
                    <a:bodyPr/>
                    <a:lstStyle/>
                    <a:p>
                      <a:pPr algn="ctr" fontAlgn="ctr"/>
                      <a:r>
                        <a:rPr lang="en-US" altLang="zh-CN" sz="1075" b="1" i="0" u="none" strike="noStrike" dirty="0" smtClean="0">
                          <a:solidFill>
                            <a:srgbClr val="000000"/>
                          </a:solidFill>
                          <a:effectLst/>
                          <a:latin typeface="微软雅黑" panose="020B0503020204020204" pitchFamily="34" charset="-122"/>
                          <a:ea typeface="微软雅黑" panose="020B0503020204020204" pitchFamily="34" charset="-122"/>
                        </a:rPr>
                        <a:t>2025</a:t>
                      </a:r>
                      <a:endParaRPr lang="en-US" altLang="zh-CN" sz="1075" b="1" i="0" u="none" strike="noStrike" dirty="0" smtClean="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1075" b="1" i="0" u="none" strike="noStrike" dirty="0" smtClean="0">
                          <a:solidFill>
                            <a:srgbClr val="000000"/>
                          </a:solidFill>
                          <a:effectLst/>
                          <a:latin typeface="微软雅黑" panose="020B0503020204020204" pitchFamily="34" charset="-122"/>
                          <a:ea typeface="微软雅黑" panose="020B0503020204020204" pitchFamily="34" charset="-122"/>
                        </a:rPr>
                        <a:t>编制</a:t>
                      </a:r>
                      <a:endParaRPr lang="zh-CN" altLang="en-US" sz="1075"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c rowSpan="2">
                  <a:txBody>
                    <a:bodyPr/>
                    <a:lstStyle/>
                    <a:p>
                      <a:pPr algn="ctr" fontAlgn="ctr"/>
                      <a:r>
                        <a:rPr lang="en-US" altLang="zh-CN" sz="1075" b="1" i="0" u="none" strike="noStrike" dirty="0" smtClean="0">
                          <a:solidFill>
                            <a:srgbClr val="000000"/>
                          </a:solidFill>
                          <a:effectLst/>
                          <a:latin typeface="微软雅黑" panose="020B0503020204020204" pitchFamily="34" charset="-122"/>
                          <a:ea typeface="微软雅黑" panose="020B0503020204020204" pitchFamily="34" charset="-122"/>
                        </a:rPr>
                        <a:t>2025</a:t>
                      </a:r>
                      <a:endParaRPr lang="en-US" altLang="zh-CN" sz="1075" b="1" i="0" u="none" strike="noStrike" dirty="0" smtClean="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1075" b="1" i="0" u="none" strike="noStrike" dirty="0" smtClean="0">
                          <a:solidFill>
                            <a:srgbClr val="000000"/>
                          </a:solidFill>
                          <a:effectLst/>
                          <a:latin typeface="微软雅黑" panose="020B0503020204020204" pitchFamily="34" charset="-122"/>
                          <a:ea typeface="微软雅黑" panose="020B0503020204020204" pitchFamily="34" charset="-122"/>
                        </a:rPr>
                        <a:t>在岗</a:t>
                      </a:r>
                      <a:endParaRPr lang="zh-CN" altLang="en-US" sz="1075"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c gridSpan="3">
                  <a:txBody>
                    <a:bodyPr/>
                    <a:lstStyle/>
                    <a:p>
                      <a:pPr algn="ctr" fontAlgn="ctr"/>
                      <a:r>
                        <a:rPr lang="en-US" altLang="zh-CN" sz="1075" b="1" i="0" u="none" strike="noStrike" dirty="0">
                          <a:solidFill>
                            <a:schemeClr val="bg1"/>
                          </a:solidFill>
                          <a:effectLst/>
                          <a:latin typeface="微软雅黑" panose="020B0503020204020204" pitchFamily="34" charset="-122"/>
                          <a:ea typeface="微软雅黑" panose="020B0503020204020204" pitchFamily="34" charset="-122"/>
                        </a:rPr>
                        <a:t>2026</a:t>
                      </a:r>
                      <a:r>
                        <a:rPr lang="zh-CN" altLang="en-US" sz="1075" b="1" i="0" u="none" strike="noStrike" dirty="0">
                          <a:solidFill>
                            <a:schemeClr val="bg1"/>
                          </a:solidFill>
                          <a:effectLst/>
                          <a:latin typeface="微软雅黑" panose="020B0503020204020204" pitchFamily="34" charset="-122"/>
                          <a:ea typeface="微软雅黑" panose="020B0503020204020204" pitchFamily="34" charset="-122"/>
                        </a:rPr>
                        <a:t>申报编制</a:t>
                      </a:r>
                      <a:endParaRPr lang="zh-CN" altLang="en-US" sz="1075" b="1" i="0" u="none" strike="noStrike" dirty="0">
                        <a:solidFill>
                          <a:schemeClr val="bg1"/>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rowSpan="2">
                  <a:txBody>
                    <a:bodyPr/>
                    <a:lstStyle/>
                    <a:p>
                      <a:pPr algn="ctr" fontAlgn="ctr"/>
                      <a:r>
                        <a:rPr lang="zh-CN" altLang="en-US" sz="1075" b="1" i="0" u="none" strike="noStrike" dirty="0">
                          <a:solidFill>
                            <a:srgbClr val="000000"/>
                          </a:solidFill>
                          <a:effectLst/>
                          <a:latin typeface="微软雅黑" panose="020B0503020204020204" pitchFamily="34" charset="-122"/>
                          <a:ea typeface="微软雅黑" panose="020B0503020204020204" pitchFamily="34" charset="-122"/>
                        </a:rPr>
                        <a:t>备注</a:t>
                      </a:r>
                      <a:endParaRPr lang="zh-CN" altLang="en-US" sz="1075"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r>
              <a:tr h="386715">
                <a:tc vMerge="1">
                  <a:tcPr/>
                </a:tc>
                <a:tc vMerge="1">
                  <a:tcPr/>
                </a:tc>
                <a:tc vMerge="1">
                  <a:tcPr/>
                </a:tc>
                <a:tc>
                  <a:txBody>
                    <a:bodyPr/>
                    <a:lstStyle/>
                    <a:p>
                      <a:pPr algn="ctr" fontAlgn="ctr"/>
                      <a:r>
                        <a:rPr lang="zh-CN" altLang="en-US" sz="1075" b="1" i="0" u="none" strike="noStrike">
                          <a:solidFill>
                            <a:schemeClr val="bg1"/>
                          </a:solidFill>
                          <a:effectLst/>
                          <a:latin typeface="微软雅黑" panose="020B0503020204020204" pitchFamily="34" charset="-122"/>
                          <a:ea typeface="微软雅黑" panose="020B0503020204020204" pitchFamily="34" charset="-122"/>
                        </a:rPr>
                        <a:t>申报</a:t>
                      </a:r>
                      <a:endParaRPr lang="zh-CN" altLang="en-US" sz="1075" b="1" i="0" u="none" strike="noStrike">
                        <a:solidFill>
                          <a:schemeClr val="bg1"/>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1075" b="1" i="0" u="none" strike="noStrike" dirty="0">
                          <a:solidFill>
                            <a:schemeClr val="bg1"/>
                          </a:solidFill>
                          <a:effectLst/>
                          <a:latin typeface="微软雅黑" panose="020B0503020204020204" pitchFamily="34" charset="-122"/>
                          <a:ea typeface="微软雅黑" panose="020B0503020204020204" pitchFamily="34" charset="-122"/>
                        </a:rPr>
                        <a:t>较在岗</a:t>
                      </a:r>
                      <a:endParaRPr lang="zh-CN" altLang="en-US" sz="1075" b="1" i="0" u="none" strike="noStrike" dirty="0">
                        <a:solidFill>
                          <a:schemeClr val="bg1"/>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1075" b="1" i="0" u="none" strike="noStrike" dirty="0">
                          <a:solidFill>
                            <a:schemeClr val="bg1"/>
                          </a:solidFill>
                          <a:effectLst/>
                          <a:latin typeface="微软雅黑" panose="020B0503020204020204" pitchFamily="34" charset="-122"/>
                          <a:ea typeface="微软雅黑" panose="020B0503020204020204" pitchFamily="34" charset="-122"/>
                        </a:rPr>
                        <a:t>较</a:t>
                      </a:r>
                      <a:r>
                        <a:rPr lang="zh-CN" altLang="en-US" sz="1075" b="1" i="0" u="none" strike="noStrike" dirty="0" smtClean="0">
                          <a:solidFill>
                            <a:schemeClr val="bg1"/>
                          </a:solidFill>
                          <a:effectLst/>
                          <a:latin typeface="微软雅黑" panose="020B0503020204020204" pitchFamily="34" charset="-122"/>
                          <a:ea typeface="微软雅黑" panose="020B0503020204020204" pitchFamily="34" charset="-122"/>
                        </a:rPr>
                        <a:t>去年</a:t>
                      </a:r>
                      <a:endParaRPr lang="en-US" altLang="zh-CN" sz="1075" b="1" i="0" u="none" strike="noStrike" dirty="0" smtClean="0">
                        <a:solidFill>
                          <a:schemeClr val="bg1"/>
                        </a:solidFill>
                        <a:effectLst/>
                        <a:latin typeface="微软雅黑" panose="020B0503020204020204" pitchFamily="34" charset="-122"/>
                        <a:ea typeface="微软雅黑" panose="020B0503020204020204" pitchFamily="34" charset="-122"/>
                      </a:endParaRPr>
                    </a:p>
                    <a:p>
                      <a:pPr algn="ctr" fontAlgn="ctr"/>
                      <a:r>
                        <a:rPr lang="zh-CN" altLang="en-US" sz="1075" b="1" i="0" u="none" strike="noStrike" dirty="0" smtClean="0">
                          <a:solidFill>
                            <a:schemeClr val="bg1"/>
                          </a:solidFill>
                          <a:effectLst/>
                          <a:latin typeface="微软雅黑" panose="020B0503020204020204" pitchFamily="34" charset="-122"/>
                          <a:ea typeface="微软雅黑" panose="020B0503020204020204" pitchFamily="34" charset="-122"/>
                        </a:rPr>
                        <a:t>编制</a:t>
                      </a:r>
                      <a:endParaRPr lang="zh-CN" altLang="en-US" sz="1075" b="1" i="0" u="none" strike="noStrike" dirty="0">
                        <a:solidFill>
                          <a:schemeClr val="bg1"/>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vMerge="1">
                  <a:tcPr/>
                </a:tc>
              </a:tr>
              <a:tr h="197485">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产业集团领导</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dirty="0">
                          <a:solidFill>
                            <a:srgbClr val="000000"/>
                          </a:solidFill>
                          <a:effectLst/>
                          <a:latin typeface="微软雅黑" panose="020B0503020204020204" pitchFamily="34" charset="-122"/>
                          <a:ea typeface="微软雅黑" panose="020B0503020204020204" pitchFamily="34" charset="-122"/>
                        </a:rPr>
                        <a:t>1</a:t>
                      </a:r>
                      <a:endParaRPr lang="en-US" altLang="zh-CN" sz="1075"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产业发展运营中心</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7</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5</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5</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-2</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r>
                        <a:rPr lang="zh-CN" altLang="en-US" sz="990" b="0" i="0" u="none" strike="noStrike" dirty="0" smtClean="0">
                          <a:solidFill>
                            <a:srgbClr val="000000"/>
                          </a:solidFill>
                          <a:effectLst/>
                          <a:latin typeface="微软雅黑" panose="020B0503020204020204" pitchFamily="34" charset="-122"/>
                          <a:ea typeface="微软雅黑" panose="020B0503020204020204" pitchFamily="34" charset="-122"/>
                        </a:rPr>
                        <a:t>人员优化后不补充</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1785">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财务管理中心</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16</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16</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17</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smtClean="0">
                          <a:solidFill>
                            <a:srgbClr val="000000"/>
                          </a:solidFill>
                          <a:effectLst/>
                          <a:latin typeface="微软雅黑" panose="020B0503020204020204" pitchFamily="34" charset="-122"/>
                          <a:ea typeface="微软雅黑" panose="020B0503020204020204" pitchFamily="34" charset="-122"/>
                        </a:rPr>
                        <a:t>新增</a:t>
                      </a:r>
                      <a:r>
                        <a:rPr lang="en-US" altLang="zh-CN" sz="990" b="0" i="0" u="none" strike="noStrike" dirty="0" smtClean="0">
                          <a:solidFill>
                            <a:srgbClr val="000000"/>
                          </a:solidFill>
                          <a:effectLst/>
                          <a:latin typeface="微软雅黑" panose="020B0503020204020204" pitchFamily="34" charset="-122"/>
                          <a:ea typeface="微软雅黑" panose="020B0503020204020204" pitchFamily="34" charset="-122"/>
                        </a:rPr>
                        <a:t>1</a:t>
                      </a:r>
                      <a:r>
                        <a:rPr lang="zh-CN" altLang="en-US" sz="990" b="0" i="0" u="none" strike="noStrike" dirty="0" smtClean="0">
                          <a:solidFill>
                            <a:srgbClr val="000000"/>
                          </a:solidFill>
                          <a:effectLst/>
                          <a:latin typeface="微软雅黑" panose="020B0503020204020204" pitchFamily="34" charset="-122"/>
                          <a:ea typeface="微软雅黑" panose="020B0503020204020204" pitchFamily="34" charset="-122"/>
                        </a:rPr>
                        <a:t>成本结算岗。产业零散工程增多，结算环节重要。</a:t>
                      </a: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人力行政中心</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12</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12</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12</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1075"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1075"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0345">
                <a:tc>
                  <a:txBody>
                    <a:bodyPr/>
                    <a:lstStyle/>
                    <a:p>
                      <a:pPr algn="ctr" fontAlgn="ctr"/>
                      <a:r>
                        <a:rPr lang="zh-CN" altLang="en-US" sz="990" b="1" i="0" u="none" strike="noStrike">
                          <a:solidFill>
                            <a:srgbClr val="000000"/>
                          </a:solidFill>
                          <a:effectLst/>
                          <a:latin typeface="微软雅黑" panose="020B0503020204020204" pitchFamily="34" charset="-122"/>
                          <a:ea typeface="微软雅黑" panose="020B0503020204020204" pitchFamily="34" charset="-122"/>
                        </a:rPr>
                        <a:t>产业集团本部</a:t>
                      </a:r>
                      <a:endParaRPr lang="zh-CN" altLang="en-US" sz="990" b="1"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ctr"/>
                      <a:r>
                        <a:rPr lang="en-US" altLang="zh-CN" sz="990" b="1" i="0" u="none" strike="noStrike" dirty="0">
                          <a:solidFill>
                            <a:srgbClr val="000000"/>
                          </a:solidFill>
                          <a:effectLst/>
                          <a:latin typeface="微软雅黑" panose="020B0503020204020204" pitchFamily="34" charset="-122"/>
                          <a:ea typeface="微软雅黑" panose="020B0503020204020204" pitchFamily="34" charset="-122"/>
                        </a:rPr>
                        <a:t>36</a:t>
                      </a:r>
                      <a:endParaRPr lang="en-US" altLang="zh-CN" sz="990"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ctr"/>
                      <a:r>
                        <a:rPr lang="en-US" altLang="zh-CN" sz="990" b="1" i="0" u="none" strike="noStrike" dirty="0">
                          <a:solidFill>
                            <a:srgbClr val="000000"/>
                          </a:solidFill>
                          <a:effectLst/>
                          <a:latin typeface="微软雅黑" panose="020B0503020204020204" pitchFamily="34" charset="-122"/>
                          <a:ea typeface="微软雅黑" panose="020B0503020204020204" pitchFamily="34" charset="-122"/>
                        </a:rPr>
                        <a:t>34</a:t>
                      </a:r>
                      <a:endParaRPr lang="en-US" altLang="zh-CN" sz="990"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ctr"/>
                      <a:r>
                        <a:rPr lang="en-US" altLang="zh-CN" sz="1075" b="1" i="0" u="none" strike="noStrike">
                          <a:solidFill>
                            <a:srgbClr val="000000"/>
                          </a:solidFill>
                          <a:effectLst/>
                          <a:latin typeface="微软雅黑" panose="020B0503020204020204" pitchFamily="34" charset="-122"/>
                          <a:ea typeface="微软雅黑" panose="020B0503020204020204" pitchFamily="34" charset="-122"/>
                        </a:rPr>
                        <a:t>35</a:t>
                      </a:r>
                      <a:endParaRPr lang="en-US" altLang="zh-CN" sz="1075" b="1"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ctr"/>
                      <a:r>
                        <a:rPr lang="en-US" altLang="zh-CN" sz="1075" b="1"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1075" b="1"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ctr"/>
                      <a:r>
                        <a:rPr lang="en-US" altLang="zh-CN" sz="1075" b="1" i="0" u="none" strike="noStrike" dirty="0">
                          <a:solidFill>
                            <a:srgbClr val="000000"/>
                          </a:solidFill>
                          <a:effectLst/>
                          <a:latin typeface="微软雅黑" panose="020B0503020204020204" pitchFamily="34" charset="-122"/>
                          <a:ea typeface="微软雅黑" panose="020B0503020204020204" pitchFamily="34" charset="-122"/>
                        </a:rPr>
                        <a:t>-1</a:t>
                      </a:r>
                      <a:endParaRPr lang="en-US" altLang="zh-CN" sz="1075" b="1"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rtl="0" fontAlgn="ct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0345">
                <a:tc gridSpan="7">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a:tc>
                <a:tc hMerge="1">
                  <a:tcPr/>
                </a:tc>
                <a:tc hMerge="1">
                  <a:tcPr/>
                </a:tc>
                <a:tc hMerge="1">
                  <a:tcPr/>
                </a:tc>
                <a:tc hMerge="1">
                  <a:tcPr/>
                </a:tc>
                <a:tc hMerge="1">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深圳产业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65</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64</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68</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4</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3</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新增开市客项目，待招均为招商岗</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博文研究院</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4</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4</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4</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040">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华南产业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90" b="0" i="0" u="none" strike="noStrike" kern="1200" dirty="0">
                          <a:solidFill>
                            <a:srgbClr val="000000"/>
                          </a:solidFill>
                          <a:effectLst/>
                          <a:latin typeface="微软雅黑" panose="020B0503020204020204" pitchFamily="34" charset="-122"/>
                          <a:ea typeface="微软雅黑" panose="020B0503020204020204" pitchFamily="34" charset="-122"/>
                          <a:cs typeface="+mn-cs"/>
                        </a:rPr>
                        <a:t>23</a:t>
                      </a:r>
                      <a:endParaRPr lang="en-US" altLang="zh-CN" sz="99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90" b="0" i="0" u="none" strike="noStrike" kern="1200" dirty="0">
                          <a:solidFill>
                            <a:srgbClr val="000000"/>
                          </a:solidFill>
                          <a:effectLst/>
                          <a:latin typeface="微软雅黑" panose="020B0503020204020204" pitchFamily="34" charset="-122"/>
                          <a:ea typeface="微软雅黑" panose="020B0503020204020204" pitchFamily="34" charset="-122"/>
                          <a:cs typeface="+mn-cs"/>
                        </a:rPr>
                        <a:t>24</a:t>
                      </a:r>
                      <a:endParaRPr lang="en-US" altLang="zh-CN" sz="99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24</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成都产业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13</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smtClean="0">
                          <a:solidFill>
                            <a:srgbClr val="000000"/>
                          </a:solidFill>
                          <a:effectLst/>
                          <a:latin typeface="微软雅黑" panose="020B0503020204020204" pitchFamily="34" charset="-122"/>
                          <a:ea typeface="微软雅黑" panose="020B0503020204020204" pitchFamily="34" charset="-122"/>
                        </a:rPr>
                        <a:t>13</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a:t>
                      </a:r>
                      <a:r>
                        <a:rPr lang="en-US" altLang="zh-CN" sz="825" b="0" i="0" u="none" strike="noStrike" dirty="0" smtClean="0">
                          <a:solidFill>
                            <a:srgbClr val="000000"/>
                          </a:solidFill>
                          <a:effectLst/>
                          <a:latin typeface="微软雅黑" panose="020B0503020204020204" pitchFamily="34" charset="-122"/>
                          <a:ea typeface="微软雅黑" panose="020B0503020204020204" pitchFamily="34" charset="-122"/>
                        </a:rPr>
                        <a:t>offer</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中）</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13</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惠州产业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15</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13</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7</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-6</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-8</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业务调整，整体减</a:t>
                      </a:r>
                      <a:r>
                        <a:rPr lang="zh-CN" altLang="en-US" sz="990" b="0" i="0" u="none" strike="noStrike" dirty="0" smtClean="0">
                          <a:solidFill>
                            <a:srgbClr val="000000"/>
                          </a:solidFill>
                          <a:effectLst/>
                          <a:latin typeface="微软雅黑" panose="020B0503020204020204" pitchFamily="34" charset="-122"/>
                          <a:ea typeface="微软雅黑" panose="020B0503020204020204" pitchFamily="34" charset="-122"/>
                        </a:rPr>
                        <a:t>编</a:t>
                      </a:r>
                      <a:endParaRPr lang="en-US" altLang="zh-CN" sz="990" b="0" i="0" u="none" strike="noStrike" dirty="0" smtClean="0">
                        <a:solidFill>
                          <a:srgbClr val="000000"/>
                        </a:solidFill>
                        <a:effectLst/>
                        <a:latin typeface="微软雅黑" panose="020B0503020204020204" pitchFamily="34" charset="-122"/>
                        <a:ea typeface="微软雅黑" panose="020B0503020204020204" pitchFamily="34" charset="-122"/>
                      </a:endParaRPr>
                    </a:p>
                    <a:p>
                      <a:pPr algn="ctr" fontAlgn="ctr"/>
                      <a:r>
                        <a:rPr lang="en-US" altLang="zh-CN" sz="990" b="0" i="0" u="none" strike="noStrike" dirty="0" smtClean="0">
                          <a:solidFill>
                            <a:srgbClr val="000000"/>
                          </a:solidFill>
                          <a:effectLst/>
                          <a:latin typeface="微软雅黑" panose="020B0503020204020204" pitchFamily="34" charset="-122"/>
                          <a:ea typeface="微软雅黑" panose="020B0503020204020204" pitchFamily="34" charset="-122"/>
                        </a:rPr>
                        <a:t>26</a:t>
                      </a: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年新增黄江</a:t>
                      </a:r>
                      <a:r>
                        <a:rPr lang="zh-CN" altLang="en-US" sz="990" b="0" i="0" u="none" strike="noStrike" dirty="0" smtClean="0">
                          <a:solidFill>
                            <a:srgbClr val="000000"/>
                          </a:solidFill>
                          <a:effectLst/>
                          <a:latin typeface="微软雅黑" panose="020B0503020204020204" pitchFamily="34" charset="-122"/>
                          <a:ea typeface="微软雅黑" panose="020B0503020204020204" pitchFamily="34" charset="-122"/>
                        </a:rPr>
                        <a:t>项目</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惠州物业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43</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40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40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-3</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南京产业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14</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14</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14</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南京物业</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21</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21</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21</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485">
                <a:tc>
                  <a:txBody>
                    <a:bodyPr/>
                    <a:lstStyle/>
                    <a:p>
                      <a:pPr algn="ctr" fontAlgn="ctr"/>
                      <a:r>
                        <a:rPr lang="zh-CN" altLang="en-US" sz="990" b="0" i="0" u="none" strike="noStrike">
                          <a:solidFill>
                            <a:srgbClr val="000000"/>
                          </a:solidFill>
                          <a:effectLst/>
                          <a:latin typeface="微软雅黑" panose="020B0503020204020204" pitchFamily="34" charset="-122"/>
                          <a:ea typeface="微软雅黑" panose="020B0503020204020204" pitchFamily="34" charset="-122"/>
                        </a:rPr>
                        <a:t>苏州产业事业部</a:t>
                      </a:r>
                      <a:endParaRPr lang="zh-CN" altLang="en-US"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13</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smtClean="0">
                          <a:solidFill>
                            <a:srgbClr val="000000"/>
                          </a:solidFill>
                          <a:effectLst/>
                          <a:latin typeface="微软雅黑" panose="020B0503020204020204" pitchFamily="34" charset="-122"/>
                          <a:ea typeface="微软雅黑" panose="020B0503020204020204" pitchFamily="34" charset="-122"/>
                        </a:rPr>
                        <a:t>13</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a:t>
                      </a:r>
                      <a:r>
                        <a:rPr lang="en-US" altLang="zh-CN" sz="825" b="0" i="0" u="none" strike="noStrike" dirty="0" smtClean="0">
                          <a:solidFill>
                            <a:srgbClr val="000000"/>
                          </a:solidFill>
                          <a:effectLst/>
                          <a:latin typeface="微软雅黑" panose="020B0503020204020204" pitchFamily="34" charset="-122"/>
                          <a:ea typeface="微软雅黑" panose="020B0503020204020204" pitchFamily="34" charset="-122"/>
                        </a:rPr>
                        <a:t>offer</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中）</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13</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90" b="0" i="0" u="none" strike="noStrike" dirty="0">
                          <a:solidFill>
                            <a:srgbClr val="000000"/>
                          </a:solidFill>
                          <a:effectLst/>
                          <a:latin typeface="微软雅黑" panose="020B0503020204020204" pitchFamily="34" charset="-122"/>
                          <a:ea typeface="微软雅黑" panose="020B0503020204020204" pitchFamily="34" charset="-122"/>
                        </a:rPr>
                        <a:t>0</a:t>
                      </a:r>
                      <a:endParaRPr lang="en-US" altLang="zh-CN"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0345">
                <a:tc>
                  <a:txBody>
                    <a:bodyPr/>
                    <a:lstStyle/>
                    <a:p>
                      <a:pPr algn="ctr" fontAlgn="ctr"/>
                      <a:r>
                        <a:rPr lang="zh-CN" altLang="en-US" sz="990" b="1" i="0" u="none" strike="noStrike">
                          <a:solidFill>
                            <a:srgbClr val="000000"/>
                          </a:solidFill>
                          <a:effectLst/>
                          <a:latin typeface="微软雅黑" panose="020B0503020204020204" pitchFamily="34" charset="-122"/>
                          <a:ea typeface="微软雅黑" panose="020B0503020204020204" pitchFamily="34" charset="-122"/>
                        </a:rPr>
                        <a:t>产业公司小计</a:t>
                      </a:r>
                      <a:endParaRPr lang="zh-CN" altLang="en-US" sz="990" b="1"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DCDB"/>
                    </a:solidFill>
                  </a:tcPr>
                </a:tc>
                <a:tc>
                  <a:txBody>
                    <a:bodyPr/>
                    <a:lstStyle/>
                    <a:p>
                      <a:pPr algn="ctr" fontAlgn="ctr"/>
                      <a:r>
                        <a:rPr lang="en-US" altLang="zh-CN" sz="990" b="1" i="0" u="none" strike="noStrike">
                          <a:solidFill>
                            <a:srgbClr val="000000"/>
                          </a:solidFill>
                          <a:effectLst/>
                          <a:latin typeface="微软雅黑" panose="020B0503020204020204" pitchFamily="34" charset="-122"/>
                          <a:ea typeface="微软雅黑" panose="020B0503020204020204" pitchFamily="34" charset="-122"/>
                        </a:rPr>
                        <a:t>211</a:t>
                      </a:r>
                      <a:endParaRPr lang="en-US" altLang="zh-CN" sz="990" b="1" i="0" u="none" strike="noStrike">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DCDB"/>
                    </a:solidFill>
                  </a:tcPr>
                </a:tc>
                <a:tc>
                  <a:txBody>
                    <a:bodyPr/>
                    <a:lstStyle/>
                    <a:p>
                      <a:pPr algn="ctr" fontAlgn="ctr"/>
                      <a:r>
                        <a:rPr lang="en-US" altLang="zh-CN" sz="990" b="1" i="0" u="none" strike="noStrike" dirty="0" smtClean="0">
                          <a:solidFill>
                            <a:srgbClr val="000000"/>
                          </a:solidFill>
                          <a:effectLst/>
                          <a:latin typeface="微软雅黑" panose="020B0503020204020204" pitchFamily="34" charset="-122"/>
                          <a:ea typeface="微软雅黑" panose="020B0503020204020204" pitchFamily="34" charset="-122"/>
                        </a:rPr>
                        <a:t>206</a:t>
                      </a:r>
                      <a:endParaRPr lang="en-US" altLang="zh-CN" sz="990" b="1"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DCDB"/>
                    </a:solidFill>
                  </a:tcPr>
                </a:tc>
                <a:tc>
                  <a:txBody>
                    <a:bodyPr/>
                    <a:lstStyle/>
                    <a:p>
                      <a:pPr algn="ctr" fontAlgn="ctr"/>
                      <a:r>
                        <a:rPr lang="en-US" altLang="zh-CN" sz="990" b="1" i="0" u="none" strike="noStrike">
                          <a:solidFill>
                            <a:srgbClr val="000000"/>
                          </a:solidFill>
                          <a:effectLst/>
                          <a:latin typeface="微软雅黑" panose="020B0503020204020204" pitchFamily="34" charset="-122"/>
                          <a:ea typeface="微软雅黑" panose="020B0503020204020204" pitchFamily="34" charset="-122"/>
                        </a:rPr>
                        <a:t>204</a:t>
                      </a:r>
                      <a:endParaRPr lang="en-US" altLang="zh-CN" sz="990" b="1"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DCDB"/>
                    </a:solidFill>
                  </a:tcPr>
                </a:tc>
                <a:tc>
                  <a:txBody>
                    <a:bodyPr/>
                    <a:lstStyle/>
                    <a:p>
                      <a:pPr algn="ctr" fontAlgn="ctr"/>
                      <a:r>
                        <a:rPr lang="en-US" altLang="zh-CN" sz="990" b="1" i="0" u="none" strike="noStrike">
                          <a:solidFill>
                            <a:srgbClr val="000000"/>
                          </a:solidFill>
                          <a:effectLst/>
                          <a:latin typeface="微软雅黑" panose="020B0503020204020204" pitchFamily="34" charset="-122"/>
                          <a:ea typeface="微软雅黑" panose="020B0503020204020204" pitchFamily="34" charset="-122"/>
                        </a:rPr>
                        <a:t>-2</a:t>
                      </a:r>
                      <a:endParaRPr lang="en-US" altLang="zh-CN" sz="990" b="1" i="0" u="none" strike="noStrike">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DCDB"/>
                    </a:solidFill>
                  </a:tcPr>
                </a:tc>
                <a:tc>
                  <a:txBody>
                    <a:bodyPr/>
                    <a:lstStyle/>
                    <a:p>
                      <a:pPr algn="ctr" fontAlgn="ctr"/>
                      <a:r>
                        <a:rPr lang="en-US" altLang="zh-CN" sz="990" b="1" i="0" u="none" strike="noStrike" dirty="0">
                          <a:solidFill>
                            <a:srgbClr val="000000"/>
                          </a:solidFill>
                          <a:effectLst/>
                          <a:latin typeface="微软雅黑" panose="020B0503020204020204" pitchFamily="34" charset="-122"/>
                          <a:ea typeface="微软雅黑" panose="020B0503020204020204" pitchFamily="34" charset="-122"/>
                        </a:rPr>
                        <a:t>-7</a:t>
                      </a:r>
                      <a:endParaRPr lang="en-US" altLang="zh-CN" sz="990" b="1" i="0" u="none" strike="noStrike" dirty="0">
                        <a:solidFill>
                          <a:srgbClr val="000000"/>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DCDB"/>
                    </a:solidFill>
                  </a:tcPr>
                </a:tc>
                <a:tc>
                  <a:txBody>
                    <a:bodyPr/>
                    <a:lstStyle/>
                    <a:p>
                      <a:pPr algn="ctr" fontAlgn="ctr"/>
                      <a:r>
                        <a:rPr lang="zh-CN" altLang="en-US" sz="99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9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0345">
                <a:tc gridSpan="7">
                  <a:txBody>
                    <a:bodyPr/>
                    <a:lstStyle/>
                    <a:p>
                      <a:pPr algn="ctr" fontAlgn="ctr"/>
                      <a:r>
                        <a:rPr lang="zh-CN" altLang="en-US" sz="1075"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1075"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a:tc>
                <a:tc hMerge="1">
                  <a:tcPr/>
                </a:tc>
                <a:tc hMerge="1">
                  <a:tcPr/>
                </a:tc>
                <a:tc hMerge="1">
                  <a:tcPr/>
                </a:tc>
                <a:tc hMerge="1">
                  <a:tcPr/>
                </a:tc>
                <a:tc hMerge="1">
                  <a:tcPr/>
                </a:tc>
              </a:tr>
              <a:tr h="287655">
                <a:tc>
                  <a:txBody>
                    <a:bodyPr/>
                    <a:lstStyle/>
                    <a:p>
                      <a:pPr algn="ctr" fontAlgn="ctr"/>
                      <a:r>
                        <a:rPr lang="zh-CN" altLang="en-US" sz="1240" b="1" i="0" u="none" strike="noStrike" dirty="0">
                          <a:solidFill>
                            <a:srgbClr val="FFFFFF"/>
                          </a:solidFill>
                          <a:effectLst/>
                          <a:latin typeface="微软雅黑" panose="020B0503020204020204" pitchFamily="34" charset="-122"/>
                          <a:ea typeface="微软雅黑" panose="020B0503020204020204" pitchFamily="34" charset="-122"/>
                        </a:rPr>
                        <a:t>产业业务</a:t>
                      </a:r>
                      <a:endParaRPr lang="zh-CN" altLang="en-US" sz="1240" b="1" i="0" u="none" strike="noStrike" dirty="0">
                        <a:solidFill>
                          <a:srgbClr val="FFFFFF"/>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dirty="0">
                          <a:solidFill>
                            <a:srgbClr val="FFFFFF"/>
                          </a:solidFill>
                          <a:effectLst/>
                          <a:latin typeface="微软雅黑" panose="020B0503020204020204" pitchFamily="34" charset="-122"/>
                          <a:ea typeface="微软雅黑" panose="020B0503020204020204" pitchFamily="34" charset="-122"/>
                        </a:rPr>
                        <a:t>247</a:t>
                      </a:r>
                      <a:endParaRPr lang="en-US" altLang="zh-CN" sz="1240" b="1" i="0" u="none" strike="noStrike" dirty="0">
                        <a:solidFill>
                          <a:srgbClr val="FFFFFF"/>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dirty="0" smtClean="0">
                          <a:solidFill>
                            <a:srgbClr val="FFFFFF"/>
                          </a:solidFill>
                          <a:effectLst/>
                          <a:latin typeface="微软雅黑" panose="020B0503020204020204" pitchFamily="34" charset="-122"/>
                          <a:ea typeface="微软雅黑" panose="020B0503020204020204" pitchFamily="34" charset="-122"/>
                        </a:rPr>
                        <a:t>240</a:t>
                      </a:r>
                      <a:endParaRPr lang="en-US" altLang="zh-CN" sz="1240" b="1" i="0" u="none" strike="noStrike" dirty="0">
                        <a:solidFill>
                          <a:srgbClr val="FFFFFF"/>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dirty="0">
                          <a:solidFill>
                            <a:srgbClr val="FFFFFF"/>
                          </a:solidFill>
                          <a:effectLst/>
                          <a:latin typeface="微软雅黑" panose="020B0503020204020204" pitchFamily="34" charset="-122"/>
                          <a:ea typeface="微软雅黑" panose="020B0503020204020204" pitchFamily="34" charset="-122"/>
                        </a:rPr>
                        <a:t>239</a:t>
                      </a:r>
                      <a:endParaRPr lang="en-US" altLang="zh-CN" sz="1240" b="1" i="0" u="none" strike="noStrike" dirty="0">
                        <a:solidFill>
                          <a:srgbClr val="FFFFFF"/>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a:solidFill>
                            <a:srgbClr val="FFFFFF"/>
                          </a:solidFill>
                          <a:effectLst/>
                          <a:latin typeface="微软雅黑" panose="020B0503020204020204" pitchFamily="34" charset="-122"/>
                          <a:ea typeface="微软雅黑" panose="020B0503020204020204" pitchFamily="34" charset="-122"/>
                        </a:rPr>
                        <a:t>-1</a:t>
                      </a:r>
                      <a:endParaRPr lang="en-US" altLang="zh-CN" sz="1240" b="1" i="0" u="none" strike="noStrike">
                        <a:solidFill>
                          <a:srgbClr val="FFFFFF"/>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dirty="0">
                          <a:solidFill>
                            <a:srgbClr val="FFFFFF"/>
                          </a:solidFill>
                          <a:effectLst/>
                          <a:latin typeface="微软雅黑" panose="020B0503020204020204" pitchFamily="34" charset="-122"/>
                          <a:ea typeface="微软雅黑" panose="020B0503020204020204" pitchFamily="34" charset="-122"/>
                        </a:rPr>
                        <a:t>-8</a:t>
                      </a:r>
                      <a:endParaRPr lang="en-US" altLang="zh-CN" sz="1240" b="1" i="0" u="none" strike="noStrike" dirty="0">
                        <a:solidFill>
                          <a:srgbClr val="FFFFFF"/>
                        </a:solidFill>
                        <a:effectLst/>
                        <a:latin typeface="微软雅黑" panose="020B0503020204020204" pitchFamily="34" charset="-122"/>
                        <a:ea typeface="微软雅黑" panose="020B0503020204020204" pitchFamily="34" charset="-122"/>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910"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910" b="0" i="0" u="none" strike="noStrike" dirty="0">
                        <a:solidFill>
                          <a:srgbClr val="000000"/>
                        </a:solidFill>
                        <a:effectLst/>
                        <a:latin typeface="微软雅黑" panose="020B0503020204020204" pitchFamily="34" charset="-122"/>
                        <a:ea typeface="微软雅黑" panose="020B0503020204020204" pitchFamily="34" charset="-122"/>
                      </a:endParaRPr>
                    </a:p>
                  </a:txBody>
                  <a:tcPr marL="7477" marR="7477" marT="74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Tree>
  </p:cSld>
  <p:clrMapOvr>
    <a:masterClrMapping/>
  </p:clrMapOvr>
  <p:transition spd="slow"/>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852383" y="5549323"/>
            <a:ext cx="207714" cy="109162"/>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108075" eaLnBrk="0" fontAlgn="base" hangingPunct="0">
              <a:spcBef>
                <a:spcPct val="0"/>
              </a:spcBef>
              <a:spcAft>
                <a:spcPct val="0"/>
              </a:spcAft>
              <a:defRPr/>
            </a:pPr>
            <a:endParaRPr lang="zh-CN" altLang="en-US" sz="1800">
              <a:solidFill>
                <a:prstClr val="white"/>
              </a:solidFill>
              <a:latin typeface="Calibri" panose="020F0502020204030204"/>
              <a:ea typeface="宋体" panose="02010600030101010101" pitchFamily="2" charset="-122"/>
            </a:endParaRPr>
          </a:p>
        </p:txBody>
      </p:sp>
      <p:sp>
        <p:nvSpPr>
          <p:cNvPr id="5" name="文本框 4"/>
          <p:cNvSpPr txBox="1"/>
          <p:nvPr/>
        </p:nvSpPr>
        <p:spPr>
          <a:xfrm>
            <a:off x="134230" y="165780"/>
            <a:ext cx="9233978" cy="368300"/>
          </a:xfrm>
          <a:prstGeom prst="rect">
            <a:avLst/>
          </a:prstGeom>
          <a:noFill/>
        </p:spPr>
        <p:txBody>
          <a:bodyPr wrap="square" rtlCol="0">
            <a:spAutoFit/>
          </a:bodyPr>
          <a:lstStyle/>
          <a:p>
            <a:pPr defTabSz="1108075" eaLnBrk="0" fontAlgn="base" hangingPunct="0">
              <a:spcBef>
                <a:spcPct val="0"/>
              </a:spcBef>
              <a:spcAft>
                <a:spcPct val="0"/>
              </a:spcAft>
              <a:defRPr/>
            </a:pPr>
            <a:r>
              <a:rPr lang="zh-CN" altLang="en-US" sz="1800" b="1" dirty="0">
                <a:solidFill>
                  <a:prstClr val="black"/>
                </a:solidFill>
                <a:latin typeface="微软雅黑" panose="020B0503020204020204" pitchFamily="34" charset="-122"/>
                <a:ea typeface="微软雅黑" panose="020B0503020204020204" pitchFamily="34" charset="-122"/>
              </a:rPr>
              <a:t>人员编制</a:t>
            </a:r>
            <a:r>
              <a:rPr lang="en-US" altLang="zh-CN" sz="1800" b="1" dirty="0">
                <a:solidFill>
                  <a:prstClr val="black"/>
                </a:solidFill>
                <a:latin typeface="微软雅黑" panose="020B0503020204020204" pitchFamily="34" charset="-122"/>
                <a:ea typeface="微软雅黑" panose="020B0503020204020204" pitchFamily="34" charset="-122"/>
              </a:rPr>
              <a:t>-</a:t>
            </a:r>
            <a:r>
              <a:rPr lang="zh-CN" altLang="en-US" sz="1800" b="1" dirty="0">
                <a:solidFill>
                  <a:prstClr val="black"/>
                </a:solidFill>
                <a:latin typeface="微软雅黑" panose="020B0503020204020204" pitchFamily="34" charset="-122"/>
                <a:ea typeface="微软雅黑" panose="020B0503020204020204" pitchFamily="34" charset="-122"/>
              </a:rPr>
              <a:t>酒店公寓业务</a:t>
            </a:r>
            <a:endParaRPr lang="zh-CN" altLang="en-US" sz="1800" b="1" dirty="0">
              <a:solidFill>
                <a:prstClr val="black"/>
              </a:solidFill>
              <a:latin typeface="微软雅黑" panose="020B0503020204020204" pitchFamily="34" charset="-122"/>
              <a:ea typeface="微软雅黑" panose="020B0503020204020204" pitchFamily="34" charset="-122"/>
            </a:endParaRPr>
          </a:p>
        </p:txBody>
      </p:sp>
      <p:graphicFrame>
        <p:nvGraphicFramePr>
          <p:cNvPr id="4" name="表格 3"/>
          <p:cNvGraphicFramePr>
            <a:graphicFrameLocks noGrp="1"/>
          </p:cNvGraphicFramePr>
          <p:nvPr/>
        </p:nvGraphicFramePr>
        <p:xfrm>
          <a:off x="3013543" y="1029865"/>
          <a:ext cx="6763385" cy="3959225"/>
        </p:xfrm>
        <a:graphic>
          <a:graphicData uri="http://schemas.openxmlformats.org/drawingml/2006/table">
            <a:tbl>
              <a:tblPr/>
              <a:tblGrid>
                <a:gridCol w="1485900"/>
                <a:gridCol w="623570"/>
                <a:gridCol w="624205"/>
                <a:gridCol w="619760"/>
                <a:gridCol w="619125"/>
                <a:gridCol w="619760"/>
                <a:gridCol w="2171065"/>
              </a:tblGrid>
              <a:tr h="361950">
                <a:tc rowSpan="2">
                  <a:txBody>
                    <a:bodyPr/>
                    <a:lstStyle/>
                    <a:p>
                      <a:pPr algn="ctr" fontAlgn="ctr"/>
                      <a:r>
                        <a:rPr lang="zh-CN" altLang="en-US" sz="990" b="1" i="0" u="none" strike="noStrike">
                          <a:solidFill>
                            <a:srgbClr val="000000"/>
                          </a:solidFill>
                          <a:effectLst/>
                          <a:latin typeface="微软雅黑" panose="020B0503020204020204" pitchFamily="34" charset="-122"/>
                          <a:ea typeface="微软雅黑" panose="020B0503020204020204" pitchFamily="34" charset="-122"/>
                        </a:rPr>
                        <a:t>单位</a:t>
                      </a:r>
                      <a:endParaRPr lang="zh-CN" altLang="en-US" sz="99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c rowSpan="2">
                  <a:txBody>
                    <a:bodyPr/>
                    <a:lstStyle/>
                    <a:p>
                      <a:pPr algn="ctr" fontAlgn="ctr"/>
                      <a:r>
                        <a:rPr lang="en-US" altLang="zh-CN" sz="990" b="1" i="0" u="none" strike="noStrike">
                          <a:solidFill>
                            <a:srgbClr val="000000"/>
                          </a:solidFill>
                          <a:effectLst/>
                          <a:latin typeface="微软雅黑" panose="020B0503020204020204" pitchFamily="34" charset="-122"/>
                          <a:ea typeface="微软雅黑" panose="020B0503020204020204" pitchFamily="34" charset="-122"/>
                        </a:rPr>
                        <a:t>2025</a:t>
                      </a:r>
                      <a:r>
                        <a:rPr lang="zh-CN" altLang="en-US" sz="990" b="1" i="0" u="none" strike="noStrike">
                          <a:solidFill>
                            <a:srgbClr val="000000"/>
                          </a:solidFill>
                          <a:effectLst/>
                          <a:latin typeface="微软雅黑" panose="020B0503020204020204" pitchFamily="34" charset="-122"/>
                          <a:ea typeface="微软雅黑" panose="020B0503020204020204" pitchFamily="34" charset="-122"/>
                        </a:rPr>
                        <a:t>编制</a:t>
                      </a:r>
                      <a:endParaRPr lang="zh-CN" altLang="en-US" sz="99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c rowSpan="2">
                  <a:txBody>
                    <a:bodyPr/>
                    <a:lstStyle/>
                    <a:p>
                      <a:pPr algn="ctr" fontAlgn="ctr"/>
                      <a:r>
                        <a:rPr lang="en-US" altLang="zh-CN" sz="990" b="1" i="0" u="none" strike="noStrike">
                          <a:solidFill>
                            <a:srgbClr val="000000"/>
                          </a:solidFill>
                          <a:effectLst/>
                          <a:latin typeface="微软雅黑" panose="020B0503020204020204" pitchFamily="34" charset="-122"/>
                          <a:ea typeface="微软雅黑" panose="020B0503020204020204" pitchFamily="34" charset="-122"/>
                        </a:rPr>
                        <a:t>2025</a:t>
                      </a:r>
                      <a:br>
                        <a:rPr lang="en-US" altLang="zh-CN" sz="990" b="1" i="0" u="none" strike="noStrike">
                          <a:solidFill>
                            <a:srgbClr val="000000"/>
                          </a:solidFill>
                          <a:effectLst/>
                          <a:latin typeface="微软雅黑" panose="020B0503020204020204" pitchFamily="34" charset="-122"/>
                          <a:ea typeface="微软雅黑" panose="020B0503020204020204" pitchFamily="34" charset="-122"/>
                        </a:rPr>
                      </a:br>
                      <a:r>
                        <a:rPr lang="zh-CN" altLang="en-US" sz="990" b="1" i="0" u="none" strike="noStrike">
                          <a:solidFill>
                            <a:srgbClr val="000000"/>
                          </a:solidFill>
                          <a:effectLst/>
                          <a:latin typeface="微软雅黑" panose="020B0503020204020204" pitchFamily="34" charset="-122"/>
                          <a:ea typeface="微软雅黑" panose="020B0503020204020204" pitchFamily="34" charset="-122"/>
                        </a:rPr>
                        <a:t>月均在岗</a:t>
                      </a:r>
                      <a:endParaRPr lang="zh-CN" altLang="en-US" sz="99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c gridSpan="3">
                  <a:txBody>
                    <a:bodyPr/>
                    <a:lstStyle/>
                    <a:p>
                      <a:pPr algn="ctr" fontAlgn="ctr"/>
                      <a:r>
                        <a:rPr lang="en-US" altLang="zh-CN" sz="990" b="1" i="0" u="none" strike="noStrike">
                          <a:solidFill>
                            <a:srgbClr val="FFFFFF"/>
                          </a:solidFill>
                          <a:effectLst/>
                          <a:latin typeface="微软雅黑" panose="020B0503020204020204" pitchFamily="34" charset="-122"/>
                          <a:ea typeface="微软雅黑" panose="020B0503020204020204" pitchFamily="34" charset="-122"/>
                        </a:rPr>
                        <a:t>2026</a:t>
                      </a:r>
                      <a:r>
                        <a:rPr lang="zh-CN" altLang="en-US" sz="990" b="1" i="0" u="none" strike="noStrike">
                          <a:solidFill>
                            <a:srgbClr val="FFFFFF"/>
                          </a:solidFill>
                          <a:effectLst/>
                          <a:latin typeface="微软雅黑" panose="020B0503020204020204" pitchFamily="34" charset="-122"/>
                          <a:ea typeface="微软雅黑" panose="020B0503020204020204" pitchFamily="34" charset="-122"/>
                        </a:rPr>
                        <a:t>申报编制</a:t>
                      </a:r>
                      <a:endParaRPr lang="zh-CN" altLang="en-US" sz="990" b="1" i="0" u="none" strike="noStrike">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cPr/>
                </a:tc>
                <a:tc hMerge="1">
                  <a:tcPr/>
                </a:tc>
                <a:tc rowSpan="2">
                  <a:txBody>
                    <a:bodyPr/>
                    <a:lstStyle/>
                    <a:p>
                      <a:pPr algn="ctr" fontAlgn="ctr"/>
                      <a:r>
                        <a:rPr lang="zh-CN" altLang="en-US" sz="990" b="1" i="0" u="none" strike="noStrike">
                          <a:solidFill>
                            <a:srgbClr val="000000"/>
                          </a:solidFill>
                          <a:effectLst/>
                          <a:latin typeface="微软雅黑" panose="020B0503020204020204" pitchFamily="34" charset="-122"/>
                          <a:ea typeface="微软雅黑" panose="020B0503020204020204" pitchFamily="34" charset="-122"/>
                        </a:rPr>
                        <a:t>备注</a:t>
                      </a:r>
                      <a:endParaRPr lang="zh-CN" altLang="en-US" sz="99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D9C4"/>
                    </a:solidFill>
                  </a:tcPr>
                </a:tc>
              </a:tr>
              <a:tr h="452755">
                <a:tc vMerge="1">
                  <a:tcPr/>
                </a:tc>
                <a:tc vMerge="1">
                  <a:tcPr/>
                </a:tc>
                <a:tc vMerge="1">
                  <a:tcPr/>
                </a:tc>
                <a:tc>
                  <a:txBody>
                    <a:bodyPr/>
                    <a:lstStyle/>
                    <a:p>
                      <a:pPr algn="ctr" fontAlgn="ctr"/>
                      <a:r>
                        <a:rPr lang="zh-CN" altLang="en-US" sz="990" b="1" i="0" u="none" strike="noStrike">
                          <a:solidFill>
                            <a:srgbClr val="FFFFFF"/>
                          </a:solidFill>
                          <a:effectLst/>
                          <a:latin typeface="微软雅黑" panose="020B0503020204020204" pitchFamily="34" charset="-122"/>
                          <a:ea typeface="微软雅黑" panose="020B0503020204020204" pitchFamily="34" charset="-122"/>
                        </a:rPr>
                        <a:t>申报</a:t>
                      </a:r>
                      <a:endParaRPr lang="zh-CN" altLang="en-US" sz="990" b="1" i="0" u="none" strike="noStrike">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990" b="1" i="0" u="none" strike="noStrike" dirty="0" smtClean="0">
                          <a:solidFill>
                            <a:srgbClr val="FFFFFF"/>
                          </a:solidFill>
                          <a:effectLst/>
                          <a:latin typeface="微软雅黑" panose="020B0503020204020204" pitchFamily="34" charset="-122"/>
                          <a:ea typeface="微软雅黑" panose="020B0503020204020204" pitchFamily="34" charset="-122"/>
                        </a:rPr>
                        <a:t>较月均</a:t>
                      </a:r>
                      <a:endParaRPr lang="en-US" altLang="zh-CN" sz="990" b="1" i="0" u="none" strike="noStrike" dirty="0" smtClean="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90" b="1" i="0" u="none" strike="noStrike" dirty="0" smtClean="0">
                          <a:solidFill>
                            <a:srgbClr val="FFFFFF"/>
                          </a:solidFill>
                          <a:effectLst/>
                          <a:latin typeface="微软雅黑" panose="020B0503020204020204" pitchFamily="34" charset="-122"/>
                          <a:ea typeface="微软雅黑" panose="020B0503020204020204" pitchFamily="34" charset="-122"/>
                        </a:rPr>
                        <a:t>在岗</a:t>
                      </a:r>
                      <a:endParaRPr lang="zh-CN" altLang="en-US" sz="990" b="1" i="0" u="none" strike="noStrike" dirty="0">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990" b="1" i="0" u="none" strike="noStrike" dirty="0">
                          <a:solidFill>
                            <a:srgbClr val="FFFFFF"/>
                          </a:solidFill>
                          <a:effectLst/>
                          <a:latin typeface="微软雅黑" panose="020B0503020204020204" pitchFamily="34" charset="-122"/>
                          <a:ea typeface="微软雅黑" panose="020B0503020204020204" pitchFamily="34" charset="-122"/>
                        </a:rPr>
                        <a:t>较</a:t>
                      </a:r>
                      <a:r>
                        <a:rPr lang="zh-CN" altLang="en-US" sz="990" b="1" i="0" u="none" strike="noStrike" dirty="0" smtClean="0">
                          <a:solidFill>
                            <a:srgbClr val="FFFFFF"/>
                          </a:solidFill>
                          <a:effectLst/>
                          <a:latin typeface="微软雅黑" panose="020B0503020204020204" pitchFamily="34" charset="-122"/>
                          <a:ea typeface="微软雅黑" panose="020B0503020204020204" pitchFamily="34" charset="-122"/>
                        </a:rPr>
                        <a:t>去年</a:t>
                      </a:r>
                      <a:endParaRPr lang="en-US" altLang="zh-CN" sz="990" b="1" i="0" u="none" strike="noStrike" dirty="0" smtClean="0">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990" b="1" i="0" u="none" strike="noStrike" dirty="0" smtClean="0">
                          <a:solidFill>
                            <a:srgbClr val="FFFFFF"/>
                          </a:solidFill>
                          <a:effectLst/>
                          <a:latin typeface="微软雅黑" panose="020B0503020204020204" pitchFamily="34" charset="-122"/>
                          <a:ea typeface="微软雅黑" panose="020B0503020204020204" pitchFamily="34" charset="-122"/>
                        </a:rPr>
                        <a:t>编制</a:t>
                      </a:r>
                      <a:endParaRPr lang="zh-CN" altLang="en-US" sz="990" b="1" i="0" u="none" strike="noStrike" dirty="0">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vMerge="1">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酒店管理中心</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6</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6</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6</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825"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公寓管理中心</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5</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5</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5</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825"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68605">
                <a:tc>
                  <a:txBody>
                    <a:bodyPr/>
                    <a:lstStyle/>
                    <a:p>
                      <a:pPr algn="ctr" fontAlgn="ctr"/>
                      <a:r>
                        <a:rPr lang="zh-CN" altLang="en-US" sz="910" b="1" i="0" u="none" strike="noStrike">
                          <a:solidFill>
                            <a:srgbClr val="000000"/>
                          </a:solidFill>
                          <a:effectLst/>
                          <a:latin typeface="微软雅黑" panose="020B0503020204020204" pitchFamily="34" charset="-122"/>
                          <a:ea typeface="微软雅黑" panose="020B0503020204020204" pitchFamily="34" charset="-122"/>
                        </a:rPr>
                        <a:t>酒店公寓事业部本部</a:t>
                      </a:r>
                      <a:endParaRPr lang="zh-CN" altLang="en-US"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11</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11</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11</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a:txBody>
                    <a:bodyPr/>
                    <a:lstStyle/>
                    <a:p>
                      <a:pPr algn="ctr" fontAlgn="ctr"/>
                      <a:r>
                        <a:rPr lang="zh-CN" altLang="en-US" sz="825" b="0" i="0" u="none" strike="noStrike">
                          <a:solidFill>
                            <a:srgbClr val="000000"/>
                          </a:solidFill>
                          <a:effectLst/>
                          <a:latin typeface="微软雅黑" panose="020B0503020204020204" pitchFamily="34" charset="-122"/>
                          <a:ea typeface="微软雅黑" panose="020B0503020204020204" pitchFamily="34" charset="-122"/>
                        </a:rPr>
                        <a:t>　</a:t>
                      </a:r>
                      <a:endParaRPr lang="zh-CN" altLang="en-US" sz="825"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64490">
                <a:tc>
                  <a:txBody>
                    <a:bodyPr/>
                    <a:lstStyle/>
                    <a:p>
                      <a:pPr algn="ctr" fontAlgn="ctr"/>
                      <a:r>
                        <a:rPr lang="zh-CN" altLang="en-US" sz="910" b="1" i="0" u="none" strike="noStrike">
                          <a:solidFill>
                            <a:srgbClr val="000000"/>
                          </a:solidFill>
                          <a:effectLst/>
                          <a:latin typeface="微软雅黑" panose="020B0503020204020204" pitchFamily="34" charset="-122"/>
                          <a:ea typeface="微软雅黑" panose="020B0503020204020204" pitchFamily="34" charset="-122"/>
                        </a:rPr>
                        <a:t>公寓项目</a:t>
                      </a:r>
                      <a:endParaRPr lang="zh-CN" altLang="en-US"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34</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32</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en-US" altLang="zh-CN" sz="910" b="1" i="0" u="none" strike="noStrike" dirty="0">
                          <a:solidFill>
                            <a:srgbClr val="000000"/>
                          </a:solidFill>
                          <a:effectLst/>
                          <a:latin typeface="微软雅黑" panose="020B0503020204020204" pitchFamily="34" charset="-122"/>
                          <a:ea typeface="微软雅黑" panose="020B0503020204020204" pitchFamily="34" charset="-122"/>
                        </a:rPr>
                        <a:t>44</a:t>
                      </a:r>
                      <a:endParaRPr lang="en-US" altLang="zh-CN" sz="910" b="1"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12</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10</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沙井荣御项目新增需求</a:t>
                      </a:r>
                      <a:r>
                        <a:rPr lang="en-US" altLang="zh-CN" sz="825" b="0" i="0" u="none" strike="noStrike" dirty="0">
                          <a:solidFill>
                            <a:srgbClr val="000000"/>
                          </a:solidFill>
                          <a:effectLst/>
                          <a:latin typeface="微软雅黑" panose="020B0503020204020204" pitchFamily="34" charset="-122"/>
                          <a:ea typeface="微软雅黑" panose="020B0503020204020204" pitchFamily="34" charset="-122"/>
                        </a:rPr>
                        <a:t>+4</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a:t>
                      </a:r>
                      <a:endParaRPr lang="en-US" altLang="zh-CN" sz="825" b="0" i="0" u="none" strike="noStrike" dirty="0" smtClean="0">
                        <a:solidFill>
                          <a:srgbClr val="000000"/>
                        </a:solidFill>
                        <a:effectLst/>
                        <a:latin typeface="微软雅黑" panose="020B0503020204020204" pitchFamily="34" charset="-122"/>
                        <a:ea typeface="微软雅黑" panose="020B0503020204020204" pitchFamily="34" charset="-122"/>
                      </a:endParaRPr>
                    </a:p>
                    <a:p>
                      <a:pPr algn="ctr" fontAlgn="ct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龙华</a:t>
                      </a: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开市客店开业</a:t>
                      </a:r>
                      <a:r>
                        <a:rPr lang="en-US" altLang="zh-CN" sz="825" b="0" i="0" u="none" strike="noStrike" dirty="0">
                          <a:solidFill>
                            <a:srgbClr val="000000"/>
                          </a:solidFill>
                          <a:effectLst/>
                          <a:latin typeface="微软雅黑" panose="020B0503020204020204" pitchFamily="34" charset="-122"/>
                          <a:ea typeface="微软雅黑" panose="020B0503020204020204" pitchFamily="34" charset="-122"/>
                        </a:rPr>
                        <a:t>+8</a:t>
                      </a:r>
                      <a:endParaRPr lang="en-US" altLang="zh-CN"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深圳XH吉酒店</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219</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211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212</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-2</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-7</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　</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控编控费</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东山珍珠岛酒店</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61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47</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rPr>
                        <a:t>42</a:t>
                      </a:r>
                      <a:endPar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rPr>
                        <a:t>0</a:t>
                      </a:r>
                      <a:endPar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rPr>
                        <a:t>-19</a:t>
                      </a:r>
                      <a:endPar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业务调整，整体减编</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惠州星度假酒店</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102</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93</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rPr>
                        <a:t>99</a:t>
                      </a:r>
                      <a:endPar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rPr>
                        <a:t>6</a:t>
                      </a:r>
                      <a:endPar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754380" rtl="0" eaLnBrk="1" fontAlgn="ctr" latinLnBrk="0" hangingPunct="1"/>
                      <a:r>
                        <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rPr>
                        <a:t>-3</a:t>
                      </a:r>
                      <a:endParaRPr lang="en-US" altLang="zh-CN" sz="91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前厅、客房、销售、</a:t>
                      </a:r>
                      <a:r>
                        <a:rPr lang="zh-CN" altLang="en-US" sz="825" b="0" i="0" u="none" strike="noStrike" dirty="0" smtClean="0">
                          <a:solidFill>
                            <a:srgbClr val="000000"/>
                          </a:solidFill>
                          <a:effectLst/>
                          <a:latin typeface="微软雅黑" panose="020B0503020204020204" pitchFamily="34" charset="-122"/>
                          <a:ea typeface="微软雅黑" panose="020B0503020204020204" pitchFamily="34" charset="-122"/>
                        </a:rPr>
                        <a:t>餐饮等岗位仍</a:t>
                      </a: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招聘中</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广州XH吉酒店</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136</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125</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125</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业务调整，整体减编</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3680">
                <a:tc>
                  <a:txBody>
                    <a:bodyPr/>
                    <a:lstStyle/>
                    <a:p>
                      <a:pPr algn="ctr" fontAlgn="ct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上海XH吉酒店</a:t>
                      </a: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&amp;</a:t>
                      </a:r>
                      <a:r>
                        <a:rPr lang="zh-CN" altLang="en-US" sz="910" b="0" i="0" u="none" strike="noStrike">
                          <a:solidFill>
                            <a:srgbClr val="000000"/>
                          </a:solidFill>
                          <a:effectLst/>
                          <a:latin typeface="微软雅黑" panose="020B0503020204020204" pitchFamily="34" charset="-122"/>
                          <a:ea typeface="微软雅黑" panose="020B0503020204020204" pitchFamily="34" charset="-122"/>
                        </a:rPr>
                        <a:t>郡寓</a:t>
                      </a:r>
                      <a:endParaRPr lang="zh-CN" altLang="en-US"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101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99</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101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1</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910" b="0" i="0" u="none" strike="noStrike">
                          <a:solidFill>
                            <a:srgbClr val="000000"/>
                          </a:solidFill>
                          <a:effectLst/>
                          <a:latin typeface="微软雅黑" panose="020B0503020204020204" pitchFamily="34" charset="-122"/>
                          <a:ea typeface="微软雅黑" panose="020B0503020204020204" pitchFamily="34" charset="-122"/>
                        </a:rPr>
                        <a:t>0</a:t>
                      </a:r>
                      <a:endParaRPr lang="en-US" altLang="zh-CN" sz="910" b="0"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67970">
                <a:tc>
                  <a:txBody>
                    <a:bodyPr/>
                    <a:lstStyle/>
                    <a:p>
                      <a:pPr algn="ctr" fontAlgn="ctr"/>
                      <a:r>
                        <a:rPr lang="zh-CN" altLang="en-US" sz="910" b="1" i="0" u="none" strike="noStrike">
                          <a:solidFill>
                            <a:srgbClr val="000000"/>
                          </a:solidFill>
                          <a:effectLst/>
                          <a:latin typeface="微软雅黑" panose="020B0503020204020204" pitchFamily="34" charset="-122"/>
                          <a:ea typeface="微软雅黑" panose="020B0503020204020204" pitchFamily="34" charset="-122"/>
                        </a:rPr>
                        <a:t>酒店项目小计</a:t>
                      </a:r>
                      <a:endParaRPr lang="zh-CN" altLang="en-US"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algn="ctr" fontAlgn="ctr"/>
                      <a:r>
                        <a:rPr lang="en-US" altLang="zh-CN" sz="910" b="1" i="0" u="none" strike="noStrike">
                          <a:solidFill>
                            <a:srgbClr val="000000"/>
                          </a:solidFill>
                          <a:effectLst/>
                          <a:latin typeface="微软雅黑" panose="020B0503020204020204" pitchFamily="34" charset="-122"/>
                          <a:ea typeface="微软雅黑" panose="020B0503020204020204" pitchFamily="34" charset="-122"/>
                        </a:rPr>
                        <a:t>619</a:t>
                      </a:r>
                      <a:endParaRPr lang="en-US" altLang="zh-CN" sz="910" b="1" i="0" u="none" strike="noStrike">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algn="ctr" fontAlgn="ctr"/>
                      <a:r>
                        <a:rPr lang="en-US" altLang="zh-CN" sz="910" b="1" i="0" u="none" strike="noStrike" dirty="0">
                          <a:solidFill>
                            <a:srgbClr val="000000"/>
                          </a:solidFill>
                          <a:effectLst/>
                          <a:latin typeface="微软雅黑" panose="020B0503020204020204" pitchFamily="34" charset="-122"/>
                          <a:ea typeface="微软雅黑" panose="020B0503020204020204" pitchFamily="34" charset="-122"/>
                        </a:rPr>
                        <a:t>575</a:t>
                      </a:r>
                      <a:endParaRPr lang="en-US" altLang="zh-CN" sz="910" b="1"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marL="0" algn="ctr" defTabSz="754380" rtl="0" eaLnBrk="1" fontAlgn="ctr" latinLnBrk="0" hangingPunct="1"/>
                      <a:r>
                        <a:rPr lang="en-US" altLang="zh-CN" sz="910" b="1" i="0" u="none" strike="noStrike" kern="1200" dirty="0">
                          <a:solidFill>
                            <a:srgbClr val="000000"/>
                          </a:solidFill>
                          <a:effectLst/>
                          <a:latin typeface="微软雅黑" panose="020B0503020204020204" pitchFamily="34" charset="-122"/>
                          <a:ea typeface="微软雅黑" panose="020B0503020204020204" pitchFamily="34" charset="-122"/>
                          <a:cs typeface="+mn-cs"/>
                        </a:rPr>
                        <a:t>579</a:t>
                      </a:r>
                      <a:endParaRPr lang="en-US" altLang="zh-CN" sz="91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marL="0" algn="ctr" defTabSz="754380" rtl="0" eaLnBrk="1" fontAlgn="ctr" latinLnBrk="0" hangingPunct="1"/>
                      <a:r>
                        <a:rPr lang="en-US" altLang="zh-CN" sz="910" b="1" i="0" u="none" strike="noStrike" kern="1200" dirty="0">
                          <a:solidFill>
                            <a:srgbClr val="000000"/>
                          </a:solidFill>
                          <a:effectLst/>
                          <a:latin typeface="微软雅黑" panose="020B0503020204020204" pitchFamily="34" charset="-122"/>
                          <a:ea typeface="微软雅黑" panose="020B0503020204020204" pitchFamily="34" charset="-122"/>
                          <a:cs typeface="+mn-cs"/>
                        </a:rPr>
                        <a:t>6</a:t>
                      </a:r>
                      <a:endParaRPr lang="en-US" altLang="zh-CN" sz="91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marL="0" algn="ctr" defTabSz="754380" rtl="0" eaLnBrk="1" fontAlgn="ctr" latinLnBrk="0" hangingPunct="1"/>
                      <a:r>
                        <a:rPr lang="en-US" altLang="zh-CN" sz="910" b="1" i="0" u="none" strike="noStrike" kern="1200" dirty="0">
                          <a:solidFill>
                            <a:srgbClr val="000000"/>
                          </a:solidFill>
                          <a:effectLst/>
                          <a:latin typeface="微软雅黑" panose="020B0503020204020204" pitchFamily="34" charset="-122"/>
                          <a:ea typeface="微软雅黑" panose="020B0503020204020204" pitchFamily="34" charset="-122"/>
                          <a:cs typeface="+mn-cs"/>
                        </a:rPr>
                        <a:t>-40</a:t>
                      </a:r>
                      <a:endParaRPr lang="en-US" altLang="zh-CN" sz="91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57175">
                <a:tc gridSpan="7">
                  <a:txBody>
                    <a:bodyPr/>
                    <a:lstStyle/>
                    <a:p>
                      <a:pPr algn="ctr" fontAlgn="ctr"/>
                      <a:r>
                        <a:rPr lang="zh-CN" altLang="en-US" sz="910" b="0" i="0" u="none" strike="noStrike" dirty="0">
                          <a:solidFill>
                            <a:srgbClr val="000000"/>
                          </a:solidFill>
                          <a:effectLst/>
                          <a:latin typeface="宋体" panose="02010600030101010101" pitchFamily="2" charset="-122"/>
                          <a:ea typeface="宋体" panose="02010600030101010101" pitchFamily="2" charset="-122"/>
                        </a:rPr>
                        <a:t>　</a:t>
                      </a:r>
                      <a:endParaRPr lang="zh-CN" altLang="en-US" sz="910" b="0" i="0" u="none" strike="noStrike" dirty="0">
                        <a:solidFill>
                          <a:srgbClr val="000000"/>
                        </a:solidFill>
                        <a:effectLst/>
                        <a:latin typeface="宋体" panose="02010600030101010101" pitchFamily="2" charset="-122"/>
                        <a:ea typeface="宋体" panose="02010600030101010101" pitchFamily="2" charset="-122"/>
                      </a:endParaRPr>
                    </a:p>
                  </a:txBody>
                  <a:tcPr marL="8069" marR="8069" marT="8069"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a:tc>
                <a:tc hMerge="1">
                  <a:tcPr/>
                </a:tc>
                <a:tc hMerge="1">
                  <a:tcPr/>
                </a:tc>
                <a:tc hMerge="1">
                  <a:tcPr/>
                </a:tc>
                <a:tc hMerge="1">
                  <a:tcPr/>
                </a:tc>
                <a:tc hMerge="1">
                  <a:tcPr/>
                </a:tc>
              </a:tr>
              <a:tr h="350520">
                <a:tc>
                  <a:txBody>
                    <a:bodyPr/>
                    <a:lstStyle/>
                    <a:p>
                      <a:pPr algn="ctr" fontAlgn="ctr"/>
                      <a:r>
                        <a:rPr lang="zh-CN" altLang="en-US" sz="1240" b="1" i="0" u="none" strike="noStrike">
                          <a:solidFill>
                            <a:srgbClr val="FFFFFF"/>
                          </a:solidFill>
                          <a:effectLst/>
                          <a:latin typeface="微软雅黑" panose="020B0503020204020204" pitchFamily="34" charset="-122"/>
                          <a:ea typeface="微软雅黑" panose="020B0503020204020204" pitchFamily="34" charset="-122"/>
                        </a:rPr>
                        <a:t>酒店公寓业务</a:t>
                      </a:r>
                      <a:endParaRPr lang="zh-CN" altLang="en-US" sz="1240" b="1" i="0" u="none" strike="noStrike">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a:solidFill>
                            <a:srgbClr val="FFFFFF"/>
                          </a:solidFill>
                          <a:effectLst/>
                          <a:latin typeface="微软雅黑" panose="020B0503020204020204" pitchFamily="34" charset="-122"/>
                          <a:ea typeface="微软雅黑" panose="020B0503020204020204" pitchFamily="34" charset="-122"/>
                        </a:rPr>
                        <a:t>664</a:t>
                      </a:r>
                      <a:endParaRPr lang="en-US" altLang="zh-CN" sz="1240" b="1" i="0" u="none" strike="noStrike">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en-US" altLang="zh-CN" sz="1240" b="1" i="0" u="none" strike="noStrike" dirty="0">
                          <a:solidFill>
                            <a:srgbClr val="FFFFFF"/>
                          </a:solidFill>
                          <a:effectLst/>
                          <a:latin typeface="微软雅黑" panose="020B0503020204020204" pitchFamily="34" charset="-122"/>
                          <a:ea typeface="微软雅黑" panose="020B0503020204020204" pitchFamily="34" charset="-122"/>
                        </a:rPr>
                        <a:t>618</a:t>
                      </a:r>
                      <a:endParaRPr lang="en-US" altLang="zh-CN" sz="1240" b="1" i="0" u="none" strike="noStrike" dirty="0">
                        <a:solidFill>
                          <a:srgbClr val="FFFFFF"/>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marL="0" algn="ctr" defTabSz="754380" rtl="0" eaLnBrk="1" fontAlgn="ctr" latinLnBrk="0" hangingPunct="1"/>
                      <a:r>
                        <a:rPr lang="en-US" altLang="zh-CN" sz="1240" b="1" i="0" u="none" strike="noStrike" kern="1200" dirty="0">
                          <a:solidFill>
                            <a:srgbClr val="FFFFFF"/>
                          </a:solidFill>
                          <a:effectLst/>
                          <a:latin typeface="微软雅黑" panose="020B0503020204020204" pitchFamily="34" charset="-122"/>
                          <a:ea typeface="微软雅黑" panose="020B0503020204020204" pitchFamily="34" charset="-122"/>
                          <a:cs typeface="+mn-cs"/>
                        </a:rPr>
                        <a:t>634</a:t>
                      </a:r>
                      <a:endParaRPr lang="en-US" altLang="zh-CN" sz="1240" b="1" i="0" u="none" strike="noStrike" kern="1200" dirty="0">
                        <a:solidFill>
                          <a:srgbClr val="FFFFFF"/>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marL="0" algn="ctr" defTabSz="754380" rtl="0" eaLnBrk="1" fontAlgn="ctr" latinLnBrk="0" hangingPunct="1"/>
                      <a:r>
                        <a:rPr lang="en-US" altLang="zh-CN" sz="1240" b="1" i="0" u="none" strike="noStrike" kern="1200" dirty="0">
                          <a:solidFill>
                            <a:srgbClr val="FFFFFF"/>
                          </a:solidFill>
                          <a:effectLst/>
                          <a:latin typeface="微软雅黑" panose="020B0503020204020204" pitchFamily="34" charset="-122"/>
                          <a:ea typeface="微软雅黑" panose="020B0503020204020204" pitchFamily="34" charset="-122"/>
                          <a:cs typeface="+mn-cs"/>
                        </a:rPr>
                        <a:t>18</a:t>
                      </a:r>
                      <a:endParaRPr lang="en-US" altLang="zh-CN" sz="1240" b="1" i="0" u="none" strike="noStrike" kern="1200" dirty="0">
                        <a:solidFill>
                          <a:srgbClr val="FFFFFF"/>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marL="0" algn="ctr" defTabSz="754380" rtl="0" eaLnBrk="1" fontAlgn="ctr" latinLnBrk="0" hangingPunct="1"/>
                      <a:r>
                        <a:rPr lang="en-US" altLang="zh-CN" sz="1240" b="1" i="0" u="none" strike="noStrike" kern="1200" dirty="0">
                          <a:solidFill>
                            <a:srgbClr val="FFFFFF"/>
                          </a:solidFill>
                          <a:effectLst/>
                          <a:latin typeface="微软雅黑" panose="020B0503020204020204" pitchFamily="34" charset="-122"/>
                          <a:ea typeface="微软雅黑" panose="020B0503020204020204" pitchFamily="34" charset="-122"/>
                          <a:cs typeface="+mn-cs"/>
                        </a:rPr>
                        <a:t>-30</a:t>
                      </a:r>
                      <a:endParaRPr lang="en-US" altLang="zh-CN" sz="1240" b="1" i="0" u="none" strike="noStrike" kern="1200" dirty="0">
                        <a:solidFill>
                          <a:srgbClr val="FFFFFF"/>
                        </a:solidFill>
                        <a:effectLst/>
                        <a:latin typeface="微软雅黑" panose="020B0503020204020204" pitchFamily="34" charset="-122"/>
                        <a:ea typeface="微软雅黑" panose="020B0503020204020204" pitchFamily="34" charset="-122"/>
                        <a:cs typeface="+mn-cs"/>
                      </a:endParaRPr>
                    </a:p>
                  </a:txBody>
                  <a:tcPr marL="9522" marR="9522" marT="952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825" b="0" i="0" u="none" strike="noStrike" dirty="0">
                          <a:solidFill>
                            <a:srgbClr val="000000"/>
                          </a:solidFill>
                          <a:effectLst/>
                          <a:latin typeface="微软雅黑" panose="020B0503020204020204" pitchFamily="34" charset="-122"/>
                          <a:ea typeface="微软雅黑" panose="020B0503020204020204" pitchFamily="34" charset="-122"/>
                        </a:rPr>
                        <a:t>　</a:t>
                      </a:r>
                      <a:endParaRPr lang="zh-CN" altLang="en-US" sz="825" b="0" i="0" u="none" strike="noStrike" dirty="0">
                        <a:solidFill>
                          <a:srgbClr val="000000"/>
                        </a:solidFill>
                        <a:effectLst/>
                        <a:latin typeface="微软雅黑" panose="020B0503020204020204" pitchFamily="34" charset="-122"/>
                        <a:ea typeface="微软雅黑" panose="020B0503020204020204" pitchFamily="34" charset="-122"/>
                      </a:endParaRPr>
                    </a:p>
                  </a:txBody>
                  <a:tcPr marL="8069" marR="8069" marT="806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10" name="标题 1"/>
          <p:cNvSpPr txBox="1"/>
          <p:nvPr/>
        </p:nvSpPr>
        <p:spPr>
          <a:xfrm>
            <a:off x="206017" y="1224923"/>
            <a:ext cx="2499143" cy="3692525"/>
          </a:xfrm>
          <a:prstGeom prst="rect">
            <a:avLst/>
          </a:prstGeom>
        </p:spPr>
        <p:txBody>
          <a:bodyPr wrap="square">
            <a:spAutoFit/>
          </a:bodyPr>
          <a:lstStyle>
            <a:defPPr>
              <a:defRPr lang="zh-CN"/>
            </a:defPPr>
            <a:lvl1pPr lvl="0">
              <a:lnSpc>
                <a:spcPct val="150000"/>
              </a:lnSpc>
              <a:defRPr sz="1200" b="1">
                <a:solidFill>
                  <a:sysClr val="windowText" lastClr="000000"/>
                </a:solidFill>
              </a:defRPr>
            </a:lvl1pPr>
          </a:lstStyle>
          <a:p>
            <a:pPr defTabSz="1108075" eaLnBrk="0" fontAlgn="base" hangingPunct="0">
              <a:spcBef>
                <a:spcPct val="0"/>
              </a:spcBef>
              <a:spcAft>
                <a:spcPct val="0"/>
              </a:spcAft>
              <a:defRPr/>
            </a:pPr>
            <a:r>
              <a:rPr lang="zh-CN" altLang="en-US" dirty="0">
                <a:latin typeface="Arial" panose="020B0604020202020204" pitchFamily="34" charset="0"/>
                <a:ea typeface="宋体" panose="02010600030101010101" pitchFamily="2" charset="-122"/>
              </a:rPr>
              <a:t>酒店及公寓项目，</a:t>
            </a:r>
            <a:endParaRPr lang="en-US" altLang="zh-CN" dirty="0">
              <a:latin typeface="Arial" panose="020B0604020202020204" pitchFamily="34" charset="0"/>
              <a:ea typeface="宋体" panose="02010600030101010101" pitchFamily="2" charset="-122"/>
            </a:endParaRPr>
          </a:p>
          <a:p>
            <a:pPr defTabSz="1108075" eaLnBrk="0" fontAlgn="base" hangingPunct="0">
              <a:spcBef>
                <a:spcPct val="0"/>
              </a:spcBef>
              <a:spcAft>
                <a:spcPct val="0"/>
              </a:spcAft>
              <a:defRPr/>
            </a:pPr>
            <a:r>
              <a:rPr lang="en-US" altLang="zh-CN" b="0" dirty="0">
                <a:latin typeface="Arial" panose="020B0604020202020204" pitchFamily="34" charset="0"/>
                <a:ea typeface="宋体" panose="02010600030101010101" pitchFamily="2" charset="-122"/>
              </a:rPr>
              <a:t>1</a:t>
            </a:r>
            <a:r>
              <a:rPr lang="zh-CN" altLang="en-US" b="0" dirty="0">
                <a:latin typeface="Arial" panose="020B0604020202020204" pitchFamily="34" charset="0"/>
                <a:ea typeface="宋体" panose="02010600030101010101" pitchFamily="2" charset="-122"/>
              </a:rPr>
              <a:t>、事业部人员维持不变；目前已安排下至各项目轮岗支援。</a:t>
            </a:r>
            <a:endParaRPr lang="en-US" altLang="zh-CN" b="0" dirty="0">
              <a:latin typeface="Arial" panose="020B0604020202020204" pitchFamily="34" charset="0"/>
              <a:ea typeface="宋体" panose="02010600030101010101" pitchFamily="2" charset="-122"/>
            </a:endParaRPr>
          </a:p>
          <a:p>
            <a:pPr defTabSz="1108075" eaLnBrk="0" fontAlgn="base" hangingPunct="0">
              <a:spcBef>
                <a:spcPct val="0"/>
              </a:spcBef>
              <a:spcAft>
                <a:spcPct val="0"/>
              </a:spcAft>
              <a:defRPr/>
            </a:pPr>
            <a:r>
              <a:rPr lang="en-US" altLang="zh-CN" b="0" dirty="0">
                <a:latin typeface="Arial" panose="020B0604020202020204" pitchFamily="34" charset="0"/>
                <a:ea typeface="宋体" panose="02010600030101010101" pitchFamily="2" charset="-122"/>
              </a:rPr>
              <a:t>2</a:t>
            </a:r>
            <a:r>
              <a:rPr lang="zh-CN" altLang="en-US" b="0" dirty="0">
                <a:latin typeface="Arial" panose="020B0604020202020204" pitchFamily="34" charset="0"/>
                <a:ea typeface="宋体" panose="02010600030101010101" pitchFamily="2" charset="-122"/>
              </a:rPr>
              <a:t>、公寓业务新增</a:t>
            </a:r>
            <a:r>
              <a:rPr lang="en-US" altLang="zh-CN" b="0" dirty="0">
                <a:latin typeface="Arial" panose="020B0604020202020204" pitchFamily="34" charset="0"/>
                <a:ea typeface="宋体" panose="02010600030101010101" pitchFamily="2" charset="-122"/>
              </a:rPr>
              <a:t>2</a:t>
            </a:r>
            <a:r>
              <a:rPr lang="zh-CN" altLang="en-US" b="0" dirty="0">
                <a:latin typeface="Arial" panose="020B0604020202020204" pitchFamily="34" charset="0"/>
                <a:ea typeface="宋体" panose="02010600030101010101" pitchFamily="2" charset="-122"/>
              </a:rPr>
              <a:t>个项目，较</a:t>
            </a:r>
            <a:r>
              <a:rPr lang="en-US" altLang="zh-CN" b="0" dirty="0">
                <a:latin typeface="Arial" panose="020B0604020202020204" pitchFamily="34" charset="0"/>
                <a:ea typeface="宋体" panose="02010600030101010101" pitchFamily="2" charset="-122"/>
              </a:rPr>
              <a:t>25</a:t>
            </a:r>
            <a:r>
              <a:rPr lang="zh-CN" altLang="en-US" b="0" dirty="0">
                <a:latin typeface="Arial" panose="020B0604020202020204" pitchFamily="34" charset="0"/>
                <a:ea typeface="宋体" panose="02010600030101010101" pitchFamily="2" charset="-122"/>
              </a:rPr>
              <a:t>年编制增加</a:t>
            </a:r>
            <a:r>
              <a:rPr lang="en-US" altLang="zh-CN" b="0" dirty="0">
                <a:latin typeface="Arial" panose="020B0604020202020204" pitchFamily="34" charset="0"/>
                <a:ea typeface="宋体" panose="02010600030101010101" pitchFamily="2" charset="-122"/>
              </a:rPr>
              <a:t>10</a:t>
            </a:r>
            <a:r>
              <a:rPr lang="zh-CN" altLang="en-US" b="0" dirty="0">
                <a:latin typeface="Arial" panose="020B0604020202020204" pitchFamily="34" charset="0"/>
                <a:ea typeface="宋体" panose="02010600030101010101" pitchFamily="2" charset="-122"/>
              </a:rPr>
              <a:t>人。</a:t>
            </a:r>
            <a:endParaRPr lang="en-US" altLang="zh-CN" b="0" dirty="0">
              <a:latin typeface="Arial" panose="020B0604020202020204" pitchFamily="34" charset="0"/>
              <a:ea typeface="宋体" panose="02010600030101010101" pitchFamily="2" charset="-122"/>
            </a:endParaRPr>
          </a:p>
          <a:p>
            <a:pPr defTabSz="1108075" eaLnBrk="0" fontAlgn="base" hangingPunct="0">
              <a:spcBef>
                <a:spcPct val="0"/>
              </a:spcBef>
              <a:spcAft>
                <a:spcPct val="0"/>
              </a:spcAft>
              <a:defRPr/>
            </a:pPr>
            <a:r>
              <a:rPr lang="en-US" altLang="zh-CN" b="0" dirty="0">
                <a:latin typeface="Arial" panose="020B0604020202020204" pitchFamily="34" charset="0"/>
                <a:ea typeface="宋体" panose="02010600030101010101" pitchFamily="2" charset="-122"/>
              </a:rPr>
              <a:t>3</a:t>
            </a:r>
            <a:r>
              <a:rPr lang="zh-CN" altLang="en-US" b="0" dirty="0">
                <a:latin typeface="Arial" panose="020B0604020202020204" pitchFamily="34" charset="0"/>
                <a:ea typeface="宋体" panose="02010600030101010101" pitchFamily="2" charset="-122"/>
              </a:rPr>
              <a:t>、东山酒店、广州吉酒店因市场下行整体减编控费；深圳吉、广州吉因经营情况平稳良好，</a:t>
            </a:r>
            <a:r>
              <a:rPr lang="en-US" altLang="zh-CN" b="0" dirty="0">
                <a:latin typeface="Arial" panose="020B0604020202020204" pitchFamily="34" charset="0"/>
                <a:ea typeface="宋体" panose="02010600030101010101" pitchFamily="2" charset="-122"/>
              </a:rPr>
              <a:t>26</a:t>
            </a:r>
            <a:r>
              <a:rPr lang="zh-CN" altLang="en-US" b="0" dirty="0">
                <a:latin typeface="Arial" panose="020B0604020202020204" pitchFamily="34" charset="0"/>
                <a:ea typeface="宋体" panose="02010600030101010101" pitchFamily="2" charset="-122"/>
              </a:rPr>
              <a:t>年编制按月均在岗申报。</a:t>
            </a:r>
            <a:endParaRPr lang="en-US" altLang="zh-CN" b="0" dirty="0">
              <a:latin typeface="Arial" panose="020B0604020202020204" pitchFamily="34" charset="0"/>
              <a:ea typeface="宋体" panose="02010600030101010101" pitchFamily="2" charset="-122"/>
            </a:endParaRPr>
          </a:p>
          <a:p>
            <a:pPr defTabSz="1108075" eaLnBrk="0" fontAlgn="base" hangingPunct="0">
              <a:spcBef>
                <a:spcPct val="0"/>
              </a:spcBef>
              <a:spcAft>
                <a:spcPct val="0"/>
              </a:spcAft>
              <a:defRPr/>
            </a:pPr>
            <a:endParaRPr lang="en-US" altLang="zh-CN" b="0" dirty="0">
              <a:latin typeface="Arial" panose="020B0604020202020204" pitchFamily="34" charset="0"/>
              <a:ea typeface="宋体" panose="02010600030101010101" pitchFamily="2" charset="-122"/>
            </a:endParaRPr>
          </a:p>
          <a:p>
            <a:pPr defTabSz="1108075" eaLnBrk="0" fontAlgn="base" hangingPunct="0">
              <a:spcBef>
                <a:spcPct val="0"/>
              </a:spcBef>
              <a:spcAft>
                <a:spcPct val="0"/>
              </a:spcAft>
              <a:defRPr/>
            </a:pPr>
            <a:r>
              <a:rPr lang="zh-CN" altLang="en-US" b="0" dirty="0">
                <a:latin typeface="Arial" panose="020B0604020202020204" pitchFamily="34" charset="0"/>
                <a:ea typeface="宋体" panose="02010600030101010101" pitchFamily="2" charset="-122"/>
              </a:rPr>
              <a:t>酒店整体编制将根据经营情况及时控制人员招聘，</a:t>
            </a:r>
            <a:r>
              <a:rPr lang="en-US" altLang="zh-CN" b="0" dirty="0">
                <a:latin typeface="Arial" panose="020B0604020202020204" pitchFamily="34" charset="0"/>
                <a:ea typeface="宋体" panose="02010600030101010101" pitchFamily="2" charset="-122"/>
              </a:rPr>
              <a:t>26</a:t>
            </a:r>
            <a:r>
              <a:rPr lang="zh-CN" altLang="en-US" b="0" dirty="0">
                <a:latin typeface="Arial" panose="020B0604020202020204" pitchFamily="34" charset="0"/>
                <a:ea typeface="宋体" panose="02010600030101010101" pitchFamily="2" charset="-122"/>
              </a:rPr>
              <a:t>年编制数取月度最大值</a:t>
            </a:r>
            <a:r>
              <a:rPr lang="en-US" altLang="zh-CN" b="0" dirty="0">
                <a:latin typeface="Arial" panose="020B0604020202020204" pitchFamily="34" charset="0"/>
                <a:ea typeface="宋体" panose="02010600030101010101" pitchFamily="2" charset="-122"/>
              </a:rPr>
              <a:t>579</a:t>
            </a:r>
            <a:r>
              <a:rPr lang="zh-CN" altLang="en-US" b="0" dirty="0">
                <a:latin typeface="Arial" panose="020B0604020202020204" pitchFamily="34" charset="0"/>
                <a:ea typeface="宋体" panose="02010600030101010101" pitchFamily="2" charset="-122"/>
              </a:rPr>
              <a:t>人，月均</a:t>
            </a:r>
            <a:r>
              <a:rPr lang="en-US" altLang="zh-CN" b="0" dirty="0">
                <a:latin typeface="Arial" panose="020B0604020202020204" pitchFamily="34" charset="0"/>
                <a:ea typeface="宋体" panose="02010600030101010101" pitchFamily="2" charset="-122"/>
              </a:rPr>
              <a:t>576</a:t>
            </a:r>
            <a:r>
              <a:rPr lang="zh-CN" altLang="en-US" b="0" dirty="0">
                <a:latin typeface="Arial" panose="020B0604020202020204" pitchFamily="34" charset="0"/>
                <a:ea typeface="宋体" panose="02010600030101010101" pitchFamily="2" charset="-122"/>
              </a:rPr>
              <a:t>人。</a:t>
            </a:r>
            <a:endParaRPr lang="en-US" altLang="zh-CN" b="0" dirty="0">
              <a:latin typeface="Arial" panose="020B0604020202020204" pitchFamily="34" charset="0"/>
              <a:ea typeface="宋体" panose="02010600030101010101" pitchFamily="2" charset="-122"/>
            </a:endParaRPr>
          </a:p>
        </p:txBody>
      </p:sp>
    </p:spTree>
  </p:cSld>
  <p:clrMapOvr>
    <a:masterClrMapping/>
  </p:clrMapOvr>
  <p:transition spd="slow"/>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115570" y="452755"/>
            <a:ext cx="9780905" cy="502920"/>
          </a:xfrm>
          <a:prstGeom prst="round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87422" y="93379"/>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en-US" altLang="zh-CN" b="1" dirty="0"/>
              <a:t>--</a:t>
            </a:r>
            <a:r>
              <a:rPr lang="zh-CN" altLang="en-US" b="1" dirty="0">
                <a:solidFill>
                  <a:srgbClr val="002060"/>
                </a:solidFill>
              </a:rPr>
              <a:t>总体情况</a:t>
            </a:r>
            <a:endParaRPr kumimoji="0" lang="zh-CN" altLang="en-US" sz="1800" b="1" i="0" u="none" strike="noStrike" kern="1200" cap="none" spc="-41" normalizeH="0" baseline="0" noProof="0" dirty="0">
              <a:ln>
                <a:noFill/>
              </a:ln>
              <a:solidFill>
                <a:srgbClr val="002060"/>
              </a:solidFill>
              <a:effectLst/>
              <a:uLnTx/>
              <a:uFillTx/>
            </a:endParaRPr>
          </a:p>
        </p:txBody>
      </p:sp>
      <p:sp>
        <p:nvSpPr>
          <p:cNvPr id="4" name="文本框 3"/>
          <p:cNvSpPr txBox="1"/>
          <p:nvPr/>
        </p:nvSpPr>
        <p:spPr>
          <a:xfrm>
            <a:off x="54586" y="5227390"/>
            <a:ext cx="8641457" cy="292348"/>
          </a:xfrm>
          <a:prstGeom prst="rect">
            <a:avLst/>
          </a:prstGeom>
          <a:noFill/>
        </p:spPr>
        <p:txBody>
          <a:bodyPr wrap="square" rtlCol="0">
            <a:noAutofit/>
          </a:bodyPr>
          <a:lstStyle/>
          <a:p>
            <a:endParaRPr lang="zh-CN" altLang="en-US" sz="1100" dirty="0" smtClean="0">
              <a:latin typeface="微软雅黑" panose="020B0503020204020204" pitchFamily="34" charset="-122"/>
              <a:ea typeface="微软雅黑" panose="020B0503020204020204" pitchFamily="34" charset="-122"/>
            </a:endParaRPr>
          </a:p>
        </p:txBody>
      </p:sp>
      <p:sp>
        <p:nvSpPr>
          <p:cNvPr id="7" name="文本框 6"/>
          <p:cNvSpPr txBox="1"/>
          <p:nvPr/>
        </p:nvSpPr>
        <p:spPr>
          <a:xfrm>
            <a:off x="60960" y="5133340"/>
            <a:ext cx="9971405" cy="386715"/>
          </a:xfrm>
          <a:prstGeom prst="rect">
            <a:avLst/>
          </a:prstGeom>
          <a:noFill/>
        </p:spPr>
        <p:txBody>
          <a:bodyPr wrap="square" rtlCol="0">
            <a:noAutofit/>
          </a:bodyPr>
          <a:lstStyle/>
          <a:p>
            <a:pPr lvl="0">
              <a:defRPr/>
            </a:pP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新增项目：开市客(租赁)+东湾村旧改(租赁)+深圳北站(公寓)； </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轻资产项目：苏州昆山</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改造项目：丽思酒店+沙井荣御 ；</a:t>
            </a:r>
            <a:r>
              <a:rPr lang="zh-CN" altLang="en-US" sz="800" b="1" dirty="0" smtClean="0">
                <a:solidFill>
                  <a:srgbClr val="002060"/>
                </a:solidFill>
                <a:latin typeface="微软雅黑" panose="020B0503020204020204" pitchFamily="34" charset="-122"/>
                <a:ea typeface="微软雅黑" panose="020B0503020204020204" pitchFamily="34" charset="-122"/>
                <a:sym typeface="+mn-ea"/>
              </a:rPr>
              <a:t>销售黄江单列</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a:t>
            </a:r>
            <a:r>
              <a:rPr lang="zh-CN" altLang="en-US" sz="800" b="1" dirty="0" smtClean="0">
                <a:solidFill>
                  <a:srgbClr val="002060"/>
                </a:solidFill>
                <a:latin typeface="微软雅黑" panose="020B0503020204020204" pitchFamily="34" charset="-122"/>
                <a:ea typeface="微软雅黑" panose="020B0503020204020204" pitchFamily="34" charset="-122"/>
                <a:sym typeface="+mn-ea"/>
              </a:rPr>
              <a:t>上表不含</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a:t>
            </a:r>
            <a:r>
              <a:rPr lang="en-US" altLang="zh-CN" sz="800">
                <a:sym typeface="+mn-ea"/>
              </a:rPr>
              <a:t>  </a:t>
            </a:r>
            <a:endParaRPr lang="en-US" altLang="zh-CN" sz="800">
              <a:sym typeface="+mn-ea"/>
            </a:endParaRPr>
          </a:p>
          <a:p>
            <a:pPr lvl="0">
              <a:defRPr/>
            </a:pP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GOP=</a:t>
            </a:r>
            <a:r>
              <a:rPr lang="zh-CN" altLang="en-US" sz="800" b="1" dirty="0" smtClean="0">
                <a:solidFill>
                  <a:srgbClr val="002060"/>
                </a:solidFill>
                <a:latin typeface="微软雅黑" panose="020B0503020204020204" pitchFamily="34" charset="-122"/>
                <a:ea typeface="微软雅黑" panose="020B0503020204020204" pitchFamily="34" charset="-122"/>
                <a:sym typeface="+mn-ea"/>
              </a:rPr>
              <a:t>不含税收入</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a:t>
            </a:r>
            <a:r>
              <a:rPr lang="zh-CN" altLang="en-US" sz="800" b="1" dirty="0" smtClean="0">
                <a:solidFill>
                  <a:srgbClr val="002060"/>
                </a:solidFill>
                <a:latin typeface="微软雅黑" panose="020B0503020204020204" pitchFamily="34" charset="-122"/>
                <a:ea typeface="微软雅黑" panose="020B0503020204020204" pitchFamily="34" charset="-122"/>
                <a:sym typeface="+mn-ea"/>
              </a:rPr>
              <a:t>成本费用</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   NOI=GOP-</a:t>
            </a:r>
            <a:r>
              <a:rPr lang="zh-CN" altLang="en-US" sz="800" b="1" dirty="0" smtClean="0">
                <a:solidFill>
                  <a:srgbClr val="002060"/>
                </a:solidFill>
                <a:latin typeface="微软雅黑" panose="020B0503020204020204" pitchFamily="34" charset="-122"/>
                <a:ea typeface="微软雅黑" panose="020B0503020204020204" pitchFamily="34" charset="-122"/>
                <a:sym typeface="+mn-ea"/>
              </a:rPr>
              <a:t>房土税</a:t>
            </a:r>
            <a:r>
              <a:rPr lang="en-US" altLang="zh-CN" sz="800" b="1" dirty="0" smtClean="0">
                <a:solidFill>
                  <a:srgbClr val="002060"/>
                </a:solidFill>
                <a:latin typeface="微软雅黑" panose="020B0503020204020204" pitchFamily="34" charset="-122"/>
                <a:ea typeface="微软雅黑" panose="020B0503020204020204" pitchFamily="34" charset="-122"/>
                <a:sym typeface="+mn-ea"/>
              </a:rPr>
              <a:t>    </a:t>
            </a:r>
            <a:r>
              <a:rPr lang="zh-CN" altLang="en-US" sz="800" dirty="0" smtClean="0">
                <a:solidFill>
                  <a:srgbClr val="002060"/>
                </a:solidFill>
                <a:latin typeface="微软雅黑" panose="020B0503020204020204" pitchFamily="34" charset="-122"/>
                <a:ea typeface="微软雅黑" panose="020B0503020204020204" pitchFamily="34" charset="-122"/>
                <a:sym typeface="+mn-ea"/>
              </a:rPr>
              <a:t>双子塔</a:t>
            </a:r>
            <a:r>
              <a:rPr lang="en-US" altLang="zh-CN" sz="800" dirty="0" smtClean="0">
                <a:solidFill>
                  <a:srgbClr val="002060"/>
                </a:solidFill>
                <a:latin typeface="微软雅黑" panose="020B0503020204020204" pitchFamily="34" charset="-122"/>
                <a:ea typeface="微软雅黑" panose="020B0503020204020204" pitchFamily="34" charset="-122"/>
                <a:sym typeface="+mn-ea"/>
              </a:rPr>
              <a:t>2026</a:t>
            </a:r>
            <a:r>
              <a:rPr lang="zh-CN" altLang="en-US" sz="800" dirty="0" smtClean="0">
                <a:solidFill>
                  <a:srgbClr val="002060"/>
                </a:solidFill>
                <a:latin typeface="微软雅黑" panose="020B0503020204020204" pitchFamily="34" charset="-122"/>
                <a:ea typeface="微软雅黑" panose="020B0503020204020204" pitchFamily="34" charset="-122"/>
                <a:sym typeface="+mn-ea"/>
              </a:rPr>
              <a:t>年新增房土税</a:t>
            </a:r>
            <a:r>
              <a:rPr lang="en-US" altLang="zh-CN" sz="800" dirty="0" smtClean="0">
                <a:solidFill>
                  <a:srgbClr val="002060"/>
                </a:solidFill>
                <a:latin typeface="微软雅黑" panose="020B0503020204020204" pitchFamily="34" charset="-122"/>
                <a:ea typeface="微软雅黑" panose="020B0503020204020204" pitchFamily="34" charset="-122"/>
                <a:sym typeface="+mn-ea"/>
              </a:rPr>
              <a:t>2,553</a:t>
            </a:r>
            <a:r>
              <a:rPr lang="zh-CN" altLang="en-US" sz="800" dirty="0" smtClean="0">
                <a:solidFill>
                  <a:srgbClr val="002060"/>
                </a:solidFill>
                <a:latin typeface="微软雅黑" panose="020B0503020204020204" pitchFamily="34" charset="-122"/>
                <a:ea typeface="微软雅黑" panose="020B0503020204020204" pitchFamily="34" charset="-122"/>
                <a:sym typeface="+mn-ea"/>
              </a:rPr>
              <a:t>万，</a:t>
            </a:r>
            <a:r>
              <a:rPr lang="zh-CN" altLang="en-US" sz="800" dirty="0" smtClean="0">
                <a:solidFill>
                  <a:srgbClr val="002060"/>
                </a:solidFill>
                <a:latin typeface="微软雅黑" panose="020B0503020204020204" pitchFamily="34" charset="-122"/>
                <a:ea typeface="微软雅黑" panose="020B0503020204020204" pitchFamily="34" charset="-122"/>
              </a:rPr>
              <a:t>成本费用不含销售业务地产相关成本费用支出。</a:t>
            </a:r>
            <a:endParaRPr lang="zh-CN" altLang="en-US" sz="800" dirty="0" smtClean="0">
              <a:solidFill>
                <a:srgbClr val="002060"/>
              </a:solidFill>
              <a:latin typeface="微软雅黑" panose="020B0503020204020204" pitchFamily="34" charset="-122"/>
              <a:ea typeface="微软雅黑" panose="020B0503020204020204" pitchFamily="34" charset="-122"/>
            </a:endParaRPr>
          </a:p>
          <a:p>
            <a:pPr lvl="0">
              <a:defRPr/>
            </a:pPr>
            <a:r>
              <a:rPr lang="en-US" altLang="zh-CN" sz="800" dirty="0" smtClean="0">
                <a:solidFill>
                  <a:srgbClr val="002060"/>
                </a:solidFill>
                <a:latin typeface="微软雅黑" panose="020B0503020204020204" pitchFamily="34" charset="-122"/>
                <a:ea typeface="微软雅黑" panose="020B0503020204020204" pitchFamily="34" charset="-122"/>
              </a:rPr>
              <a:t>2026</a:t>
            </a:r>
            <a:r>
              <a:rPr lang="zh-CN" altLang="en-US" sz="800" dirty="0" smtClean="0">
                <a:solidFill>
                  <a:srgbClr val="002060"/>
                </a:solidFill>
                <a:latin typeface="微软雅黑" panose="020B0503020204020204" pitchFamily="34" charset="-122"/>
                <a:ea typeface="微软雅黑" panose="020B0503020204020204" pitchFamily="34" charset="-122"/>
              </a:rPr>
              <a:t>年预算写字楼内部租金单价调整，合计调减含税收入</a:t>
            </a:r>
            <a:r>
              <a:rPr lang="en-US" altLang="zh-CN" sz="800" dirty="0" smtClean="0">
                <a:solidFill>
                  <a:srgbClr val="002060"/>
                </a:solidFill>
                <a:latin typeface="微软雅黑" panose="020B0503020204020204" pitchFamily="34" charset="-122"/>
                <a:ea typeface="微软雅黑" panose="020B0503020204020204" pitchFamily="34" charset="-122"/>
              </a:rPr>
              <a:t>655</a:t>
            </a:r>
            <a:r>
              <a:rPr lang="zh-CN" altLang="en-US" sz="800" dirty="0" smtClean="0">
                <a:solidFill>
                  <a:srgbClr val="002060"/>
                </a:solidFill>
                <a:latin typeface="微软雅黑" panose="020B0503020204020204" pitchFamily="34" charset="-122"/>
                <a:ea typeface="微软雅黑" panose="020B0503020204020204" pitchFamily="34" charset="-122"/>
              </a:rPr>
              <a:t>万。</a:t>
            </a:r>
            <a:endParaRPr lang="zh-CN" altLang="en-US" sz="800" b="1" dirty="0" smtClean="0">
              <a:solidFill>
                <a:srgbClr val="002060"/>
              </a:solidFill>
              <a:latin typeface="微软雅黑" panose="020B0503020204020204" pitchFamily="34" charset="-122"/>
              <a:ea typeface="微软雅黑" panose="020B0503020204020204" pitchFamily="34" charset="-122"/>
            </a:endParaRPr>
          </a:p>
          <a:p>
            <a:pPr lvl="0">
              <a:defRPr/>
            </a:pPr>
            <a:endParaRPr lang="zh-CN" altLang="en-US" sz="800" b="1" dirty="0" smtClean="0">
              <a:solidFill>
                <a:srgbClr val="002060"/>
              </a:solidFill>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custDataLst>
              <p:tags r:id="rId1"/>
            </p:custDataLst>
          </p:nvPr>
        </p:nvGraphicFramePr>
        <p:xfrm>
          <a:off x="87630" y="965835"/>
          <a:ext cx="9933940" cy="4095115"/>
        </p:xfrm>
        <a:graphic>
          <a:graphicData uri="http://schemas.openxmlformats.org/drawingml/2006/table">
            <a:tbl>
              <a:tblPr/>
              <a:tblGrid>
                <a:gridCol w="835025"/>
                <a:gridCol w="482600"/>
                <a:gridCol w="466725"/>
                <a:gridCol w="482600"/>
                <a:gridCol w="462915"/>
                <a:gridCol w="389890"/>
                <a:gridCol w="495300"/>
                <a:gridCol w="499110"/>
                <a:gridCol w="450850"/>
                <a:gridCol w="394970"/>
                <a:gridCol w="443865"/>
                <a:gridCol w="509270"/>
                <a:gridCol w="490855"/>
                <a:gridCol w="472440"/>
                <a:gridCol w="377825"/>
                <a:gridCol w="432435"/>
                <a:gridCol w="474980"/>
                <a:gridCol w="466090"/>
                <a:gridCol w="451485"/>
                <a:gridCol w="438785"/>
                <a:gridCol w="415925"/>
              </a:tblGrid>
              <a:tr h="200660">
                <a:tc rowSpan="2">
                  <a:txBody>
                    <a:bodyPr/>
                    <a:lstStyle/>
                    <a:p>
                      <a:pPr algn="ctr" fontAlgn="ctr"/>
                      <a:r>
                        <a:rPr lang="zh-CN" altLang="en-US" sz="800" b="1" i="0" u="none" strike="noStrike" dirty="0">
                          <a:solidFill>
                            <a:srgbClr val="FFFFFF"/>
                          </a:solidFill>
                          <a:effectLst/>
                          <a:latin typeface="微软雅黑" panose="020B0503020204020204" pitchFamily="34" charset="-122"/>
                          <a:ea typeface="微软雅黑" panose="020B0503020204020204" pitchFamily="34" charset="-122"/>
                        </a:rPr>
                        <a:t>项目 </a:t>
                      </a:r>
                      <a:endParaRPr lang="zh-CN" altLang="en-US" sz="800" b="1" i="0" u="none" strike="noStrike" dirty="0">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收入含税</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tc>
                <a:tc hMerge="1">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成本费用</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gridSpan="3">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GOP</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tc>
                <a:tc hMerge="1">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NOI/</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销售净利润</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r>
              <a:tr h="351155">
                <a:tc vMerge="1">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tc>
                <a:tc vMerge="1">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vMerge="1">
                  <a:tcPr/>
                </a:tc>
                <a:tc vMerge="1">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tc>
                <a:tc vMerge="1">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vMerge="1">
                  <a:tcPr/>
                </a:tc>
                <a:tc vMerge="1">
                  <a:tcPr/>
                </a:tc>
              </a:tr>
              <a:tr h="197485">
                <a:tc>
                  <a:txBody>
                    <a:bodyPr/>
                    <a:lstStyle/>
                    <a:p>
                      <a:pPr algn="l" fontAlgn="ctr"/>
                      <a:r>
                        <a:rPr lang="zh-CN" altLang="en-US" sz="800" b="1" i="0">
                          <a:solidFill>
                            <a:srgbClr val="000000"/>
                          </a:solidFill>
                          <a:latin typeface="微软雅黑" panose="020B0503020204020204" pitchFamily="34" charset="-122"/>
                          <a:ea typeface="微软雅黑" panose="020B0503020204020204" pitchFamily="34" charset="-122"/>
                        </a:rPr>
                        <a:t>租赁合计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101,374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101,127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101,208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19,520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19,315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19,959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3.3%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73,852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73,833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73,236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-597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-0.8%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70,171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70,182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67,074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-3,108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-4.4%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80340">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100,410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100,138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99,890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18,660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18,608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18,755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73,803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73,608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73,206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-401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70,122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69,956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67,044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-2,912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0655">
                <a:tc>
                  <a:txBody>
                    <a:bodyPr/>
                    <a:lstStyle/>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新增</a:t>
                      </a:r>
                      <a:r>
                        <a:rPr lang="en-US" altLang="zh-CN" sz="800" b="0" i="1">
                          <a:solidFill>
                            <a:srgbClr val="000000"/>
                          </a:solidFill>
                          <a:latin typeface="微软雅黑" panose="020B0503020204020204" pitchFamily="34" charset="-122"/>
                          <a:ea typeface="微软雅黑" panose="020B0503020204020204" pitchFamily="34" charset="-122"/>
                        </a:rPr>
                        <a:t>/</a:t>
                      </a:r>
                      <a:r>
                        <a:rPr lang="zh-CN" altLang="en-US" sz="800" b="0" i="1">
                          <a:solidFill>
                            <a:srgbClr val="000000"/>
                          </a:solidFill>
                          <a:latin typeface="微软雅黑" panose="020B0503020204020204" pitchFamily="34" charset="-122"/>
                          <a:ea typeface="微软雅黑" panose="020B0503020204020204" pitchFamily="34" charset="-122"/>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327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endParaRPr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396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222.0%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21.1%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21.1%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843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轻资产口径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962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988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0.3%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584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808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38.3%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9230">
                <a:tc>
                  <a:txBody>
                    <a:bodyPr/>
                    <a:lstStyle/>
                    <a:p>
                      <a:pPr algn="l" fontAlgn="ctr"/>
                      <a:r>
                        <a:rPr lang="zh-CN" altLang="en-US" sz="800" b="1" i="0">
                          <a:solidFill>
                            <a:srgbClr val="000000"/>
                          </a:solidFill>
                          <a:latin typeface="微软雅黑" panose="020B0503020204020204" pitchFamily="34" charset="-122"/>
                          <a:ea typeface="微软雅黑" panose="020B0503020204020204" pitchFamily="34" charset="-122"/>
                        </a:rPr>
                        <a:t>酒店合计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48,596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48,066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47,584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41,925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39,891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40,002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0.3%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3,878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5,409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4,861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3,383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-13.9%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56845">
                <a:tc>
                  <a:txBody>
                    <a:bodyPr/>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31,387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29,768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30,272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504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25,813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24,207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24,238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0.1%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3,755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3,842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4,293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11.7%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2,899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2,986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3,437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15.1%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54305">
                <a:tc>
                  <a:txBody>
                    <a:bodyPr/>
                    <a:p>
                      <a:pPr algn="l" fontAlgn="ctr"/>
                      <a:r>
                        <a:rPr lang="en-US" altLang="zh-CN" sz="800" i="1">
                          <a:solidFill>
                            <a:srgbClr val="000000"/>
                          </a:solidFill>
                          <a:latin typeface="微软雅黑" panose="020B0503020204020204" pitchFamily="34" charset="-122"/>
                          <a:ea typeface="微软雅黑" panose="020B0503020204020204" pitchFamily="34" charset="-122"/>
                          <a:sym typeface="+mn-ea"/>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17,209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18,298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-986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-5.4%</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16,111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15,684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15,764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1,567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-498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945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-105.7%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22161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公寓合计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21,885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23,083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21,423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3,175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3,688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16.1%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17,251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18,490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16,425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-2,065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-11.2%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16,087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17,327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15,261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-11.9%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40335">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13,569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14,450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14,487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2,737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2,775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2,800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0.9%</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10,094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10,919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10,922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9,595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10,419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10,421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56845">
                <a:tc>
                  <a:txBody>
                    <a:bodyPr/>
                    <a:lstStyle/>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8,316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8,633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6,936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-1,697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-19.7%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888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488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121.9%</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7,157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7,571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5,503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-27.3%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6,493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6,907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4,839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-29.9%</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5100">
                <a:tc>
                  <a:txBody>
                    <a:bodyPr/>
                    <a:lstStyle/>
                    <a:p>
                      <a:pPr algn="l" fontAlgn="ctr"/>
                      <a:r>
                        <a:rPr lang="zh-CN" altLang="en-US" sz="800" b="1" i="0">
                          <a:solidFill>
                            <a:srgbClr val="000000"/>
                          </a:solidFill>
                          <a:latin typeface="微软雅黑" panose="020B0503020204020204" pitchFamily="34" charset="-122"/>
                          <a:ea typeface="微软雅黑" panose="020B0503020204020204" pitchFamily="34" charset="-122"/>
                        </a:rPr>
                        <a:t>产业运营合计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171,854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172,276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170,215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-2,061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64,704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62,382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63,649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94,981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97,732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94,523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-3.3%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88,659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91,440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85,718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-5,722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183515">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145,366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144,356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144,649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293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47,211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45,590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45,793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0.4%</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87,651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88,368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88,421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82,616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83,362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80,902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r>
              <a:tr h="157480">
                <a:tc>
                  <a:txBody>
                    <a:bodyPr/>
                    <a:lstStyle/>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25,526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26,933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24,576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-2,357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-8.8%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16,758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16,207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17,048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841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5.2%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7,157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9,017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5,975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-3,042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5,871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7,731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4,689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-3,042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-39.3%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59385">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轻资产口径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962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988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0.3%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584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808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38.3%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204470">
                <a:tc>
                  <a:txBody>
                    <a:bodyPr/>
                    <a:lstStyle/>
                    <a:p>
                      <a:pPr algn="l" fontAlgn="ctr"/>
                      <a:r>
                        <a:rPr lang="zh-CN" altLang="en-US" sz="800" b="1" i="0">
                          <a:solidFill>
                            <a:srgbClr val="000000"/>
                          </a:solidFill>
                          <a:latin typeface="微软雅黑" panose="020B0503020204020204" pitchFamily="34" charset="-122"/>
                          <a:ea typeface="微软雅黑" panose="020B0503020204020204" pitchFamily="34" charset="-122"/>
                        </a:rPr>
                        <a:t>产业销售</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19,512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30,044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8,600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-21,444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-71.4%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2,963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3,081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1,134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-1,947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-63.2%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-6,214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59.5%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96850">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19,512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30,044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8,600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-21,444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-71.4%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2,963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3,081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1,134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-1,947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-63.2%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-6,250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-6,214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-2,518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3,696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59.5%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229235">
                <a:tc>
                  <a:txBody>
                    <a:bodyPr/>
                    <a:lstStyle/>
                    <a:p>
                      <a:pPr algn="l" fontAlgn="ctr"/>
                      <a:r>
                        <a:rPr lang="zh-CN" altLang="en-US" sz="900" b="1" i="0">
                          <a:solidFill>
                            <a:srgbClr val="000000"/>
                          </a:solidFill>
                          <a:latin typeface="微软雅黑" panose="020B0503020204020204" pitchFamily="34" charset="-122"/>
                          <a:ea typeface="微软雅黑" panose="020B0503020204020204" pitchFamily="34" charset="-122"/>
                        </a:rPr>
                        <a:t>产业合计含丽思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191,367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202,320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178,815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-23,505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-11.6%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67,666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65,463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64,783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-679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94,981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97,732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94,523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-3.3%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82,409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85,226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83,200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-2,026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220980">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164,878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174,400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153,250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-21,150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-12.1%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50,173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48,671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46,927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-1,744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87,651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88,368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88,421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0.1%</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76,365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77,148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78,385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1,237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510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25,526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26,933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24,576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-2,357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-8.8%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16,758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16,207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17,048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841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5.2%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7,157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9,017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5,975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-3,042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-33.7%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5,871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7,731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4,689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-3,042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-39.3%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510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轻资产口径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962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988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0.3%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584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808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38.3%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347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3" name="圆角矩形 2"/>
          <p:cNvSpPr/>
          <p:nvPr/>
        </p:nvSpPr>
        <p:spPr>
          <a:xfrm>
            <a:off x="97790" y="3188335"/>
            <a:ext cx="9934575" cy="726440"/>
          </a:xfrm>
          <a:prstGeom prst="roundRect">
            <a:avLst/>
          </a:prstGeom>
          <a:noFill/>
          <a:ln w="285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文本框 4"/>
          <p:cNvSpPr txBox="1"/>
          <p:nvPr/>
        </p:nvSpPr>
        <p:spPr>
          <a:xfrm>
            <a:off x="132715" y="448310"/>
            <a:ext cx="9806940" cy="491490"/>
          </a:xfrm>
          <a:prstGeom prst="rect">
            <a:avLst/>
          </a:prstGeom>
          <a:noFill/>
        </p:spPr>
        <p:txBody>
          <a:bodyPr wrap="square" rtlCol="0" anchor="t">
            <a:spAutoFit/>
          </a:bodyPr>
          <a:p>
            <a:pPr lvl="0">
              <a:defRPr/>
            </a:pPr>
            <a:r>
              <a:rPr lang="zh-CN" altLang="en-US" sz="1400" b="1" dirty="0" smtClean="0">
                <a:solidFill>
                  <a:srgbClr val="C00000"/>
                </a:solidFill>
                <a:latin typeface="微软雅黑" panose="020B0503020204020204" pitchFamily="34" charset="-122"/>
                <a:ea typeface="微软雅黑" panose="020B0503020204020204" pitchFamily="34" charset="-122"/>
                <a:sym typeface="+mn-ea"/>
              </a:rPr>
              <a:t>大合并收入合计</a:t>
            </a:r>
            <a:r>
              <a:rPr lang="en-US" altLang="zh-CN" sz="1400" b="1" dirty="0" smtClean="0">
                <a:solidFill>
                  <a:srgbClr val="C00000"/>
                </a:solidFill>
                <a:latin typeface="微软雅黑" panose="020B0503020204020204" pitchFamily="34" charset="-122"/>
                <a:ea typeface="微软雅黑" panose="020B0503020204020204" pitchFamily="34" charset="-122"/>
                <a:sym typeface="+mn-ea"/>
              </a:rPr>
              <a:t>17.9</a:t>
            </a:r>
            <a:r>
              <a:rPr lang="zh-CN" altLang="en-US" sz="1400" b="1" dirty="0" smtClean="0">
                <a:solidFill>
                  <a:srgbClr val="C00000"/>
                </a:solidFill>
                <a:latin typeface="微软雅黑" panose="020B0503020204020204" pitchFamily="34" charset="-122"/>
                <a:ea typeface="微软雅黑" panose="020B0503020204020204" pitchFamily="34" charset="-122"/>
                <a:sym typeface="+mn-ea"/>
              </a:rPr>
              <a:t>亿</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，其中租赁</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10.1</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亿，酒店</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4.7</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亿，公寓</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2.1</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亿，销售</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0.9</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a:t>
            </a:r>
            <a:r>
              <a:rPr lang="zh-CN" altLang="en-US" sz="1400" b="1" dirty="0" smtClean="0">
                <a:solidFill>
                  <a:srgbClr val="C00000"/>
                </a:solidFill>
                <a:latin typeface="微软雅黑" panose="020B0503020204020204" pitchFamily="34" charset="-122"/>
                <a:ea typeface="微软雅黑" panose="020B0503020204020204" pitchFamily="34" charset="-122"/>
                <a:sym typeface="+mn-ea"/>
              </a:rPr>
              <a:t>运营</a:t>
            </a:r>
            <a:r>
              <a:rPr lang="en-US" altLang="zh-CN" sz="1400" b="1" dirty="0" smtClean="0">
                <a:solidFill>
                  <a:srgbClr val="C00000"/>
                </a:solidFill>
                <a:latin typeface="微软雅黑" panose="020B0503020204020204" pitchFamily="34" charset="-122"/>
                <a:ea typeface="微软雅黑" panose="020B0503020204020204" pitchFamily="34" charset="-122"/>
                <a:sym typeface="+mn-ea"/>
              </a:rPr>
              <a:t>GOP</a:t>
            </a:r>
            <a:r>
              <a:rPr lang="zh-CN" altLang="en-US" sz="1400" b="1" dirty="0" smtClean="0">
                <a:solidFill>
                  <a:srgbClr val="C00000"/>
                </a:solidFill>
                <a:latin typeface="微软雅黑" panose="020B0503020204020204" pitchFamily="34" charset="-122"/>
                <a:ea typeface="微软雅黑" panose="020B0503020204020204" pitchFamily="34" charset="-122"/>
                <a:sym typeface="+mn-ea"/>
              </a:rPr>
              <a:t>合计</a:t>
            </a:r>
            <a:r>
              <a:rPr lang="en-US" altLang="zh-CN" sz="1400" b="1" dirty="0" smtClean="0">
                <a:solidFill>
                  <a:srgbClr val="C00000"/>
                </a:solidFill>
                <a:latin typeface="微软雅黑" panose="020B0503020204020204" pitchFamily="34" charset="-122"/>
                <a:ea typeface="微软雅黑" panose="020B0503020204020204" pitchFamily="34" charset="-122"/>
                <a:sym typeface="+mn-ea"/>
              </a:rPr>
              <a:t>9.4</a:t>
            </a:r>
            <a:r>
              <a:rPr lang="zh-CN" altLang="en-US" sz="1400" b="1" dirty="0" smtClean="0">
                <a:solidFill>
                  <a:srgbClr val="C00000"/>
                </a:solidFill>
                <a:latin typeface="微软雅黑" panose="020B0503020204020204" pitchFamily="34" charset="-122"/>
                <a:ea typeface="微软雅黑" panose="020B0503020204020204" pitchFamily="34" charset="-122"/>
                <a:sym typeface="+mn-ea"/>
              </a:rPr>
              <a:t>亿</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，其中：租赁</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7.3</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亿，酒店</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0.49</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亿，公寓</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1.6</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a:t>
            </a:r>
            <a:r>
              <a:rPr lang="zh-CN" altLang="en-US" sz="1200" b="1" dirty="0" smtClean="0">
                <a:solidFill>
                  <a:srgbClr val="C00000"/>
                </a:solidFill>
                <a:latin typeface="微软雅黑" panose="020B0503020204020204" pitchFamily="34" charset="-122"/>
                <a:ea typeface="微软雅黑" panose="020B0503020204020204" pitchFamily="34" charset="-122"/>
                <a:sym typeface="+mn-ea"/>
              </a:rPr>
              <a:t>运营</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对比同期下降</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0.3</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a:t>
            </a:r>
            <a:r>
              <a:rPr lang="zh-CN" sz="1200" b="1" dirty="0" smtClean="0">
                <a:solidFill>
                  <a:prstClr val="black"/>
                </a:solidFill>
                <a:latin typeface="微软雅黑" panose="020B0503020204020204" pitchFamily="34" charset="-122"/>
                <a:ea typeface="微软雅黑" panose="020B0503020204020204" pitchFamily="34" charset="-122"/>
                <a:sym typeface="+mn-ea"/>
              </a:rPr>
              <a:t>降幅</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3%</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，其中：现有口径</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8.8</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亿，对比同期</a:t>
            </a:r>
            <a:r>
              <a:rPr lang="zh-CN" sz="1200" b="1" dirty="0" smtClean="0">
                <a:solidFill>
                  <a:prstClr val="black"/>
                </a:solidFill>
                <a:latin typeface="微软雅黑" panose="020B0503020204020204" pitchFamily="34" charset="-122"/>
                <a:ea typeface="微软雅黑" panose="020B0503020204020204" pitchFamily="34" charset="-122"/>
                <a:sym typeface="+mn-ea"/>
              </a:rPr>
              <a:t>增加</a:t>
            </a:r>
            <a:r>
              <a:rPr lang="en-US" sz="1200" b="1" dirty="0" smtClean="0">
                <a:solidFill>
                  <a:prstClr val="black"/>
                </a:solidFill>
                <a:latin typeface="微软雅黑" panose="020B0503020204020204" pitchFamily="34" charset="-122"/>
                <a:ea typeface="微软雅黑" panose="020B0503020204020204" pitchFamily="34" charset="-122"/>
                <a:sym typeface="+mn-ea"/>
              </a:rPr>
              <a:t>53</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万，增幅</a:t>
            </a:r>
            <a:r>
              <a:rPr lang="en-US" altLang="zh-CN" sz="1200" b="1" dirty="0" smtClean="0">
                <a:solidFill>
                  <a:prstClr val="black"/>
                </a:solidFill>
                <a:latin typeface="微软雅黑" panose="020B0503020204020204" pitchFamily="34" charset="-122"/>
                <a:ea typeface="微软雅黑" panose="020B0503020204020204" pitchFamily="34" charset="-122"/>
                <a:sym typeface="+mn-ea"/>
              </a:rPr>
              <a:t>0.1%</a:t>
            </a:r>
            <a:r>
              <a:rPr lang="zh-CN" altLang="en-US" sz="1200" b="1" dirty="0" smtClean="0">
                <a:solidFill>
                  <a:prstClr val="black"/>
                </a:solidFill>
                <a:latin typeface="微软雅黑" panose="020B0503020204020204" pitchFamily="34" charset="-122"/>
                <a:ea typeface="微软雅黑" panose="020B0503020204020204" pitchFamily="34" charset="-122"/>
                <a:sym typeface="+mn-ea"/>
              </a:rPr>
              <a:t>。</a:t>
            </a:r>
            <a:endParaRPr lang="zh-CN" altLang="en-US" sz="1200" b="1" dirty="0" smtClean="0">
              <a:solidFill>
                <a:prstClr val="black"/>
              </a:solidFill>
              <a:latin typeface="微软雅黑" panose="020B0503020204020204" pitchFamily="34" charset="-122"/>
              <a:ea typeface="微软雅黑" panose="020B0503020204020204" pitchFamily="34" charset="-122"/>
              <a:sym typeface="+mn-ea"/>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87422" y="93379"/>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en-US" altLang="zh-CN" b="1" dirty="0"/>
              <a:t>--</a:t>
            </a:r>
            <a:r>
              <a:rPr lang="zh-CN" altLang="en-US" b="1" dirty="0">
                <a:solidFill>
                  <a:srgbClr val="002060"/>
                </a:solidFill>
              </a:rPr>
              <a:t>总体情况</a:t>
            </a:r>
            <a:endParaRPr kumimoji="0" lang="zh-CN" altLang="en-US" sz="1800" b="1" i="0" u="none" strike="noStrike" kern="1200" cap="none" spc="-41" normalizeH="0" baseline="0" noProof="0" dirty="0">
              <a:ln>
                <a:noFill/>
              </a:ln>
              <a:solidFill>
                <a:srgbClr val="002060"/>
              </a:solidFill>
              <a:effectLst/>
              <a:uLnTx/>
              <a:uFillTx/>
            </a:endParaRPr>
          </a:p>
        </p:txBody>
      </p:sp>
      <p:graphicFrame>
        <p:nvGraphicFramePr>
          <p:cNvPr id="2" name="表格 1"/>
          <p:cNvGraphicFramePr>
            <a:graphicFrameLocks noGrp="1"/>
          </p:cNvGraphicFramePr>
          <p:nvPr>
            <p:custDataLst>
              <p:tags r:id="rId1"/>
            </p:custDataLst>
          </p:nvPr>
        </p:nvGraphicFramePr>
        <p:xfrm>
          <a:off x="492760" y="669290"/>
          <a:ext cx="8987790" cy="4057650"/>
        </p:xfrm>
        <a:graphic>
          <a:graphicData uri="http://schemas.openxmlformats.org/drawingml/2006/table">
            <a:tbl>
              <a:tblPr/>
              <a:tblGrid>
                <a:gridCol w="1016635"/>
                <a:gridCol w="542290"/>
                <a:gridCol w="542925"/>
                <a:gridCol w="542290"/>
                <a:gridCol w="500380"/>
                <a:gridCol w="542925"/>
                <a:gridCol w="541655"/>
                <a:gridCol w="542925"/>
                <a:gridCol w="542290"/>
                <a:gridCol w="541655"/>
                <a:gridCol w="543560"/>
                <a:gridCol w="541655"/>
                <a:gridCol w="542925"/>
                <a:gridCol w="541020"/>
                <a:gridCol w="468630"/>
                <a:gridCol w="494030"/>
              </a:tblGrid>
              <a:tr h="206375">
                <a:tc rowSpan="2">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项目 </a:t>
                      </a:r>
                      <a:endParaRPr lang="zh-CN" altLang="en-US" sz="900" b="1" i="0" u="none" strike="noStrike" dirty="0">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NPI</a:t>
                      </a:r>
                      <a:endParaRPr lang="en-US" altLang="zh-CN"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tc>
                <a:tc hMerge="1">
                  <a:tcPr/>
                </a:tc>
                <a:tc rowSpan="2">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分摊费用后</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EBITDA/</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净利润</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rowSpan="2">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gridSpan="3">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经营活动净额</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tc>
                <a:tc hMerge="1">
                  <a:tcPr/>
                </a:tc>
                <a:tc rowSpan="2">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r>
              <a:tr h="361950">
                <a:tc vMerge="1">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tc>
                <a:tc vMerge="1">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vMerge="1">
                  <a:tcPr/>
                </a:tc>
                <a:tc vMerge="1">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5093" marR="5093" marT="5093"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tc>
                <a:tc vMerge="1">
                  <a:tcPr/>
                </a:tc>
              </a:tr>
              <a:tr h="142875">
                <a:tc>
                  <a:txBody>
                    <a:bodyPr/>
                    <a:lstStyle/>
                    <a:p>
                      <a:pPr algn="l" fontAlgn="ctr"/>
                      <a:r>
                        <a:rPr lang="zh-CN" altLang="en-US" sz="800" b="1" i="1">
                          <a:solidFill>
                            <a:srgbClr val="000000"/>
                          </a:solidFill>
                          <a:latin typeface="微软雅黑" panose="020B0503020204020204" pitchFamily="34" charset="-122"/>
                          <a:ea typeface="微软雅黑" panose="020B0503020204020204" pitchFamily="34" charset="-122"/>
                        </a:rPr>
                        <a:t>租赁合计</a:t>
                      </a:r>
                      <a:endParaRPr lang="zh-CN" altLang="en-US"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71,427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71,479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68,131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-3,348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-4.7%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67,893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67,945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64,543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-3,402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-5.0%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62,590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64,697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61,348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-3,349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-5.2%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44145">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71,391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71,267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68,120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-3,146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-4.4%</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67,857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67,733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64,532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-3,201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62,590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64,437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61,477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-2,960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42240">
                <a:tc>
                  <a:txBody>
                    <a:bodyPr/>
                    <a:lstStyle/>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17.3%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17.3%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-260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-147.6%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42875">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轻资产口径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-66.6%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-66.6%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364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131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-64.0%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1290">
                <a:tc>
                  <a:txBody>
                    <a:bodyPr/>
                    <a:lstStyle/>
                    <a:p>
                      <a:pPr algn="l" fontAlgn="ctr"/>
                      <a:r>
                        <a:rPr lang="zh-CN" altLang="en-US" sz="800" b="1" i="1">
                          <a:solidFill>
                            <a:srgbClr val="000000"/>
                          </a:solidFill>
                          <a:latin typeface="微软雅黑" panose="020B0503020204020204" pitchFamily="34" charset="-122"/>
                          <a:ea typeface="微软雅黑" panose="020B0503020204020204" pitchFamily="34" charset="-122"/>
                        </a:rPr>
                        <a:t>酒店合计</a:t>
                      </a:r>
                      <a:endParaRPr lang="zh-CN" altLang="en-US"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3,301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2,696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-18.3%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898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-25.1%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3,597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61290">
                <a:tc>
                  <a:txBody>
                    <a:bodyPr/>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2,712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2,851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3,249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398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14.0%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1,889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2,027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2,408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381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18.8%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3,134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3,706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2,948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-20.5%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256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450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-553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-222.8%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450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-553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-222.8%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-2,043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-1,816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-1,707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-1567.4%</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0655">
                <a:tc>
                  <a:txBody>
                    <a:bodyPr/>
                    <a:p>
                      <a:pPr algn="l" fontAlgn="ctr"/>
                      <a:r>
                        <a:rPr lang="zh-CN" altLang="en-US" sz="800" b="1" i="1">
                          <a:solidFill>
                            <a:srgbClr val="000000"/>
                          </a:solidFill>
                          <a:latin typeface="微软雅黑" panose="020B0503020204020204" pitchFamily="34" charset="-122"/>
                          <a:ea typeface="微软雅黑" panose="020B0503020204020204" pitchFamily="34" charset="-122"/>
                        </a:rPr>
                        <a:t>公寓合计</a:t>
                      </a:r>
                      <a:endParaRPr lang="zh-CN" altLang="en-US"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15,782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17,024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14,951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-12.2%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15,782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17,024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14,951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-12.2%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16,785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18,806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-3,501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-18.6%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44145">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9,568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10,394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10,343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9,568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10,394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10,343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9,045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11,067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10,952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1290">
                <a:tc>
                  <a:txBody>
                    <a:bodyPr/>
                    <a:lstStyle/>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6,214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6,630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4,609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6,214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6,630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4,609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-2,022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-30.5%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7,740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7,740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4,354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-3,386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-43.7%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9545">
                <a:tc>
                  <a:txBody>
                    <a:bodyPr/>
                    <a:lstStyle/>
                    <a:p>
                      <a:pPr algn="l" fontAlgn="ctr"/>
                      <a:r>
                        <a:rPr lang="zh-CN" altLang="en-US" sz="800" b="1" i="1">
                          <a:solidFill>
                            <a:srgbClr val="000000"/>
                          </a:solidFill>
                          <a:latin typeface="微软雅黑" panose="020B0503020204020204" pitchFamily="34" charset="-122"/>
                          <a:ea typeface="微软雅黑" panose="020B0503020204020204" pitchFamily="34" charset="-122"/>
                        </a:rPr>
                        <a:t>产业运营合计</a:t>
                      </a:r>
                      <a:endParaRPr lang="zh-CN" altLang="en-US"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88,930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91,804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85,779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84,573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87,446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81,350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-7.0%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80,465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87,100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77,785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-9,316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-10.7%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163195">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83,671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84,511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81,712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-2,799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79,313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80,153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77,283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-2,870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74,769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79,210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75,376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-3,834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-4.8%</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3195">
                <a:tc>
                  <a:txBody>
                    <a:bodyPr/>
                    <a:lstStyle/>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5,100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6,958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3,955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-43.2%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5,100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6,958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3,955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-43.2%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5,697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7,526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2,277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-5,248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-69.7%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63195">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轻资产口径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-66.6%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-66.6%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364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131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-64.0%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208915">
                <a:tc>
                  <a:txBody>
                    <a:bodyPr/>
                    <a:lstStyle/>
                    <a:p>
                      <a:pPr algn="l" fontAlgn="ctr"/>
                      <a:r>
                        <a:rPr lang="zh-CN" altLang="en-US" sz="800" b="1" i="1">
                          <a:solidFill>
                            <a:srgbClr val="000000"/>
                          </a:solidFill>
                          <a:latin typeface="微软雅黑" panose="020B0503020204020204" pitchFamily="34" charset="-122"/>
                          <a:ea typeface="微软雅黑" panose="020B0503020204020204" pitchFamily="34" charset="-122"/>
                        </a:rPr>
                        <a:t>产业销售</a:t>
                      </a:r>
                      <a:endParaRPr lang="zh-CN" altLang="en-US"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-6,523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-6,608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-2,642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16,685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20,166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10,770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-9,396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-46.6%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69545">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-6,523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-6,608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-2,642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3,967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60.0%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16,685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20,166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10,770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-9,396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-46.6%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248285">
                <a:tc>
                  <a:txBody>
                    <a:bodyPr/>
                    <a:lstStyle/>
                    <a:p>
                      <a:pPr algn="l" fontAlgn="ctr"/>
                      <a:r>
                        <a:rPr lang="zh-CN" altLang="en-US" sz="800" b="1" i="1">
                          <a:solidFill>
                            <a:srgbClr val="000000"/>
                          </a:solidFill>
                          <a:latin typeface="微软雅黑" panose="020B0503020204020204" pitchFamily="34" charset="-122"/>
                          <a:ea typeface="微软雅黑" panose="020B0503020204020204" pitchFamily="34" charset="-122"/>
                        </a:rPr>
                        <a:t>产业合计含丽思</a:t>
                      </a:r>
                      <a:endParaRPr lang="zh-CN" altLang="en-US"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88,930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91,801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85,776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-6.6%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78,050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80,835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78,705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-2.6%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97,150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107,266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88,555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-18,711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-17.4%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170180">
                <a:tc>
                  <a:txBody>
                    <a:bodyPr/>
                    <a:lstStyle/>
                    <a:p>
                      <a:pPr algn="l" fontAlgn="ctr"/>
                      <a:r>
                        <a:rPr lang="zh-CN" altLang="en-US" sz="800" b="0" i="1">
                          <a:solidFill>
                            <a:srgbClr val="000000"/>
                          </a:solidFill>
                          <a:latin typeface="微软雅黑" panose="020B0503020204020204" pitchFamily="34" charset="-122"/>
                          <a:ea typeface="微软雅黑" panose="020B0503020204020204" pitchFamily="34" charset="-122"/>
                        </a:rPr>
                        <a:t>其中：现有口径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83,671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84,509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81,709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-2,800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-3.3%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72,791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73,542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74,638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1,096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1.5%</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91,453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99,376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86,146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-13,230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1">
                          <a:solidFill>
                            <a:srgbClr val="000000"/>
                          </a:solidFill>
                          <a:latin typeface="微软雅黑" panose="020B0503020204020204" pitchFamily="34" charset="-122"/>
                          <a:ea typeface="微软雅黑" panose="020B0503020204020204" pitchFamily="34" charset="-122"/>
                        </a:rPr>
                        <a:t>-13.3%</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891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sym typeface="+mn-ea"/>
                        </a:rPr>
                        <a:t>新增</a:t>
                      </a:r>
                      <a:r>
                        <a:rPr lang="en-US" altLang="zh-CN" sz="800" i="1">
                          <a:solidFill>
                            <a:srgbClr val="000000"/>
                          </a:solidFill>
                          <a:latin typeface="微软雅黑" panose="020B0503020204020204" pitchFamily="34" charset="-122"/>
                          <a:ea typeface="微软雅黑" panose="020B0503020204020204" pitchFamily="34" charset="-122"/>
                          <a:sym typeface="+mn-ea"/>
                        </a:rPr>
                        <a:t>/</a:t>
                      </a:r>
                      <a:r>
                        <a:rPr lang="zh-CN" altLang="en-US" sz="800" i="1">
                          <a:solidFill>
                            <a:srgbClr val="000000"/>
                          </a:solidFill>
                          <a:latin typeface="微软雅黑" panose="020B0503020204020204" pitchFamily="34" charset="-122"/>
                          <a:ea typeface="微软雅黑" panose="020B0503020204020204" pitchFamily="34" charset="-122"/>
                          <a:sym typeface="+mn-ea"/>
                        </a:rPr>
                        <a:t>改造口径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5,100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6,958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3,955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-43.2%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5,100</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6,958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3,955</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-3,003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-43.2%</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5,697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7,526</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2,277</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-5,248</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-69.7%</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7018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轻资产口径</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-66.6%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159</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334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112</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-223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-66.6%</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364</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131</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0" i="1">
                          <a:solidFill>
                            <a:srgbClr val="000000"/>
                          </a:solidFill>
                          <a:latin typeface="微软雅黑" panose="020B0503020204020204" pitchFamily="34" charset="-122"/>
                          <a:ea typeface="微软雅黑" panose="020B0503020204020204" pitchFamily="34" charset="-122"/>
                        </a:rPr>
                        <a:t>-233</a:t>
                      </a:r>
                      <a:r>
                        <a:rPr lang="en-US" altLang="zh-CN" sz="800" b="0" i="1">
                          <a:solidFill>
                            <a:srgbClr val="000000"/>
                          </a:solidFill>
                          <a:latin typeface="微软雅黑" panose="020B0503020204020204" pitchFamily="34" charset="-122"/>
                          <a:ea typeface="微软雅黑" panose="020B0503020204020204" pitchFamily="34" charset="-122"/>
                        </a:rPr>
                        <a:t> </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p>
                      <a:pPr algn="r" fontAlgn="ctr"/>
                      <a:r>
                        <a:rPr lang="en-US" altLang="zh-CN" sz="800" b="0" i="1">
                          <a:solidFill>
                            <a:srgbClr val="000000"/>
                          </a:solidFill>
                          <a:latin typeface="微软雅黑" panose="020B0503020204020204" pitchFamily="34" charset="-122"/>
                          <a:ea typeface="微软雅黑" panose="020B0503020204020204" pitchFamily="34" charset="-122"/>
                        </a:rPr>
                        <a:t>-64.0%</a:t>
                      </a:r>
                      <a:endParaRPr lang="en-US" altLang="zh-CN"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3" name="圆角矩形 2"/>
          <p:cNvSpPr/>
          <p:nvPr/>
        </p:nvSpPr>
        <p:spPr>
          <a:xfrm>
            <a:off x="492760" y="2757170"/>
            <a:ext cx="8987790" cy="659765"/>
          </a:xfrm>
          <a:prstGeom prst="roundRect">
            <a:avLst/>
          </a:prstGeom>
          <a:noFill/>
          <a:ln w="28575">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p:cNvSpPr txBox="1"/>
          <p:nvPr/>
        </p:nvSpPr>
        <p:spPr>
          <a:xfrm>
            <a:off x="421005" y="4629785"/>
            <a:ext cx="9497695" cy="802005"/>
          </a:xfrm>
          <a:prstGeom prst="rect">
            <a:avLst/>
          </a:prstGeom>
          <a:noFill/>
        </p:spPr>
        <p:txBody>
          <a:bodyPr wrap="square" rtlCol="0">
            <a:noAutofit/>
          </a:bodyPr>
          <a:lstStyle/>
          <a:p>
            <a:pPr lvl="0">
              <a:defRPr/>
            </a:pPr>
            <a:r>
              <a:rPr lang="en-US" altLang="zh-CN" sz="900" dirty="0" smtClean="0">
                <a:solidFill>
                  <a:srgbClr val="002060"/>
                </a:solidFill>
                <a:latin typeface="微软雅黑" panose="020B0503020204020204" pitchFamily="34" charset="-122"/>
                <a:ea typeface="微软雅黑" panose="020B0503020204020204" pitchFamily="34" charset="-122"/>
              </a:rPr>
              <a:t>NPI=  NOI-</a:t>
            </a:r>
            <a:r>
              <a:rPr lang="zh-CN" altLang="en-US" sz="900" dirty="0" smtClean="0">
                <a:solidFill>
                  <a:srgbClr val="002060"/>
                </a:solidFill>
                <a:latin typeface="微软雅黑" panose="020B0503020204020204" pitchFamily="34" charset="-122"/>
                <a:ea typeface="微软雅黑" panose="020B0503020204020204" pitchFamily="34" charset="-122"/>
              </a:rPr>
              <a:t>资产管理服务费</a:t>
            </a:r>
            <a:r>
              <a:rPr lang="en-US" altLang="zh-CN" sz="900" dirty="0" smtClean="0">
                <a:solidFill>
                  <a:srgbClr val="002060"/>
                </a:solidFill>
                <a:latin typeface="微软雅黑" panose="020B0503020204020204" pitchFamily="34" charset="-122"/>
                <a:ea typeface="微软雅黑" panose="020B0503020204020204" pitchFamily="34" charset="-122"/>
              </a:rPr>
              <a:t>-</a:t>
            </a:r>
            <a:r>
              <a:rPr lang="zh-CN" altLang="en-US" sz="900" dirty="0" smtClean="0">
                <a:solidFill>
                  <a:srgbClr val="002060"/>
                </a:solidFill>
                <a:latin typeface="微软雅黑" panose="020B0503020204020204" pitchFamily="34" charset="-122"/>
                <a:ea typeface="微软雅黑" panose="020B0503020204020204" pitchFamily="34" charset="-122"/>
              </a:rPr>
              <a:t>少数股东损益</a:t>
            </a:r>
            <a:r>
              <a:rPr lang="en-US" altLang="zh-CN" sz="900" dirty="0" smtClean="0">
                <a:solidFill>
                  <a:srgbClr val="002060"/>
                </a:solidFill>
                <a:latin typeface="微软雅黑" panose="020B0503020204020204" pitchFamily="34" charset="-122"/>
                <a:ea typeface="微软雅黑" panose="020B0503020204020204" pitchFamily="34" charset="-122"/>
              </a:rPr>
              <a:t>      EBITDA=  NPI-</a:t>
            </a:r>
            <a:r>
              <a:rPr lang="zh-CN" altLang="en-US" sz="900" dirty="0" smtClean="0">
                <a:solidFill>
                  <a:srgbClr val="002060"/>
                </a:solidFill>
                <a:latin typeface="微软雅黑" panose="020B0503020204020204" pitchFamily="34" charset="-122"/>
                <a:ea typeface="微软雅黑" panose="020B0503020204020204" pitchFamily="34" charset="-122"/>
              </a:rPr>
              <a:t>整租成本</a:t>
            </a:r>
            <a:endParaRPr lang="zh-CN" altLang="en-US" sz="900" dirty="0" smtClean="0">
              <a:solidFill>
                <a:srgbClr val="002060"/>
              </a:solidFill>
              <a:latin typeface="微软雅黑" panose="020B0503020204020204" pitchFamily="34" charset="-122"/>
              <a:ea typeface="微软雅黑" panose="020B0503020204020204" pitchFamily="34" charset="-122"/>
            </a:endParaRPr>
          </a:p>
          <a:p>
            <a:pPr lvl="0">
              <a:defRPr/>
            </a:pPr>
            <a:r>
              <a:rPr lang="zh-CN" altLang="en-US" sz="900" dirty="0" smtClean="0">
                <a:solidFill>
                  <a:srgbClr val="002060"/>
                </a:solidFill>
                <a:latin typeface="微软雅黑" panose="020B0503020204020204" pitchFamily="34" charset="-122"/>
                <a:ea typeface="微软雅黑" panose="020B0503020204020204" pitchFamily="34" charset="-122"/>
              </a:rPr>
              <a:t>资产管理服务费分摊原则，产业本部在四个板块分摊、酒店事业部在酒店项目、公寓事业部在公寓项目、按照收入占比情况分摊。</a:t>
            </a:r>
            <a:endParaRPr lang="zh-CN" altLang="en-US" sz="900" dirty="0" smtClean="0">
              <a:solidFill>
                <a:srgbClr val="002060"/>
              </a:solidFill>
              <a:latin typeface="微软雅黑" panose="020B0503020204020204" pitchFamily="34" charset="-122"/>
              <a:ea typeface="微软雅黑" panose="020B0503020204020204" pitchFamily="34" charset="-122"/>
            </a:endParaRPr>
          </a:p>
          <a:p>
            <a:pPr lvl="0">
              <a:defRPr/>
            </a:pPr>
            <a:r>
              <a:rPr lang="zh-CN" altLang="en-US" sz="900" b="1" dirty="0" smtClean="0">
                <a:solidFill>
                  <a:srgbClr val="C00000"/>
                </a:solidFill>
                <a:latin typeface="微软雅黑" panose="020B0503020204020204" pitchFamily="34" charset="-122"/>
                <a:ea typeface="微软雅黑" panose="020B0503020204020204" pitchFamily="34" charset="-122"/>
              </a:rPr>
              <a:t>产业运营项目按照市场水平</a:t>
            </a:r>
            <a:r>
              <a:rPr lang="zh-CN" altLang="en-US" sz="900" b="1" dirty="0" smtClean="0">
                <a:solidFill>
                  <a:srgbClr val="002060"/>
                </a:solidFill>
                <a:latin typeface="微软雅黑" panose="020B0503020204020204" pitchFamily="34" charset="-122"/>
                <a:ea typeface="微软雅黑" panose="020B0503020204020204" pitchFamily="34" charset="-122"/>
              </a:rPr>
              <a:t>（收入</a:t>
            </a:r>
            <a:r>
              <a:rPr lang="en-US" altLang="zh-CN" sz="900" b="1" dirty="0" smtClean="0">
                <a:solidFill>
                  <a:srgbClr val="002060"/>
                </a:solidFill>
                <a:latin typeface="微软雅黑" panose="020B0503020204020204" pitchFamily="34" charset="-122"/>
                <a:ea typeface="微软雅黑" panose="020B0503020204020204" pitchFamily="34" charset="-122"/>
              </a:rPr>
              <a:t>*2%+NOI*2%</a:t>
            </a:r>
            <a:r>
              <a:rPr lang="zh-CN" altLang="en-US" sz="900" b="1" dirty="0" smtClean="0">
                <a:solidFill>
                  <a:srgbClr val="002060"/>
                </a:solidFill>
                <a:latin typeface="微软雅黑" panose="020B0503020204020204" pitchFamily="34" charset="-122"/>
                <a:ea typeface="微软雅黑" panose="020B0503020204020204" pitchFamily="34" charset="-122"/>
              </a:rPr>
              <a:t>）测算</a:t>
            </a:r>
            <a:r>
              <a:rPr lang="en-US" altLang="zh-CN" sz="900" b="1" dirty="0" smtClean="0">
                <a:solidFill>
                  <a:srgbClr val="002060"/>
                </a:solidFill>
                <a:latin typeface="微软雅黑" panose="020B0503020204020204" pitchFamily="34" charset="-122"/>
                <a:ea typeface="微软雅黑" panose="020B0503020204020204" pitchFamily="34" charset="-122"/>
              </a:rPr>
              <a:t>2026</a:t>
            </a:r>
            <a:r>
              <a:rPr lang="zh-CN" altLang="en-US" sz="900" b="1" dirty="0" smtClean="0">
                <a:solidFill>
                  <a:srgbClr val="002060"/>
                </a:solidFill>
                <a:latin typeface="微软雅黑" panose="020B0503020204020204" pitchFamily="34" charset="-122"/>
                <a:ea typeface="微软雅黑" panose="020B0503020204020204" pitchFamily="34" charset="-122"/>
              </a:rPr>
              <a:t>年预算资产管理服务费</a:t>
            </a:r>
            <a:r>
              <a:rPr lang="en-US" altLang="zh-CN" sz="900" b="1" dirty="0" smtClean="0">
                <a:solidFill>
                  <a:srgbClr val="C00000"/>
                </a:solidFill>
                <a:latin typeface="微软雅黑" panose="020B0503020204020204" pitchFamily="34" charset="-122"/>
                <a:ea typeface="微软雅黑" panose="020B0503020204020204" pitchFamily="34" charset="-122"/>
              </a:rPr>
              <a:t>5,190</a:t>
            </a:r>
            <a:r>
              <a:rPr lang="zh-CN" altLang="en-US" sz="900" b="1" dirty="0" smtClean="0">
                <a:solidFill>
                  <a:srgbClr val="C00000"/>
                </a:solidFill>
                <a:latin typeface="微软雅黑" panose="020B0503020204020204" pitchFamily="34" charset="-122"/>
                <a:ea typeface="微软雅黑" panose="020B0503020204020204" pitchFamily="34" charset="-122"/>
              </a:rPr>
              <a:t>万</a:t>
            </a:r>
            <a:r>
              <a:rPr lang="zh-CN" altLang="en-US" sz="900" b="1" dirty="0" smtClean="0">
                <a:solidFill>
                  <a:srgbClr val="002060"/>
                </a:solidFill>
                <a:latin typeface="微软雅黑" panose="020B0503020204020204" pitchFamily="34" charset="-122"/>
                <a:ea typeface="微软雅黑" panose="020B0503020204020204" pitchFamily="34" charset="-122"/>
              </a:rPr>
              <a:t>，实际产业本部</a:t>
            </a:r>
            <a:r>
              <a:rPr lang="en-US" altLang="zh-CN" sz="900" b="1" dirty="0" smtClean="0">
                <a:solidFill>
                  <a:srgbClr val="002060"/>
                </a:solidFill>
                <a:latin typeface="微软雅黑" panose="020B0503020204020204" pitchFamily="34" charset="-122"/>
                <a:ea typeface="微软雅黑" panose="020B0503020204020204" pitchFamily="34" charset="-122"/>
              </a:rPr>
              <a:t>+</a:t>
            </a:r>
            <a:r>
              <a:rPr lang="zh-CN" altLang="en-US" sz="900" b="1" dirty="0" smtClean="0">
                <a:solidFill>
                  <a:srgbClr val="002060"/>
                </a:solidFill>
                <a:latin typeface="微软雅黑" panose="020B0503020204020204" pitchFamily="34" charset="-122"/>
                <a:ea typeface="微软雅黑" panose="020B0503020204020204" pitchFamily="34" charset="-122"/>
              </a:rPr>
              <a:t>酒店公寓事业部费用合计</a:t>
            </a:r>
            <a:r>
              <a:rPr lang="en-US" altLang="zh-CN" sz="900" b="1" dirty="0" smtClean="0">
                <a:solidFill>
                  <a:srgbClr val="C00000"/>
                </a:solidFill>
                <a:latin typeface="微软雅黑" panose="020B0503020204020204" pitchFamily="34" charset="-122"/>
                <a:ea typeface="微软雅黑" panose="020B0503020204020204" pitchFamily="34" charset="-122"/>
              </a:rPr>
              <a:t>3,672</a:t>
            </a:r>
            <a:r>
              <a:rPr lang="zh-CN" altLang="en-US" sz="900" b="1" dirty="0" smtClean="0">
                <a:solidFill>
                  <a:srgbClr val="C00000"/>
                </a:solidFill>
                <a:latin typeface="微软雅黑" panose="020B0503020204020204" pitchFamily="34" charset="-122"/>
                <a:ea typeface="微软雅黑" panose="020B0503020204020204" pitchFamily="34" charset="-122"/>
              </a:rPr>
              <a:t>万</a:t>
            </a:r>
            <a:r>
              <a:rPr lang="zh-CN" altLang="en-US" sz="900" b="1" dirty="0" smtClean="0">
                <a:solidFill>
                  <a:srgbClr val="002060"/>
                </a:solidFill>
                <a:latin typeface="微软雅黑" panose="020B0503020204020204" pitchFamily="34" charset="-122"/>
                <a:ea typeface="微软雅黑" panose="020B0503020204020204" pitchFamily="34" charset="-122"/>
              </a:rPr>
              <a:t>，</a:t>
            </a:r>
            <a:r>
              <a:rPr lang="zh-CN" altLang="en-US" sz="900" b="1" dirty="0" smtClean="0">
                <a:solidFill>
                  <a:srgbClr val="C00000"/>
                </a:solidFill>
                <a:latin typeface="微软雅黑" panose="020B0503020204020204" pitchFamily="34" charset="-122"/>
                <a:ea typeface="微软雅黑" panose="020B0503020204020204" pitchFamily="34" charset="-122"/>
              </a:rPr>
              <a:t>减少</a:t>
            </a:r>
            <a:r>
              <a:rPr lang="en-US" altLang="zh-CN" sz="900" b="1" dirty="0" smtClean="0">
                <a:solidFill>
                  <a:srgbClr val="C00000"/>
                </a:solidFill>
                <a:latin typeface="微软雅黑" panose="020B0503020204020204" pitchFamily="34" charset="-122"/>
                <a:ea typeface="微软雅黑" panose="020B0503020204020204" pitchFamily="34" charset="-122"/>
              </a:rPr>
              <a:t>1,518</a:t>
            </a:r>
            <a:r>
              <a:rPr lang="zh-CN" altLang="en-US" sz="900" b="1" dirty="0" smtClean="0">
                <a:solidFill>
                  <a:srgbClr val="C00000"/>
                </a:solidFill>
                <a:latin typeface="微软雅黑" panose="020B0503020204020204" pitchFamily="34" charset="-122"/>
                <a:ea typeface="微软雅黑" panose="020B0503020204020204" pitchFamily="34" charset="-122"/>
              </a:rPr>
              <a:t>万。</a:t>
            </a:r>
            <a:endParaRPr lang="zh-CN" altLang="en-US" sz="900" b="1" dirty="0" smtClean="0">
              <a:solidFill>
                <a:srgbClr val="C00000"/>
              </a:solidFill>
              <a:latin typeface="微软雅黑" panose="020B0503020204020204" pitchFamily="34" charset="-122"/>
              <a:ea typeface="微软雅黑" panose="020B0503020204020204" pitchFamily="34" charset="-122"/>
            </a:endParaRPr>
          </a:p>
          <a:p>
            <a:pPr lvl="0">
              <a:defRPr/>
            </a:pPr>
            <a:r>
              <a:rPr lang="zh-CN" altLang="en-US" sz="900" dirty="0" smtClean="0">
                <a:solidFill>
                  <a:srgbClr val="002060"/>
                </a:solidFill>
                <a:latin typeface="微软雅黑" panose="020B0503020204020204" pitchFamily="34" charset="-122"/>
                <a:ea typeface="微软雅黑" panose="020B0503020204020204" pitchFamily="34" charset="-122"/>
              </a:rPr>
              <a:t>新增口径现金流下降</a:t>
            </a:r>
            <a:r>
              <a:rPr lang="en-US" altLang="zh-CN" sz="900" dirty="0" smtClean="0">
                <a:solidFill>
                  <a:srgbClr val="002060"/>
                </a:solidFill>
                <a:latin typeface="微软雅黑" panose="020B0503020204020204" pitchFamily="34" charset="-122"/>
                <a:ea typeface="微软雅黑" panose="020B0503020204020204" pitchFamily="34" charset="-122"/>
              </a:rPr>
              <a:t>5,248</a:t>
            </a:r>
            <a:r>
              <a:rPr lang="zh-CN" altLang="en-US" sz="900" dirty="0" smtClean="0">
                <a:solidFill>
                  <a:srgbClr val="002060"/>
                </a:solidFill>
                <a:latin typeface="微软雅黑" panose="020B0503020204020204" pitchFamily="34" charset="-122"/>
                <a:ea typeface="微软雅黑" panose="020B0503020204020204" pitchFamily="34" charset="-122"/>
              </a:rPr>
              <a:t>万，主要因沙井荣御现金流下降</a:t>
            </a:r>
            <a:r>
              <a:rPr lang="en-US" altLang="zh-CN" sz="900" dirty="0" smtClean="0">
                <a:solidFill>
                  <a:srgbClr val="002060"/>
                </a:solidFill>
                <a:latin typeface="微软雅黑" panose="020B0503020204020204" pitchFamily="34" charset="-122"/>
                <a:ea typeface="微软雅黑" panose="020B0503020204020204" pitchFamily="34" charset="-122"/>
              </a:rPr>
              <a:t>3,787</a:t>
            </a:r>
            <a:r>
              <a:rPr lang="zh-CN" altLang="en-US" sz="900" dirty="0" smtClean="0">
                <a:solidFill>
                  <a:srgbClr val="002060"/>
                </a:solidFill>
                <a:latin typeface="微软雅黑" panose="020B0503020204020204" pitchFamily="34" charset="-122"/>
                <a:ea typeface="微软雅黑" panose="020B0503020204020204" pitchFamily="34" charset="-122"/>
              </a:rPr>
              <a:t>万（沙井大户型合计</a:t>
            </a:r>
            <a:r>
              <a:rPr lang="en-US" altLang="zh-CN" sz="900" dirty="0" smtClean="0">
                <a:solidFill>
                  <a:srgbClr val="002060"/>
                </a:solidFill>
                <a:latin typeface="微软雅黑" panose="020B0503020204020204" pitchFamily="34" charset="-122"/>
                <a:ea typeface="微软雅黑" panose="020B0503020204020204" pitchFamily="34" charset="-122"/>
              </a:rPr>
              <a:t>424</a:t>
            </a:r>
            <a:r>
              <a:rPr lang="zh-CN" altLang="en-US" sz="900" dirty="0" smtClean="0">
                <a:solidFill>
                  <a:srgbClr val="002060"/>
                </a:solidFill>
                <a:latin typeface="微软雅黑" panose="020B0503020204020204" pitchFamily="34" charset="-122"/>
                <a:ea typeface="微软雅黑" panose="020B0503020204020204" pitchFamily="34" charset="-122"/>
              </a:rPr>
              <a:t>套运营模式由政府配租改自营，</a:t>
            </a:r>
            <a:r>
              <a:rPr lang="en-US" altLang="zh-CN" sz="900" dirty="0" smtClean="0">
                <a:solidFill>
                  <a:srgbClr val="002060"/>
                </a:solidFill>
                <a:latin typeface="微软雅黑" panose="020B0503020204020204" pitchFamily="34" charset="-122"/>
                <a:ea typeface="微软雅黑" panose="020B0503020204020204" pitchFamily="34" charset="-122"/>
              </a:rPr>
              <a:t>NOI</a:t>
            </a:r>
            <a:r>
              <a:rPr lang="zh-CN" sz="900" dirty="0" smtClean="0">
                <a:solidFill>
                  <a:srgbClr val="002060"/>
                </a:solidFill>
                <a:latin typeface="微软雅黑" panose="020B0503020204020204" pitchFamily="34" charset="-122"/>
                <a:ea typeface="微软雅黑" panose="020B0503020204020204" pitchFamily="34" charset="-122"/>
              </a:rPr>
              <a:t>减少</a:t>
            </a:r>
            <a:r>
              <a:rPr lang="zh-CN" altLang="en-US" sz="900" dirty="0" smtClean="0">
                <a:solidFill>
                  <a:srgbClr val="002060"/>
                </a:solidFill>
                <a:latin typeface="微软雅黑" panose="020B0503020204020204" pitchFamily="34" charset="-122"/>
                <a:ea typeface="微软雅黑" panose="020B0503020204020204" pitchFamily="34" charset="-122"/>
              </a:rPr>
              <a:t> 2,687万；明年预计收回</a:t>
            </a:r>
            <a:r>
              <a:rPr lang="en-US" altLang="zh-CN" sz="900" dirty="0" smtClean="0">
                <a:solidFill>
                  <a:srgbClr val="002060"/>
                </a:solidFill>
                <a:latin typeface="微软雅黑" panose="020B0503020204020204" pitchFamily="34" charset="-122"/>
                <a:ea typeface="微软雅黑" panose="020B0503020204020204" pitchFamily="34" charset="-122"/>
              </a:rPr>
              <a:t>3</a:t>
            </a:r>
            <a:r>
              <a:rPr lang="zh-CN" altLang="en-US" sz="900" dirty="0" smtClean="0">
                <a:solidFill>
                  <a:srgbClr val="002060"/>
                </a:solidFill>
                <a:latin typeface="微软雅黑" panose="020B0503020204020204" pitchFamily="34" charset="-122"/>
                <a:ea typeface="微软雅黑" panose="020B0503020204020204" pitchFamily="34" charset="-122"/>
              </a:rPr>
              <a:t>个季度补贴款及支付客户退租后的押金）。考虑丽思改造支出</a:t>
            </a:r>
            <a:r>
              <a:rPr lang="en-US" altLang="zh-CN" sz="900" dirty="0" smtClean="0">
                <a:solidFill>
                  <a:srgbClr val="002060"/>
                </a:solidFill>
                <a:latin typeface="微软雅黑" panose="020B0503020204020204" pitchFamily="34" charset="-122"/>
                <a:ea typeface="微软雅黑" panose="020B0503020204020204" pitchFamily="34" charset="-122"/>
              </a:rPr>
              <a:t>2,157</a:t>
            </a:r>
            <a:r>
              <a:rPr lang="zh-CN" altLang="en-US" sz="900" dirty="0" smtClean="0">
                <a:solidFill>
                  <a:srgbClr val="002060"/>
                </a:solidFill>
                <a:latin typeface="微软雅黑" panose="020B0503020204020204" pitchFamily="34" charset="-122"/>
                <a:ea typeface="微软雅黑" panose="020B0503020204020204" pitchFamily="34" charset="-122"/>
              </a:rPr>
              <a:t>万。</a:t>
            </a:r>
            <a:endParaRPr lang="en-US" altLang="zh-CN" sz="900" dirty="0" smtClean="0">
              <a:solidFill>
                <a:srgbClr val="002060"/>
              </a:solidFill>
              <a:latin typeface="微软雅黑" panose="020B0503020204020204" pitchFamily="34" charset="-122"/>
              <a:ea typeface="微软雅黑" panose="020B0503020204020204" pitchFamily="34" charset="-122"/>
            </a:endParaRP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87422" y="93415"/>
            <a:ext cx="7559675" cy="359346"/>
          </a:xfrm>
        </p:spPr>
        <p:txBody>
          <a:bodyPr/>
          <a:lstStyle/>
          <a:p>
            <a:pPr lvl="0">
              <a:defRPr/>
            </a:pPr>
            <a:r>
              <a:rPr lang="zh-CN" altLang="en-US" b="1" noProof="0" dirty="0">
                <a:ln>
                  <a:noFill/>
                </a:ln>
                <a:effectLst/>
                <a:highlight>
                  <a:srgbClr val="000000">
                    <a:alpha val="0"/>
                  </a:srgbClr>
                </a:highlight>
                <a:uLnTx/>
                <a:uFillTx/>
                <a:sym typeface="+mn-ea"/>
              </a:rPr>
              <a:t>第三部分</a:t>
            </a:r>
            <a:r>
              <a:rPr lang="zh-CN" altLang="en-US" b="1" noProof="0" dirty="0" smtClean="0">
                <a:ln>
                  <a:noFill/>
                </a:ln>
                <a:effectLst/>
                <a:highlight>
                  <a:srgbClr val="000000">
                    <a:alpha val="0"/>
                  </a:srgbClr>
                </a:highlight>
                <a:uLnTx/>
                <a:uFillTx/>
                <a:sym typeface="+mn-ea"/>
              </a:rPr>
              <a:t>：</a:t>
            </a:r>
            <a:r>
              <a:rPr lang="en-US" altLang="zh-CN" b="1" noProof="0" dirty="0" smtClean="0">
                <a:ln>
                  <a:noFill/>
                </a:ln>
                <a:effectLst/>
                <a:highlight>
                  <a:srgbClr val="000000">
                    <a:alpha val="0"/>
                  </a:srgbClr>
                </a:highlight>
                <a:uLnTx/>
                <a:uFillTx/>
                <a:sym typeface="+mn-ea"/>
              </a:rPr>
              <a:t>2026年预算编制报告</a:t>
            </a:r>
            <a:r>
              <a:rPr lang="en-US" altLang="zh-CN" b="1" dirty="0">
                <a:solidFill>
                  <a:srgbClr val="002060"/>
                </a:solidFill>
                <a:highlight>
                  <a:srgbClr val="000000">
                    <a:alpha val="0"/>
                  </a:srgbClr>
                </a:highlight>
              </a:rPr>
              <a:t>-</a:t>
            </a:r>
            <a:r>
              <a:rPr lang="zh-CN" altLang="en-US" b="1" dirty="0">
                <a:solidFill>
                  <a:srgbClr val="002060"/>
                </a:solidFill>
                <a:highlight>
                  <a:srgbClr val="000000">
                    <a:alpha val="0"/>
                  </a:srgbClr>
                </a:highlight>
              </a:rPr>
              <a:t>运营板块费用预算情况</a:t>
            </a:r>
            <a:endParaRPr kumimoji="0" lang="zh-CN" altLang="en-US" sz="1800" b="1" i="0" u="none" strike="noStrike" kern="1200" cap="none" spc="-41" normalizeH="0" baseline="0" noProof="0" dirty="0">
              <a:ln>
                <a:noFill/>
              </a:ln>
              <a:solidFill>
                <a:srgbClr val="002060"/>
              </a:solidFill>
              <a:effectLst/>
              <a:highlight>
                <a:srgbClr val="000000">
                  <a:alpha val="0"/>
                </a:srgbClr>
              </a:highlight>
              <a:uLnTx/>
              <a:uFillTx/>
            </a:endParaRPr>
          </a:p>
        </p:txBody>
      </p:sp>
      <p:sp>
        <p:nvSpPr>
          <p:cNvPr id="3" name="文本框 2"/>
          <p:cNvSpPr txBox="1"/>
          <p:nvPr>
            <p:custDataLst>
              <p:tags r:id="rId1"/>
            </p:custDataLst>
          </p:nvPr>
        </p:nvSpPr>
        <p:spPr>
          <a:xfrm>
            <a:off x="276860" y="4558030"/>
            <a:ext cx="9565640" cy="1011555"/>
          </a:xfrm>
          <a:prstGeom prst="rect">
            <a:avLst/>
          </a:prstGeom>
          <a:noFill/>
        </p:spPr>
        <p:txBody>
          <a:bodyPr wrap="square" rtlCol="0">
            <a:noAutofit/>
          </a:bodyPr>
          <a:lstStyle/>
          <a:p>
            <a:pPr>
              <a:defRPr/>
            </a:pPr>
            <a:r>
              <a:rPr lang="en-US" altLang="zh-CN" sz="900" dirty="0" smtClean="0">
                <a:solidFill>
                  <a:prstClr val="black"/>
                </a:solidFill>
                <a:latin typeface="微软雅黑" panose="020B0503020204020204" pitchFamily="34" charset="-122"/>
                <a:ea typeface="微软雅黑" panose="020B0503020204020204" pitchFamily="34" charset="-122"/>
              </a:rPr>
              <a:t>1</a:t>
            </a:r>
            <a:r>
              <a:rPr lang="zh-CN" altLang="en-US" sz="900" dirty="0" smtClean="0">
                <a:solidFill>
                  <a:prstClr val="black"/>
                </a:solidFill>
                <a:latin typeface="微软雅黑" panose="020B0503020204020204" pitchFamily="34" charset="-122"/>
                <a:ea typeface="微软雅黑" panose="020B0503020204020204" pitchFamily="34" charset="-122"/>
              </a:rPr>
              <a:t>、产业运营收入</a:t>
            </a:r>
            <a:r>
              <a:rPr lang="en-US" altLang="zh-CN" sz="900" dirty="0" smtClean="0">
                <a:solidFill>
                  <a:prstClr val="black"/>
                </a:solidFill>
                <a:latin typeface="微软雅黑" panose="020B0503020204020204" pitchFamily="34" charset="-122"/>
                <a:ea typeface="微软雅黑" panose="020B0503020204020204" pitchFamily="34" charset="-122"/>
              </a:rPr>
              <a:t>17.02</a:t>
            </a:r>
            <a:r>
              <a:rPr lang="zh-CN" altLang="en-US" sz="900" dirty="0" smtClean="0">
                <a:solidFill>
                  <a:prstClr val="black"/>
                </a:solidFill>
                <a:latin typeface="微软雅黑" panose="020B0503020204020204" pitchFamily="34" charset="-122"/>
                <a:ea typeface="微软雅黑" panose="020B0503020204020204" pitchFamily="34" charset="-122"/>
              </a:rPr>
              <a:t>亿，同比减少</a:t>
            </a:r>
            <a:r>
              <a:rPr lang="en-US" altLang="zh-CN" sz="900" dirty="0" smtClean="0">
                <a:solidFill>
                  <a:prstClr val="black"/>
                </a:solidFill>
                <a:latin typeface="微软雅黑" panose="020B0503020204020204" pitchFamily="34" charset="-122"/>
                <a:ea typeface="微软雅黑" panose="020B0503020204020204" pitchFamily="34" charset="-122"/>
              </a:rPr>
              <a:t>0.2</a:t>
            </a:r>
            <a:r>
              <a:rPr lang="zh-CN" altLang="en-US" sz="900" dirty="0" smtClean="0">
                <a:solidFill>
                  <a:prstClr val="black"/>
                </a:solidFill>
                <a:latin typeface="微软雅黑" panose="020B0503020204020204" pitchFamily="34" charset="-122"/>
                <a:ea typeface="微软雅黑" panose="020B0503020204020204" pitchFamily="34" charset="-122"/>
              </a:rPr>
              <a:t>亿，降幅</a:t>
            </a:r>
            <a:r>
              <a:rPr lang="en-US" altLang="zh-CN" sz="900" dirty="0" smtClean="0">
                <a:solidFill>
                  <a:prstClr val="black"/>
                </a:solidFill>
                <a:latin typeface="微软雅黑" panose="020B0503020204020204" pitchFamily="34" charset="-122"/>
                <a:ea typeface="微软雅黑" panose="020B0503020204020204" pitchFamily="34" charset="-122"/>
              </a:rPr>
              <a:t>1%</a:t>
            </a:r>
            <a:r>
              <a:rPr lang="zh-CN" altLang="en-US" sz="900" dirty="0" smtClean="0">
                <a:solidFill>
                  <a:prstClr val="black"/>
                </a:solidFill>
                <a:latin typeface="微软雅黑" panose="020B0503020204020204" pitchFamily="34" charset="-122"/>
                <a:ea typeface="微软雅黑" panose="020B0503020204020204" pitchFamily="34" charset="-122"/>
              </a:rPr>
              <a:t>；主要因</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沙井荣御改自营减少</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0.27</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亿，</a:t>
            </a:r>
            <a:r>
              <a:rPr lang="zh-CN" altLang="en-US" sz="900" dirty="0" smtClean="0">
                <a:solidFill>
                  <a:prstClr val="black"/>
                </a:solidFill>
                <a:latin typeface="微软雅黑" panose="020B0503020204020204" pitchFamily="34" charset="-122"/>
                <a:ea typeface="微软雅黑" panose="020B0503020204020204" pitchFamily="34" charset="-122"/>
              </a:rPr>
              <a:t>丽思装修下降</a:t>
            </a:r>
            <a:r>
              <a:rPr lang="en-US" altLang="zh-CN" sz="900" dirty="0" smtClean="0">
                <a:solidFill>
                  <a:prstClr val="black"/>
                </a:solidFill>
                <a:latin typeface="微软雅黑" panose="020B0503020204020204" pitchFamily="34" charset="-122"/>
                <a:ea typeface="微软雅黑" panose="020B0503020204020204" pitchFamily="34" charset="-122"/>
              </a:rPr>
              <a:t>0.1</a:t>
            </a:r>
            <a:r>
              <a:rPr lang="zh-CN" altLang="en-US" sz="900" dirty="0" smtClean="0">
                <a:solidFill>
                  <a:prstClr val="black"/>
                </a:solidFill>
                <a:latin typeface="微软雅黑" panose="020B0503020204020204" pitchFamily="34" charset="-122"/>
                <a:ea typeface="微软雅黑" panose="020B0503020204020204" pitchFamily="34" charset="-122"/>
              </a:rPr>
              <a:t>亿，深圳公司增加</a:t>
            </a:r>
            <a:r>
              <a:rPr lang="en-US" altLang="zh-CN" sz="900" dirty="0" smtClean="0">
                <a:solidFill>
                  <a:prstClr val="black"/>
                </a:solidFill>
                <a:latin typeface="微软雅黑" panose="020B0503020204020204" pitchFamily="34" charset="-122"/>
                <a:ea typeface="微软雅黑" panose="020B0503020204020204" pitchFamily="34" charset="-122"/>
              </a:rPr>
              <a:t>0.1</a:t>
            </a:r>
            <a:r>
              <a:rPr lang="zh-CN" altLang="en-US" sz="900" dirty="0" smtClean="0">
                <a:solidFill>
                  <a:prstClr val="black"/>
                </a:solidFill>
                <a:latin typeface="微软雅黑" panose="020B0503020204020204" pitchFamily="34" charset="-122"/>
                <a:ea typeface="微软雅黑" panose="020B0503020204020204" pitchFamily="34" charset="-122"/>
              </a:rPr>
              <a:t>亿，公寓深圳北站项目增加</a:t>
            </a:r>
            <a:r>
              <a:rPr lang="en-US" altLang="zh-CN" sz="900" dirty="0" smtClean="0">
                <a:solidFill>
                  <a:prstClr val="black"/>
                </a:solidFill>
                <a:latin typeface="微软雅黑" panose="020B0503020204020204" pitchFamily="34" charset="-122"/>
                <a:ea typeface="微软雅黑" panose="020B0503020204020204" pitchFamily="34" charset="-122"/>
              </a:rPr>
              <a:t>0.1</a:t>
            </a:r>
            <a:r>
              <a:rPr lang="zh-CN" altLang="en-US" sz="900" dirty="0" smtClean="0">
                <a:solidFill>
                  <a:prstClr val="black"/>
                </a:solidFill>
                <a:latin typeface="微软雅黑" panose="020B0503020204020204" pitchFamily="34" charset="-122"/>
                <a:ea typeface="微软雅黑" panose="020B0503020204020204" pitchFamily="34" charset="-122"/>
              </a:rPr>
              <a:t>亿，</a:t>
            </a:r>
            <a:endParaRPr lang="zh-CN" altLang="en-US" sz="900" dirty="0" smtClean="0">
              <a:solidFill>
                <a:prstClr val="black"/>
              </a:solidFill>
              <a:latin typeface="微软雅黑" panose="020B0503020204020204" pitchFamily="34" charset="-122"/>
              <a:ea typeface="微软雅黑" panose="020B0503020204020204" pitchFamily="34" charset="-122"/>
            </a:endParaRPr>
          </a:p>
          <a:p>
            <a:pPr>
              <a:defRPr/>
            </a:pPr>
            <a:r>
              <a:rPr lang="en-US" altLang="zh-CN" sz="900" dirty="0" smtClean="0">
                <a:solidFill>
                  <a:prstClr val="black"/>
                </a:solidFill>
                <a:latin typeface="微软雅黑" panose="020B0503020204020204" pitchFamily="34" charset="-122"/>
                <a:ea typeface="微软雅黑" panose="020B0503020204020204" pitchFamily="34" charset="-122"/>
              </a:rPr>
              <a:t>2</a:t>
            </a:r>
            <a:r>
              <a:rPr lang="zh-CN" altLang="en-US" sz="900" dirty="0" smtClean="0">
                <a:solidFill>
                  <a:prstClr val="black"/>
                </a:solidFill>
                <a:latin typeface="微软雅黑" panose="020B0503020204020204" pitchFamily="34" charset="-122"/>
                <a:ea typeface="微软雅黑" panose="020B0503020204020204" pitchFamily="34" charset="-122"/>
              </a:rPr>
              <a:t>、成本费用合计</a:t>
            </a:r>
            <a:r>
              <a:rPr lang="en-US" altLang="zh-CN" sz="900" dirty="0" smtClean="0">
                <a:solidFill>
                  <a:prstClr val="black"/>
                </a:solidFill>
                <a:latin typeface="微软雅黑" panose="020B0503020204020204" pitchFamily="34" charset="-122"/>
                <a:ea typeface="微软雅黑" panose="020B0503020204020204" pitchFamily="34" charset="-122"/>
              </a:rPr>
              <a:t>6.36</a:t>
            </a:r>
            <a:r>
              <a:rPr lang="zh-CN" altLang="en-US" sz="900" dirty="0" smtClean="0">
                <a:solidFill>
                  <a:prstClr val="black"/>
                </a:solidFill>
                <a:latin typeface="微软雅黑" panose="020B0503020204020204" pitchFamily="34" charset="-122"/>
                <a:ea typeface="微软雅黑" panose="020B0503020204020204" pitchFamily="34" charset="-122"/>
              </a:rPr>
              <a:t>亿，同比增加</a:t>
            </a:r>
            <a:r>
              <a:rPr lang="en-US" altLang="zh-CN" sz="900" dirty="0" smtClean="0">
                <a:solidFill>
                  <a:prstClr val="black"/>
                </a:solidFill>
                <a:latin typeface="微软雅黑" panose="020B0503020204020204" pitchFamily="34" charset="-122"/>
                <a:ea typeface="微软雅黑" panose="020B0503020204020204" pitchFamily="34" charset="-122"/>
              </a:rPr>
              <a:t>0.12</a:t>
            </a:r>
            <a:r>
              <a:rPr lang="zh-CN" altLang="en-US" sz="900" dirty="0" smtClean="0">
                <a:solidFill>
                  <a:prstClr val="black"/>
                </a:solidFill>
                <a:latin typeface="微软雅黑" panose="020B0503020204020204" pitchFamily="34" charset="-122"/>
                <a:ea typeface="微软雅黑" panose="020B0503020204020204" pitchFamily="34" charset="-122"/>
              </a:rPr>
              <a:t>亿，主要因新增</a:t>
            </a:r>
            <a:r>
              <a:rPr lang="en-US" altLang="zh-CN" sz="900" dirty="0" smtClean="0">
                <a:solidFill>
                  <a:prstClr val="black"/>
                </a:solidFill>
                <a:latin typeface="微软雅黑" panose="020B0503020204020204" pitchFamily="34" charset="-122"/>
                <a:ea typeface="微软雅黑" panose="020B0503020204020204" pitchFamily="34" charset="-122"/>
              </a:rPr>
              <a:t>/</a:t>
            </a:r>
            <a:r>
              <a:rPr lang="zh-CN" altLang="en-US" sz="900" dirty="0" smtClean="0">
                <a:solidFill>
                  <a:prstClr val="black"/>
                </a:solidFill>
                <a:latin typeface="微软雅黑" panose="020B0503020204020204" pitchFamily="34" charset="-122"/>
                <a:ea typeface="微软雅黑" panose="020B0503020204020204" pitchFamily="34" charset="-122"/>
              </a:rPr>
              <a:t>改造项目增加</a:t>
            </a:r>
            <a:r>
              <a:rPr lang="en-US" altLang="zh-CN" sz="900" dirty="0" smtClean="0">
                <a:solidFill>
                  <a:prstClr val="black"/>
                </a:solidFill>
                <a:latin typeface="微软雅黑" panose="020B0503020204020204" pitchFamily="34" charset="-122"/>
                <a:ea typeface="微软雅黑" panose="020B0503020204020204" pitchFamily="34" charset="-122"/>
              </a:rPr>
              <a:t>841</a:t>
            </a:r>
            <a:r>
              <a:rPr lang="zh-CN" altLang="en-US" sz="900" dirty="0" smtClean="0">
                <a:solidFill>
                  <a:prstClr val="black"/>
                </a:solidFill>
                <a:latin typeface="微软雅黑" panose="020B0503020204020204" pitchFamily="34" charset="-122"/>
                <a:ea typeface="微软雅黑" panose="020B0503020204020204" pitchFamily="34" charset="-122"/>
              </a:rPr>
              <a:t>万（其中</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公寓北站项目增加</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383</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900" dirty="0" smtClean="0">
                <a:solidFill>
                  <a:prstClr val="black"/>
                </a:solidFill>
                <a:latin typeface="微软雅黑" panose="020B0503020204020204" pitchFamily="34" charset="-122"/>
                <a:ea typeface="微软雅黑" panose="020B0503020204020204" pitchFamily="34" charset="-122"/>
              </a:rPr>
              <a:t>开市客增加</a:t>
            </a:r>
            <a:r>
              <a:rPr lang="en-US" altLang="zh-CN" sz="900" dirty="0" smtClean="0">
                <a:solidFill>
                  <a:prstClr val="black"/>
                </a:solidFill>
                <a:latin typeface="微软雅黑" panose="020B0503020204020204" pitchFamily="34" charset="-122"/>
                <a:ea typeface="微软雅黑" panose="020B0503020204020204" pitchFamily="34" charset="-122"/>
              </a:rPr>
              <a:t>229</a:t>
            </a:r>
            <a:r>
              <a:rPr lang="zh-CN" altLang="en-US" sz="900" dirty="0" smtClean="0">
                <a:solidFill>
                  <a:prstClr val="black"/>
                </a:solidFill>
                <a:latin typeface="微软雅黑" panose="020B0503020204020204" pitchFamily="34" charset="-122"/>
                <a:ea typeface="微软雅黑" panose="020B0503020204020204" pitchFamily="34" charset="-122"/>
              </a:rPr>
              <a:t>万，沙井增加</a:t>
            </a:r>
            <a:r>
              <a:rPr lang="en-US" altLang="zh-CN" sz="900" dirty="0" smtClean="0">
                <a:solidFill>
                  <a:prstClr val="black"/>
                </a:solidFill>
                <a:latin typeface="微软雅黑" panose="020B0503020204020204" pitchFamily="34" charset="-122"/>
                <a:ea typeface="微软雅黑" panose="020B0503020204020204" pitchFamily="34" charset="-122"/>
              </a:rPr>
              <a:t>105</a:t>
            </a:r>
            <a:r>
              <a:rPr lang="zh-CN" altLang="en-US" sz="900" dirty="0" smtClean="0">
                <a:solidFill>
                  <a:prstClr val="black"/>
                </a:solidFill>
                <a:latin typeface="微软雅黑" panose="020B0503020204020204" pitchFamily="34" charset="-122"/>
                <a:ea typeface="微软雅黑" panose="020B0503020204020204" pitchFamily="34" charset="-122"/>
              </a:rPr>
              <a:t>万），轻资产口径苏州昆山增加</a:t>
            </a:r>
            <a:r>
              <a:rPr lang="en-US" altLang="zh-CN" sz="900" dirty="0" smtClean="0">
                <a:solidFill>
                  <a:prstClr val="black"/>
                </a:solidFill>
                <a:latin typeface="微软雅黑" panose="020B0503020204020204" pitchFamily="34" charset="-122"/>
                <a:ea typeface="微软雅黑" panose="020B0503020204020204" pitchFamily="34" charset="-122"/>
              </a:rPr>
              <a:t>224</a:t>
            </a:r>
            <a:r>
              <a:rPr lang="zh-CN" altLang="en-US" sz="900" dirty="0" smtClean="0">
                <a:solidFill>
                  <a:prstClr val="black"/>
                </a:solidFill>
                <a:latin typeface="微软雅黑" panose="020B0503020204020204" pitchFamily="34" charset="-122"/>
                <a:ea typeface="微软雅黑" panose="020B0503020204020204" pitchFamily="34" charset="-122"/>
              </a:rPr>
              <a:t>万；现有口径增加</a:t>
            </a:r>
            <a:r>
              <a:rPr lang="en-US" altLang="zh-CN" sz="900" dirty="0" smtClean="0">
                <a:solidFill>
                  <a:prstClr val="black"/>
                </a:solidFill>
                <a:latin typeface="微软雅黑" panose="020B0503020204020204" pitchFamily="34" charset="-122"/>
                <a:ea typeface="微软雅黑" panose="020B0503020204020204" pitchFamily="34" charset="-122"/>
              </a:rPr>
              <a:t>205</a:t>
            </a:r>
            <a:r>
              <a:rPr lang="zh-CN" altLang="en-US" sz="900" dirty="0" smtClean="0">
                <a:solidFill>
                  <a:prstClr val="black"/>
                </a:solidFill>
                <a:latin typeface="微软雅黑" panose="020B0503020204020204" pitchFamily="34" charset="-122"/>
                <a:ea typeface="微软雅黑" panose="020B0503020204020204" pitchFamily="34" charset="-122"/>
              </a:rPr>
              <a:t>万（虽惠州、苏州销售清盘，但后续仍有收尾工作，费用集中在租赁板块体现）；</a:t>
            </a:r>
            <a:endParaRPr lang="zh-CN" altLang="en-US" sz="900" dirty="0" smtClean="0">
              <a:solidFill>
                <a:prstClr val="black"/>
              </a:solidFill>
              <a:latin typeface="微软雅黑" panose="020B0503020204020204" pitchFamily="34" charset="-122"/>
              <a:ea typeface="微软雅黑" panose="020B0503020204020204" pitchFamily="34" charset="-122"/>
            </a:endParaRPr>
          </a:p>
          <a:p>
            <a:pPr>
              <a:defRPr/>
            </a:pPr>
            <a:r>
              <a:rPr lang="en-US" altLang="zh-CN" sz="900" dirty="0" smtClean="0">
                <a:solidFill>
                  <a:prstClr val="black"/>
                </a:solidFill>
                <a:latin typeface="微软雅黑" panose="020B0503020204020204" pitchFamily="34" charset="-122"/>
                <a:ea typeface="微软雅黑" panose="020B0503020204020204" pitchFamily="34" charset="-122"/>
              </a:rPr>
              <a:t>3</a:t>
            </a:r>
            <a:r>
              <a:rPr lang="zh-CN" altLang="en-US" sz="900" dirty="0" smtClean="0">
                <a:solidFill>
                  <a:prstClr val="black"/>
                </a:solidFill>
                <a:latin typeface="微软雅黑" panose="020B0503020204020204" pitchFamily="34" charset="-122"/>
                <a:ea typeface="微软雅黑" panose="020B0503020204020204" pitchFamily="34" charset="-122"/>
              </a:rPr>
              <a:t>、物业费用减少</a:t>
            </a:r>
            <a:r>
              <a:rPr lang="en-US" altLang="zh-CN" sz="900" dirty="0" smtClean="0">
                <a:solidFill>
                  <a:prstClr val="black"/>
                </a:solidFill>
                <a:latin typeface="微软雅黑" panose="020B0503020204020204" pitchFamily="34" charset="-122"/>
                <a:ea typeface="微软雅黑" panose="020B0503020204020204" pitchFamily="34" charset="-122"/>
              </a:rPr>
              <a:t>96</a:t>
            </a:r>
            <a:r>
              <a:rPr lang="zh-CN" altLang="en-US" sz="900" dirty="0" smtClean="0">
                <a:solidFill>
                  <a:prstClr val="black"/>
                </a:solidFill>
                <a:latin typeface="微软雅黑" panose="020B0503020204020204" pitchFamily="34" charset="-122"/>
                <a:ea typeface="微软雅黑" panose="020B0503020204020204" pitchFamily="34" charset="-122"/>
              </a:rPr>
              <a:t>万，主要维修费用和物业补亏额减少；</a:t>
            </a:r>
            <a:r>
              <a:rPr lang="zh-CN" altLang="en-US" sz="900" dirty="0" smtClean="0">
                <a:solidFill>
                  <a:schemeClr val="tx1"/>
                </a:solidFill>
                <a:latin typeface="微软雅黑" panose="020B0503020204020204" pitchFamily="34" charset="-122"/>
                <a:ea typeface="微软雅黑" panose="020B0503020204020204" pitchFamily="34" charset="-122"/>
              </a:rPr>
              <a:t>营销费用增加</a:t>
            </a:r>
            <a:r>
              <a:rPr lang="en-US" altLang="zh-CN" sz="900" dirty="0" smtClean="0">
                <a:solidFill>
                  <a:schemeClr val="tx1"/>
                </a:solidFill>
                <a:latin typeface="微软雅黑" panose="020B0503020204020204" pitchFamily="34" charset="-122"/>
                <a:ea typeface="微软雅黑" panose="020B0503020204020204" pitchFamily="34" charset="-122"/>
              </a:rPr>
              <a:t>288</a:t>
            </a:r>
            <a:r>
              <a:rPr lang="zh-CN" altLang="en-US" sz="900" dirty="0" smtClean="0">
                <a:solidFill>
                  <a:schemeClr val="tx1"/>
                </a:solidFill>
                <a:latin typeface="微软雅黑" panose="020B0503020204020204" pitchFamily="34" charset="-122"/>
                <a:ea typeface="微软雅黑" panose="020B0503020204020204" pitchFamily="34" charset="-122"/>
              </a:rPr>
              <a:t>万，</a:t>
            </a:r>
            <a:r>
              <a:rPr lang="zh-CN" altLang="en-US" sz="900" dirty="0" smtClean="0">
                <a:solidFill>
                  <a:prstClr val="black"/>
                </a:solidFill>
                <a:latin typeface="微软雅黑" panose="020B0503020204020204" pitchFamily="34" charset="-122"/>
                <a:ea typeface="微软雅黑" panose="020B0503020204020204" pitchFamily="34" charset="-122"/>
              </a:rPr>
              <a:t>其中：开市客新增</a:t>
            </a:r>
            <a:r>
              <a:rPr lang="en-US" altLang="zh-CN" sz="900" dirty="0" smtClean="0">
                <a:solidFill>
                  <a:prstClr val="black"/>
                </a:solidFill>
                <a:latin typeface="微软雅黑" panose="020B0503020204020204" pitchFamily="34" charset="-122"/>
                <a:ea typeface="微软雅黑" panose="020B0503020204020204" pitchFamily="34" charset="-122"/>
              </a:rPr>
              <a:t>67</a:t>
            </a:r>
            <a:r>
              <a:rPr lang="zh-CN" altLang="en-US" sz="900" dirty="0" smtClean="0">
                <a:solidFill>
                  <a:prstClr val="black"/>
                </a:solidFill>
                <a:latin typeface="微软雅黑" panose="020B0503020204020204" pitchFamily="34" charset="-122"/>
                <a:ea typeface="微软雅黑" panose="020B0503020204020204" pitchFamily="34" charset="-122"/>
              </a:rPr>
              <a:t>万，</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公寓北站新增</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60</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万，沙井新增</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41</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900" dirty="0" smtClean="0">
                <a:solidFill>
                  <a:prstClr val="black"/>
                </a:solidFill>
                <a:latin typeface="微软雅黑" panose="020B0503020204020204" pitchFamily="34" charset="-122"/>
                <a:ea typeface="微软雅黑" panose="020B0503020204020204" pitchFamily="34" charset="-122"/>
              </a:rPr>
              <a:t>东湾旧改增加</a:t>
            </a:r>
            <a:r>
              <a:rPr lang="en-US" altLang="zh-CN" sz="900" dirty="0" smtClean="0">
                <a:solidFill>
                  <a:prstClr val="black"/>
                </a:solidFill>
                <a:latin typeface="微软雅黑" panose="020B0503020204020204" pitchFamily="34" charset="-122"/>
                <a:ea typeface="微软雅黑" panose="020B0503020204020204" pitchFamily="34" charset="-122"/>
              </a:rPr>
              <a:t>18</a:t>
            </a:r>
            <a:r>
              <a:rPr lang="zh-CN" altLang="en-US" sz="900" dirty="0" smtClean="0">
                <a:solidFill>
                  <a:prstClr val="black"/>
                </a:solidFill>
                <a:latin typeface="微软雅黑" panose="020B0503020204020204" pitchFamily="34" charset="-122"/>
                <a:ea typeface="微软雅黑" panose="020B0503020204020204" pitchFamily="34" charset="-122"/>
              </a:rPr>
              <a:t>万，现有口径</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昆山轻资产项目增加</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75</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万</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(25</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年</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5</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月招商</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，南京因京东五星退租增加</a:t>
            </a:r>
            <a:r>
              <a:rPr lang="en-US" altLang="zh-CN" sz="900" dirty="0" smtClean="0">
                <a:solidFill>
                  <a:prstClr val="black"/>
                </a:solidFill>
                <a:latin typeface="微软雅黑" panose="020B0503020204020204" pitchFamily="34" charset="-122"/>
                <a:ea typeface="微软雅黑" panose="020B0503020204020204" pitchFamily="34" charset="-122"/>
                <a:sym typeface="+mn-ea"/>
              </a:rPr>
              <a:t>63</a:t>
            </a:r>
            <a:r>
              <a:rPr lang="zh-CN" altLang="en-US" sz="900"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900" dirty="0" smtClean="0">
                <a:solidFill>
                  <a:prstClr val="black"/>
                </a:solidFill>
                <a:latin typeface="微软雅黑" panose="020B0503020204020204" pitchFamily="34" charset="-122"/>
                <a:ea typeface="微软雅黑" panose="020B0503020204020204" pitchFamily="34" charset="-122"/>
              </a:rPr>
              <a:t>成都因出租率提升增加</a:t>
            </a:r>
            <a:r>
              <a:rPr lang="en-US" altLang="zh-CN" sz="900" dirty="0" smtClean="0">
                <a:solidFill>
                  <a:prstClr val="black"/>
                </a:solidFill>
                <a:latin typeface="微软雅黑" panose="020B0503020204020204" pitchFamily="34" charset="-122"/>
                <a:ea typeface="微软雅黑" panose="020B0503020204020204" pitchFamily="34" charset="-122"/>
              </a:rPr>
              <a:t>57</a:t>
            </a:r>
            <a:r>
              <a:rPr lang="zh-CN" altLang="en-US" sz="900" dirty="0" smtClean="0">
                <a:solidFill>
                  <a:prstClr val="black"/>
                </a:solidFill>
                <a:latin typeface="微软雅黑" panose="020B0503020204020204" pitchFamily="34" charset="-122"/>
                <a:ea typeface="微软雅黑" panose="020B0503020204020204" pitchFamily="34" charset="-122"/>
              </a:rPr>
              <a:t>万；</a:t>
            </a:r>
            <a:endParaRPr lang="zh-CN" altLang="en-US" sz="900" dirty="0" smtClean="0">
              <a:solidFill>
                <a:prstClr val="black"/>
              </a:solidFill>
              <a:latin typeface="微软雅黑" panose="020B0503020204020204" pitchFamily="34" charset="-122"/>
              <a:ea typeface="微软雅黑" panose="020B0503020204020204" pitchFamily="34" charset="-122"/>
            </a:endParaRPr>
          </a:p>
          <a:p>
            <a:pPr>
              <a:defRPr/>
            </a:pPr>
            <a:r>
              <a:rPr lang="zh-CN" altLang="en-US" sz="900" dirty="0" smtClean="0">
                <a:solidFill>
                  <a:prstClr val="black"/>
                </a:solidFill>
                <a:latin typeface="微软雅黑" panose="020B0503020204020204" pitchFamily="34" charset="-122"/>
                <a:ea typeface="微软雅黑" panose="020B0503020204020204" pitchFamily="34" charset="-122"/>
              </a:rPr>
              <a:t>成本支出增加</a:t>
            </a:r>
            <a:r>
              <a:rPr lang="en-US" altLang="zh-CN" sz="900" dirty="0" smtClean="0">
                <a:solidFill>
                  <a:prstClr val="black"/>
                </a:solidFill>
                <a:latin typeface="微软雅黑" panose="020B0503020204020204" pitchFamily="34" charset="-122"/>
                <a:ea typeface="微软雅黑" panose="020B0503020204020204" pitchFamily="34" charset="-122"/>
              </a:rPr>
              <a:t>577</a:t>
            </a:r>
            <a:r>
              <a:rPr lang="zh-CN" altLang="en-US" sz="900" dirty="0" smtClean="0">
                <a:solidFill>
                  <a:prstClr val="black"/>
                </a:solidFill>
                <a:latin typeface="微软雅黑" panose="020B0503020204020204" pitchFamily="34" charset="-122"/>
                <a:ea typeface="微软雅黑" panose="020B0503020204020204" pitchFamily="34" charset="-122"/>
              </a:rPr>
              <a:t>万，现有酒店收入增加</a:t>
            </a:r>
            <a:r>
              <a:rPr lang="en-US" altLang="zh-CN" sz="900" dirty="0" smtClean="0">
                <a:solidFill>
                  <a:prstClr val="black"/>
                </a:solidFill>
                <a:latin typeface="微软雅黑" panose="020B0503020204020204" pitchFamily="34" charset="-122"/>
                <a:ea typeface="微软雅黑" panose="020B0503020204020204" pitchFamily="34" charset="-122"/>
              </a:rPr>
              <a:t>504</a:t>
            </a:r>
            <a:r>
              <a:rPr lang="zh-CN" altLang="en-US" sz="900" dirty="0" smtClean="0">
                <a:solidFill>
                  <a:prstClr val="black"/>
                </a:solidFill>
                <a:latin typeface="微软雅黑" panose="020B0503020204020204" pitchFamily="34" charset="-122"/>
                <a:ea typeface="微软雅黑" panose="020B0503020204020204" pitchFamily="34" charset="-122"/>
              </a:rPr>
              <a:t>万及上海吉因维保过期，相应成本增加</a:t>
            </a:r>
            <a:r>
              <a:rPr lang="en-US" altLang="zh-CN" sz="900" dirty="0" smtClean="0">
                <a:solidFill>
                  <a:prstClr val="black"/>
                </a:solidFill>
                <a:latin typeface="微软雅黑" panose="020B0503020204020204" pitchFamily="34" charset="-122"/>
                <a:ea typeface="微软雅黑" panose="020B0503020204020204" pitchFamily="34" charset="-122"/>
              </a:rPr>
              <a:t>224</a:t>
            </a:r>
            <a:r>
              <a:rPr lang="zh-CN" altLang="en-US" sz="900" dirty="0" smtClean="0">
                <a:solidFill>
                  <a:prstClr val="black"/>
                </a:solidFill>
                <a:latin typeface="微软雅黑" panose="020B0503020204020204" pitchFamily="34" charset="-122"/>
                <a:ea typeface="微软雅黑" panose="020B0503020204020204" pitchFamily="34" charset="-122"/>
              </a:rPr>
              <a:t>万，公寓北站新增</a:t>
            </a:r>
            <a:r>
              <a:rPr lang="en-US" altLang="zh-CN" sz="900" dirty="0" smtClean="0">
                <a:solidFill>
                  <a:prstClr val="black"/>
                </a:solidFill>
                <a:latin typeface="微软雅黑" panose="020B0503020204020204" pitchFamily="34" charset="-122"/>
                <a:ea typeface="微软雅黑" panose="020B0503020204020204" pitchFamily="34" charset="-122"/>
              </a:rPr>
              <a:t>236</a:t>
            </a:r>
            <a:r>
              <a:rPr lang="zh-CN" altLang="en-US" sz="900" dirty="0" smtClean="0">
                <a:solidFill>
                  <a:prstClr val="black"/>
                </a:solidFill>
                <a:latin typeface="微软雅黑" panose="020B0503020204020204" pitchFamily="34" charset="-122"/>
                <a:ea typeface="微软雅黑" panose="020B0503020204020204" pitchFamily="34" charset="-122"/>
              </a:rPr>
              <a:t>万；</a:t>
            </a:r>
            <a:endParaRPr lang="zh-CN" altLang="en-US" sz="900" dirty="0" smtClean="0">
              <a:solidFill>
                <a:prstClr val="black"/>
              </a:solidFill>
              <a:latin typeface="微软雅黑" panose="020B0503020204020204" pitchFamily="34" charset="-122"/>
              <a:ea typeface="微软雅黑" panose="020B0503020204020204" pitchFamily="34" charset="-122"/>
            </a:endParaRPr>
          </a:p>
          <a:p>
            <a:pPr>
              <a:defRPr/>
            </a:pPr>
            <a:r>
              <a:rPr lang="en-US" altLang="zh-CN" sz="900" dirty="0" smtClean="0">
                <a:solidFill>
                  <a:prstClr val="black"/>
                </a:solidFill>
                <a:latin typeface="微软雅黑" panose="020B0503020204020204" pitchFamily="34" charset="-122"/>
                <a:ea typeface="微软雅黑" panose="020B0503020204020204" pitchFamily="34" charset="-122"/>
              </a:rPr>
              <a:t>NOI8.6</a:t>
            </a:r>
            <a:r>
              <a:rPr lang="zh-CN" altLang="en-US" sz="900" dirty="0" smtClean="0">
                <a:solidFill>
                  <a:prstClr val="black"/>
                </a:solidFill>
                <a:latin typeface="微软雅黑" panose="020B0503020204020204" pitchFamily="34" charset="-122"/>
                <a:ea typeface="微软雅黑" panose="020B0503020204020204" pitchFamily="34" charset="-122"/>
              </a:rPr>
              <a:t>亿，同比下降</a:t>
            </a:r>
            <a:r>
              <a:rPr lang="en-US" altLang="zh-CN" sz="900" dirty="0" smtClean="0">
                <a:solidFill>
                  <a:prstClr val="black"/>
                </a:solidFill>
                <a:latin typeface="微软雅黑" panose="020B0503020204020204" pitchFamily="34" charset="-122"/>
                <a:ea typeface="微软雅黑" panose="020B0503020204020204" pitchFamily="34" charset="-122"/>
              </a:rPr>
              <a:t>6%</a:t>
            </a:r>
            <a:r>
              <a:rPr lang="zh-CN" altLang="en-US" sz="900" dirty="0" smtClean="0">
                <a:solidFill>
                  <a:prstClr val="black"/>
                </a:solidFill>
                <a:latin typeface="微软雅黑" panose="020B0503020204020204" pitchFamily="34" charset="-122"/>
                <a:ea typeface="微软雅黑" panose="020B0503020204020204" pitchFamily="34" charset="-122"/>
              </a:rPr>
              <a:t>，其中：租赁板块</a:t>
            </a:r>
            <a:r>
              <a:rPr lang="en-US" altLang="zh-CN" sz="900" dirty="0" smtClean="0">
                <a:solidFill>
                  <a:prstClr val="black"/>
                </a:solidFill>
                <a:latin typeface="微软雅黑" panose="020B0503020204020204" pitchFamily="34" charset="-122"/>
                <a:ea typeface="微软雅黑" panose="020B0503020204020204" pitchFamily="34" charset="-122"/>
              </a:rPr>
              <a:t>6.7</a:t>
            </a:r>
            <a:r>
              <a:rPr lang="zh-CN" altLang="en-US" sz="900" dirty="0" smtClean="0">
                <a:solidFill>
                  <a:prstClr val="black"/>
                </a:solidFill>
                <a:latin typeface="微软雅黑" panose="020B0503020204020204" pitchFamily="34" charset="-122"/>
                <a:ea typeface="微软雅黑" panose="020B0503020204020204" pitchFamily="34" charset="-122"/>
              </a:rPr>
              <a:t>亿，占比</a:t>
            </a:r>
            <a:r>
              <a:rPr lang="en-US" altLang="zh-CN" sz="900" dirty="0" smtClean="0">
                <a:solidFill>
                  <a:prstClr val="black"/>
                </a:solidFill>
                <a:latin typeface="微软雅黑" panose="020B0503020204020204" pitchFamily="34" charset="-122"/>
                <a:ea typeface="微软雅黑" panose="020B0503020204020204" pitchFamily="34" charset="-122"/>
              </a:rPr>
              <a:t>78%</a:t>
            </a:r>
            <a:r>
              <a:rPr lang="zh-CN" altLang="en-US" sz="900" dirty="0" smtClean="0">
                <a:solidFill>
                  <a:prstClr val="black"/>
                </a:solidFill>
                <a:latin typeface="微软雅黑" panose="020B0503020204020204" pitchFamily="34" charset="-122"/>
                <a:ea typeface="微软雅黑" panose="020B0503020204020204" pitchFamily="34" charset="-122"/>
              </a:rPr>
              <a:t>，酒店</a:t>
            </a:r>
            <a:r>
              <a:rPr lang="en-US" altLang="zh-CN" sz="900" dirty="0" smtClean="0">
                <a:solidFill>
                  <a:prstClr val="black"/>
                </a:solidFill>
                <a:latin typeface="微软雅黑" panose="020B0503020204020204" pitchFamily="34" charset="-122"/>
                <a:ea typeface="微软雅黑" panose="020B0503020204020204" pitchFamily="34" charset="-122"/>
              </a:rPr>
              <a:t>0.34</a:t>
            </a:r>
            <a:r>
              <a:rPr lang="zh-CN" altLang="en-US" sz="900" dirty="0" smtClean="0">
                <a:solidFill>
                  <a:prstClr val="black"/>
                </a:solidFill>
                <a:latin typeface="微软雅黑" panose="020B0503020204020204" pitchFamily="34" charset="-122"/>
                <a:ea typeface="微软雅黑" panose="020B0503020204020204" pitchFamily="34" charset="-122"/>
              </a:rPr>
              <a:t>亿，占比</a:t>
            </a:r>
            <a:r>
              <a:rPr lang="en-US" altLang="zh-CN" sz="900" dirty="0" smtClean="0">
                <a:solidFill>
                  <a:prstClr val="black"/>
                </a:solidFill>
                <a:latin typeface="微软雅黑" panose="020B0503020204020204" pitchFamily="34" charset="-122"/>
                <a:ea typeface="微软雅黑" panose="020B0503020204020204" pitchFamily="34" charset="-122"/>
              </a:rPr>
              <a:t>4%</a:t>
            </a:r>
            <a:r>
              <a:rPr lang="zh-CN" altLang="en-US" sz="900" dirty="0" smtClean="0">
                <a:solidFill>
                  <a:prstClr val="black"/>
                </a:solidFill>
                <a:latin typeface="微软雅黑" panose="020B0503020204020204" pitchFamily="34" charset="-122"/>
                <a:ea typeface="微软雅黑" panose="020B0503020204020204" pitchFamily="34" charset="-122"/>
              </a:rPr>
              <a:t>，公寓</a:t>
            </a:r>
            <a:r>
              <a:rPr lang="en-US" altLang="zh-CN" sz="900" dirty="0" smtClean="0">
                <a:solidFill>
                  <a:prstClr val="black"/>
                </a:solidFill>
                <a:latin typeface="微软雅黑" panose="020B0503020204020204" pitchFamily="34" charset="-122"/>
                <a:ea typeface="微软雅黑" panose="020B0503020204020204" pitchFamily="34" charset="-122"/>
              </a:rPr>
              <a:t>1.53</a:t>
            </a:r>
            <a:r>
              <a:rPr lang="zh-CN" altLang="en-US" sz="900" dirty="0" smtClean="0">
                <a:solidFill>
                  <a:prstClr val="black"/>
                </a:solidFill>
                <a:latin typeface="微软雅黑" panose="020B0503020204020204" pitchFamily="34" charset="-122"/>
                <a:ea typeface="微软雅黑" panose="020B0503020204020204" pitchFamily="34" charset="-122"/>
              </a:rPr>
              <a:t>亿，占比</a:t>
            </a:r>
            <a:r>
              <a:rPr lang="en-US" altLang="zh-CN" sz="900" dirty="0" smtClean="0">
                <a:solidFill>
                  <a:prstClr val="black"/>
                </a:solidFill>
                <a:latin typeface="微软雅黑" panose="020B0503020204020204" pitchFamily="34" charset="-122"/>
                <a:ea typeface="微软雅黑" panose="020B0503020204020204" pitchFamily="34" charset="-122"/>
              </a:rPr>
              <a:t>18%</a:t>
            </a:r>
            <a:r>
              <a:rPr lang="zh-CN" altLang="en-US" sz="900" dirty="0" smtClean="0">
                <a:solidFill>
                  <a:prstClr val="black"/>
                </a:solidFill>
                <a:latin typeface="微软雅黑" panose="020B0503020204020204" pitchFamily="34" charset="-122"/>
                <a:ea typeface="微软雅黑" panose="020B0503020204020204" pitchFamily="34" charset="-122"/>
              </a:rPr>
              <a:t>。</a:t>
            </a:r>
            <a:endParaRPr lang="zh-CN" altLang="en-US" sz="900" dirty="0" smtClean="0">
              <a:solidFill>
                <a:prstClr val="black"/>
              </a:solidFill>
              <a:latin typeface="微软雅黑" panose="020B0503020204020204" pitchFamily="34" charset="-122"/>
              <a:ea typeface="微软雅黑" panose="020B0503020204020204" pitchFamily="34" charset="-122"/>
            </a:endParaRPr>
          </a:p>
        </p:txBody>
      </p:sp>
      <p:graphicFrame>
        <p:nvGraphicFramePr>
          <p:cNvPr id="5" name="表格 4"/>
          <p:cNvGraphicFramePr>
            <a:graphicFrameLocks noGrp="1"/>
          </p:cNvGraphicFramePr>
          <p:nvPr>
            <p:custDataLst>
              <p:tags r:id="rId2"/>
            </p:custDataLst>
          </p:nvPr>
        </p:nvGraphicFramePr>
        <p:xfrm>
          <a:off x="492760" y="453390"/>
          <a:ext cx="8936355" cy="4025265"/>
        </p:xfrm>
        <a:graphic>
          <a:graphicData uri="http://schemas.openxmlformats.org/drawingml/2006/table">
            <a:tbl>
              <a:tblPr/>
              <a:tblGrid>
                <a:gridCol w="1369060"/>
                <a:gridCol w="574675"/>
                <a:gridCol w="591185"/>
                <a:gridCol w="546100"/>
                <a:gridCol w="473075"/>
                <a:gridCol w="473075"/>
                <a:gridCol w="538480"/>
                <a:gridCol w="546100"/>
                <a:gridCol w="589280"/>
                <a:gridCol w="502920"/>
                <a:gridCol w="547370"/>
                <a:gridCol w="545465"/>
                <a:gridCol w="546735"/>
                <a:gridCol w="546735"/>
                <a:gridCol w="546100"/>
              </a:tblGrid>
              <a:tr h="146685">
                <a:tc rowSpan="3">
                  <a:txBody>
                    <a:bodyPr/>
                    <a:lstStyle/>
                    <a:p>
                      <a:pPr algn="ctr" fontAlgn="ctr"/>
                      <a:r>
                        <a:rPr lang="zh-CN" altLang="en-US" sz="800" b="1" i="0" u="none" strike="noStrike" dirty="0">
                          <a:solidFill>
                            <a:srgbClr val="FFFFFF"/>
                          </a:solidFill>
                          <a:effectLst/>
                          <a:latin typeface="微软雅黑" panose="020B0503020204020204" pitchFamily="34" charset="-122"/>
                          <a:ea typeface="微软雅黑" panose="020B0503020204020204" pitchFamily="34" charset="-122"/>
                        </a:rPr>
                        <a:t>经营指标</a:t>
                      </a:r>
                      <a:endParaRPr lang="zh-CN" altLang="en-US" sz="800" b="1" i="0" u="none" strike="noStrike" dirty="0">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5">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产业运营合计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tc>
                <a:tc hMerge="1">
                  <a:tcPr/>
                </a:tc>
                <a:tc hMerge="1">
                  <a:tcPr/>
                </a:tc>
                <a:tc hMerge="1">
                  <a:tcPr/>
                </a:tc>
                <a:tc gridSpan="3">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租赁合计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gridSpan="3">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酒店合计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gridSpan="3">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公寓合计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r>
              <a:tr h="139700">
                <a:tc vMerge="1">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对比预计增长</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p>
                      <a:pPr algn="ctr" fontAlgn="ctr">
                        <a:buNone/>
                      </a:pPr>
                      <a:r>
                        <a:rPr lang="zh-CN" altLang="en-US" sz="800" b="1" i="0">
                          <a:solidFill>
                            <a:srgbClr val="FFFFFF"/>
                          </a:solidFill>
                          <a:latin typeface="微软雅黑" panose="020B0503020204020204" pitchFamily="34" charset="-122"/>
                          <a:ea typeface="微软雅黑" panose="020B0503020204020204" pitchFamily="34" charset="-122"/>
                        </a:rPr>
                        <a:t>对比预算增长</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r>
              <a:tr h="169545">
                <a:tc vMerge="1">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lnR w="6350" cap="flat" cmpd="sng" algn="ctr">
                      <a:solidFill>
                        <a:srgbClr val="B8CCE4"/>
                      </a:solidFill>
                      <a:prstDash val="solid"/>
                      <a:round/>
                      <a:headEnd type="none" w="med" len="med"/>
                      <a:tailEnd type="none" w="med" len="med"/>
                    </a:lnR>
                    <a:lnB w="6350" cap="flat" cmpd="sng" algn="ctr">
                      <a:solidFill>
                        <a:srgbClr val="B8CCE4"/>
                      </a:solidFill>
                      <a:prstDash val="solid"/>
                      <a:round/>
                      <a:headEnd type="none" w="med" len="med"/>
                      <a:tailEnd type="none" w="med" len="med"/>
                    </a:lnB>
                  </a:tcPr>
                </a:tc>
                <a:tc vMerge="1">
                  <a:tcPr>
                    <a:lnR w="6350" cap="flat" cmpd="sng" algn="ctr">
                      <a:solidFill>
                        <a:srgbClr val="B8CCE4"/>
                      </a:solidFill>
                      <a:prstDash val="solid"/>
                      <a:round/>
                      <a:headEnd type="none" w="med" len="med"/>
                      <a:tailEnd type="none" w="med" len="med"/>
                    </a:lnR>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058" marR="6058" marT="6058"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r>
              <a:tr h="165100">
                <a:tc>
                  <a:txBody>
                    <a:bodyPr/>
                    <a:p>
                      <a:pPr algn="l" fontAlgn="ctr"/>
                      <a:r>
                        <a:rPr lang="zh-CN" altLang="en-US" sz="800" b="0" i="0">
                          <a:solidFill>
                            <a:schemeClr val="tx1"/>
                          </a:solidFill>
                          <a:latin typeface="微软雅黑" panose="020B0503020204020204" pitchFamily="34" charset="-122"/>
                          <a:ea typeface="微软雅黑" panose="020B0503020204020204" pitchFamily="34" charset="-122"/>
                        </a:rPr>
                        <a:t>经营收入（不含税）</a:t>
                      </a:r>
                      <a:endParaRPr lang="zh-CN" altLang="en-US"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159,684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160,114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158,172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-1%</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-1%</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93,372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93,148</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93,195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45,803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45,300</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44,863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20,509</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21,665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20,113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5735">
                <a:tc>
                  <a:txBody>
                    <a:bodyPr/>
                    <a:lstStyle/>
                    <a:p>
                      <a:pPr algn="l" fontAlgn="ctr"/>
                      <a:r>
                        <a:rPr lang="zh-CN" altLang="en-US" sz="800" b="1" i="0">
                          <a:solidFill>
                            <a:srgbClr val="FF0000"/>
                          </a:solidFill>
                          <a:latin typeface="微软雅黑" panose="020B0503020204020204" pitchFamily="34" charset="-122"/>
                          <a:ea typeface="微软雅黑" panose="020B0503020204020204" pitchFamily="34" charset="-122"/>
                        </a:rPr>
                        <a:t>经营收入（含税）</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171,854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172,276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170,215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-1.2%</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-1%</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101,374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101,127</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101,208</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48,596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48,066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47,584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21,885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23,083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21,423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r>
              <a:tr h="129540">
                <a:tc>
                  <a:txBody>
                    <a:bodyPr/>
                    <a:lstStyle/>
                    <a:p>
                      <a:pPr algn="l" fontAlgn="ctr"/>
                      <a:r>
                        <a:rPr lang="zh-CN" altLang="en-US" sz="800" b="1" i="0">
                          <a:solidFill>
                            <a:srgbClr val="000000"/>
                          </a:solidFill>
                          <a:latin typeface="微软雅黑" panose="020B0503020204020204" pitchFamily="34" charset="-122"/>
                          <a:ea typeface="微软雅黑" panose="020B0503020204020204" pitchFamily="34" charset="-122"/>
                        </a:rPr>
                        <a:t>成本费用</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64,704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62,382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63,649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19,520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19,315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19,959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41,925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39,891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40,002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3,175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3,688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1" i="0">
                          <a:solidFill>
                            <a:srgbClr val="000000"/>
                          </a:solidFill>
                          <a:latin typeface="微软雅黑" panose="020B0503020204020204" pitchFamily="34" charset="-122"/>
                          <a:ea typeface="微软雅黑" panose="020B0503020204020204" pitchFamily="34" charset="-122"/>
                        </a:rPr>
                        <a:t>1</a:t>
                      </a:r>
                      <a:r>
                        <a:rPr lang="zh-CN" altLang="en-US" sz="800" b="1" i="0">
                          <a:solidFill>
                            <a:srgbClr val="000000"/>
                          </a:solidFill>
                          <a:latin typeface="微软雅黑" panose="020B0503020204020204" pitchFamily="34" charset="-122"/>
                          <a:ea typeface="微软雅黑" panose="020B0503020204020204" pitchFamily="34" charset="-122"/>
                        </a:rPr>
                        <a:t>、管理费用</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29,896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29,261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29,751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7,798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8,344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20,967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20,318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20,178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1,145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1,228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人工费用</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23,951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23,614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24,288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3%</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1%</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5,915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6,618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17,105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16,561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16,579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998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非人工费用</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5,945</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5,646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5,463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-3%</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-8%</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1,929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1,743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1,727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3,862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3,757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3,600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154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147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137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1" i="0">
                          <a:solidFill>
                            <a:srgbClr val="000000"/>
                          </a:solidFill>
                          <a:latin typeface="微软雅黑" panose="020B0503020204020204" pitchFamily="34" charset="-122"/>
                          <a:ea typeface="微软雅黑" panose="020B0503020204020204" pitchFamily="34" charset="-122"/>
                        </a:rPr>
                        <a:t>2</a:t>
                      </a:r>
                      <a:r>
                        <a:rPr lang="zh-CN" altLang="en-US" sz="800" b="1" i="0">
                          <a:solidFill>
                            <a:srgbClr val="000000"/>
                          </a:solidFill>
                          <a:latin typeface="微软雅黑" panose="020B0503020204020204" pitchFamily="34" charset="-122"/>
                          <a:ea typeface="微软雅黑" panose="020B0503020204020204" pitchFamily="34" charset="-122"/>
                        </a:rPr>
                        <a:t>、物业费用</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4,259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4,546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4,450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4,230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4,517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4,421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维保费</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518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-8%</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-8%</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518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物业管理费</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3,042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2,981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2,995</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0%</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-2%</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3,042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2,981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2,995</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物业补亏额</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597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951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900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-5%</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51%</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922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871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空置费</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-27%</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-34%</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1" i="0">
                          <a:solidFill>
                            <a:srgbClr val="000000"/>
                          </a:solidFill>
                          <a:latin typeface="微软雅黑" panose="020B0503020204020204" pitchFamily="34" charset="-122"/>
                          <a:ea typeface="微软雅黑" panose="020B0503020204020204" pitchFamily="34" charset="-122"/>
                        </a:rPr>
                        <a:t>3</a:t>
                      </a:r>
                      <a:r>
                        <a:rPr lang="zh-CN" altLang="en-US" sz="800" b="1" i="0">
                          <a:solidFill>
                            <a:srgbClr val="000000"/>
                          </a:solidFill>
                          <a:latin typeface="微软雅黑" panose="020B0503020204020204" pitchFamily="34" charset="-122"/>
                          <a:ea typeface="微软雅黑" panose="020B0503020204020204" pitchFamily="34" charset="-122"/>
                        </a:rPr>
                        <a:t>、营销费用</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7,463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7,235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7,524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5,452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5,392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5,571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1,483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1,494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推广促销类费用</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2,320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2,142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2,268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6%</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-2%</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1,507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1,439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1,508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688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599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632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124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103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128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佣金费用</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4,518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4,452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4,474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1%</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-1%</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3,547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3,574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3,548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698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622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596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273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255</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330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案场物业费</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133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180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40%</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35%</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133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180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赠送物业费</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p>
                      <a:pPr algn="l" fontAlgn="ctr"/>
                      <a:r>
                        <a:rPr lang="en-US" altLang="zh-CN" sz="800" b="0" i="0">
                          <a:solidFill>
                            <a:srgbClr val="002060"/>
                          </a:solidFill>
                          <a:latin typeface="微软雅黑" panose="020B0503020204020204" pitchFamily="34" charset="-122"/>
                          <a:ea typeface="微软雅黑" panose="020B0503020204020204" pitchFamily="34" charset="-122"/>
                        </a:rPr>
                        <a:t>        </a:t>
                      </a:r>
                      <a:r>
                        <a:rPr lang="zh-CN" altLang="en-US" sz="800" b="0" i="0">
                          <a:solidFill>
                            <a:srgbClr val="002060"/>
                          </a:solidFill>
                          <a:latin typeface="微软雅黑" panose="020B0503020204020204" pitchFamily="34" charset="-122"/>
                          <a:ea typeface="微软雅黑" panose="020B0503020204020204" pitchFamily="34" charset="-122"/>
                        </a:rPr>
                        <a:t>其他营销费</a:t>
                      </a:r>
                      <a:endParaRPr lang="zh-CN" altLang="en-US"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491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513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544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6%</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11%</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264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250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277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226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262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266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1" i="0">
                          <a:solidFill>
                            <a:srgbClr val="000000"/>
                          </a:solidFill>
                          <a:latin typeface="微软雅黑" panose="020B0503020204020204" pitchFamily="34" charset="-122"/>
                          <a:ea typeface="微软雅黑" panose="020B0503020204020204" pitchFamily="34" charset="-122"/>
                        </a:rPr>
                        <a:t>4</a:t>
                      </a:r>
                      <a:r>
                        <a:rPr lang="zh-CN" altLang="en-US" sz="800" b="1" i="0">
                          <a:solidFill>
                            <a:srgbClr val="000000"/>
                          </a:solidFill>
                          <a:latin typeface="微软雅黑" panose="020B0503020204020204" pitchFamily="34" charset="-122"/>
                          <a:ea typeface="微软雅黑" panose="020B0503020204020204" pitchFamily="34" charset="-122"/>
                        </a:rPr>
                        <a:t>、成本支出</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22,021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20,655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21,232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19,191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17,981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18,200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1,619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1,583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1,920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0" i="0">
                          <a:solidFill>
                            <a:srgbClr val="000000"/>
                          </a:solidFill>
                          <a:latin typeface="微软雅黑" panose="020B0503020204020204" pitchFamily="34" charset="-122"/>
                          <a:ea typeface="微软雅黑" panose="020B0503020204020204" pitchFamily="34" charset="-122"/>
                        </a:rPr>
                        <a:t>5</a:t>
                      </a:r>
                      <a:r>
                        <a:rPr lang="zh-CN" altLang="en-US" sz="800" b="0" i="0">
                          <a:solidFill>
                            <a:srgbClr val="000000"/>
                          </a:solidFill>
                          <a:latin typeface="微软雅黑" panose="020B0503020204020204" pitchFamily="34" charset="-122"/>
                          <a:ea typeface="微软雅黑" panose="020B0503020204020204" pitchFamily="34" charset="-122"/>
                        </a:rPr>
                        <a:t>、税金及附加</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1,065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684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693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784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517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1" i="0">
                          <a:solidFill>
                            <a:srgbClr val="FF0000"/>
                          </a:solidFill>
                          <a:latin typeface="微软雅黑" panose="020B0503020204020204" pitchFamily="34" charset="-122"/>
                          <a:ea typeface="微软雅黑" panose="020B0503020204020204" pitchFamily="34" charset="-122"/>
                        </a:rPr>
                        <a:t>GOP</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94,981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97,732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94,523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-3%</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0%</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73,852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73,833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73,236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3,878</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5,409</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4,861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17,251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18,490</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16,425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29540">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房产税及土地使用税</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6,322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6,293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8,805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3,680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3,651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6,163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1,478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1,478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1,478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1,163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1,163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1,164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en-US" altLang="zh-CN" sz="800" b="1" i="0">
                          <a:solidFill>
                            <a:srgbClr val="FF0000"/>
                          </a:solidFill>
                          <a:latin typeface="微软雅黑" panose="020B0503020204020204" pitchFamily="34" charset="-122"/>
                          <a:ea typeface="微软雅黑" panose="020B0503020204020204" pitchFamily="34" charset="-122"/>
                        </a:rPr>
                        <a:t>NOI</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88,659</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91,440</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85,718</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-6%</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-3%</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70,171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70,182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67,074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2,400</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3,931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3,383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16,087</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17,327</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15,261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r>
              <a:tr h="129540">
                <a:tc>
                  <a:txBody>
                    <a:bodyPr/>
                    <a:lstStyle/>
                    <a:p>
                      <a:pPr algn="l" fontAlgn="ctr"/>
                      <a:r>
                        <a:rPr lang="zh-CN" altLang="en-US" sz="800" b="0" i="0">
                          <a:solidFill>
                            <a:schemeClr val="tx1"/>
                          </a:solidFill>
                          <a:latin typeface="微软雅黑" panose="020B0503020204020204" pitchFamily="34" charset="-122"/>
                          <a:ea typeface="微软雅黑" panose="020B0503020204020204" pitchFamily="34" charset="-122"/>
                        </a:rPr>
                        <a:t>资产管理服务费</a:t>
                      </a:r>
                      <a:endParaRPr lang="zh-CN" altLang="en-US"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-272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-395</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-124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-1,257</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-1,329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-1,122</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679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631</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688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306</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303</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310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9540">
                <a:tc>
                  <a:txBody>
                    <a:bodyPr/>
                    <a:lstStyle/>
                    <a:p>
                      <a:pPr algn="l" fontAlgn="ctr"/>
                      <a:r>
                        <a:rPr lang="zh-CN" altLang="en-US" sz="800" b="0" i="0">
                          <a:solidFill>
                            <a:schemeClr val="tx1"/>
                          </a:solidFill>
                          <a:latin typeface="微软雅黑" panose="020B0503020204020204" pitchFamily="34" charset="-122"/>
                          <a:ea typeface="微软雅黑" panose="020B0503020204020204" pitchFamily="34" charset="-122"/>
                        </a:rPr>
                        <a:t>少数股东权益</a:t>
                      </a:r>
                      <a:endParaRPr lang="zh-CN" altLang="en-US"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7180%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29540">
                <a:tc>
                  <a:txBody>
                    <a:bodyPr/>
                    <a:p>
                      <a:pPr algn="l" fontAlgn="ctr"/>
                      <a:r>
                        <a:rPr lang="en-US" altLang="zh-CN" sz="800" b="1" i="0">
                          <a:solidFill>
                            <a:schemeClr val="tx1"/>
                          </a:solidFill>
                          <a:latin typeface="微软雅黑" panose="020B0503020204020204" pitchFamily="34" charset="-122"/>
                          <a:ea typeface="微软雅黑" panose="020B0503020204020204" pitchFamily="34" charset="-122"/>
                        </a:rPr>
                        <a:t>NPI</a:t>
                      </a:r>
                      <a:endParaRPr lang="en-US" altLang="zh-CN" sz="800" b="1"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88,930</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91,801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85,776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-7%</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-4%</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71,427</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71,478</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68,129</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1,722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3,300</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2,695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15,782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17,023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14,951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29540">
                <a:tc>
                  <a:txBody>
                    <a:bodyPr/>
                    <a:p>
                      <a:pPr algn="l" fontAlgn="ctr"/>
                      <a:r>
                        <a:rPr lang="zh-CN" altLang="en-US" sz="800" b="0" i="0">
                          <a:solidFill>
                            <a:schemeClr val="tx1"/>
                          </a:solidFill>
                          <a:latin typeface="微软雅黑" panose="020B0503020204020204" pitchFamily="34" charset="-122"/>
                          <a:ea typeface="微软雅黑" panose="020B0503020204020204" pitchFamily="34" charset="-122"/>
                        </a:rPr>
                        <a:t>整租成本</a:t>
                      </a:r>
                      <a:endParaRPr lang="zh-CN" altLang="en-US"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4,358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4,358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4,429</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2%</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2%</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3,534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3,534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3,588</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824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824</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840</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2060"/>
                          </a:solidFill>
                          <a:latin typeface="微软雅黑" panose="020B0503020204020204" pitchFamily="34" charset="-122"/>
                          <a:ea typeface="微软雅黑" panose="020B0503020204020204" pitchFamily="34" charset="-122"/>
                        </a:rPr>
                        <a:t> </a:t>
                      </a:r>
                      <a:r>
                        <a:rPr lang="en-US" altLang="zh-CN" sz="800" b="0" i="0">
                          <a:solidFill>
                            <a:srgbClr val="002060"/>
                          </a:solidFill>
                          <a:latin typeface="微软雅黑" panose="020B0503020204020204" pitchFamily="34" charset="-122"/>
                          <a:ea typeface="微软雅黑" panose="020B0503020204020204" pitchFamily="34" charset="-122"/>
                        </a:rPr>
                        <a:t>-</a:t>
                      </a:r>
                      <a:r>
                        <a:rPr lang="en-US" altLang="zh-CN" sz="800" b="0" i="0">
                          <a:solidFill>
                            <a:srgbClr val="002060"/>
                          </a:solidFill>
                          <a:latin typeface="微软雅黑" panose="020B0503020204020204" pitchFamily="34" charset="-122"/>
                          <a:ea typeface="微软雅黑" panose="020B0503020204020204" pitchFamily="34" charset="-122"/>
                        </a:rPr>
                        <a:t> </a:t>
                      </a:r>
                      <a:endParaRPr lang="en-US" altLang="zh-CN" sz="800" b="0"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29540">
                <a:tc>
                  <a:txBody>
                    <a:bodyPr/>
                    <a:lstStyle/>
                    <a:p>
                      <a:pPr algn="l" fontAlgn="ctr"/>
                      <a:r>
                        <a:rPr lang="en-US" altLang="zh-CN" sz="800" b="1">
                          <a:solidFill>
                            <a:srgbClr val="000000"/>
                          </a:solidFill>
                          <a:latin typeface="微软雅黑" panose="020B0503020204020204" pitchFamily="34" charset="-122"/>
                          <a:ea typeface="微软雅黑" panose="020B0503020204020204" pitchFamily="34" charset="-122"/>
                          <a:sym typeface="+mn-ea"/>
                        </a:rPr>
                        <a:t>EBITDA</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84,573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87,443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81,347</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-7%</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-4%</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67,893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67,944</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64,541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898</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2,476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1,855</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15,782</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17,023</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14,951</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r>
            </a:tbl>
          </a:graphicData>
        </a:graphic>
      </p:graphicFrame>
      <p:graphicFrame>
        <p:nvGraphicFramePr>
          <p:cNvPr id="4" name="对象 3">
            <a:hlinkClick r:id="" action="ppaction://ole?verb="/>
          </p:cNvPr>
          <p:cNvGraphicFramePr>
            <a:graphicFrameLocks noChangeAspect="1"/>
          </p:cNvGraphicFramePr>
          <p:nvPr/>
        </p:nvGraphicFramePr>
        <p:xfrm>
          <a:off x="8684260" y="5156835"/>
          <a:ext cx="501015" cy="412750"/>
        </p:xfrm>
        <a:graphic>
          <a:graphicData uri="http://schemas.openxmlformats.org/presentationml/2006/ole">
            <mc:AlternateContent xmlns:mc="http://schemas.openxmlformats.org/markup-compatibility/2006">
              <mc:Choice xmlns:v="urn:schemas-microsoft-com:vml" Requires="v">
                <p:oleObj spid="_x0000_s1026" name="" showAsIcon="1" r:id="rId3" imgW="971550" imgH="800100" progId="Excel.Sheet.12">
                  <p:embed/>
                </p:oleObj>
              </mc:Choice>
              <mc:Fallback>
                <p:oleObj name="" showAsIcon="1" r:id="rId3" imgW="971550" imgH="800100" progId="Excel.Sheet.12">
                  <p:embed/>
                  <p:pic>
                    <p:nvPicPr>
                      <p:cNvPr id="0" name="图片 1025"/>
                      <p:cNvPicPr/>
                      <p:nvPr/>
                    </p:nvPicPr>
                    <p:blipFill>
                      <a:blip r:embed="rId4"/>
                      <a:stretch>
                        <a:fillRect/>
                      </a:stretch>
                    </p:blipFill>
                    <p:spPr>
                      <a:xfrm>
                        <a:off x="8684260" y="5156835"/>
                        <a:ext cx="501015" cy="412750"/>
                      </a:xfrm>
                      <a:prstGeom prst="rect">
                        <a:avLst/>
                      </a:prstGeom>
                    </p:spPr>
                  </p:pic>
                </p:oleObj>
              </mc:Fallback>
            </mc:AlternateContent>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487" y="21624"/>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rPr>
              <a:t>租赁预算情况</a:t>
            </a:r>
            <a:endParaRPr kumimoji="0" lang="zh-CN" altLang="en-US" sz="1800" b="1" i="0" u="none" strike="noStrike" kern="1200" cap="none" spc="-41" normalizeH="0" baseline="0" noProof="0" dirty="0" smtClean="0">
              <a:ln>
                <a:noFill/>
              </a:ln>
              <a:solidFill>
                <a:srgbClr val="002060"/>
              </a:solidFill>
              <a:effectLst/>
              <a:uLnTx/>
              <a:uFillTx/>
            </a:endParaRPr>
          </a:p>
        </p:txBody>
      </p:sp>
      <p:sp>
        <p:nvSpPr>
          <p:cNvPr id="8" name="矩形 7"/>
          <p:cNvSpPr/>
          <p:nvPr/>
        </p:nvSpPr>
        <p:spPr>
          <a:xfrm>
            <a:off x="132715" y="4337050"/>
            <a:ext cx="9845675" cy="1228725"/>
          </a:xfrm>
          <a:prstGeom prst="rect">
            <a:avLst/>
          </a:prstGeom>
        </p:spPr>
        <p:txBody>
          <a:bodyPr wrap="square">
            <a:noAutofit/>
          </a:bodyPr>
          <a:lstStyle/>
          <a:p>
            <a:pPr>
              <a:defRPr/>
            </a:pP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收入预算</a:t>
            </a:r>
            <a:r>
              <a:rPr lang="en-US" altLang="zh-CN"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101,208</a:t>
            </a:r>
            <a:r>
              <a:rPr lang="zh-CN" altLang="en-US"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万</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，较预计增加</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81</a:t>
            </a:r>
            <a:r>
              <a:rPr lang="zh-CN" altLang="en-US"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万</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，增幅</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0.1</a:t>
            </a:r>
            <a:r>
              <a:rPr lang="en-US" altLang="zh-CN"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；成本费用较预计增加</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644</a:t>
            </a:r>
            <a:r>
              <a:rPr lang="zh-CN" altLang="en-US"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万</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NOI</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较预计减少</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3,108</a:t>
            </a:r>
            <a:r>
              <a:rPr lang="zh-CN" altLang="en-US"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万</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，剔除双塔房土税下降</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555</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万，降幅</a:t>
            </a:r>
            <a:r>
              <a:rPr lang="en-US" altLang="zh-CN"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0.8</a:t>
            </a:r>
            <a:r>
              <a:rPr lang="en-US" altLang="zh-CN"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a:t>
            </a:r>
            <a:r>
              <a:rPr lang="zh-CN" altLang="en-US"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，具体</a:t>
            </a:r>
            <a:r>
              <a:rPr lang="zh-CN" altLang="en-US" sz="900" b="1" dirty="0">
                <a:solidFill>
                  <a:srgbClr val="C00000"/>
                </a:solidFill>
                <a:highlight>
                  <a:srgbClr val="000000">
                    <a:alpha val="0"/>
                  </a:srgbClr>
                </a:highlight>
                <a:latin typeface="微软雅黑" panose="020B0503020204020204" pitchFamily="34" charset="-122"/>
                <a:ea typeface="微软雅黑" panose="020B0503020204020204" pitchFamily="34" charset="-122"/>
              </a:rPr>
              <a:t>如下</a:t>
            </a:r>
            <a:r>
              <a:rPr lang="zh-CN" altLang="en-US"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rPr>
              <a:t>：</a:t>
            </a:r>
            <a:endParaRPr lang="en-US" altLang="zh-CN" sz="900" b="1" dirty="0" smtClean="0">
              <a:solidFill>
                <a:srgbClr val="C00000"/>
              </a:solidFill>
              <a:highlight>
                <a:srgbClr val="000000">
                  <a:alpha val="0"/>
                </a:srgbClr>
              </a:highlight>
              <a:latin typeface="微软雅黑" panose="020B0503020204020204" pitchFamily="34" charset="-122"/>
              <a:ea typeface="微软雅黑" panose="020B0503020204020204" pitchFamily="34" charset="-122"/>
            </a:endParaRPr>
          </a:p>
          <a:p>
            <a:pPr>
              <a:defRPr/>
            </a:pPr>
            <a:r>
              <a:rPr lang="zh-CN" altLang="en-US" sz="800" b="1" dirty="0">
                <a:latin typeface="微软雅黑" panose="020B0503020204020204" pitchFamily="34" charset="-122"/>
                <a:ea typeface="微软雅黑" panose="020B0503020204020204" pitchFamily="34" charset="-122"/>
                <a:sym typeface="+mn-ea"/>
              </a:rPr>
              <a:t>租赁</a:t>
            </a:r>
            <a:r>
              <a:rPr lang="en-US" altLang="zh-CN" sz="800" b="1" dirty="0">
                <a:latin typeface="微软雅黑" panose="020B0503020204020204" pitchFamily="34" charset="-122"/>
                <a:ea typeface="微软雅黑" panose="020B0503020204020204" pitchFamily="34" charset="-122"/>
                <a:sym typeface="+mn-ea"/>
              </a:rPr>
              <a:t>-</a:t>
            </a:r>
            <a:r>
              <a:rPr lang="zh-CN" altLang="en-US" sz="800" b="1" dirty="0" smtClean="0">
                <a:latin typeface="微软雅黑" panose="020B0503020204020204" pitchFamily="34" charset="-122"/>
                <a:ea typeface="微软雅黑" panose="020B0503020204020204" pitchFamily="34" charset="-122"/>
              </a:rPr>
              <a:t>南京：收入减少</a:t>
            </a:r>
            <a:r>
              <a:rPr lang="en-US" altLang="zh-CN" sz="800" b="1" dirty="0" smtClean="0">
                <a:latin typeface="微软雅黑" panose="020B0503020204020204" pitchFamily="34" charset="-122"/>
                <a:ea typeface="微软雅黑" panose="020B0503020204020204" pitchFamily="34" charset="-122"/>
              </a:rPr>
              <a:t>893</a:t>
            </a:r>
            <a:r>
              <a:rPr lang="zh-CN" altLang="en-US" sz="800" b="1" dirty="0" smtClean="0">
                <a:latin typeface="微软雅黑" panose="020B0503020204020204" pitchFamily="34" charset="-122"/>
                <a:ea typeface="微软雅黑" panose="020B0503020204020204" pitchFamily="34" charset="-122"/>
              </a:rPr>
              <a:t>万，</a:t>
            </a:r>
            <a:r>
              <a:rPr lang="zh-CN" altLang="en-US" sz="800" dirty="0" smtClean="0">
                <a:latin typeface="微软雅黑" panose="020B0503020204020204" pitchFamily="34" charset="-122"/>
                <a:ea typeface="微软雅黑" panose="020B0503020204020204" pitchFamily="34" charset="-122"/>
              </a:rPr>
              <a:t>主要因市场下行，京东五星退租，出租率及租金单价下降，招商周期延长等因素，</a:t>
            </a:r>
            <a:r>
              <a:rPr lang="zh-CN" altLang="en-US" sz="800" b="1" dirty="0" smtClean="0">
                <a:latin typeface="微软雅黑" panose="020B0503020204020204" pitchFamily="34" charset="-122"/>
                <a:ea typeface="微软雅黑" panose="020B0503020204020204" pitchFamily="34" charset="-122"/>
              </a:rPr>
              <a:t>成本费用</a:t>
            </a:r>
            <a:r>
              <a:rPr lang="zh-CN" sz="800" b="1" dirty="0" smtClean="0">
                <a:latin typeface="微软雅黑" panose="020B0503020204020204" pitchFamily="34" charset="-122"/>
                <a:ea typeface="微软雅黑" panose="020B0503020204020204" pitchFamily="34" charset="-122"/>
              </a:rPr>
              <a:t>增加</a:t>
            </a:r>
            <a:r>
              <a:rPr lang="en-US" altLang="zh-CN" sz="800" b="1" dirty="0" smtClean="0">
                <a:latin typeface="微软雅黑" panose="020B0503020204020204" pitchFamily="34" charset="-122"/>
                <a:ea typeface="微软雅黑" panose="020B0503020204020204" pitchFamily="34" charset="-122"/>
              </a:rPr>
              <a:t>70</a:t>
            </a:r>
            <a:r>
              <a:rPr lang="zh-CN" altLang="en-US" sz="800" b="1" dirty="0" smtClean="0">
                <a:latin typeface="微软雅黑" panose="020B0503020204020204" pitchFamily="34" charset="-122"/>
                <a:ea typeface="微软雅黑" panose="020B0503020204020204" pitchFamily="34" charset="-122"/>
              </a:rPr>
              <a:t>万，</a:t>
            </a:r>
            <a:r>
              <a:rPr lang="zh-CN" altLang="en-US" sz="800" dirty="0" smtClean="0">
                <a:latin typeface="微软雅黑" panose="020B0503020204020204" pitchFamily="34" charset="-122"/>
                <a:ea typeface="微软雅黑" panose="020B0503020204020204" pitchFamily="34" charset="-122"/>
              </a:rPr>
              <a:t>物业费用增加</a:t>
            </a:r>
            <a:r>
              <a:rPr lang="en-US" altLang="zh-CN" sz="800" dirty="0" smtClean="0">
                <a:latin typeface="微软雅黑" panose="020B0503020204020204" pitchFamily="34" charset="-122"/>
                <a:ea typeface="微软雅黑" panose="020B0503020204020204" pitchFamily="34" charset="-122"/>
              </a:rPr>
              <a:t>23</a:t>
            </a:r>
            <a:r>
              <a:rPr lang="zh-CN" altLang="en-US" sz="800" dirty="0" smtClean="0">
                <a:latin typeface="微软雅黑" panose="020B0503020204020204" pitchFamily="34" charset="-122"/>
                <a:ea typeface="微软雅黑" panose="020B0503020204020204" pitchFamily="34" charset="-122"/>
              </a:rPr>
              <a:t>万（修理费用增加），营销费用增加</a:t>
            </a:r>
            <a:r>
              <a:rPr lang="en-US" altLang="zh-CN" sz="800" dirty="0" smtClean="0">
                <a:latin typeface="微软雅黑" panose="020B0503020204020204" pitchFamily="34" charset="-122"/>
                <a:ea typeface="微软雅黑" panose="020B0503020204020204" pitchFamily="34" charset="-122"/>
              </a:rPr>
              <a:t>63</a:t>
            </a:r>
            <a:r>
              <a:rPr lang="zh-CN" altLang="en-US" sz="800" dirty="0" smtClean="0">
                <a:latin typeface="微软雅黑" panose="020B0503020204020204" pitchFamily="34" charset="-122"/>
                <a:ea typeface="微软雅黑" panose="020B0503020204020204" pitchFamily="34" charset="-122"/>
              </a:rPr>
              <a:t>万（因退租面积较多，为提升出租率故增加），</a:t>
            </a:r>
            <a:r>
              <a:rPr lang="en-US" altLang="zh-CN" sz="800" b="1" dirty="0" smtClean="0">
                <a:latin typeface="微软雅黑" panose="020B0503020204020204" pitchFamily="34" charset="-122"/>
                <a:ea typeface="微软雅黑" panose="020B0503020204020204" pitchFamily="34" charset="-122"/>
              </a:rPr>
              <a:t>NOI</a:t>
            </a:r>
            <a:r>
              <a:rPr lang="zh-CN" sz="800" b="1" dirty="0" smtClean="0">
                <a:latin typeface="微软雅黑" panose="020B0503020204020204" pitchFamily="34" charset="-122"/>
                <a:ea typeface="微软雅黑" panose="020B0503020204020204" pitchFamily="34" charset="-122"/>
              </a:rPr>
              <a:t>下降</a:t>
            </a:r>
            <a:r>
              <a:rPr lang="en-US" altLang="zh-CN" sz="800" b="1" dirty="0" smtClean="0">
                <a:latin typeface="微软雅黑" panose="020B0503020204020204" pitchFamily="34" charset="-122"/>
                <a:ea typeface="微软雅黑" panose="020B0503020204020204" pitchFamily="34" charset="-122"/>
              </a:rPr>
              <a:t>850</a:t>
            </a:r>
            <a:r>
              <a:rPr lang="zh-CN" altLang="en-US" sz="800" b="1" dirty="0" smtClean="0">
                <a:latin typeface="微软雅黑" panose="020B0503020204020204" pitchFamily="34" charset="-122"/>
                <a:ea typeface="微软雅黑" panose="020B0503020204020204" pitchFamily="34" charset="-122"/>
              </a:rPr>
              <a:t>万</a:t>
            </a:r>
            <a:r>
              <a:rPr lang="zh-CN" altLang="en-US" sz="800" dirty="0" smtClean="0">
                <a:latin typeface="微软雅黑" panose="020B0503020204020204" pitchFamily="34" charset="-122"/>
                <a:ea typeface="微软雅黑" panose="020B0503020204020204" pitchFamily="34" charset="-122"/>
              </a:rPr>
              <a:t>。</a:t>
            </a:r>
            <a:endParaRPr lang="zh-CN" altLang="en-US" sz="800" dirty="0" smtClean="0">
              <a:latin typeface="微软雅黑" panose="020B0503020204020204" pitchFamily="34" charset="-122"/>
              <a:ea typeface="微软雅黑" panose="020B0503020204020204" pitchFamily="34" charset="-122"/>
            </a:endParaRPr>
          </a:p>
          <a:p>
            <a:pPr>
              <a:defRPr/>
            </a:pPr>
            <a:r>
              <a:rPr lang="zh-CN" altLang="en-US" sz="800" b="1" dirty="0" smtClean="0">
                <a:latin typeface="微软雅黑" panose="020B0503020204020204" pitchFamily="34" charset="-122"/>
                <a:ea typeface="微软雅黑" panose="020B0503020204020204" pitchFamily="34" charset="-122"/>
              </a:rPr>
              <a:t>租赁</a:t>
            </a:r>
            <a:r>
              <a:rPr lang="en-US" altLang="zh-CN" sz="800" b="1" dirty="0" smtClean="0">
                <a:latin typeface="微软雅黑" panose="020B0503020204020204" pitchFamily="34" charset="-122"/>
                <a:ea typeface="微软雅黑" panose="020B0503020204020204" pitchFamily="34" charset="-122"/>
              </a:rPr>
              <a:t>-</a:t>
            </a:r>
            <a:r>
              <a:rPr lang="zh-CN" altLang="en-US" sz="800" b="1" dirty="0" smtClean="0">
                <a:latin typeface="微软雅黑" panose="020B0503020204020204" pitchFamily="34" charset="-122"/>
                <a:ea typeface="微软雅黑" panose="020B0503020204020204" pitchFamily="34" charset="-122"/>
              </a:rPr>
              <a:t>惠州</a:t>
            </a:r>
            <a:r>
              <a:rPr lang="zh-CN" altLang="en-US" sz="800" b="1" dirty="0" smtClean="0">
                <a:latin typeface="微软雅黑" panose="020B0503020204020204" pitchFamily="34" charset="-122"/>
                <a:ea typeface="微软雅黑" panose="020B0503020204020204" pitchFamily="34" charset="-122"/>
                <a:sym typeface="+mn-ea"/>
              </a:rPr>
              <a:t>：收入减少</a:t>
            </a:r>
            <a:r>
              <a:rPr lang="en-US" altLang="zh-CN" sz="800" b="1" dirty="0" smtClean="0">
                <a:latin typeface="微软雅黑" panose="020B0503020204020204" pitchFamily="34" charset="-122"/>
                <a:ea typeface="微软雅黑" panose="020B0503020204020204" pitchFamily="34" charset="-122"/>
                <a:sym typeface="+mn-ea"/>
              </a:rPr>
              <a:t>41</a:t>
            </a:r>
            <a:r>
              <a:rPr lang="zh-CN" altLang="en-US" sz="800" b="1" dirty="0" smtClean="0">
                <a:latin typeface="微软雅黑" panose="020B0503020204020204" pitchFamily="34" charset="-122"/>
                <a:ea typeface="微软雅黑" panose="020B0503020204020204" pitchFamily="34" charset="-122"/>
                <a:sym typeface="+mn-ea"/>
              </a:rPr>
              <a:t>万，</a:t>
            </a:r>
            <a:r>
              <a:rPr lang="zh-CN" altLang="en-US" sz="800" dirty="0" smtClean="0">
                <a:latin typeface="微软雅黑" panose="020B0503020204020204" pitchFamily="34" charset="-122"/>
                <a:ea typeface="微软雅黑" panose="020B0503020204020204" pitchFamily="34" charset="-122"/>
                <a:sym typeface="+mn-ea"/>
              </a:rPr>
              <a:t>主要因租金及物业费收入减少；</a:t>
            </a:r>
            <a:r>
              <a:rPr lang="zh-CN" altLang="en-US" sz="800" b="1" dirty="0" smtClean="0">
                <a:latin typeface="微软雅黑" panose="020B0503020204020204" pitchFamily="34" charset="-122"/>
                <a:ea typeface="微软雅黑" panose="020B0503020204020204" pitchFamily="34" charset="-122"/>
                <a:sym typeface="+mn-ea"/>
              </a:rPr>
              <a:t>成本费用增加</a:t>
            </a:r>
            <a:r>
              <a:rPr lang="en-US" altLang="zh-CN" sz="800" b="1" dirty="0" smtClean="0">
                <a:latin typeface="微软雅黑" panose="020B0503020204020204" pitchFamily="34" charset="-122"/>
                <a:ea typeface="微软雅黑" panose="020B0503020204020204" pitchFamily="34" charset="-122"/>
                <a:sym typeface="+mn-ea"/>
              </a:rPr>
              <a:t>359</a:t>
            </a:r>
            <a:r>
              <a:rPr lang="zh-CN" altLang="en-US" sz="800" b="1" dirty="0" smtClean="0">
                <a:latin typeface="微软雅黑" panose="020B0503020204020204" pitchFamily="34" charset="-122"/>
                <a:ea typeface="微软雅黑" panose="020B0503020204020204" pitchFamily="34" charset="-122"/>
                <a:sym typeface="+mn-ea"/>
              </a:rPr>
              <a:t>万，</a:t>
            </a:r>
            <a:r>
              <a:rPr lang="zh-CN" altLang="en-US" sz="800" dirty="0" smtClean="0">
                <a:latin typeface="微软雅黑" panose="020B0503020204020204" pitchFamily="34" charset="-122"/>
                <a:ea typeface="微软雅黑" panose="020B0503020204020204" pitchFamily="34" charset="-122"/>
                <a:sym typeface="+mn-ea"/>
              </a:rPr>
              <a:t>销售业务清盘，负责房屋交付，跟进销售尾款等事宜，费用合计</a:t>
            </a:r>
            <a:r>
              <a:rPr lang="en-US" altLang="zh-CN" sz="800" dirty="0" smtClean="0">
                <a:latin typeface="微软雅黑" panose="020B0503020204020204" pitchFamily="34" charset="-122"/>
                <a:ea typeface="微软雅黑" panose="020B0503020204020204" pitchFamily="34" charset="-122"/>
                <a:sym typeface="+mn-ea"/>
              </a:rPr>
              <a:t>328</a:t>
            </a:r>
            <a:r>
              <a:rPr lang="zh-CN" altLang="en-US" sz="800" dirty="0" smtClean="0">
                <a:latin typeface="微软雅黑" panose="020B0503020204020204" pitchFamily="34" charset="-122"/>
                <a:ea typeface="微软雅黑" panose="020B0503020204020204" pitchFamily="34" charset="-122"/>
                <a:sym typeface="+mn-ea"/>
              </a:rPr>
              <a:t>万；物业费用增加</a:t>
            </a:r>
            <a:r>
              <a:rPr lang="en-US" altLang="zh-CN" sz="800" dirty="0" smtClean="0">
                <a:latin typeface="微软雅黑" panose="020B0503020204020204" pitchFamily="34" charset="-122"/>
                <a:ea typeface="微软雅黑" panose="020B0503020204020204" pitchFamily="34" charset="-122"/>
                <a:sym typeface="+mn-ea"/>
              </a:rPr>
              <a:t>33</a:t>
            </a:r>
            <a:r>
              <a:rPr lang="zh-CN" altLang="en-US" sz="800" dirty="0" smtClean="0">
                <a:latin typeface="微软雅黑" panose="020B0503020204020204" pitchFamily="34" charset="-122"/>
                <a:ea typeface="微软雅黑" panose="020B0503020204020204" pitchFamily="34" charset="-122"/>
                <a:sym typeface="+mn-ea"/>
              </a:rPr>
              <a:t>万（电梯合同维保合同到期，增加维保费</a:t>
            </a:r>
            <a:r>
              <a:rPr lang="en-US" altLang="zh-CN" sz="800" dirty="0" smtClean="0">
                <a:latin typeface="微软雅黑" panose="020B0503020204020204" pitchFamily="34" charset="-122"/>
                <a:ea typeface="微软雅黑" panose="020B0503020204020204" pitchFamily="34" charset="-122"/>
                <a:sym typeface="+mn-ea"/>
              </a:rPr>
              <a:t>14</a:t>
            </a:r>
            <a:r>
              <a:rPr lang="zh-CN" altLang="en-US" sz="800" dirty="0" smtClean="0">
                <a:latin typeface="微软雅黑" panose="020B0503020204020204" pitchFamily="34" charset="-122"/>
                <a:ea typeface="微软雅黑" panose="020B0503020204020204" pitchFamily="34" charset="-122"/>
                <a:sym typeface="+mn-ea"/>
              </a:rPr>
              <a:t>万；为园区安全，增加电力设备检测费</a:t>
            </a:r>
            <a:r>
              <a:rPr lang="en-US" altLang="zh-CN" sz="800" dirty="0" smtClean="0">
                <a:latin typeface="微软雅黑" panose="020B0503020204020204" pitchFamily="34" charset="-122"/>
                <a:ea typeface="微软雅黑" panose="020B0503020204020204" pitchFamily="34" charset="-122"/>
                <a:sym typeface="+mn-ea"/>
              </a:rPr>
              <a:t>15</a:t>
            </a:r>
            <a:r>
              <a:rPr lang="zh-CN" altLang="en-US" sz="800" dirty="0" smtClean="0">
                <a:latin typeface="微软雅黑" panose="020B0503020204020204" pitchFamily="34" charset="-122"/>
                <a:ea typeface="微软雅黑" panose="020B0503020204020204" pitchFamily="34" charset="-122"/>
                <a:sym typeface="+mn-ea"/>
              </a:rPr>
              <a:t>万），</a:t>
            </a:r>
            <a:r>
              <a:rPr lang="en-US" altLang="zh-CN" sz="800" b="1" dirty="0" smtClean="0">
                <a:latin typeface="微软雅黑" panose="020B0503020204020204" pitchFamily="34" charset="-122"/>
                <a:ea typeface="微软雅黑" panose="020B0503020204020204" pitchFamily="34" charset="-122"/>
                <a:sym typeface="+mn-ea"/>
              </a:rPr>
              <a:t>NOI</a:t>
            </a:r>
            <a:r>
              <a:rPr lang="zh-CN" altLang="en-US" sz="800" b="1" dirty="0" smtClean="0">
                <a:latin typeface="微软雅黑" panose="020B0503020204020204" pitchFamily="34" charset="-122"/>
                <a:ea typeface="微软雅黑" panose="020B0503020204020204" pitchFamily="34" charset="-122"/>
                <a:sym typeface="+mn-ea"/>
              </a:rPr>
              <a:t>减少</a:t>
            </a:r>
            <a:r>
              <a:rPr lang="en-US" altLang="zh-CN" sz="800" b="1" dirty="0" smtClean="0">
                <a:latin typeface="微软雅黑" panose="020B0503020204020204" pitchFamily="34" charset="-122"/>
                <a:ea typeface="微软雅黑" panose="020B0503020204020204" pitchFamily="34" charset="-122"/>
                <a:sym typeface="+mn-ea"/>
              </a:rPr>
              <a:t>419</a:t>
            </a:r>
            <a:r>
              <a:rPr lang="zh-CN" altLang="en-US" sz="800" b="1" dirty="0" smtClean="0">
                <a:latin typeface="微软雅黑" panose="020B0503020204020204" pitchFamily="34" charset="-122"/>
                <a:ea typeface="微软雅黑" panose="020B0503020204020204" pitchFamily="34" charset="-122"/>
                <a:sym typeface="+mn-ea"/>
              </a:rPr>
              <a:t>万。</a:t>
            </a:r>
            <a:endParaRPr lang="zh-CN" altLang="en-US" sz="800" b="1" dirty="0" smtClean="0">
              <a:latin typeface="微软雅黑" panose="020B0503020204020204" pitchFamily="34" charset="-122"/>
              <a:ea typeface="微软雅黑" panose="020B0503020204020204" pitchFamily="34" charset="-122"/>
            </a:endParaRPr>
          </a:p>
          <a:p>
            <a:pPr>
              <a:defRPr/>
            </a:pP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租赁</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苏州：收入增加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118</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（因出租率提升），</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成本费用增加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86</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（销售清盘，</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6</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年后可售资源以租代售，跟进销售尾款及运营），</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NOI</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57</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endPar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endParaRPr>
          </a:p>
          <a:p>
            <a:pPr>
              <a:defRPr/>
            </a:pP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租赁</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成都：收入增加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209</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（因出租率提升），</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成本费用增加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57</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（增加总部大厦预招商推广营销费和案场物业费合计</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168</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万，新增租赁签约大幅减少佣金相应减少</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110</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NOI</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107</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endPar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endParaRPr>
          </a:p>
          <a:p>
            <a:pPr>
              <a:defRPr/>
            </a:pP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租赁</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研究院：收入下降</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65</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（平均出租率持平，租金单价略有下降），</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成本费用增加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33</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（人工费用增加</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13</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万，领创物业费用分摊增加</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17</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NOI</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减少</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109</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endPar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endParaRPr>
          </a:p>
          <a:p>
            <a:pPr>
              <a:defRPr/>
            </a:pP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租赁</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苏州昆山：收入增加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3</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万，成本费用增加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224</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万，人工费用增加</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199</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编制</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9</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人，核心高管人工费用</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70%</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分摊至苏州昆山；营销费用增加</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75</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万（推广营销费减少</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50</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r>
              <a:rPr lang="zh-CN" altLang="en-US" sz="800" dirty="0" smtClean="0">
                <a:highlight>
                  <a:srgbClr val="000000">
                    <a:alpha val="0"/>
                  </a:srgbClr>
                </a:highlight>
                <a:latin typeface="微软雅黑" panose="020B0503020204020204" pitchFamily="34" charset="-122"/>
                <a:ea typeface="微软雅黑" panose="020B0503020204020204" pitchFamily="34" charset="-122"/>
                <a:sym typeface="+mn-ea"/>
              </a:rPr>
              <a:t>佣金费用费增加</a:t>
            </a:r>
            <a:r>
              <a:rPr lang="en-US" altLang="zh-CN" sz="800" dirty="0" smtClean="0">
                <a:highlight>
                  <a:srgbClr val="000000">
                    <a:alpha val="0"/>
                  </a:srgbClr>
                </a:highlight>
                <a:latin typeface="微软雅黑" panose="020B0503020204020204" pitchFamily="34" charset="-122"/>
                <a:ea typeface="微软雅黑" panose="020B0503020204020204" pitchFamily="34" charset="-122"/>
                <a:sym typeface="+mn-ea"/>
              </a:rPr>
              <a:t>125</a:t>
            </a:r>
            <a:r>
              <a:rPr lang="zh-CN" altLang="en-US" sz="800" dirty="0" smtClean="0">
                <a:highlight>
                  <a:srgbClr val="000000">
                    <a:alpha val="0"/>
                  </a:srgbClr>
                </a:highlight>
                <a:latin typeface="微软雅黑" panose="020B0503020204020204" pitchFamily="34" charset="-122"/>
                <a:ea typeface="微软雅黑" panose="020B0503020204020204" pitchFamily="34" charset="-122"/>
                <a:sym typeface="+mn-ea"/>
              </a:rPr>
              <a:t>万，</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25</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年</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5</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月招商，</a:t>
            </a:r>
            <a:r>
              <a:rPr lang="en-US" altLang="zh-CN"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26</a:t>
            </a:r>
            <a:r>
              <a:rPr lang="zh-CN" altLang="en-US" sz="800"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年为全年费用），</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NOI</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减少</a:t>
            </a:r>
            <a:r>
              <a:rPr lang="en-US" altLang="zh-CN"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221</a:t>
            </a:r>
            <a:r>
              <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rPr>
              <a:t>万。</a:t>
            </a:r>
            <a:endParaRPr lang="zh-CN" altLang="en-US" sz="800" b="1" dirty="0" smtClean="0">
              <a:solidFill>
                <a:schemeClr val="tx1"/>
              </a:solidFill>
              <a:highlight>
                <a:srgbClr val="000000">
                  <a:alpha val="0"/>
                </a:srgbClr>
              </a:highlight>
              <a:latin typeface="微软雅黑" panose="020B0503020204020204" pitchFamily="34" charset="-122"/>
              <a:ea typeface="微软雅黑" panose="020B0503020204020204" pitchFamily="34" charset="-122"/>
              <a:sym typeface="+mn-ea"/>
            </a:endParaRPr>
          </a:p>
        </p:txBody>
      </p:sp>
      <p:graphicFrame>
        <p:nvGraphicFramePr>
          <p:cNvPr id="3" name="表格 2"/>
          <p:cNvGraphicFramePr>
            <a:graphicFrameLocks noGrp="1"/>
          </p:cNvGraphicFramePr>
          <p:nvPr>
            <p:custDataLst>
              <p:tags r:id="rId1"/>
            </p:custDataLst>
          </p:nvPr>
        </p:nvGraphicFramePr>
        <p:xfrm>
          <a:off x="218440" y="381000"/>
          <a:ext cx="9621520" cy="3956050"/>
        </p:xfrm>
        <a:graphic>
          <a:graphicData uri="http://schemas.openxmlformats.org/drawingml/2006/table">
            <a:tbl>
              <a:tblPr/>
              <a:tblGrid>
                <a:gridCol w="845185"/>
                <a:gridCol w="433705"/>
                <a:gridCol w="461645"/>
                <a:gridCol w="415290"/>
                <a:gridCol w="407035"/>
                <a:gridCol w="452755"/>
                <a:gridCol w="468630"/>
                <a:gridCol w="469265"/>
                <a:gridCol w="471805"/>
                <a:gridCol w="363220"/>
                <a:gridCol w="421640"/>
                <a:gridCol w="450850"/>
                <a:gridCol w="465455"/>
                <a:gridCol w="492125"/>
                <a:gridCol w="383540"/>
                <a:gridCol w="414020"/>
                <a:gridCol w="440690"/>
                <a:gridCol w="441960"/>
                <a:gridCol w="461645"/>
                <a:gridCol w="404495"/>
                <a:gridCol w="456565"/>
              </a:tblGrid>
              <a:tr h="123190">
                <a:tc rowSpan="2">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项目</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收入含税</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lnT w="12700" cap="flat" cmpd="sng" algn="ctr">
                      <a:solidFill>
                        <a:schemeClr val="tx1"/>
                      </a:solidFill>
                      <a:prstDash val="solid"/>
                      <a:round/>
                      <a:headEnd type="none" w="med" len="med"/>
                      <a:tailEnd type="none" w="med" len="med"/>
                    </a:lnT>
                  </a:tcPr>
                </a:tc>
                <a:tc hMerge="1">
                  <a:tcPr>
                    <a:lnT w="12700" cap="flat" cmpd="sng" algn="ctr">
                      <a:solidFill>
                        <a:schemeClr val="tx1"/>
                      </a:solidFill>
                      <a:prstDash val="solid"/>
                      <a:round/>
                      <a:headEnd type="none" w="med" len="med"/>
                      <a:tailEnd type="none" w="med" len="med"/>
                    </a:lnT>
                  </a:tcPr>
                </a:tc>
                <a:tc rowSpan="2">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成本费用</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rowSpan="2">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gridSpan="3">
                  <a:txBody>
                    <a:bodyPr/>
                    <a:lstStyle/>
                    <a:p>
                      <a:pPr algn="ctr" fontAlgn="ct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GOP</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hMerge="1">
                  <a:tcPr/>
                </a:tc>
                <a:tc hMerge="1">
                  <a:tcPr/>
                </a:tc>
                <a:tc rowSpan="2">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rowSpan="2">
                  <a:txBody>
                    <a:bodyPr/>
                    <a:p>
                      <a:pPr algn="ctr" fontAlgn="ctr">
                        <a:buNone/>
                      </a:pP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3175"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gridSpan="3">
                  <a:txBody>
                    <a:bodyPr/>
                    <a:p>
                      <a:pPr algn="ctr" fontAlgn="ctr"/>
                      <a:r>
                        <a:rPr lang="en-US" altLang="zh-CN" sz="700" b="1" i="0" u="none" strike="noStrike">
                          <a:solidFill>
                            <a:schemeClr val="bg1"/>
                          </a:solidFill>
                          <a:effectLst/>
                          <a:latin typeface="微软雅黑" panose="020B0503020204020204" pitchFamily="34" charset="-122"/>
                          <a:ea typeface="微软雅黑" panose="020B0503020204020204" pitchFamily="34" charset="-122"/>
                        </a:rPr>
                        <a:t>NOI</a:t>
                      </a:r>
                      <a:endParaRPr lang="en-US" altLang="zh-CN" sz="700" b="1" i="0" u="none" strike="noStrike">
                        <a:solidFill>
                          <a:schemeClr val="bg1"/>
                        </a:solidFill>
                        <a:effectLst/>
                        <a:latin typeface="微软雅黑" panose="020B0503020204020204" pitchFamily="34" charset="-122"/>
                        <a:ea typeface="微软雅黑" panose="020B0503020204020204" pitchFamily="34" charset="-122"/>
                      </a:endParaRPr>
                    </a:p>
                  </a:txBody>
                  <a:tcPr marL="6222" marR="6222" marT="6222" marB="0" anchor="ctr">
                    <a:lnL w="3175" cap="flat" cmpd="sng" algn="ctr">
                      <a:solidFill>
                        <a:srgbClr val="B8CCE4"/>
                      </a:solidFill>
                      <a:prstDash val="solid"/>
                      <a:round/>
                      <a:headEnd type="none" w="med" len="med"/>
                      <a:tailEnd type="none" w="med" len="med"/>
                    </a:lnL>
                    <a:lnR w="3175"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rgbClr val="B8CCE4"/>
                      </a:solidFill>
                      <a:prstDash val="solid"/>
                      <a:round/>
                      <a:headEnd type="none" w="med" len="med"/>
                      <a:tailEnd type="none" w="med" len="med"/>
                    </a:lnB>
                    <a:solidFill>
                      <a:srgbClr val="531808"/>
                    </a:solidFill>
                  </a:tcPr>
                </a:tc>
                <a:tc hMerge="1">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rgbClr val="B8CCE4"/>
                      </a:solidFill>
                      <a:prstDash val="solid"/>
                      <a:round/>
                      <a:headEnd type="none" w="med" len="med"/>
                      <a:tailEnd type="none" w="med" len="med"/>
                    </a:lnB>
                    <a:solidFill>
                      <a:schemeClr val="accent2">
                        <a:lumMod val="75000"/>
                      </a:schemeClr>
                    </a:solidFill>
                  </a:tcPr>
                </a:tc>
                <a:tc hMerge="1">
                  <a:tcPr marL="6222" marR="6222" marT="6222" marB="0" anchor="ctr">
                    <a:lnL w="6350" cap="flat" cmpd="sng" algn="ctr">
                      <a:solidFill>
                        <a:srgbClr val="B8CCE4"/>
                      </a:solidFill>
                      <a:prstDash val="solid"/>
                      <a:round/>
                      <a:headEnd type="none" w="med" len="med"/>
                      <a:tailEnd type="none" w="med" len="med"/>
                    </a:lnL>
                    <a:lnR w="3175"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rgbClr val="B8CCE4"/>
                      </a:solidFill>
                      <a:prstDash val="solid"/>
                      <a:round/>
                      <a:headEnd type="none" w="med" len="med"/>
                      <a:tailEnd type="none" w="med" len="med"/>
                    </a:lnB>
                    <a:solidFill>
                      <a:schemeClr val="accent2">
                        <a:lumMod val="75000"/>
                      </a:schemeClr>
                    </a:solidFill>
                  </a:tcPr>
                </a:tc>
                <a:tc rowSpan="2">
                  <a:txBody>
                    <a:bodyPr/>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3175"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531808"/>
                    </a:solidFill>
                  </a:tcPr>
                </a:tc>
                <a:tc rowSpan="2">
                  <a:txBody>
                    <a:bodyPr/>
                    <a:p>
                      <a:pPr algn="ctr" fontAlgn="ctr">
                        <a:buNone/>
                      </a:pP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531808"/>
                    </a:solidFill>
                  </a:tcPr>
                </a:tc>
              </a:tr>
              <a:tr h="255270">
                <a:tc vMerge="1">
                  <a:tcPr>
                    <a:lnR w="12700" cap="flat" cmpd="sng" algn="ctr">
                      <a:solidFill>
                        <a:schemeClr val="tx1"/>
                      </a:solidFill>
                      <a:prstDash val="solid"/>
                      <a:round/>
                      <a:headEnd type="none" w="med" len="med"/>
                      <a:tailEnd type="none" w="med" len="med"/>
                    </a:lnR>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tc>
                <a:tc vMerge="1">
                  <a:tcPr>
                    <a:lnR w="12700" cap="flat" cmpd="sng" algn="ctr">
                      <a:solidFill>
                        <a:schemeClr val="tx1"/>
                      </a:solidFill>
                      <a:prstDash val="solid"/>
                      <a:round/>
                      <a:headEnd type="none" w="med" len="med"/>
                      <a:tailEnd type="none" w="med" len="med"/>
                    </a:lnR>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vMerge="1">
                  <a:tcPr/>
                </a:tc>
                <a:tc vMerge="1">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a:txBody>
                    <a:bodyPr/>
                    <a:lstStyle/>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7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7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7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vMerge="1">
                  <a:tcPr/>
                </a:tc>
                <a:tc vMerge="1">
                  <a:tcPr>
                    <a:lnR w="3175" cap="flat" cmpd="sng" algn="ctr">
                      <a:solidFill>
                        <a:srgbClr val="B8CCE4"/>
                      </a:solidFill>
                      <a:prstDash val="solid"/>
                      <a:round/>
                      <a:headEnd type="none" w="med" len="med"/>
                      <a:tailEnd type="none" w="med" len="med"/>
                    </a:lnR>
                    <a:lnB w="6350" cap="flat" cmpd="sng" algn="ctr">
                      <a:solidFill>
                        <a:srgbClr val="B8CCE4"/>
                      </a:solidFill>
                      <a:prstDash val="solid"/>
                      <a:round/>
                      <a:headEnd type="none" w="med" len="med"/>
                      <a:tailEnd type="none" w="med" len="med"/>
                    </a:lnB>
                    <a:solidFill>
                      <a:schemeClr val="accent2">
                        <a:lumMod val="75000"/>
                      </a:schemeClr>
                    </a:solidFill>
                  </a:tcPr>
                </a:tc>
                <a:tc>
                  <a:txBody>
                    <a:bodyPr/>
                    <a:p>
                      <a:pPr algn="ctr" fontAlgn="ctr"/>
                      <a:r>
                        <a:rPr lang="zh-CN" altLang="en-US" sz="700" b="1" i="0" u="none" strike="noStrike">
                          <a:solidFill>
                            <a:schemeClr val="bg1"/>
                          </a:solidFill>
                          <a:effectLst/>
                          <a:latin typeface="微软雅黑" panose="020B0503020204020204" pitchFamily="34" charset="-122"/>
                          <a:ea typeface="微软雅黑" panose="020B0503020204020204" pitchFamily="34" charset="-122"/>
                        </a:rPr>
                        <a:t> </a:t>
                      </a:r>
                      <a:r>
                        <a:rPr lang="en-US" altLang="zh-CN" sz="700" b="1" i="0" u="none" strike="noStrike">
                          <a:solidFill>
                            <a:schemeClr val="bg1"/>
                          </a:solidFill>
                          <a:effectLst/>
                          <a:latin typeface="微软雅黑" panose="020B0503020204020204" pitchFamily="34" charset="-122"/>
                          <a:ea typeface="微软雅黑" panose="020B0503020204020204" pitchFamily="34" charset="-122"/>
                        </a:rPr>
                        <a:t>2025年</a:t>
                      </a:r>
                      <a:endParaRPr lang="en-US" altLang="zh-CN" sz="700" b="1" i="0" u="none" strike="noStrike">
                        <a:solidFill>
                          <a:schemeClr val="bg1"/>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chemeClr val="bg1"/>
                          </a:solidFill>
                          <a:effectLst/>
                          <a:latin typeface="微软雅黑" panose="020B0503020204020204" pitchFamily="34" charset="-122"/>
                          <a:ea typeface="微软雅黑" panose="020B0503020204020204" pitchFamily="34" charset="-122"/>
                        </a:rPr>
                        <a:t>预算 </a:t>
                      </a:r>
                      <a:endParaRPr lang="zh-CN" altLang="en-US" sz="700" b="1" i="0" u="none" strike="noStrike">
                        <a:solidFill>
                          <a:schemeClr val="bg1"/>
                        </a:solidFill>
                        <a:effectLst/>
                        <a:latin typeface="微软雅黑" panose="020B0503020204020204" pitchFamily="34" charset="-122"/>
                        <a:ea typeface="微软雅黑" panose="020B0503020204020204" pitchFamily="34" charset="-122"/>
                      </a:endParaRPr>
                    </a:p>
                  </a:txBody>
                  <a:tcPr marL="6222" marR="6222" marT="6222" marB="0" anchor="ctr">
                    <a:lnL w="3175" cmpd="sng">
                      <a:solidFill>
                        <a:srgbClr val="B8CCE4"/>
                      </a:solidFill>
                      <a:prstDash val="solid"/>
                    </a:lnL>
                    <a:lnR w="3175" cap="flat" cmpd="sng" algn="ctr">
                      <a:solidFill>
                        <a:srgbClr val="B8CCE4"/>
                      </a:solidFill>
                      <a:prstDash val="solid"/>
                      <a:round/>
                      <a:headEnd type="none" w="med" len="med"/>
                      <a:tailEnd type="none" w="med" len="med"/>
                    </a:lnR>
                    <a:lnT w="3175" cmpd="sng">
                      <a:solidFill>
                        <a:srgbClr val="B8CCE4"/>
                      </a:solidFill>
                      <a:prstDash val="solid"/>
                    </a:lnT>
                    <a:lnB w="3175" cap="flat" cmpd="sng" algn="ctr">
                      <a:solidFill>
                        <a:srgbClr val="B8CCE4"/>
                      </a:solidFill>
                      <a:prstDash val="solid"/>
                      <a:round/>
                      <a:headEnd type="none" w="med" len="med"/>
                      <a:tailEnd type="none" w="med" len="med"/>
                    </a:lnB>
                    <a:solidFill>
                      <a:srgbClr val="531808"/>
                    </a:solidFill>
                  </a:tcPr>
                </a:tc>
                <a:tc>
                  <a:txBody>
                    <a:bodyPr/>
                    <a:p>
                      <a:pPr algn="ctr" fontAlgn="ctr"/>
                      <a:r>
                        <a:rPr lang="zh-CN" altLang="en-US" sz="700" b="1" i="0" u="none" strike="noStrike">
                          <a:solidFill>
                            <a:schemeClr val="bg1"/>
                          </a:solidFill>
                          <a:effectLst/>
                          <a:latin typeface="微软雅黑" panose="020B0503020204020204" pitchFamily="34" charset="-122"/>
                          <a:ea typeface="微软雅黑" panose="020B0503020204020204" pitchFamily="34" charset="-122"/>
                        </a:rPr>
                        <a:t> </a:t>
                      </a:r>
                      <a:r>
                        <a:rPr lang="en-US" altLang="zh-CN" sz="700" b="1" i="0" u="none" strike="noStrike">
                          <a:solidFill>
                            <a:schemeClr val="bg1"/>
                          </a:solidFill>
                          <a:effectLst/>
                          <a:latin typeface="微软雅黑" panose="020B0503020204020204" pitchFamily="34" charset="-122"/>
                          <a:ea typeface="微软雅黑" panose="020B0503020204020204" pitchFamily="34" charset="-122"/>
                        </a:rPr>
                        <a:t>2025年</a:t>
                      </a:r>
                      <a:endParaRPr lang="en-US" altLang="zh-CN" sz="700" b="1" i="0" u="none" strike="noStrike">
                        <a:solidFill>
                          <a:schemeClr val="bg1"/>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chemeClr val="bg1"/>
                          </a:solidFill>
                          <a:effectLst/>
                          <a:latin typeface="微软雅黑" panose="020B0503020204020204" pitchFamily="34" charset="-122"/>
                          <a:ea typeface="微软雅黑" panose="020B0503020204020204" pitchFamily="34" charset="-122"/>
                        </a:rPr>
                        <a:t>预计 </a:t>
                      </a:r>
                      <a:endParaRPr lang="zh-CN" altLang="en-US" sz="700" b="1" i="0" u="none" strike="noStrike">
                        <a:solidFill>
                          <a:schemeClr val="bg1"/>
                        </a:solidFill>
                        <a:effectLst/>
                        <a:latin typeface="微软雅黑" panose="020B0503020204020204" pitchFamily="34" charset="-122"/>
                        <a:ea typeface="微软雅黑" panose="020B0503020204020204" pitchFamily="34" charset="-122"/>
                      </a:endParaRPr>
                    </a:p>
                  </a:txBody>
                  <a:tcPr marL="6222" marR="6222" marT="6222" marB="0" anchor="ctr">
                    <a:lnL w="3175" cmpd="sng">
                      <a:solidFill>
                        <a:srgbClr val="B8CCE4"/>
                      </a:solidFill>
                      <a:prstDash val="solid"/>
                    </a:lnL>
                    <a:lnR w="3175" cap="flat" cmpd="sng" algn="ctr">
                      <a:solidFill>
                        <a:srgbClr val="B8CCE4"/>
                      </a:solidFill>
                      <a:prstDash val="solid"/>
                      <a:round/>
                      <a:headEnd type="none" w="med" len="med"/>
                      <a:tailEnd type="none" w="med" len="med"/>
                    </a:lnR>
                    <a:lnT w="3175" cmpd="sng">
                      <a:solidFill>
                        <a:srgbClr val="B8CCE4"/>
                      </a:solidFill>
                      <a:prstDash val="solid"/>
                    </a:lnT>
                    <a:lnB w="3175" cap="flat" cmpd="sng" algn="ctr">
                      <a:solidFill>
                        <a:srgbClr val="B8CCE4"/>
                      </a:solidFill>
                      <a:prstDash val="solid"/>
                      <a:round/>
                      <a:headEnd type="none" w="med" len="med"/>
                      <a:tailEnd type="none" w="med" len="med"/>
                    </a:lnB>
                    <a:solidFill>
                      <a:srgbClr val="531808"/>
                    </a:solidFill>
                  </a:tcPr>
                </a:tc>
                <a:tc>
                  <a:txBody>
                    <a:bodyPr/>
                    <a:p>
                      <a:pPr algn="ctr" fontAlgn="ctr"/>
                      <a:r>
                        <a:rPr lang="zh-CN" altLang="en-US" sz="700" b="1" i="0" u="none" strike="noStrike">
                          <a:solidFill>
                            <a:schemeClr val="bg1"/>
                          </a:solidFill>
                          <a:effectLst/>
                          <a:latin typeface="微软雅黑" panose="020B0503020204020204" pitchFamily="34" charset="-122"/>
                          <a:ea typeface="微软雅黑" panose="020B0503020204020204" pitchFamily="34" charset="-122"/>
                        </a:rPr>
                        <a:t> </a:t>
                      </a:r>
                      <a:r>
                        <a:rPr lang="en-US" altLang="zh-CN" sz="700" b="1" i="0" u="none" strike="noStrike">
                          <a:solidFill>
                            <a:schemeClr val="bg1"/>
                          </a:solidFill>
                          <a:effectLst/>
                          <a:latin typeface="微软雅黑" panose="020B0503020204020204" pitchFamily="34" charset="-122"/>
                          <a:ea typeface="微软雅黑" panose="020B0503020204020204" pitchFamily="34" charset="-122"/>
                        </a:rPr>
                        <a:t>2026年</a:t>
                      </a:r>
                      <a:endParaRPr lang="en-US" altLang="zh-CN" sz="700" b="1" i="0" u="none" strike="noStrike">
                        <a:solidFill>
                          <a:schemeClr val="bg1"/>
                        </a:solidFill>
                        <a:effectLst/>
                        <a:latin typeface="微软雅黑" panose="020B0503020204020204" pitchFamily="34" charset="-122"/>
                        <a:ea typeface="微软雅黑" panose="020B0503020204020204" pitchFamily="34" charset="-122"/>
                      </a:endParaRPr>
                    </a:p>
                    <a:p>
                      <a:pPr algn="ctr" fontAlgn="ctr"/>
                      <a:r>
                        <a:rPr lang="zh-CN" altLang="en-US" sz="700" b="1" i="0" u="none" strike="noStrike">
                          <a:solidFill>
                            <a:schemeClr val="bg1"/>
                          </a:solidFill>
                          <a:effectLst/>
                          <a:latin typeface="微软雅黑" panose="020B0503020204020204" pitchFamily="34" charset="-122"/>
                          <a:ea typeface="微软雅黑" panose="020B0503020204020204" pitchFamily="34" charset="-122"/>
                        </a:rPr>
                        <a:t>预算 </a:t>
                      </a:r>
                      <a:endParaRPr lang="zh-CN" altLang="en-US" sz="700" b="1" i="0" u="none" strike="noStrike">
                        <a:solidFill>
                          <a:schemeClr val="bg1"/>
                        </a:solidFill>
                        <a:effectLst/>
                        <a:latin typeface="微软雅黑" panose="020B0503020204020204" pitchFamily="34" charset="-122"/>
                        <a:ea typeface="微软雅黑" panose="020B0503020204020204" pitchFamily="34" charset="-122"/>
                      </a:endParaRPr>
                    </a:p>
                  </a:txBody>
                  <a:tcPr marL="6222" marR="6222" marT="6222" marB="0" anchor="ctr">
                    <a:lnL w="3175" cmpd="sng">
                      <a:solidFill>
                        <a:srgbClr val="B8CCE4"/>
                      </a:solidFill>
                      <a:prstDash val="solid"/>
                    </a:lnL>
                    <a:lnR w="3175" cap="flat" cmpd="sng" algn="ctr">
                      <a:solidFill>
                        <a:srgbClr val="B8CCE4"/>
                      </a:solidFill>
                      <a:prstDash val="solid"/>
                      <a:round/>
                      <a:headEnd type="none" w="med" len="med"/>
                      <a:tailEnd type="none" w="med" len="med"/>
                    </a:lnR>
                    <a:lnT w="3175" cmpd="sng">
                      <a:solidFill>
                        <a:srgbClr val="B8CCE4"/>
                      </a:solidFill>
                      <a:prstDash val="solid"/>
                    </a:lnT>
                    <a:lnB w="3175" cap="flat" cmpd="sng" algn="ctr">
                      <a:solidFill>
                        <a:srgbClr val="B8CCE4"/>
                      </a:solidFill>
                      <a:prstDash val="solid"/>
                      <a:round/>
                      <a:headEnd type="none" w="med" len="med"/>
                      <a:tailEnd type="none" w="med" len="med"/>
                    </a:lnB>
                    <a:solidFill>
                      <a:srgbClr val="531808"/>
                    </a:solidFill>
                  </a:tcPr>
                </a:tc>
                <a:tc vMerge="1">
                  <a:tcPr>
                    <a:lnL w="3175"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B w="6350" cap="flat" cmpd="sng" algn="ctr">
                      <a:solidFill>
                        <a:srgbClr val="B8CCE4"/>
                      </a:solidFill>
                      <a:prstDash val="solid"/>
                      <a:round/>
                      <a:headEnd type="none" w="med" len="med"/>
                      <a:tailEnd type="none" w="med" len="med"/>
                    </a:lnB>
                    <a:solidFill>
                      <a:schemeClr val="accent2">
                        <a:lumMod val="75000"/>
                      </a:schemeClr>
                    </a:solidFill>
                  </a:tcPr>
                </a:tc>
                <a:tc vMerge="1">
                  <a:tcPr>
                    <a:lnR w="12700" cap="flat" cmpd="sng" algn="ctr">
                      <a:solidFill>
                        <a:schemeClr val="tx1"/>
                      </a:solidFill>
                      <a:prstDash val="solid"/>
                      <a:round/>
                      <a:headEnd type="none" w="med" len="med"/>
                      <a:tailEnd type="none" w="med" len="med"/>
                    </a:lnR>
                    <a:lnB w="6350" cap="flat" cmpd="sng" algn="ctr">
                      <a:solidFill>
                        <a:srgbClr val="B8CCE4"/>
                      </a:solidFill>
                      <a:prstDash val="solid"/>
                      <a:round/>
                      <a:headEnd type="none" w="med" len="med"/>
                      <a:tailEnd type="none" w="med" len="med"/>
                    </a:lnB>
                    <a:solidFill>
                      <a:schemeClr val="accent2">
                        <a:lumMod val="75000"/>
                      </a:schemeClr>
                    </a:solidFill>
                  </a:tcPr>
                </a:tc>
              </a:tr>
              <a:tr h="117475">
                <a:tc>
                  <a:txBody>
                    <a:bodyPr/>
                    <a:lstStyle/>
                    <a:p>
                      <a:pPr indent="0" algn="l" fontAlgn="ctr">
                        <a:lnSpc>
                          <a:spcPct val="100000"/>
                        </a:lnSpc>
                      </a:pPr>
                      <a:r>
                        <a:rPr lang="zh-CN" altLang="en-US" sz="700" b="0" i="0">
                          <a:solidFill>
                            <a:srgbClr val="000000"/>
                          </a:solidFill>
                          <a:latin typeface="微软雅黑" panose="020B0503020204020204" pitchFamily="34" charset="-122"/>
                          <a:ea typeface="微软雅黑" panose="020B0503020204020204" pitchFamily="34" charset="-122"/>
                        </a:rPr>
                        <a:t>产业本部</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10.3%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2,672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2,658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2,585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-2.7%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-2,625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-2,609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-2,531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-2,625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3175"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-2,609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3175"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-2,531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3175"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7795">
                <a:tc>
                  <a:txBody>
                    <a:bodyPr/>
                    <a:lstStyle/>
                    <a:p>
                      <a:pPr indent="0" algn="l" fontAlgn="ctr">
                        <a:lnSpc>
                          <a:spcPct val="100000"/>
                        </a:lnSpc>
                      </a:pPr>
                      <a:r>
                        <a:rPr lang="zh-CN" altLang="en-US" sz="700" b="1" i="0">
                          <a:solidFill>
                            <a:srgbClr val="000000"/>
                          </a:solidFill>
                          <a:latin typeface="微软雅黑" panose="020B0503020204020204" pitchFamily="34" charset="-122"/>
                          <a:ea typeface="微软雅黑" panose="020B0503020204020204" pitchFamily="34" charset="-122"/>
                        </a:rPr>
                        <a:t>租赁</a:t>
                      </a:r>
                      <a:r>
                        <a:rPr lang="en-US" altLang="zh-CN" sz="700" b="1" i="0">
                          <a:solidFill>
                            <a:srgbClr val="000000"/>
                          </a:solidFill>
                          <a:latin typeface="微软雅黑" panose="020B0503020204020204" pitchFamily="34" charset="-122"/>
                          <a:ea typeface="微软雅黑" panose="020B0503020204020204" pitchFamily="34" charset="-122"/>
                        </a:rPr>
                        <a:t>-</a:t>
                      </a:r>
                      <a:r>
                        <a:rPr lang="zh-CN" altLang="en-US" sz="700" b="1" i="0">
                          <a:solidFill>
                            <a:srgbClr val="000000"/>
                          </a:solidFill>
                          <a:latin typeface="微软雅黑" panose="020B0503020204020204" pitchFamily="34" charset="-122"/>
                          <a:ea typeface="微软雅黑" panose="020B0503020204020204" pitchFamily="34" charset="-122"/>
                        </a:rPr>
                        <a:t>深圳公司小计</a:t>
                      </a:r>
                      <a:endParaRPr lang="zh-CN" altLang="en-US"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82,905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83,269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84,019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750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0.9%</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10,042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9,879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9,811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-68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-0.7%</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66,248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66,731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67,489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758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1.1%</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63,721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64,203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62,408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-1,795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-2.8%</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39065">
                <a:tc>
                  <a:txBody>
                    <a:bodyPr/>
                    <a:lstStyle/>
                    <a:p>
                      <a:pPr indent="0" algn="l" fontAlgn="ctr">
                        <a:lnSpc>
                          <a:spcPct val="100000"/>
                        </a:lnSpc>
                      </a:pPr>
                      <a:r>
                        <a:rPr lang="zh-CN" altLang="en-US" sz="700" b="0" i="1">
                          <a:solidFill>
                            <a:srgbClr val="000000"/>
                          </a:solidFill>
                          <a:latin typeface="微软雅黑" panose="020B0503020204020204" pitchFamily="34" charset="-122"/>
                          <a:ea typeface="微软雅黑" panose="020B0503020204020204" pitchFamily="34" charset="-122"/>
                        </a:rPr>
                        <a:t>其中：</a:t>
                      </a:r>
                      <a:r>
                        <a:rPr lang="en-US" altLang="zh-CN" sz="700" b="0" i="1">
                          <a:solidFill>
                            <a:srgbClr val="000000"/>
                          </a:solidFill>
                          <a:latin typeface="微软雅黑" panose="020B0503020204020204" pitchFamily="34" charset="-122"/>
                          <a:ea typeface="微软雅黑" panose="020B0503020204020204" pitchFamily="34" charset="-122"/>
                        </a:rPr>
                        <a:t>123</a:t>
                      </a:r>
                      <a:r>
                        <a:rPr lang="zh-CN" altLang="en-US" sz="700" b="0" i="1">
                          <a:solidFill>
                            <a:srgbClr val="000000"/>
                          </a:solidFill>
                          <a:latin typeface="微软雅黑" panose="020B0503020204020204" pitchFamily="34" charset="-122"/>
                          <a:ea typeface="微软雅黑" panose="020B0503020204020204" pitchFamily="34" charset="-122"/>
                        </a:rPr>
                        <a:t>期</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44,868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44,625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41,127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-3,498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-7.8%</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4,002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3,948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3,931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-16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-0.4%</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37,220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37,054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33,878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1" i="0">
                          <a:solidFill>
                            <a:srgbClr val="000000"/>
                          </a:solidFill>
                          <a:latin typeface="微软雅黑" panose="020B0503020204020204" pitchFamily="34" charset="-122"/>
                          <a:ea typeface="微软雅黑" panose="020B0503020204020204" pitchFamily="34" charset="-122"/>
                        </a:rPr>
                        <a:t> -3,176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-8.6%</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35,211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35,045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31,869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-3,176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-9.1%</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0015">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en-US" altLang="zh-CN" sz="700" b="1" i="1">
                          <a:solidFill>
                            <a:srgbClr val="002060"/>
                          </a:solidFill>
                          <a:latin typeface="微软雅黑" panose="020B0503020204020204" pitchFamily="34" charset="-122"/>
                          <a:ea typeface="微软雅黑" panose="020B0503020204020204" pitchFamily="34" charset="-122"/>
                        </a:rPr>
                        <a:t>         </a:t>
                      </a:r>
                      <a:r>
                        <a:rPr lang="zh-CN" altLang="en-US" sz="700" i="1">
                          <a:solidFill>
                            <a:srgbClr val="000000"/>
                          </a:solidFill>
                          <a:latin typeface="微软雅黑" panose="020B0503020204020204" pitchFamily="34" charset="-122"/>
                          <a:ea typeface="微软雅黑" panose="020B0503020204020204" pitchFamily="34" charset="-122"/>
                        </a:rPr>
                        <a:t>双塔组团</a:t>
                      </a:r>
                      <a:endParaRPr lang="zh-CN" altLang="en-US" sz="70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25,001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25,470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30,579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5,108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20.1%</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4,344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4,279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4,008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-271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-6.3%</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18,596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19,095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24,051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4,956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26.0%</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18,596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19,095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21,499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2,403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12.6%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1920">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XH</a:t>
                      </a:r>
                      <a:r>
                        <a:rPr lang="zh-CN" altLang="en-US" sz="700" b="0" i="1">
                          <a:solidFill>
                            <a:srgbClr val="000000"/>
                          </a:solidFill>
                          <a:latin typeface="微软雅黑" panose="020B0503020204020204" pitchFamily="34" charset="-122"/>
                          <a:ea typeface="微软雅黑" panose="020B0503020204020204" pitchFamily="34" charset="-122"/>
                        </a:rPr>
                        <a:t>中心</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8,055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8,062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7,557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-505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580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565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540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-4.5%</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6,810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6,831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6,393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-438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6,387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6,408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5,970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-438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6365">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XH</a:t>
                      </a:r>
                      <a:r>
                        <a:rPr lang="zh-CN" altLang="en-US" sz="700" b="0" i="1">
                          <a:solidFill>
                            <a:srgbClr val="000000"/>
                          </a:solidFill>
                          <a:latin typeface="微软雅黑" panose="020B0503020204020204" pitchFamily="34" charset="-122"/>
                          <a:ea typeface="微软雅黑" panose="020B0503020204020204" pitchFamily="34" charset="-122"/>
                        </a:rPr>
                        <a:t>世纪</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940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1,002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886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-11.6%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8.5%</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776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727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-14.5%</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719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795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671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-15.6%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5730">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银海项目</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3,763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3,773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3,192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-581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-15.4%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628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642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641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-0.2%</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2,954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2,929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2,392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-537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-18.3%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2,918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2,893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2,356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-537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-18.6%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8270">
                <a:tc>
                  <a:txBody>
                    <a:bodyPr/>
                    <a:lstStyle/>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时代大厦</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276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335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4.9%</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216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223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3.6%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92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98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7.4%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7.6%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5730">
                <a:tc>
                  <a:txBody>
                    <a:bodyPr/>
                    <a:p>
                      <a:pPr indent="0" algn="l" fontAlgn="ctr">
                        <a:lnSpc>
                          <a:spcPct val="100000"/>
                        </a:lnSpc>
                        <a:buNone/>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1" i="1">
                          <a:solidFill>
                            <a:srgbClr val="002060"/>
                          </a:solidFill>
                          <a:latin typeface="微软雅黑" panose="020B0503020204020204" pitchFamily="34" charset="-122"/>
                          <a:ea typeface="微软雅黑" panose="020B0503020204020204" pitchFamily="34" charset="-122"/>
                        </a:rPr>
                        <a:t>开市客</a:t>
                      </a:r>
                      <a:endParaRPr lang="zh-CN" altLang="en-US" sz="7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327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352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229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185.8%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57.8%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57.8%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5730">
                <a:tc>
                  <a:txBody>
                    <a:bodyPr/>
                    <a:p>
                      <a:pPr indent="0" algn="l" fontAlgn="ctr">
                        <a:lnSpc>
                          <a:spcPct val="100000"/>
                        </a:lnSpc>
                      </a:pPr>
                      <a:r>
                        <a:rPr lang="zh-CN" altLang="en-US" sz="700" b="1" i="0">
                          <a:solidFill>
                            <a:srgbClr val="000000"/>
                          </a:solidFill>
                          <a:latin typeface="微软雅黑" panose="020B0503020204020204" pitchFamily="34" charset="-122"/>
                          <a:ea typeface="微软雅黑" panose="020B0503020204020204" pitchFamily="34" charset="-122"/>
                        </a:rPr>
                        <a:t>租赁</a:t>
                      </a:r>
                      <a:r>
                        <a:rPr lang="en-US" altLang="zh-CN" sz="700" b="1" i="0">
                          <a:solidFill>
                            <a:srgbClr val="000000"/>
                          </a:solidFill>
                          <a:latin typeface="微软雅黑" panose="020B0503020204020204" pitchFamily="34" charset="-122"/>
                          <a:ea typeface="微软雅黑" panose="020B0503020204020204" pitchFamily="34" charset="-122"/>
                        </a:rPr>
                        <a:t>-</a:t>
                      </a:r>
                      <a:r>
                        <a:rPr lang="zh-CN" altLang="en-US" sz="700" b="1" i="0">
                          <a:solidFill>
                            <a:srgbClr val="000000"/>
                          </a:solidFill>
                          <a:latin typeface="微软雅黑" panose="020B0503020204020204" pitchFamily="34" charset="-122"/>
                          <a:ea typeface="微软雅黑" panose="020B0503020204020204" pitchFamily="34" charset="-122"/>
                        </a:rPr>
                        <a:t>华南小计</a:t>
                      </a:r>
                      <a:endParaRPr lang="zh-CN" altLang="en-US"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9,247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8,646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8,709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0.7%</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2,364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2,844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2,823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-22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-0.8%</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6,139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5,112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5,185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73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1.4%</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5,633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4,593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4,671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1.7%</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27635">
                <a:tc>
                  <a:txBody>
                    <a:bodyPr/>
                    <a:p>
                      <a:pPr indent="0" algn="l" fontAlgn="ctr">
                        <a:lnSpc>
                          <a:spcPct val="100000"/>
                        </a:lnSpc>
                      </a:pPr>
                      <a:r>
                        <a:rPr lang="zh-CN" altLang="en-US" sz="700" b="0" i="1">
                          <a:solidFill>
                            <a:srgbClr val="000000"/>
                          </a:solidFill>
                          <a:latin typeface="微软雅黑" panose="020B0503020204020204" pitchFamily="34" charset="-122"/>
                          <a:ea typeface="微软雅黑" panose="020B0503020204020204" pitchFamily="34" charset="-122"/>
                        </a:rPr>
                        <a:t>其中：发展大厦</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1,359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1,591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-265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-16.7%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573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804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10.9%</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674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738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412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-44.2%</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553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617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-52.8%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7635">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东湾村</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4,016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3,162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3,631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469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14.8%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761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1,146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1,008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-12.1%</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1,755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2,324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569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32.4%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1,755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2,324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569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32.4%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5730">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亚金</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3,150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3,151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2,975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-176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-5.6%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717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686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659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-4.0%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2,191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2,225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2,087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-6.2%</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1,890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1,910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1,778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-6.9%</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7000">
                <a:tc>
                  <a:txBody>
                    <a:bodyPr/>
                    <a:lstStyle/>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en-US" altLang="zh-CN" sz="700" i="1">
                          <a:solidFill>
                            <a:srgbClr val="000000"/>
                          </a:solidFill>
                          <a:latin typeface="微软雅黑" panose="020B0503020204020204" pitchFamily="34" charset="-122"/>
                          <a:ea typeface="微软雅黑" panose="020B0503020204020204" pitchFamily="34" charset="-122"/>
                        </a:rPr>
                        <a:t>云颂府</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612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632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658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4.1%</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290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257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282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9.8%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271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321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-0.4%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199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250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249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-0.5%</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6365">
                <a:tc>
                  <a:txBody>
                    <a:bodyPr/>
                    <a:p>
                      <a:pPr indent="0" algn="l" fontAlgn="ctr">
                        <a:lnSpc>
                          <a:spcPct val="100000"/>
                        </a:lnSpc>
                      </a:pPr>
                      <a:r>
                        <a:rPr lang="en-US" altLang="zh-CN" sz="700" b="0" i="1">
                          <a:solidFill>
                            <a:srgbClr val="000000"/>
                          </a:solidFill>
                          <a:latin typeface="微软雅黑" panose="020B0503020204020204" pitchFamily="34" charset="-122"/>
                          <a:ea typeface="微软雅黑" panose="020B0503020204020204" pitchFamily="34" charset="-122"/>
                        </a:rPr>
                        <a:t>         </a:t>
                      </a:r>
                      <a:r>
                        <a:rPr lang="zh-CN" altLang="en-US" sz="700" b="0" i="1">
                          <a:solidFill>
                            <a:srgbClr val="000000"/>
                          </a:solidFill>
                          <a:latin typeface="微软雅黑" panose="020B0503020204020204" pitchFamily="34" charset="-122"/>
                          <a:ea typeface="微软雅黑" panose="020B0503020204020204" pitchFamily="34" charset="-122"/>
                        </a:rPr>
                        <a:t>珠宝小镇</a:t>
                      </a:r>
                      <a:endParaRPr lang="zh-CN" altLang="en-US" sz="7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9.0%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-15.0%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18.6%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22.3%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6365">
                <a:tc>
                  <a:txBody>
                    <a:bodyPr/>
                    <a:p>
                      <a:pPr indent="0" algn="l" fontAlgn="ctr">
                        <a:lnSpc>
                          <a:spcPct val="100000"/>
                        </a:lnSpc>
                        <a:buNone/>
                      </a:pPr>
                      <a:r>
                        <a:rPr lang="en-US" altLang="zh-CN" sz="700" b="0" i="0">
                          <a:solidFill>
                            <a:srgbClr val="000000"/>
                          </a:solidFill>
                          <a:latin typeface="微软雅黑" panose="020B0503020204020204" pitchFamily="34" charset="-122"/>
                          <a:ea typeface="微软雅黑" panose="020B0503020204020204" pitchFamily="34" charset="-122"/>
                        </a:rPr>
                        <a:t>         </a:t>
                      </a:r>
                      <a:r>
                        <a:rPr lang="zh-CN" altLang="en-US" sz="700" b="1" i="1">
                          <a:solidFill>
                            <a:srgbClr val="002060"/>
                          </a:solidFill>
                          <a:latin typeface="微软雅黑" panose="020B0503020204020204" pitchFamily="34" charset="-122"/>
                          <a:ea typeface="微软雅黑" panose="020B0503020204020204" pitchFamily="34" charset="-122"/>
                        </a:rPr>
                        <a:t>东湾旧改</a:t>
                      </a:r>
                      <a:endParaRPr lang="zh-CN" altLang="en-US" sz="7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7635">
                <a:tc>
                  <a:txBody>
                    <a:bodyPr/>
                    <a:p>
                      <a:pPr indent="0" algn="l" fontAlgn="ctr">
                        <a:lnSpc>
                          <a:spcPct val="100000"/>
                        </a:lnSpc>
                      </a:pPr>
                      <a:r>
                        <a:rPr lang="zh-CN" altLang="en-US" sz="700" b="0" i="0">
                          <a:solidFill>
                            <a:srgbClr val="000000"/>
                          </a:solidFill>
                          <a:latin typeface="微软雅黑" panose="020B0503020204020204" pitchFamily="34" charset="-122"/>
                          <a:ea typeface="微软雅黑" panose="020B0503020204020204" pitchFamily="34" charset="-122"/>
                        </a:rPr>
                        <a:t>租赁</a:t>
                      </a:r>
                      <a:r>
                        <a:rPr lang="en-US" altLang="zh-CN" sz="700" b="0" i="0">
                          <a:solidFill>
                            <a:srgbClr val="000000"/>
                          </a:solidFill>
                          <a:latin typeface="微软雅黑" panose="020B0503020204020204" pitchFamily="34" charset="-122"/>
                          <a:ea typeface="微软雅黑" panose="020B0503020204020204" pitchFamily="34" charset="-122"/>
                        </a:rPr>
                        <a:t>-</a:t>
                      </a:r>
                      <a:r>
                        <a:rPr lang="zh-CN" altLang="en-US" sz="700" b="0" i="0">
                          <a:solidFill>
                            <a:srgbClr val="000000"/>
                          </a:solidFill>
                          <a:latin typeface="微软雅黑" panose="020B0503020204020204" pitchFamily="34" charset="-122"/>
                          <a:ea typeface="微软雅黑" panose="020B0503020204020204" pitchFamily="34" charset="-122"/>
                        </a:rPr>
                        <a:t>南京</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4,567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4,352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3,458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-893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-20.5%</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1,175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1,046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1,117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3,030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2,969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2,069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-30.3%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2,584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2,522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1,673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-850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-33.7%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7635">
                <a:tc>
                  <a:txBody>
                    <a:bodyPr/>
                    <a:lstStyle/>
                    <a:p>
                      <a:pPr indent="0" algn="l" fontAlgn="ctr">
                        <a:lnSpc>
                          <a:spcPct val="100000"/>
                        </a:lnSpc>
                      </a:pPr>
                      <a:r>
                        <a:rPr lang="zh-CN" altLang="en-US" sz="700" b="0" i="0">
                          <a:solidFill>
                            <a:srgbClr val="000000"/>
                          </a:solidFill>
                          <a:latin typeface="微软雅黑" panose="020B0503020204020204" pitchFamily="34" charset="-122"/>
                          <a:ea typeface="微软雅黑" panose="020B0503020204020204" pitchFamily="34" charset="-122"/>
                        </a:rPr>
                        <a:t>租赁</a:t>
                      </a:r>
                      <a:r>
                        <a:rPr lang="en-US" altLang="zh-CN" sz="700" b="0" i="0">
                          <a:solidFill>
                            <a:srgbClr val="000000"/>
                          </a:solidFill>
                          <a:latin typeface="微软雅黑" panose="020B0503020204020204" pitchFamily="34" charset="-122"/>
                          <a:ea typeface="微软雅黑" panose="020B0503020204020204" pitchFamily="34" charset="-122"/>
                        </a:rPr>
                        <a:t>-</a:t>
                      </a:r>
                      <a:r>
                        <a:rPr lang="zh-CN" altLang="en-US" sz="700" b="0" i="0">
                          <a:solidFill>
                            <a:srgbClr val="000000"/>
                          </a:solidFill>
                          <a:latin typeface="微软雅黑" panose="020B0503020204020204" pitchFamily="34" charset="-122"/>
                          <a:ea typeface="微软雅黑" panose="020B0503020204020204" pitchFamily="34" charset="-122"/>
                        </a:rPr>
                        <a:t>惠州</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1,180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1,242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1,201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-3.3%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854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770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1,129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359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46.6%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248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389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-397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-102.1%</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208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347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-419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-120.7%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7000">
                <a:tc>
                  <a:txBody>
                    <a:bodyPr/>
                    <a:lstStyle/>
                    <a:p>
                      <a:pPr indent="0" algn="l" fontAlgn="ctr">
                        <a:lnSpc>
                          <a:spcPct val="100000"/>
                        </a:lnSpc>
                        <a:buClrTx/>
                        <a:buSzTx/>
                        <a:buFontTx/>
                      </a:pPr>
                      <a:r>
                        <a:rPr lang="zh-CN" altLang="en-US" sz="700" i="0">
                          <a:solidFill>
                            <a:srgbClr val="000000"/>
                          </a:solidFill>
                          <a:latin typeface="微软雅黑" panose="020B0503020204020204" pitchFamily="34" charset="-122"/>
                          <a:ea typeface="微软雅黑" panose="020B0503020204020204" pitchFamily="34" charset="-122"/>
                        </a:rPr>
                        <a:t>租赁-苏州</a:t>
                      </a:r>
                      <a:endParaRPr lang="zh-CN" altLang="en-US" sz="70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167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195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313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118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60.6%</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119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95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180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86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90.5%</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84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106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26.7%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223.0%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6365">
                <a:tc>
                  <a:txBody>
                    <a:bodyPr/>
                    <a:lstStyle/>
                    <a:p>
                      <a:pPr indent="0" algn="l" fontAlgn="ctr">
                        <a:lnSpc>
                          <a:spcPct val="100000"/>
                        </a:lnSpc>
                        <a:buClrTx/>
                        <a:buSzTx/>
                        <a:buFontTx/>
                      </a:pPr>
                      <a:r>
                        <a:rPr lang="zh-CN" altLang="en-US" sz="700" i="0">
                          <a:solidFill>
                            <a:srgbClr val="000000"/>
                          </a:solidFill>
                          <a:latin typeface="微软雅黑" panose="020B0503020204020204" pitchFamily="34" charset="-122"/>
                          <a:ea typeface="微软雅黑" panose="020B0503020204020204" pitchFamily="34" charset="-122"/>
                        </a:rPr>
                        <a:t>租赁-成都</a:t>
                      </a:r>
                      <a:endParaRPr lang="zh-CN" altLang="en-US" sz="70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454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559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768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37.4%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423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379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436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15.0%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134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268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135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101.0%</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-63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184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138.8%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8270">
                <a:tc>
                  <a:txBody>
                    <a:bodyPr/>
                    <a:lstStyle/>
                    <a:p>
                      <a:pPr indent="0" algn="l" fontAlgn="ctr">
                        <a:lnSpc>
                          <a:spcPct val="100000"/>
                        </a:lnSpc>
                      </a:pPr>
                      <a:r>
                        <a:rPr lang="zh-CN" altLang="en-US" sz="700" b="0" i="0">
                          <a:solidFill>
                            <a:srgbClr val="000000"/>
                          </a:solidFill>
                          <a:latin typeface="微软雅黑" panose="020B0503020204020204" pitchFamily="34" charset="-122"/>
                          <a:ea typeface="微软雅黑" panose="020B0503020204020204" pitchFamily="34" charset="-122"/>
                        </a:rPr>
                        <a:t>租赁</a:t>
                      </a:r>
                      <a:r>
                        <a:rPr lang="en-US" altLang="zh-CN" sz="700" b="0" i="0">
                          <a:solidFill>
                            <a:srgbClr val="000000"/>
                          </a:solidFill>
                          <a:latin typeface="微软雅黑" panose="020B0503020204020204" pitchFamily="34" charset="-122"/>
                          <a:ea typeface="微软雅黑" panose="020B0503020204020204" pitchFamily="34" charset="-122"/>
                        </a:rPr>
                        <a:t>-</a:t>
                      </a:r>
                      <a:r>
                        <a:rPr lang="zh-CN" altLang="en-US" sz="700" b="0" i="0">
                          <a:solidFill>
                            <a:srgbClr val="000000"/>
                          </a:solidFill>
                          <a:latin typeface="微软雅黑" panose="020B0503020204020204" pitchFamily="34" charset="-122"/>
                          <a:ea typeface="微软雅黑" panose="020B0503020204020204" pitchFamily="34" charset="-122"/>
                        </a:rPr>
                        <a:t>研究院</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1,251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1,351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1,286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-65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-4.8%</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759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756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789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4.3%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421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532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-20.4%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421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532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424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-20.4%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25730">
                <a:tc>
                  <a:txBody>
                    <a:bodyPr/>
                    <a:lstStyle/>
                    <a:p>
                      <a:pPr indent="0" algn="l" fontAlgn="ctr">
                        <a:lnSpc>
                          <a:spcPct val="100000"/>
                        </a:lnSpc>
                      </a:pPr>
                      <a:r>
                        <a:rPr lang="zh-CN" altLang="en-US" sz="700" b="0" i="0">
                          <a:solidFill>
                            <a:srgbClr val="000000"/>
                          </a:solidFill>
                          <a:latin typeface="微软雅黑" panose="020B0503020204020204" pitchFamily="34" charset="-122"/>
                          <a:ea typeface="微软雅黑" panose="020B0503020204020204" pitchFamily="34" charset="-122"/>
                        </a:rPr>
                        <a:t>租赁</a:t>
                      </a:r>
                      <a:r>
                        <a:rPr lang="en-US" altLang="zh-CN" sz="700" b="0" i="0">
                          <a:solidFill>
                            <a:srgbClr val="000000"/>
                          </a:solidFill>
                          <a:latin typeface="微软雅黑" panose="020B0503020204020204" pitchFamily="34" charset="-122"/>
                          <a:ea typeface="微软雅黑" panose="020B0503020204020204" pitchFamily="34" charset="-122"/>
                        </a:rPr>
                        <a:t>-</a:t>
                      </a:r>
                      <a:r>
                        <a:rPr lang="zh-CN" altLang="en-US" sz="700" b="0" i="0">
                          <a:solidFill>
                            <a:srgbClr val="000000"/>
                          </a:solidFill>
                          <a:latin typeface="微软雅黑" panose="020B0503020204020204" pitchFamily="34" charset="-122"/>
                          <a:ea typeface="微软雅黑" panose="020B0503020204020204" pitchFamily="34" charset="-122"/>
                        </a:rPr>
                        <a:t>美餐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592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475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407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-68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-14.3%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377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302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281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-22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-7.2%</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190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144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109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700" b="0" i="0">
                          <a:solidFill>
                            <a:srgbClr val="000000"/>
                          </a:solidFill>
                          <a:latin typeface="微软雅黑" panose="020B0503020204020204" pitchFamily="34" charset="-122"/>
                          <a:ea typeface="微软雅黑" panose="020B0503020204020204" pitchFamily="34" charset="-122"/>
                        </a:rPr>
                        <a:t> -35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-24.4%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190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144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109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-24.4%</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27000">
                <a:tc>
                  <a:txBody>
                    <a:bodyPr/>
                    <a:p>
                      <a:pPr indent="0" algn="l" fontAlgn="ctr">
                        <a:lnSpc>
                          <a:spcPct val="100000"/>
                        </a:lnSpc>
                        <a:buClrTx/>
                        <a:buSzTx/>
                        <a:buFontTx/>
                        <a:buNone/>
                      </a:pPr>
                      <a:r>
                        <a:rPr lang="zh-CN" altLang="en-US" sz="700" b="1" i="1">
                          <a:solidFill>
                            <a:srgbClr val="002060"/>
                          </a:solidFill>
                          <a:latin typeface="微软雅黑" panose="020B0503020204020204" pitchFamily="34" charset="-122"/>
                          <a:ea typeface="微软雅黑" panose="020B0503020204020204" pitchFamily="34" charset="-122"/>
                        </a:rPr>
                        <a:t>租赁-苏州昆山</a:t>
                      </a:r>
                      <a:endParaRPr lang="zh-CN" altLang="en-US" sz="7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962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988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990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0.3%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735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584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808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224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38.3%</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173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347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-221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-63.7%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173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347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126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-221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-63.7%</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4465">
                <a:tc>
                  <a:txBody>
                    <a:bodyPr/>
                    <a:p>
                      <a:pPr indent="0" algn="l" fontAlgn="ctr">
                        <a:lnSpc>
                          <a:spcPct val="100000"/>
                        </a:lnSpc>
                      </a:pPr>
                      <a:r>
                        <a:rPr lang="zh-CN" altLang="en-US" sz="700" b="1" i="0">
                          <a:solidFill>
                            <a:srgbClr val="FF0000"/>
                          </a:solidFill>
                          <a:latin typeface="微软雅黑" panose="020B0503020204020204" pitchFamily="34" charset="-122"/>
                          <a:ea typeface="微软雅黑" panose="020B0503020204020204" pitchFamily="34" charset="-122"/>
                        </a:rPr>
                        <a:t>租赁合计</a:t>
                      </a:r>
                      <a:endParaRPr lang="zh-CN" altLang="en-US" sz="7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101,374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101,127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101,208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81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0.1%</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19,520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19,315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19,959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644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3.3%</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73,852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73,833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73,236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-597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FC000"/>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-0.8%</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70,171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70,182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67,074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-3,108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-4.4%</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170815">
                <a:tc>
                  <a:txBody>
                    <a:bodyPr/>
                    <a:p>
                      <a:pPr indent="0" algn="l" fontAlgn="ctr">
                        <a:lnSpc>
                          <a:spcPct val="100000"/>
                        </a:lnSpc>
                        <a:buNone/>
                      </a:pPr>
                      <a:r>
                        <a:rPr lang="zh-CN" altLang="en-US" sz="700" b="1" i="1">
                          <a:latin typeface="微软雅黑" panose="020B0503020204020204" pitchFamily="34" charset="-122"/>
                          <a:ea typeface="微软雅黑" panose="020B0503020204020204" pitchFamily="34" charset="-122"/>
                          <a:sym typeface="+mn-ea"/>
                        </a:rPr>
                        <a:t>其中：现有口径</a:t>
                      </a:r>
                      <a:endParaRPr lang="zh-CN" altLang="en-US" sz="700" b="1" i="1">
                        <a:solidFill>
                          <a:schemeClr val="tx1"/>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100,410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100,138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99,890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-247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-0.2%</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18,660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18,608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18,755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147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0.8%</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73,803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73,608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73,206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-401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-0.5%</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70,122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69,956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67,044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 -2,912 </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000000"/>
                          </a:solidFill>
                          <a:latin typeface="微软雅黑" panose="020B0503020204020204" pitchFamily="34" charset="-122"/>
                          <a:ea typeface="微软雅黑" panose="020B0503020204020204" pitchFamily="34" charset="-122"/>
                        </a:rPr>
                        <a:t>-4.2%</a:t>
                      </a:r>
                      <a:endParaRPr lang="en-US" altLang="zh-CN" sz="7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53670">
                <a:tc>
                  <a:txBody>
                    <a:bodyPr/>
                    <a:p>
                      <a:pPr indent="0" algn="l" fontAlgn="ctr">
                        <a:lnSpc>
                          <a:spcPct val="100000"/>
                        </a:lnSpc>
                      </a:pPr>
                      <a:r>
                        <a:rPr lang="zh-CN" altLang="en-US" sz="700" b="1" i="1">
                          <a:solidFill>
                            <a:srgbClr val="1F497D"/>
                          </a:solidFill>
                          <a:latin typeface="微软雅黑" panose="020B0503020204020204" pitchFamily="34" charset="-122"/>
                          <a:ea typeface="微软雅黑" panose="020B0503020204020204" pitchFamily="34" charset="-122"/>
                          <a:sym typeface="+mn-ea"/>
                        </a:rPr>
                        <a:t>新增</a:t>
                      </a:r>
                      <a:r>
                        <a:rPr lang="en-US" altLang="zh-CN" sz="700" b="1" i="1">
                          <a:solidFill>
                            <a:srgbClr val="1F497D"/>
                          </a:solidFill>
                          <a:latin typeface="微软雅黑" panose="020B0503020204020204" pitchFamily="34" charset="-122"/>
                          <a:ea typeface="微软雅黑" panose="020B0503020204020204" pitchFamily="34" charset="-122"/>
                          <a:sym typeface="+mn-ea"/>
                        </a:rPr>
                        <a:t>/</a:t>
                      </a:r>
                      <a:r>
                        <a:rPr lang="zh-CN" altLang="en-US" sz="700" b="1" i="1">
                          <a:solidFill>
                            <a:srgbClr val="1F497D"/>
                          </a:solidFill>
                          <a:latin typeface="微软雅黑" panose="020B0503020204020204" pitchFamily="34" charset="-122"/>
                          <a:ea typeface="微软雅黑" panose="020B0503020204020204" pitchFamily="34" charset="-122"/>
                          <a:sym typeface="+mn-ea"/>
                        </a:rPr>
                        <a:t>改造口径</a:t>
                      </a:r>
                      <a:endParaRPr lang="zh-CN" altLang="en-US" sz="700" b="1" i="1">
                        <a:solidFill>
                          <a:srgbClr val="1F497D"/>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327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326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22636.3%</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125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123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396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273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222.0%</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-124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-122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-96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25.7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21.1%</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-124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-122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-96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26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21.1%</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70180">
                <a:tc>
                  <a:txBody>
                    <a:bodyPr/>
                    <a:p>
                      <a:pPr indent="0" algn="l" fontAlgn="ctr">
                        <a:lnSpc>
                          <a:spcPct val="100000"/>
                        </a:lnSpc>
                        <a:buNone/>
                      </a:pPr>
                      <a:r>
                        <a:rPr lang="zh-CN" sz="700" b="1" i="1">
                          <a:solidFill>
                            <a:srgbClr val="1F497D"/>
                          </a:solidFill>
                          <a:latin typeface="微软雅黑" panose="020B0503020204020204" pitchFamily="34" charset="-122"/>
                          <a:ea typeface="微软雅黑" panose="020B0503020204020204" pitchFamily="34" charset="-122"/>
                          <a:sym typeface="+mn-ea"/>
                        </a:rPr>
                        <a:t>轻资产</a:t>
                      </a:r>
                      <a:r>
                        <a:rPr lang="zh-CN" altLang="en-US" sz="700" b="1" i="1">
                          <a:solidFill>
                            <a:srgbClr val="1F497D"/>
                          </a:solidFill>
                          <a:latin typeface="微软雅黑" panose="020B0503020204020204" pitchFamily="34" charset="-122"/>
                          <a:ea typeface="微软雅黑" panose="020B0503020204020204" pitchFamily="34" charset="-122"/>
                          <a:sym typeface="+mn-ea"/>
                        </a:rPr>
                        <a:t>口径</a:t>
                      </a:r>
                      <a:endParaRPr lang="zh-CN" altLang="en-US" sz="700" b="1" i="1">
                        <a:solidFill>
                          <a:srgbClr val="1F497D"/>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962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988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990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3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0.3%</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735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584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808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224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38.3%</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173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347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-221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-63.7%</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173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347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126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 -221 </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700" b="1" i="1">
                          <a:solidFill>
                            <a:srgbClr val="1F497D"/>
                          </a:solidFill>
                          <a:latin typeface="微软雅黑" panose="020B0503020204020204" pitchFamily="34" charset="-122"/>
                          <a:ea typeface="微软雅黑" panose="020B0503020204020204" pitchFamily="34" charset="-122"/>
                        </a:rPr>
                        <a:t>-63.7%</a:t>
                      </a:r>
                      <a:endParaRPr lang="en-US" altLang="zh-CN" sz="7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487" y="21624"/>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rPr>
              <a:t>租赁预算情况</a:t>
            </a:r>
            <a:endParaRPr kumimoji="0" lang="zh-CN" altLang="en-US" sz="1800" b="1" i="0" u="none" strike="noStrike" kern="1200" cap="none" spc="-41" normalizeH="0" baseline="0" noProof="0" dirty="0" smtClean="0">
              <a:ln>
                <a:noFill/>
              </a:ln>
              <a:solidFill>
                <a:srgbClr val="002060"/>
              </a:solidFill>
              <a:effectLst/>
              <a:uLnTx/>
              <a:uFillTx/>
            </a:endParaRPr>
          </a:p>
        </p:txBody>
      </p:sp>
      <p:graphicFrame>
        <p:nvGraphicFramePr>
          <p:cNvPr id="3" name="表格 2"/>
          <p:cNvGraphicFramePr>
            <a:graphicFrameLocks noGrp="1"/>
          </p:cNvGraphicFramePr>
          <p:nvPr>
            <p:custDataLst>
              <p:tags r:id="rId1"/>
            </p:custDataLst>
          </p:nvPr>
        </p:nvGraphicFramePr>
        <p:xfrm>
          <a:off x="348615" y="596900"/>
          <a:ext cx="8564245" cy="4445000"/>
        </p:xfrm>
        <a:graphic>
          <a:graphicData uri="http://schemas.openxmlformats.org/drawingml/2006/table">
            <a:tbl>
              <a:tblPr/>
              <a:tblGrid>
                <a:gridCol w="1090930"/>
                <a:gridCol w="560705"/>
                <a:gridCol w="596265"/>
                <a:gridCol w="537210"/>
                <a:gridCol w="451485"/>
                <a:gridCol w="470535"/>
                <a:gridCol w="521970"/>
                <a:gridCol w="509270"/>
                <a:gridCol w="532765"/>
                <a:gridCol w="442595"/>
                <a:gridCol w="457835"/>
                <a:gridCol w="489585"/>
                <a:gridCol w="508635"/>
                <a:gridCol w="518795"/>
                <a:gridCol w="407670"/>
                <a:gridCol w="467995"/>
              </a:tblGrid>
              <a:tr h="184785">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项目</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NPI</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hMerge="1">
                  <a:tcPr>
                    <a:lnT w="12700" cap="flat" cmpd="sng" algn="ctr">
                      <a:solidFill>
                        <a:schemeClr val="tx1"/>
                      </a:solidFill>
                      <a:prstDash val="solid"/>
                      <a:round/>
                      <a:headEnd type="none" w="med" len="med"/>
                      <a:tailEnd type="none" w="med" len="med"/>
                    </a:lnT>
                  </a:tcPr>
                </a:tc>
                <a:tc hMerge="1">
                  <a:tcPr>
                    <a:lnT w="12700" cap="flat" cmpd="sng" algn="ctr">
                      <a:solidFill>
                        <a:schemeClr val="tx1"/>
                      </a:solidFill>
                      <a:prstDash val="solid"/>
                      <a:round/>
                      <a:headEnd type="none" w="med" len="med"/>
                      <a:tailEnd type="none" w="med" len="med"/>
                    </a:lnT>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gridSpan="3">
                  <a:txBody>
                    <a:bodyPr/>
                    <a:lstStyle/>
                    <a:p>
                      <a:pPr algn="ctr" fontAlgn="ct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EBITDA</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hMerge="1">
                  <a:tcPr/>
                </a:tc>
                <a:tc hMerge="1">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gridSpan="3">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经营活动净额</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hMerge="1">
                  <a:tcPr>
                    <a:lnT w="12700" cap="flat" cmpd="sng" algn="ctr">
                      <a:solidFill>
                        <a:schemeClr val="tx1"/>
                      </a:solidFill>
                      <a:prstDash val="solid"/>
                      <a:round/>
                      <a:headEnd type="none" w="med" len="med"/>
                      <a:tailEnd type="none" w="med" len="med"/>
                    </a:lnT>
                  </a:tcPr>
                </a:tc>
                <a:tc hMerge="1">
                  <a:tcPr>
                    <a:lnT w="12700" cap="flat" cmpd="sng" algn="ctr">
                      <a:solidFill>
                        <a:schemeClr val="tx1"/>
                      </a:solidFill>
                      <a:prstDash val="solid"/>
                      <a:round/>
                      <a:headEnd type="none" w="med" len="med"/>
                      <a:tailEnd type="none" w="med" len="med"/>
                    </a:lnT>
                  </a:tcPr>
                </a:tc>
                <a:tc rowSpan="2">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差异</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rowSpan="2">
                  <a:txBody>
                    <a:bodyPr/>
                    <a:p>
                      <a:pPr algn="ctr" fontAlgn="ctr">
                        <a:buNone/>
                      </a:pP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增幅</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r>
              <a:tr h="270510">
                <a:tc vMerge="1">
                  <a:tcPr>
                    <a:lnR w="12700" cap="flat" cmpd="sng" algn="ctr">
                      <a:solidFill>
                        <a:schemeClr val="tx1"/>
                      </a:solidFill>
                      <a:prstDash val="solid"/>
                      <a:round/>
                      <a:headEnd type="none" w="med" len="med"/>
                      <a:tailEnd type="none" w="med" len="med"/>
                    </a:lnR>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vMerge="1">
                  <a:tcPr/>
                </a:tc>
                <a:tc vMerge="1">
                  <a:tcPr>
                    <a:lnR w="12700" cap="flat" cmpd="sng" algn="ctr">
                      <a:solidFill>
                        <a:schemeClr val="tx1"/>
                      </a:solidFill>
                      <a:prstDash val="solid"/>
                      <a:round/>
                      <a:headEnd type="none" w="med" len="med"/>
                      <a:tailEnd type="none" w="med" len="med"/>
                    </a:lnR>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1">
                        <a:lumMod val="50000"/>
                      </a:schemeClr>
                    </a:solidFill>
                  </a:tcPr>
                </a:tc>
                <a:tc vMerge="1">
                  <a:tcPr/>
                </a:tc>
                <a:tc vMerge="1">
                  <a:tcPr>
                    <a:lnR w="12700" cap="flat" cmpd="sng" algn="ctr">
                      <a:solidFill>
                        <a:schemeClr val="tx1"/>
                      </a:solidFill>
                      <a:prstDash val="solid"/>
                      <a:round/>
                      <a:headEnd type="none" w="med" len="med"/>
                      <a:tailEnd type="none" w="med" len="med"/>
                    </a:lnR>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2025年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预计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a:txBody>
                    <a:bodyPr/>
                    <a:lstStyle/>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 </a:t>
                      </a:r>
                      <a:r>
                        <a:rPr lang="en-US" altLang="zh-CN" sz="800" b="1" i="0" u="none" strike="noStrike">
                          <a:solidFill>
                            <a:srgbClr val="FFFFFF"/>
                          </a:solidFill>
                          <a:effectLst/>
                          <a:latin typeface="微软雅黑" panose="020B0503020204020204" pitchFamily="34" charset="-122"/>
                          <a:ea typeface="微软雅黑" panose="020B0503020204020204" pitchFamily="34" charset="-122"/>
                        </a:rPr>
                        <a:t>2026年</a:t>
                      </a:r>
                      <a:endParaRPr lang="en-US" altLang="zh-CN" sz="800" b="1" i="0" u="none" strike="noStrike">
                        <a:solidFill>
                          <a:srgbClr val="FFFFFF"/>
                        </a:solidFill>
                        <a:effectLst/>
                        <a:latin typeface="微软雅黑" panose="020B0503020204020204" pitchFamily="34" charset="-122"/>
                        <a:ea typeface="微软雅黑" panose="020B0503020204020204" pitchFamily="34" charset="-122"/>
                      </a:endParaRPr>
                    </a:p>
                    <a:p>
                      <a:pPr algn="ctr" fontAlgn="ctr"/>
                      <a:r>
                        <a:rPr lang="zh-CN" altLang="en-US" sz="800" b="1" i="0" u="none" strike="noStrike">
                          <a:solidFill>
                            <a:srgbClr val="FFFFFF"/>
                          </a:solidFill>
                          <a:effectLst/>
                          <a:latin typeface="微软雅黑" panose="020B0503020204020204" pitchFamily="34" charset="-122"/>
                          <a:ea typeface="微软雅黑" panose="020B0503020204020204" pitchFamily="34" charset="-122"/>
                        </a:rPr>
                        <a:t>预算 </a:t>
                      </a:r>
                      <a:endParaRPr lang="zh-CN" altLang="en-US" sz="800" b="1" i="0" u="none" strike="noStrike">
                        <a:solidFill>
                          <a:srgbClr val="FFFFFF"/>
                        </a:solidFill>
                        <a:effectLst/>
                        <a:latin typeface="微软雅黑" panose="020B0503020204020204" pitchFamily="34" charset="-122"/>
                        <a:ea typeface="微软雅黑" panose="020B0503020204020204" pitchFamily="34" charset="-122"/>
                      </a:endParaRPr>
                    </a:p>
                  </a:txBody>
                  <a:tcPr marL="6222" marR="6222" marT="6222"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chemeClr val="accent2">
                        <a:lumMod val="75000"/>
                      </a:schemeClr>
                    </a:solidFill>
                  </a:tcPr>
                </a:tc>
                <a:tc vMerge="1">
                  <a:tcPr/>
                </a:tc>
                <a:tc vMerge="1">
                  <a:tcPr>
                    <a:lnR w="12700" cap="flat" cmpd="sng" algn="ctr">
                      <a:solidFill>
                        <a:schemeClr val="tx1"/>
                      </a:solidFill>
                      <a:prstDash val="solid"/>
                      <a:round/>
                      <a:headEnd type="none" w="med" len="med"/>
                      <a:tailEnd type="none" w="med" len="med"/>
                    </a:lnR>
                    <a:lnB w="6350" cap="flat" cmpd="sng" algn="ctr">
                      <a:solidFill>
                        <a:srgbClr val="B8CCE4"/>
                      </a:solidFill>
                      <a:prstDash val="solid"/>
                      <a:round/>
                      <a:headEnd type="none" w="med" len="med"/>
                      <a:tailEnd type="none" w="med" len="med"/>
                    </a:lnB>
                    <a:solidFill>
                      <a:schemeClr val="accent2">
                        <a:lumMod val="75000"/>
                      </a:schemeClr>
                    </a:solidFill>
                  </a:tcPr>
                </a:tc>
              </a:tr>
              <a:tr h="139065">
                <a:tc>
                  <a:txBody>
                    <a:bodyPr/>
                    <a:lstStyle/>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产业本部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-2,928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-2,910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-2,884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1450">
                <a:tc>
                  <a:txBody>
                    <a:bodyPr/>
                    <a:lstStyle/>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租赁</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深圳公司小计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62,563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63,109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61,193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-1,916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-3.0%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62,563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63,109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61,193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-1,916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-3.0%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63,422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64,997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64,323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-674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73990">
                <a:tc>
                  <a:txBody>
                    <a:bodyPr/>
                    <a:lstStyle/>
                    <a:p>
                      <a:pPr indent="0" algn="l" fontAlgn="ctr">
                        <a:lnSpc>
                          <a:spcPct val="100000"/>
                        </a:lnSpc>
                      </a:pPr>
                      <a:r>
                        <a:rPr lang="zh-CN" altLang="en-US" sz="800" b="0" i="1">
                          <a:solidFill>
                            <a:srgbClr val="000000"/>
                          </a:solidFill>
                          <a:latin typeface="微软雅黑" panose="020B0503020204020204" pitchFamily="34" charset="-122"/>
                          <a:ea typeface="微软雅黑" panose="020B0503020204020204" pitchFamily="34" charset="-122"/>
                        </a:rPr>
                        <a:t>其中：</a:t>
                      </a:r>
                      <a:r>
                        <a:rPr lang="en-US" altLang="zh-CN" sz="800" b="0" i="1">
                          <a:solidFill>
                            <a:srgbClr val="000000"/>
                          </a:solidFill>
                          <a:latin typeface="微软雅黑" panose="020B0503020204020204" pitchFamily="34" charset="-122"/>
                          <a:ea typeface="微软雅黑" panose="020B0503020204020204" pitchFamily="34" charset="-122"/>
                        </a:rPr>
                        <a:t>123</a:t>
                      </a:r>
                      <a:r>
                        <a:rPr lang="zh-CN" altLang="en-US" sz="800" b="0" i="1">
                          <a:solidFill>
                            <a:srgbClr val="000000"/>
                          </a:solidFill>
                          <a:latin typeface="微软雅黑" panose="020B0503020204020204" pitchFamily="34" charset="-122"/>
                          <a:ea typeface="微软雅黑" panose="020B0503020204020204" pitchFamily="34" charset="-122"/>
                        </a:rPr>
                        <a:t>期</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34,584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34,458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31,274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-3,184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-9.2%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34,584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34,458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1" i="0">
                          <a:solidFill>
                            <a:srgbClr val="000000"/>
                          </a:solidFill>
                          <a:latin typeface="微软雅黑" panose="020B0503020204020204" pitchFamily="34" charset="-122"/>
                          <a:ea typeface="微软雅黑" panose="020B0503020204020204" pitchFamily="34" charset="-122"/>
                        </a:rPr>
                        <a:t> 31,274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-3,184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-9.2%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52,289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54,227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55,011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lstStyle/>
                    <a:p>
                      <a:pPr algn="ctr" fontAlgn="ctr"/>
                      <a:r>
                        <a:rPr lang="en-US" altLang="zh-CN" sz="800" b="0" i="0">
                          <a:solidFill>
                            <a:srgbClr val="000000"/>
                          </a:solidFill>
                          <a:latin typeface="微软雅黑" panose="020B0503020204020204" pitchFamily="34" charset="-122"/>
                          <a:ea typeface="微软雅黑" panose="020B0503020204020204" pitchFamily="34" charset="-122"/>
                        </a:rPr>
                        <a:t> 784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82245">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b="1" i="1">
                          <a:solidFill>
                            <a:srgbClr val="002060"/>
                          </a:solidFill>
                          <a:latin typeface="微软雅黑" panose="020B0503020204020204" pitchFamily="34" charset="-122"/>
                          <a:ea typeface="微软雅黑" panose="020B0503020204020204" pitchFamily="34" charset="-122"/>
                        </a:rPr>
                        <a:t>         </a:t>
                      </a:r>
                      <a:r>
                        <a:rPr lang="zh-CN" altLang="en-US" sz="800" i="1">
                          <a:solidFill>
                            <a:srgbClr val="000000"/>
                          </a:solidFill>
                          <a:latin typeface="微软雅黑" panose="020B0503020204020204" pitchFamily="34" charset="-122"/>
                          <a:ea typeface="微软雅黑" panose="020B0503020204020204" pitchFamily="34" charset="-122"/>
                        </a:rPr>
                        <a:t>双塔组团</a:t>
                      </a:r>
                      <a:endParaRPr lang="zh-CN" altLang="en-US" sz="80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18,247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18,761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21,057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2,296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12.2%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18,247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18,761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21,057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2,296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XH</a:t>
                      </a:r>
                      <a:r>
                        <a:rPr lang="zh-CN" altLang="en-US" sz="800" b="0" i="1">
                          <a:solidFill>
                            <a:srgbClr val="000000"/>
                          </a:solidFill>
                          <a:latin typeface="微软雅黑" panose="020B0503020204020204" pitchFamily="34" charset="-122"/>
                          <a:ea typeface="微软雅黑" panose="020B0503020204020204" pitchFamily="34" charset="-122"/>
                        </a:rPr>
                        <a:t>中心</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6,302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5,860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6,302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5,860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8,391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8,126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7,527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-599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rowSpan="2">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XH</a:t>
                      </a:r>
                      <a:r>
                        <a:rPr lang="zh-CN" altLang="en-US" sz="800" b="0" i="1">
                          <a:solidFill>
                            <a:srgbClr val="000000"/>
                          </a:solidFill>
                          <a:latin typeface="微软雅黑" panose="020B0503020204020204" pitchFamily="34" charset="-122"/>
                          <a:ea typeface="微软雅黑" panose="020B0503020204020204" pitchFamily="34" charset="-122"/>
                        </a:rPr>
                        <a:t>世纪</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-15.8%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-15.8%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vMerge="1">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银海项目</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-18.8%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-18.8%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-793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lstStyle/>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时代大厦</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40335">
                <a:tc>
                  <a:txBody>
                    <a:bodyPr/>
                    <a:p>
                      <a:pPr indent="0" algn="l" fontAlgn="ctr">
                        <a:lnSpc>
                          <a:spcPct val="100000"/>
                        </a:lnSpc>
                        <a:buNone/>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1" i="1">
                          <a:solidFill>
                            <a:srgbClr val="002060"/>
                          </a:solidFill>
                          <a:latin typeface="微软雅黑" panose="020B0503020204020204" pitchFamily="34" charset="-122"/>
                          <a:ea typeface="微软雅黑" panose="020B0503020204020204" pitchFamily="34" charset="-122"/>
                        </a:rPr>
                        <a:t>开市客</a:t>
                      </a:r>
                      <a:endParaRPr lang="zh-CN" altLang="en-US" sz="8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53.9%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租赁</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华南小计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5,503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2,357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-532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-88.1%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39065">
                <a:tc>
                  <a:txBody>
                    <a:bodyPr/>
                    <a:p>
                      <a:pPr indent="0" algn="l" fontAlgn="ctr">
                        <a:lnSpc>
                          <a:spcPct val="100000"/>
                        </a:lnSpc>
                      </a:pPr>
                      <a:r>
                        <a:rPr lang="zh-CN" altLang="en-US" sz="800" b="0" i="1">
                          <a:solidFill>
                            <a:srgbClr val="000000"/>
                          </a:solidFill>
                          <a:latin typeface="微软雅黑" panose="020B0503020204020204" pitchFamily="34" charset="-122"/>
                          <a:ea typeface="微软雅黑" panose="020B0503020204020204" pitchFamily="34" charset="-122"/>
                        </a:rPr>
                        <a:t>其中：发展大厦</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-126.7%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东湾村</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32.6%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-1,092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亚金</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1,869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1,869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lstStyle/>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en-US" altLang="zh-CN" sz="800" i="1">
                          <a:solidFill>
                            <a:srgbClr val="000000"/>
                          </a:solidFill>
                          <a:latin typeface="微软雅黑" panose="020B0503020204020204" pitchFamily="34" charset="-122"/>
                          <a:ea typeface="微软雅黑" panose="020B0503020204020204" pitchFamily="34" charset="-122"/>
                        </a:rPr>
                        <a:t>云颂府</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-68.7%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p>
                      <a:pPr indent="0" algn="l" fontAlgn="ctr">
                        <a:lnSpc>
                          <a:spcPct val="100000"/>
                        </a:lnSpc>
                      </a:pP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珠宝小镇</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-28.1%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p>
                      <a:pPr indent="0" algn="l" fontAlgn="ctr">
                        <a:lnSpc>
                          <a:spcPct val="100000"/>
                        </a:lnSpc>
                        <a:buNone/>
                      </a:pP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1" i="1">
                          <a:solidFill>
                            <a:srgbClr val="002060"/>
                          </a:solidFill>
                          <a:latin typeface="微软雅黑" panose="020B0503020204020204" pitchFamily="34" charset="-122"/>
                          <a:ea typeface="微软雅黑" panose="020B0503020204020204" pitchFamily="34" charset="-122"/>
                        </a:rPr>
                        <a:t>东湾旧改</a:t>
                      </a:r>
                      <a:endParaRPr lang="zh-CN" altLang="en-US" sz="8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南京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-34.2%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2,077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-91.5%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lstStyle/>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惠州</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-127.0%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-127.0%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-202.7%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lstStyle/>
                    <a:p>
                      <a:pPr indent="0" algn="l" fontAlgn="ctr">
                        <a:lnSpc>
                          <a:spcPct val="100000"/>
                        </a:lnSpc>
                        <a:buClrTx/>
                        <a:buSzTx/>
                        <a:buFontTx/>
                      </a:pPr>
                      <a:r>
                        <a:rPr lang="zh-CN" altLang="en-US" sz="800" i="0">
                          <a:solidFill>
                            <a:srgbClr val="000000"/>
                          </a:solidFill>
                          <a:latin typeface="微软雅黑" panose="020B0503020204020204" pitchFamily="34" charset="-122"/>
                          <a:ea typeface="微软雅黑" panose="020B0503020204020204" pitchFamily="34" charset="-122"/>
                        </a:rPr>
                        <a:t>租赁-苏州</a:t>
                      </a:r>
                      <a:endParaRPr lang="zh-CN" altLang="en-US" sz="80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239.1%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239.1%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385.4%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lstStyle/>
                    <a:p>
                      <a:pPr indent="0" algn="l" fontAlgn="ctr">
                        <a:lnSpc>
                          <a:spcPct val="100000"/>
                        </a:lnSpc>
                        <a:buClrTx/>
                        <a:buSzTx/>
                        <a:buFontTx/>
                      </a:pPr>
                      <a:r>
                        <a:rPr lang="zh-CN" altLang="en-US" sz="800" i="0">
                          <a:solidFill>
                            <a:srgbClr val="000000"/>
                          </a:solidFill>
                          <a:latin typeface="微软雅黑" panose="020B0503020204020204" pitchFamily="34" charset="-122"/>
                          <a:ea typeface="微软雅黑" panose="020B0503020204020204" pitchFamily="34" charset="-122"/>
                        </a:rPr>
                        <a:t>租赁-成都</a:t>
                      </a:r>
                      <a:endParaRPr lang="zh-CN" altLang="en-US" sz="80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146.9%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146.9%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700">
                <a:tc>
                  <a:txBody>
                    <a:bodyPr/>
                    <a:lstStyle/>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研究院</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-21.3%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-21.3%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39065">
                <a:tc>
                  <a:txBody>
                    <a:bodyPr/>
                    <a:lstStyle/>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美餐</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39700">
                <a:tc>
                  <a:txBody>
                    <a:bodyPr/>
                    <a:p>
                      <a:pPr indent="0" algn="l" fontAlgn="ctr">
                        <a:lnSpc>
                          <a:spcPct val="100000"/>
                        </a:lnSpc>
                        <a:buClrTx/>
                        <a:buSzTx/>
                        <a:buFontTx/>
                        <a:buNone/>
                      </a:pPr>
                      <a:r>
                        <a:rPr lang="zh-CN" altLang="en-US" sz="800" b="1" i="1">
                          <a:solidFill>
                            <a:srgbClr val="002060"/>
                          </a:solidFill>
                          <a:latin typeface="微软雅黑" panose="020B0503020204020204" pitchFamily="34" charset="-122"/>
                          <a:ea typeface="微软雅黑" panose="020B0503020204020204" pitchFamily="34" charset="-122"/>
                        </a:rPr>
                        <a:t>租赁-苏州昆山</a:t>
                      </a:r>
                      <a:endParaRPr lang="zh-CN" altLang="en-US" sz="8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-66.6%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-66.6%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44145">
                <a:tc>
                  <a:txBody>
                    <a:bodyPr/>
                    <a:p>
                      <a:pPr indent="0" algn="l" fontAlgn="ctr">
                        <a:lnSpc>
                          <a:spcPct val="100000"/>
                        </a:lnSpc>
                      </a:pPr>
                      <a:r>
                        <a:rPr lang="zh-CN" altLang="en-US" sz="800" b="1" i="0">
                          <a:solidFill>
                            <a:srgbClr val="FF0000"/>
                          </a:solidFill>
                          <a:latin typeface="微软雅黑" panose="020B0503020204020204" pitchFamily="34" charset="-122"/>
                          <a:ea typeface="微软雅黑" panose="020B0503020204020204" pitchFamily="34" charset="-122"/>
                        </a:rPr>
                        <a:t>租赁合计</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71,427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71,478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68,129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-3,348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-4.7%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67,893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67,944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64,541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62,590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64,697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61,348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193675">
                <a:tc>
                  <a:txBody>
                    <a:bodyPr/>
                    <a:p>
                      <a:pPr indent="0" algn="l" fontAlgn="ctr">
                        <a:lnSpc>
                          <a:spcPct val="100000"/>
                        </a:lnSpc>
                        <a:buNone/>
                      </a:pPr>
                      <a:r>
                        <a:rPr lang="zh-CN" altLang="en-US" sz="800" b="1" i="1">
                          <a:latin typeface="微软雅黑" panose="020B0503020204020204" pitchFamily="34" charset="-122"/>
                          <a:ea typeface="微软雅黑" panose="020B0503020204020204" pitchFamily="34" charset="-122"/>
                          <a:sym typeface="+mn-ea"/>
                        </a:rPr>
                        <a:t>其中：现有口径</a:t>
                      </a:r>
                      <a:endParaRPr lang="zh-CN" altLang="en-US" sz="800" b="1" i="1">
                        <a:solidFill>
                          <a:schemeClr val="tx1"/>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71,391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71,265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68,119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-3,147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-4.4%</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67,857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67,731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64,530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-3,201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-4.7%</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62,590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64,437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61,477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-2,960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-4.6%</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62560">
                <a:tc>
                  <a:txBody>
                    <a:bodyPr/>
                    <a:p>
                      <a:pPr indent="0" algn="l" fontAlgn="ctr">
                        <a:lnSpc>
                          <a:spcPct val="100000"/>
                        </a:lnSpc>
                      </a:pPr>
                      <a:r>
                        <a:rPr lang="zh-CN" altLang="en-US" sz="800" b="1" i="1">
                          <a:solidFill>
                            <a:srgbClr val="1F497D"/>
                          </a:solidFill>
                          <a:latin typeface="微软雅黑" panose="020B0503020204020204" pitchFamily="34" charset="-122"/>
                          <a:ea typeface="微软雅黑" panose="020B0503020204020204" pitchFamily="34" charset="-122"/>
                          <a:sym typeface="+mn-ea"/>
                        </a:rPr>
                        <a:t>新增</a:t>
                      </a:r>
                      <a:r>
                        <a:rPr lang="en-US" altLang="zh-CN" sz="800" b="1" i="1">
                          <a:solidFill>
                            <a:srgbClr val="1F497D"/>
                          </a:solidFill>
                          <a:latin typeface="微软雅黑" panose="020B0503020204020204" pitchFamily="34" charset="-122"/>
                          <a:ea typeface="微软雅黑" panose="020B0503020204020204" pitchFamily="34" charset="-122"/>
                          <a:sym typeface="+mn-ea"/>
                        </a:rPr>
                        <a:t>/</a:t>
                      </a:r>
                      <a:r>
                        <a:rPr lang="zh-CN" altLang="en-US" sz="800" b="1" i="1">
                          <a:solidFill>
                            <a:srgbClr val="1F497D"/>
                          </a:solidFill>
                          <a:latin typeface="微软雅黑" panose="020B0503020204020204" pitchFamily="34" charset="-122"/>
                          <a:ea typeface="微软雅黑" panose="020B0503020204020204" pitchFamily="34" charset="-122"/>
                          <a:sym typeface="+mn-ea"/>
                        </a:rPr>
                        <a:t>改造口径</a:t>
                      </a:r>
                      <a:endParaRPr lang="zh-CN" altLang="en-US" sz="800" b="1" i="1">
                        <a:solidFill>
                          <a:srgbClr val="1F497D"/>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-124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-122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-101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21.0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17.3%</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-124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-122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-101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21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17.3%</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-105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-260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-155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-147.6%</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noFill/>
                  </a:tcPr>
                </a:tc>
              </a:tr>
              <a:tr h="172720">
                <a:tc>
                  <a:txBody>
                    <a:bodyPr/>
                    <a:p>
                      <a:pPr indent="0" algn="l" fontAlgn="ctr">
                        <a:lnSpc>
                          <a:spcPct val="100000"/>
                        </a:lnSpc>
                        <a:buNone/>
                      </a:pPr>
                      <a:r>
                        <a:rPr lang="zh-CN" sz="800" b="1" i="1">
                          <a:solidFill>
                            <a:srgbClr val="1F497D"/>
                          </a:solidFill>
                          <a:latin typeface="微软雅黑" panose="020B0503020204020204" pitchFamily="34" charset="-122"/>
                          <a:ea typeface="微软雅黑" panose="020B0503020204020204" pitchFamily="34" charset="-122"/>
                          <a:sym typeface="+mn-ea"/>
                        </a:rPr>
                        <a:t>轻资产</a:t>
                      </a:r>
                      <a:r>
                        <a:rPr lang="zh-CN" altLang="en-US" sz="800" b="1" i="1">
                          <a:solidFill>
                            <a:srgbClr val="1F497D"/>
                          </a:solidFill>
                          <a:latin typeface="微软雅黑" panose="020B0503020204020204" pitchFamily="34" charset="-122"/>
                          <a:ea typeface="微软雅黑" panose="020B0503020204020204" pitchFamily="34" charset="-122"/>
                          <a:sym typeface="+mn-ea"/>
                        </a:rPr>
                        <a:t>口径</a:t>
                      </a:r>
                      <a:endParaRPr lang="zh-CN" altLang="en-US" sz="800" b="1" i="1">
                        <a:solidFill>
                          <a:srgbClr val="1F497D"/>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159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334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112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-223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-66.6%</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159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334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112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-223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-66.6%</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lgn="ctr">
                      <a:solidFill>
                        <a:schemeClr val="tx1"/>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364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131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-233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-64.0%</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487" y="93379"/>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effectLst/>
                <a:uLnTx/>
                <a:uFillTx/>
                <a:sym typeface="+mn-ea"/>
              </a:rPr>
              <a:t>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租赁预算情况</a:t>
            </a:r>
            <a:r>
              <a:rPr lang="zh-CN" altLang="en-US" b="1" dirty="0" smtClean="0">
                <a:solidFill>
                  <a:srgbClr val="002060"/>
                </a:solidFill>
              </a:rPr>
              <a:t>（深圳公司）</a:t>
            </a:r>
            <a:endParaRPr kumimoji="0" lang="zh-CN" altLang="en-US" sz="1800" b="1" i="0" u="none" strike="noStrike" kern="1200" cap="none" spc="-41" normalizeH="0" baseline="0" noProof="0" dirty="0" smtClean="0">
              <a:ln>
                <a:noFill/>
              </a:ln>
              <a:solidFill>
                <a:srgbClr val="002060"/>
              </a:solidFill>
              <a:effectLst/>
              <a:uLnTx/>
              <a:uFillTx/>
            </a:endParaRPr>
          </a:p>
        </p:txBody>
      </p:sp>
      <p:graphicFrame>
        <p:nvGraphicFramePr>
          <p:cNvPr id="9" name="表格 8"/>
          <p:cNvGraphicFramePr/>
          <p:nvPr>
            <p:custDataLst>
              <p:tags r:id="rId1"/>
            </p:custDataLst>
          </p:nvPr>
        </p:nvGraphicFramePr>
        <p:xfrm>
          <a:off x="205105" y="525145"/>
          <a:ext cx="9136380" cy="4115435"/>
        </p:xfrm>
        <a:graphic>
          <a:graphicData uri="http://schemas.openxmlformats.org/drawingml/2006/table">
            <a:tbl>
              <a:tblPr/>
              <a:tblGrid>
                <a:gridCol w="1326515"/>
                <a:gridCol w="582930"/>
                <a:gridCol w="570865"/>
                <a:gridCol w="582295"/>
                <a:gridCol w="572135"/>
                <a:gridCol w="543560"/>
                <a:gridCol w="547370"/>
                <a:gridCol w="546100"/>
                <a:gridCol w="557530"/>
                <a:gridCol w="584835"/>
                <a:gridCol w="558165"/>
                <a:gridCol w="559435"/>
                <a:gridCol w="534670"/>
                <a:gridCol w="535940"/>
                <a:gridCol w="534035"/>
              </a:tblGrid>
              <a:tr h="241935">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项目</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5">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租赁</a:t>
                      </a:r>
                      <a:r>
                        <a:rPr lang="en-US" altLang="zh-CN" sz="900" b="1" i="0">
                          <a:solidFill>
                            <a:srgbClr val="FFFFFF"/>
                          </a:solidFill>
                          <a:latin typeface="微软雅黑" panose="020B0503020204020204" pitchFamily="34" charset="-122"/>
                          <a:ea typeface="微软雅黑" panose="020B0503020204020204" pitchFamily="34" charset="-122"/>
                        </a:rPr>
                        <a:t>-</a:t>
                      </a:r>
                      <a:r>
                        <a:rPr lang="zh-CN" altLang="en-US" sz="900" b="1" i="0">
                          <a:solidFill>
                            <a:srgbClr val="FFFFFF"/>
                          </a:solidFill>
                          <a:latin typeface="微软雅黑" panose="020B0503020204020204" pitchFamily="34" charset="-122"/>
                          <a:ea typeface="微软雅黑" panose="020B0503020204020204" pitchFamily="34" charset="-122"/>
                        </a:rPr>
                        <a:t>深圳</a:t>
                      </a:r>
                      <a:r>
                        <a:rPr lang="en-US" altLang="zh-CN" sz="900" b="1" i="0">
                          <a:solidFill>
                            <a:srgbClr val="FFFFFF"/>
                          </a:solidFill>
                          <a:latin typeface="微软雅黑" panose="020B0503020204020204" pitchFamily="34" charset="-122"/>
                          <a:ea typeface="微软雅黑" panose="020B0503020204020204" pitchFamily="34" charset="-122"/>
                        </a:rPr>
                        <a:t>-</a:t>
                      </a:r>
                      <a:r>
                        <a:rPr lang="zh-CN" altLang="en-US" sz="900" b="1" i="0">
                          <a:solidFill>
                            <a:srgbClr val="FFFFFF"/>
                          </a:solidFill>
                          <a:latin typeface="微软雅黑" panose="020B0503020204020204" pitchFamily="34" charset="-122"/>
                          <a:ea typeface="微软雅黑" panose="020B0503020204020204" pitchFamily="34" charset="-122"/>
                        </a:rPr>
                        <a:t>小合并</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深圳</a:t>
                      </a:r>
                      <a:r>
                        <a:rPr lang="en-US" altLang="zh-CN" sz="900" b="1" i="0">
                          <a:solidFill>
                            <a:srgbClr val="FFFFFF"/>
                          </a:solidFill>
                          <a:latin typeface="微软雅黑" panose="020B0503020204020204" pitchFamily="34" charset="-122"/>
                          <a:ea typeface="微软雅黑" panose="020B0503020204020204" pitchFamily="34" charset="-122"/>
                        </a:rPr>
                        <a:t>-123</a:t>
                      </a:r>
                      <a:r>
                        <a:rPr lang="zh-CN" altLang="en-US" sz="900" b="1" i="0">
                          <a:solidFill>
                            <a:srgbClr val="FFFFFF"/>
                          </a:solidFill>
                          <a:latin typeface="微软雅黑" panose="020B0503020204020204" pitchFamily="34" charset="-122"/>
                          <a:ea typeface="微软雅黑" panose="020B0503020204020204" pitchFamily="34" charset="-122"/>
                        </a:rPr>
                        <a:t>期</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深圳</a:t>
                      </a:r>
                      <a:r>
                        <a:rPr lang="en-US" altLang="zh-CN" sz="900" b="1" i="0">
                          <a:solidFill>
                            <a:srgbClr val="FFFFFF"/>
                          </a:solidFill>
                          <a:latin typeface="微软雅黑" panose="020B0503020204020204" pitchFamily="34" charset="-122"/>
                          <a:ea typeface="微软雅黑" panose="020B0503020204020204" pitchFamily="34" charset="-122"/>
                        </a:rPr>
                        <a:t>-</a:t>
                      </a:r>
                      <a:r>
                        <a:rPr lang="zh-CN" altLang="en-US" sz="900" b="1" i="0">
                          <a:solidFill>
                            <a:srgbClr val="FFFFFF"/>
                          </a:solidFill>
                          <a:latin typeface="微软雅黑" panose="020B0503020204020204" pitchFamily="34" charset="-122"/>
                          <a:ea typeface="微软雅黑" panose="020B0503020204020204" pitchFamily="34" charset="-122"/>
                        </a:rPr>
                        <a:t>双塔</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深圳</a:t>
                      </a:r>
                      <a:r>
                        <a:rPr lang="en-US" altLang="zh-CN" sz="900" b="1" i="0">
                          <a:solidFill>
                            <a:srgbClr val="FFFFFF"/>
                          </a:solidFill>
                          <a:latin typeface="微软雅黑" panose="020B0503020204020204" pitchFamily="34" charset="-122"/>
                          <a:ea typeface="微软雅黑" panose="020B0503020204020204" pitchFamily="34" charset="-122"/>
                        </a:rPr>
                        <a:t>-</a:t>
                      </a:r>
                      <a:r>
                        <a:rPr lang="zh-CN" altLang="en-US" sz="900" b="1" i="0">
                          <a:solidFill>
                            <a:srgbClr val="FFFFFF"/>
                          </a:solidFill>
                          <a:latin typeface="微软雅黑" panose="020B0503020204020204" pitchFamily="34" charset="-122"/>
                          <a:ea typeface="微软雅黑" panose="020B0503020204020204" pitchFamily="34" charset="-122"/>
                        </a:rPr>
                        <a:t>XH</a:t>
                      </a:r>
                      <a:r>
                        <a:rPr lang="zh-CN" altLang="en-US" sz="900" b="1" i="0">
                          <a:solidFill>
                            <a:srgbClr val="FFFFFF"/>
                          </a:solidFill>
                          <a:latin typeface="微软雅黑" panose="020B0503020204020204" pitchFamily="34" charset="-122"/>
                          <a:ea typeface="微软雅黑" panose="020B0503020204020204" pitchFamily="34" charset="-122"/>
                        </a:rPr>
                        <a:t>中心</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31369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百分比</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175260">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一、收入合计（含税）</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82,905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83,269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84,019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750</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0.9%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45,819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45,936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41,286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25,001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25,470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30,579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8,055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8,062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7,557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72720">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二、成本费用合计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10,038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9,879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9,811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-0.7%</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4,002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3,948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3,931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5,241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5,515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4,158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565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540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a:t>
                      </a:r>
                      <a:r>
                        <a:rPr lang="zh-CN" altLang="en-US" sz="900" b="0" i="0">
                          <a:solidFill>
                            <a:srgbClr val="000000"/>
                          </a:solidFill>
                          <a:latin typeface="微软雅黑" panose="020B0503020204020204" pitchFamily="34" charset="-122"/>
                          <a:ea typeface="微软雅黑" panose="020B0503020204020204" pitchFamily="34" charset="-122"/>
                        </a:rPr>
                        <a:t>营运费用小计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9,341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9,430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9,377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5,515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4,158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1.1</a:t>
                      </a:r>
                      <a:r>
                        <a:rPr lang="zh-CN" altLang="en-US" sz="900" b="0" i="0">
                          <a:solidFill>
                            <a:srgbClr val="000000"/>
                          </a:solidFill>
                          <a:latin typeface="微软雅黑" panose="020B0503020204020204" pitchFamily="34" charset="-122"/>
                          <a:ea typeface="微软雅黑" panose="020B0503020204020204" pitchFamily="34" charset="-122"/>
                        </a:rPr>
                        <a:t>管理费用小计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2,933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人工费用类</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2,267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1.2</a:t>
                      </a:r>
                      <a:r>
                        <a:rPr lang="zh-CN" altLang="en-US" sz="900" b="0" i="0">
                          <a:solidFill>
                            <a:srgbClr val="000000"/>
                          </a:solidFill>
                          <a:latin typeface="微软雅黑" panose="020B0503020204020204" pitchFamily="34" charset="-122"/>
                          <a:ea typeface="微软雅黑" panose="020B0503020204020204" pitchFamily="34" charset="-122"/>
                        </a:rPr>
                        <a:t>物业费用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1,485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900" b="1" i="1">
                          <a:solidFill>
                            <a:srgbClr val="963634"/>
                          </a:solidFill>
                          <a:latin typeface="微软雅黑" panose="020B0503020204020204" pitchFamily="34" charset="-122"/>
                          <a:ea typeface="微软雅黑" panose="020B0503020204020204" pitchFamily="34" charset="-122"/>
                        </a:rPr>
                        <a:t>维修费</a:t>
                      </a:r>
                      <a:endParaRPr lang="zh-CN" altLang="en-US" sz="9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-13.9%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900" b="1" i="1">
                          <a:solidFill>
                            <a:srgbClr val="963634"/>
                          </a:solidFill>
                          <a:latin typeface="微软雅黑" panose="020B0503020204020204" pitchFamily="34" charset="-122"/>
                          <a:ea typeface="微软雅黑" panose="020B0503020204020204" pitchFamily="34" charset="-122"/>
                        </a:rPr>
                        <a:t>物业管理费</a:t>
                      </a:r>
                      <a:endParaRPr lang="zh-CN" altLang="en-US" sz="9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900" b="1" i="1">
                          <a:solidFill>
                            <a:srgbClr val="963634"/>
                          </a:solidFill>
                          <a:latin typeface="微软雅黑" panose="020B0503020204020204" pitchFamily="34" charset="-122"/>
                          <a:ea typeface="微软雅黑" panose="020B0503020204020204" pitchFamily="34" charset="-122"/>
                        </a:rPr>
                        <a:t>物业补亏额</a:t>
                      </a:r>
                      <a:endParaRPr lang="zh-CN" altLang="en-US" sz="9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-51.4%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空置费</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61.3%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1.3</a:t>
                      </a:r>
                      <a:r>
                        <a:rPr lang="zh-CN" altLang="en-US" sz="900" b="0" i="0">
                          <a:solidFill>
                            <a:srgbClr val="000000"/>
                          </a:solidFill>
                          <a:latin typeface="微软雅黑" panose="020B0503020204020204" pitchFamily="34" charset="-122"/>
                          <a:ea typeface="微软雅黑" panose="020B0503020204020204" pitchFamily="34" charset="-122"/>
                        </a:rPr>
                        <a:t>营销费用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3,876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推广促销类费用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佣金费用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2,782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2,868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2,861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案场物业费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其他营销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1.4</a:t>
                      </a:r>
                      <a:r>
                        <a:rPr lang="zh-CN" altLang="en-US" sz="900" b="0" i="0">
                          <a:solidFill>
                            <a:srgbClr val="000000"/>
                          </a:solidFill>
                          <a:latin typeface="微软雅黑" panose="020B0503020204020204" pitchFamily="34" charset="-122"/>
                          <a:ea typeface="微软雅黑" panose="020B0503020204020204" pitchFamily="34" charset="-122"/>
                        </a:rPr>
                        <a:t>成本支出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2.</a:t>
                      </a:r>
                      <a:r>
                        <a:rPr lang="zh-CN" altLang="en-US" sz="900" b="0" i="0">
                          <a:solidFill>
                            <a:srgbClr val="000000"/>
                          </a:solidFill>
                          <a:latin typeface="微软雅黑" panose="020B0503020204020204" pitchFamily="34" charset="-122"/>
                          <a:ea typeface="微软雅黑" panose="020B0503020204020204" pitchFamily="34" charset="-122"/>
                        </a:rPr>
                        <a:t>税金及附加</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954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三、</a:t>
                      </a:r>
                      <a:r>
                        <a:rPr lang="en-US" altLang="zh-CN" sz="900" b="1" i="0">
                          <a:solidFill>
                            <a:srgbClr val="000000"/>
                          </a:solidFill>
                          <a:latin typeface="微软雅黑" panose="020B0503020204020204" pitchFamily="34" charset="-122"/>
                          <a:ea typeface="微软雅黑" panose="020B0503020204020204" pitchFamily="34" charset="-122"/>
                        </a:rPr>
                        <a:t>GOP</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66,248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66,731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67,489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38,117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38,291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34,028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17,700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17,859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23,901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6,810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6,831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6,393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573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房产税及土地使用税</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 2,553</a:t>
                      </a:r>
                      <a:r>
                        <a:rPr lang="en-US" altLang="zh-CN" sz="900" b="0" i="0">
                          <a:solidFill>
                            <a:srgbClr val="FF0000"/>
                          </a:solidFill>
                          <a:latin typeface="微软雅黑" panose="020B0503020204020204" pitchFamily="34" charset="-122"/>
                          <a:ea typeface="微软雅黑" panose="020B0503020204020204" pitchFamily="34" charset="-122"/>
                        </a:rPr>
                        <a:t> </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101.0%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四、</a:t>
                      </a:r>
                      <a:r>
                        <a:rPr lang="en-US" altLang="zh-CN" sz="900" b="1" i="0">
                          <a:solidFill>
                            <a:srgbClr val="000000"/>
                          </a:solidFill>
                          <a:latin typeface="微软雅黑" panose="020B0503020204020204" pitchFamily="34" charset="-122"/>
                          <a:ea typeface="微软雅黑" panose="020B0503020204020204" pitchFamily="34" charset="-122"/>
                        </a:rPr>
                        <a:t>NOI</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63,721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64,203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62,408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-1,795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-2.8%</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36,108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36,281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32,019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17,700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17,859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21,349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6,387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6,408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5,970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002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资产管理服务费</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446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五、</a:t>
                      </a:r>
                      <a:r>
                        <a:rPr lang="en-US" altLang="zh-CN" sz="900" b="1" i="0">
                          <a:solidFill>
                            <a:srgbClr val="000000"/>
                          </a:solidFill>
                          <a:latin typeface="微软雅黑" panose="020B0503020204020204" pitchFamily="34" charset="-122"/>
                          <a:ea typeface="微软雅黑" panose="020B0503020204020204" pitchFamily="34" charset="-122"/>
                        </a:rPr>
                        <a:t>NPI</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62,563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63,109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61,193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-1,916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-3.0%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35,468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35,678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31,422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17,350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17,524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20,906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6,274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6,302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5,860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91770">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六、</a:t>
                      </a:r>
                      <a:r>
                        <a:rPr lang="en-US" altLang="zh-CN" sz="900" b="1" i="0">
                          <a:solidFill>
                            <a:srgbClr val="000000"/>
                          </a:solidFill>
                          <a:latin typeface="微软雅黑" panose="020B0503020204020204" pitchFamily="34" charset="-122"/>
                          <a:ea typeface="微软雅黑" panose="020B0503020204020204" pitchFamily="34" charset="-122"/>
                        </a:rPr>
                        <a:t>EBITDA</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62,563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63,109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61,193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-1,916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-3.0%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35,468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35,678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31,422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17,350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17,524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20,906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6,274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6,302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5,860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bl>
          </a:graphicData>
        </a:graphic>
      </p:graphicFrame>
      <p:sp>
        <p:nvSpPr>
          <p:cNvPr id="7" name="矩形 6"/>
          <p:cNvSpPr/>
          <p:nvPr/>
        </p:nvSpPr>
        <p:spPr>
          <a:xfrm>
            <a:off x="132715" y="4701540"/>
            <a:ext cx="9626600" cy="1007110"/>
          </a:xfrm>
          <a:prstGeom prst="rect">
            <a:avLst/>
          </a:prstGeom>
        </p:spPr>
        <p:txBody>
          <a:bodyPr wrap="square">
            <a:noAutofit/>
          </a:bodyPr>
          <a:p>
            <a:pPr lvl="0">
              <a:defRPr/>
            </a:pPr>
            <a:r>
              <a:rPr lang="zh-CN" altLang="en-US" sz="800" b="1" dirty="0" smtClean="0">
                <a:solidFill>
                  <a:srgbClr val="C00000"/>
                </a:solidFill>
                <a:latin typeface="微软雅黑" panose="020B0503020204020204" pitchFamily="34" charset="-122"/>
                <a:ea typeface="微软雅黑" panose="020B0503020204020204" pitchFamily="34" charset="-122"/>
              </a:rPr>
              <a:t>深圳公司：</a:t>
            </a:r>
            <a:r>
              <a:rPr lang="zh-CN" altLang="en-US" sz="800" b="1" dirty="0">
                <a:solidFill>
                  <a:srgbClr val="C00000"/>
                </a:solidFill>
                <a:latin typeface="微软雅黑" panose="020B0503020204020204" pitchFamily="34" charset="-122"/>
                <a:ea typeface="微软雅黑" panose="020B0503020204020204" pitchFamily="34" charset="-122"/>
              </a:rPr>
              <a:t>预算收入</a:t>
            </a:r>
            <a:r>
              <a:rPr lang="en-US" altLang="zh-CN" sz="800" b="1" dirty="0" smtClean="0">
                <a:solidFill>
                  <a:srgbClr val="C00000"/>
                </a:solidFill>
                <a:latin typeface="微软雅黑" panose="020B0503020204020204" pitchFamily="34" charset="-122"/>
                <a:ea typeface="微软雅黑" panose="020B0503020204020204" pitchFamily="34" charset="-122"/>
              </a:rPr>
              <a:t>84,019</a:t>
            </a:r>
            <a:r>
              <a:rPr lang="zh-CN" altLang="en-US" sz="800" b="1" dirty="0" smtClean="0">
                <a:solidFill>
                  <a:srgbClr val="C00000"/>
                </a:solidFill>
                <a:latin typeface="微软雅黑" panose="020B0503020204020204" pitchFamily="34" charset="-122"/>
                <a:ea typeface="微软雅黑" panose="020B0503020204020204" pitchFamily="34" charset="-122"/>
              </a:rPr>
              <a:t>万，同比增加</a:t>
            </a:r>
            <a:r>
              <a:rPr lang="en-US" altLang="zh-CN" sz="800" b="1" dirty="0" smtClean="0">
                <a:solidFill>
                  <a:srgbClr val="C00000"/>
                </a:solidFill>
                <a:latin typeface="微软雅黑" panose="020B0503020204020204" pitchFamily="34" charset="-122"/>
                <a:ea typeface="微软雅黑" panose="020B0503020204020204" pitchFamily="34" charset="-122"/>
              </a:rPr>
              <a:t>750</a:t>
            </a:r>
            <a:r>
              <a:rPr lang="zh-CN" altLang="en-US" sz="800" b="1" dirty="0" smtClean="0">
                <a:solidFill>
                  <a:srgbClr val="C00000"/>
                </a:solidFill>
                <a:latin typeface="微软雅黑" panose="020B0503020204020204" pitchFamily="34" charset="-122"/>
                <a:ea typeface="微软雅黑" panose="020B0503020204020204" pitchFamily="34" charset="-122"/>
              </a:rPr>
              <a:t>万，增幅</a:t>
            </a:r>
            <a:r>
              <a:rPr lang="en-US" altLang="zh-CN" sz="800" b="1" dirty="0" smtClean="0">
                <a:solidFill>
                  <a:srgbClr val="C00000"/>
                </a:solidFill>
                <a:latin typeface="微软雅黑" panose="020B0503020204020204" pitchFamily="34" charset="-122"/>
                <a:ea typeface="微软雅黑" panose="020B0503020204020204" pitchFamily="34" charset="-122"/>
              </a:rPr>
              <a:t>0.9</a:t>
            </a:r>
            <a:r>
              <a:rPr lang="en-US" altLang="zh-CN" sz="800" b="1" dirty="0" smtClean="0">
                <a:solidFill>
                  <a:srgbClr val="C00000"/>
                </a:solidFill>
                <a:latin typeface="微软雅黑" panose="020B0503020204020204" pitchFamily="34" charset="-122"/>
                <a:ea typeface="微软雅黑" panose="020B0503020204020204" pitchFamily="34" charset="-122"/>
              </a:rPr>
              <a:t>%</a:t>
            </a:r>
            <a:r>
              <a:rPr lang="zh-CN" altLang="en-US" sz="800" b="1" dirty="0">
                <a:solidFill>
                  <a:srgbClr val="C00000"/>
                </a:solidFill>
                <a:latin typeface="微软雅黑" panose="020B0503020204020204" pitchFamily="34" charset="-122"/>
                <a:ea typeface="微软雅黑" panose="020B0503020204020204" pitchFamily="34" charset="-122"/>
              </a:rPr>
              <a:t>；</a:t>
            </a:r>
            <a:r>
              <a:rPr lang="zh-CN" altLang="en-US" sz="800" b="1" dirty="0">
                <a:solidFill>
                  <a:schemeClr val="tx1"/>
                </a:solidFill>
                <a:latin typeface="微软雅黑" panose="020B0503020204020204" pitchFamily="34" charset="-122"/>
                <a:ea typeface="微软雅黑" panose="020B0503020204020204" pitchFamily="34" charset="-122"/>
              </a:rPr>
              <a:t>成本费用</a:t>
            </a:r>
            <a:r>
              <a:rPr lang="en-US" altLang="zh-CN" sz="800" b="1" dirty="0">
                <a:solidFill>
                  <a:schemeClr val="tx1"/>
                </a:solidFill>
                <a:latin typeface="微软雅黑" panose="020B0503020204020204" pitchFamily="34" charset="-122"/>
                <a:ea typeface="微软雅黑" panose="020B0503020204020204" pitchFamily="34" charset="-122"/>
              </a:rPr>
              <a:t>9,811</a:t>
            </a:r>
            <a:r>
              <a:rPr lang="zh-CN" altLang="en-US" sz="800" b="1" dirty="0">
                <a:solidFill>
                  <a:schemeClr val="tx1"/>
                </a:solidFill>
                <a:latin typeface="微软雅黑" panose="020B0503020204020204" pitchFamily="34" charset="-122"/>
                <a:ea typeface="微软雅黑" panose="020B0503020204020204" pitchFamily="34" charset="-122"/>
              </a:rPr>
              <a:t>万，同比减少</a:t>
            </a:r>
            <a:r>
              <a:rPr lang="en-US" altLang="zh-CN" sz="800" b="1" dirty="0">
                <a:solidFill>
                  <a:schemeClr val="tx1"/>
                </a:solidFill>
                <a:latin typeface="微软雅黑" panose="020B0503020204020204" pitchFamily="34" charset="-122"/>
                <a:ea typeface="微软雅黑" panose="020B0503020204020204" pitchFamily="34" charset="-122"/>
              </a:rPr>
              <a:t>68</a:t>
            </a:r>
            <a:r>
              <a:rPr lang="zh-CN" altLang="en-US" sz="800" b="1" dirty="0">
                <a:solidFill>
                  <a:schemeClr val="tx1"/>
                </a:solidFill>
                <a:latin typeface="微软雅黑" panose="020B0503020204020204" pitchFamily="34" charset="-122"/>
                <a:ea typeface="微软雅黑" panose="020B0503020204020204" pitchFamily="34" charset="-122"/>
              </a:rPr>
              <a:t>万，降幅</a:t>
            </a:r>
            <a:r>
              <a:rPr lang="en-US" altLang="zh-CN" sz="800" b="1" dirty="0">
                <a:solidFill>
                  <a:schemeClr val="tx1"/>
                </a:solidFill>
                <a:latin typeface="微软雅黑" panose="020B0503020204020204" pitchFamily="34" charset="-122"/>
                <a:ea typeface="微软雅黑" panose="020B0503020204020204" pitchFamily="34" charset="-122"/>
              </a:rPr>
              <a:t>0.7%</a:t>
            </a:r>
            <a:r>
              <a:rPr lang="zh-CN" altLang="en-US" sz="800" b="1" dirty="0">
                <a:solidFill>
                  <a:schemeClr val="tx1"/>
                </a:solidFill>
                <a:latin typeface="微软雅黑" panose="020B0503020204020204" pitchFamily="34" charset="-122"/>
                <a:ea typeface="微软雅黑" panose="020B0503020204020204" pitchFamily="34" charset="-122"/>
              </a:rPr>
              <a:t>，成本费用率</a:t>
            </a:r>
            <a:r>
              <a:rPr lang="en-US" altLang="zh-CN" sz="800" b="1" dirty="0">
                <a:solidFill>
                  <a:schemeClr val="tx1"/>
                </a:solidFill>
                <a:latin typeface="微软雅黑" panose="020B0503020204020204" pitchFamily="34" charset="-122"/>
                <a:ea typeface="微软雅黑" panose="020B0503020204020204" pitchFamily="34" charset="-122"/>
              </a:rPr>
              <a:t>12.7%</a:t>
            </a:r>
            <a:r>
              <a:rPr lang="zh-CN" altLang="en-US" sz="800" b="1" dirty="0">
                <a:solidFill>
                  <a:schemeClr val="tx1"/>
                </a:solidFill>
                <a:latin typeface="微软雅黑" panose="020B0503020204020204" pitchFamily="34" charset="-122"/>
                <a:ea typeface="微软雅黑" panose="020B0503020204020204" pitchFamily="34" charset="-122"/>
              </a:rPr>
              <a:t>，</a:t>
            </a:r>
            <a:r>
              <a:rPr lang="en-US" altLang="zh-CN" sz="800" b="1" dirty="0">
                <a:solidFill>
                  <a:srgbClr val="C00000"/>
                </a:solidFill>
                <a:latin typeface="微软雅黑" panose="020B0503020204020204" pitchFamily="34" charset="-122"/>
                <a:ea typeface="微软雅黑" panose="020B0503020204020204" pitchFamily="34" charset="-122"/>
              </a:rPr>
              <a:t>NOI</a:t>
            </a:r>
            <a:r>
              <a:rPr lang="en-US" altLang="zh-CN" sz="800" b="1" dirty="0" smtClean="0">
                <a:solidFill>
                  <a:srgbClr val="C00000"/>
                </a:solidFill>
                <a:latin typeface="微软雅黑" panose="020B0503020204020204" pitchFamily="34" charset="-122"/>
                <a:ea typeface="微软雅黑" panose="020B0503020204020204" pitchFamily="34" charset="-122"/>
              </a:rPr>
              <a:t>62,408</a:t>
            </a:r>
            <a:r>
              <a:rPr lang="zh-CN" altLang="en-US" sz="800" b="1" dirty="0" smtClean="0">
                <a:solidFill>
                  <a:srgbClr val="C00000"/>
                </a:solidFill>
                <a:latin typeface="微软雅黑" panose="020B0503020204020204" pitchFamily="34" charset="-122"/>
                <a:ea typeface="微软雅黑" panose="020B0503020204020204" pitchFamily="34" charset="-122"/>
              </a:rPr>
              <a:t>万，同比</a:t>
            </a:r>
            <a:r>
              <a:rPr lang="zh-CN" sz="800" b="1" dirty="0" smtClean="0">
                <a:solidFill>
                  <a:srgbClr val="C00000"/>
                </a:solidFill>
                <a:latin typeface="微软雅黑" panose="020B0503020204020204" pitchFamily="34" charset="-122"/>
                <a:ea typeface="微软雅黑" panose="020B0503020204020204" pitchFamily="34" charset="-122"/>
              </a:rPr>
              <a:t>减少</a:t>
            </a:r>
            <a:r>
              <a:rPr lang="en-US" altLang="zh-CN" sz="800" b="1" dirty="0" smtClean="0">
                <a:solidFill>
                  <a:srgbClr val="C00000"/>
                </a:solidFill>
                <a:latin typeface="微软雅黑" panose="020B0503020204020204" pitchFamily="34" charset="-122"/>
                <a:ea typeface="微软雅黑" panose="020B0503020204020204" pitchFamily="34" charset="-122"/>
              </a:rPr>
              <a:t>1,759</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zh-CN" sz="800" b="1" dirty="0" smtClean="0">
                <a:solidFill>
                  <a:srgbClr val="C00000"/>
                </a:solidFill>
                <a:latin typeface="微软雅黑" panose="020B0503020204020204" pitchFamily="34" charset="-122"/>
                <a:ea typeface="微软雅黑" panose="020B0503020204020204" pitchFamily="34" charset="-122"/>
              </a:rPr>
              <a:t>降幅</a:t>
            </a:r>
            <a:r>
              <a:rPr lang="en-US" altLang="zh-CN" sz="800" b="1" dirty="0" smtClean="0">
                <a:solidFill>
                  <a:srgbClr val="C00000"/>
                </a:solidFill>
                <a:latin typeface="微软雅黑" panose="020B0503020204020204" pitchFamily="34" charset="-122"/>
                <a:ea typeface="微软雅黑" panose="020B0503020204020204" pitchFamily="34" charset="-122"/>
              </a:rPr>
              <a:t>2.8%</a:t>
            </a:r>
            <a:r>
              <a:rPr lang="zh-CN" altLang="en-US" sz="800" b="1" dirty="0" smtClean="0">
                <a:solidFill>
                  <a:srgbClr val="C00000"/>
                </a:solidFill>
                <a:latin typeface="微软雅黑" panose="020B0503020204020204" pitchFamily="34" charset="-122"/>
                <a:ea typeface="微软雅黑" panose="020B0503020204020204" pitchFamily="34" charset="-122"/>
              </a:rPr>
              <a:t>，剔除双塔房土税影响，增加</a:t>
            </a:r>
            <a:r>
              <a:rPr lang="en-US" altLang="zh-CN" sz="800" b="1" dirty="0" smtClean="0">
                <a:solidFill>
                  <a:srgbClr val="C00000"/>
                </a:solidFill>
                <a:latin typeface="微软雅黑" panose="020B0503020204020204" pitchFamily="34" charset="-122"/>
                <a:ea typeface="微软雅黑" panose="020B0503020204020204" pitchFamily="34" charset="-122"/>
              </a:rPr>
              <a:t>1.2%</a:t>
            </a:r>
            <a:r>
              <a:rPr lang="zh-CN" altLang="en-US" sz="800" b="1" dirty="0" smtClean="0">
                <a:solidFill>
                  <a:srgbClr val="C00000"/>
                </a:solidFill>
                <a:latin typeface="微软雅黑" panose="020B0503020204020204" pitchFamily="34" charset="-122"/>
                <a:ea typeface="微软雅黑" panose="020B0503020204020204" pitchFamily="34" charset="-122"/>
              </a:rPr>
              <a:t>。</a:t>
            </a:r>
            <a:endParaRPr lang="en-US" altLang="zh-CN" sz="800" b="1" dirty="0" smtClean="0">
              <a:solidFill>
                <a:srgbClr val="C00000"/>
              </a:solidFill>
              <a:latin typeface="微软雅黑" panose="020B0503020204020204" pitchFamily="34" charset="-122"/>
              <a:ea typeface="微软雅黑" panose="020B0503020204020204" pitchFamily="34" charset="-122"/>
            </a:endParaRPr>
          </a:p>
          <a:p>
            <a:pPr lvl="0">
              <a:defRPr/>
            </a:pPr>
            <a:r>
              <a:rPr lang="en-US" sz="800" b="1" dirty="0" smtClean="0">
                <a:latin typeface="微软雅黑" panose="020B0503020204020204" pitchFamily="34" charset="-122"/>
                <a:ea typeface="微软雅黑" panose="020B0503020204020204" pitchFamily="34" charset="-122"/>
              </a:rPr>
              <a:t>123</a:t>
            </a:r>
            <a:r>
              <a:rPr lang="zh-CN" altLang="en-US" sz="800" b="1" dirty="0" smtClean="0">
                <a:latin typeface="微软雅黑" panose="020B0503020204020204" pitchFamily="34" charset="-122"/>
                <a:ea typeface="微软雅黑" panose="020B0503020204020204" pitchFamily="34" charset="-122"/>
              </a:rPr>
              <a:t>期：</a:t>
            </a:r>
            <a:r>
              <a:rPr lang="zh-CN" altLang="en-US" sz="800" b="1" dirty="0" smtClean="0">
                <a:solidFill>
                  <a:srgbClr val="C00000"/>
                </a:solidFill>
                <a:latin typeface="微软雅黑" panose="020B0503020204020204" pitchFamily="34" charset="-122"/>
                <a:ea typeface="微软雅黑" panose="020B0503020204020204" pitchFamily="34" charset="-122"/>
              </a:rPr>
              <a:t>收入减少</a:t>
            </a:r>
            <a:r>
              <a:rPr lang="en-US" altLang="zh-CN" sz="800" b="1" dirty="0" smtClean="0">
                <a:solidFill>
                  <a:srgbClr val="C00000"/>
                </a:solidFill>
                <a:latin typeface="微软雅黑" panose="020B0503020204020204" pitchFamily="34" charset="-122"/>
                <a:ea typeface="微软雅黑" panose="020B0503020204020204" pitchFamily="34" charset="-122"/>
              </a:rPr>
              <a:t>4,649</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zh-CN" altLang="en-US" sz="800" dirty="0" smtClean="0">
                <a:latin typeface="微软雅黑" panose="020B0503020204020204" pitchFamily="34" charset="-122"/>
                <a:ea typeface="微软雅黑" panose="020B0503020204020204" pitchFamily="34" charset="-122"/>
              </a:rPr>
              <a:t>主要因租金收入下降，平均出租率下降</a:t>
            </a:r>
            <a:r>
              <a:rPr lang="en-US" altLang="zh-CN" sz="800" dirty="0" smtClean="0">
                <a:latin typeface="微软雅黑" panose="020B0503020204020204" pitchFamily="34" charset="-122"/>
                <a:ea typeface="微软雅黑" panose="020B0503020204020204" pitchFamily="34" charset="-122"/>
              </a:rPr>
              <a:t>0.55%</a:t>
            </a:r>
            <a:r>
              <a:rPr lang="zh-CN" altLang="en-US" sz="800" dirty="0" smtClean="0">
                <a:latin typeface="微软雅黑" panose="020B0503020204020204" pitchFamily="34" charset="-122"/>
                <a:ea typeface="微软雅黑" panose="020B0503020204020204" pitchFamily="34" charset="-122"/>
              </a:rPr>
              <a:t>，租金单价下降</a:t>
            </a:r>
            <a:r>
              <a:rPr lang="en-US" altLang="zh-CN" sz="800" dirty="0" smtClean="0">
                <a:latin typeface="微软雅黑" panose="020B0503020204020204" pitchFamily="34" charset="-122"/>
                <a:ea typeface="微软雅黑" panose="020B0503020204020204" pitchFamily="34" charset="-122"/>
              </a:rPr>
              <a:t>5.38</a:t>
            </a:r>
            <a:r>
              <a:rPr lang="zh-CN" altLang="en-US" sz="800" dirty="0" smtClean="0">
                <a:latin typeface="微软雅黑" panose="020B0503020204020204" pitchFamily="34" charset="-122"/>
                <a:ea typeface="微软雅黑" panose="020B0503020204020204" pitchFamily="34" charset="-122"/>
              </a:rPr>
              <a:t>元，以及稳商留商等因素，物业盈余减少</a:t>
            </a:r>
            <a:r>
              <a:rPr lang="en-US" altLang="zh-CN" sz="800" dirty="0" smtClean="0">
                <a:latin typeface="微软雅黑" panose="020B0503020204020204" pitchFamily="34" charset="-122"/>
                <a:ea typeface="微软雅黑" panose="020B0503020204020204" pitchFamily="34" charset="-122"/>
              </a:rPr>
              <a:t>353</a:t>
            </a:r>
            <a:r>
              <a:rPr lang="zh-CN" altLang="en-US" sz="800" dirty="0" smtClean="0">
                <a:latin typeface="微软雅黑" panose="020B0503020204020204" pitchFamily="34" charset="-122"/>
                <a:ea typeface="微软雅黑" panose="020B0503020204020204" pitchFamily="34" charset="-122"/>
              </a:rPr>
              <a:t>万，</a:t>
            </a:r>
            <a:r>
              <a:rPr lang="zh-CN" altLang="en-US" sz="800" b="1" dirty="0" smtClean="0">
                <a:solidFill>
                  <a:schemeClr val="tx1"/>
                </a:solidFill>
                <a:latin typeface="微软雅黑" panose="020B0503020204020204" pitchFamily="34" charset="-122"/>
                <a:ea typeface="微软雅黑" panose="020B0503020204020204" pitchFamily="34" charset="-122"/>
              </a:rPr>
              <a:t>成本费用减少</a:t>
            </a:r>
            <a:r>
              <a:rPr lang="en-US" altLang="zh-CN" sz="800" b="1" dirty="0" smtClean="0">
                <a:solidFill>
                  <a:schemeClr val="tx1"/>
                </a:solidFill>
                <a:latin typeface="微软雅黑" panose="020B0503020204020204" pitchFamily="34" charset="-122"/>
                <a:ea typeface="微软雅黑" panose="020B0503020204020204" pitchFamily="34" charset="-122"/>
              </a:rPr>
              <a:t>18</a:t>
            </a:r>
            <a:r>
              <a:rPr lang="zh-CN" altLang="en-US" sz="800" b="1" dirty="0" smtClean="0">
                <a:solidFill>
                  <a:schemeClr val="tx1"/>
                </a:solidFill>
                <a:latin typeface="微软雅黑" panose="020B0503020204020204" pitchFamily="34" charset="-122"/>
                <a:ea typeface="微软雅黑" panose="020B0503020204020204" pitchFamily="34" charset="-122"/>
              </a:rPr>
              <a:t>万，</a:t>
            </a:r>
            <a:r>
              <a:rPr lang="zh-CN" altLang="en-US" sz="800" dirty="0" smtClean="0">
                <a:latin typeface="微软雅黑" panose="020B0503020204020204" pitchFamily="34" charset="-122"/>
                <a:ea typeface="微软雅黑" panose="020B0503020204020204" pitchFamily="34" charset="-122"/>
              </a:rPr>
              <a:t>主要因收入减少营销及佣金费用减少</a:t>
            </a:r>
            <a:r>
              <a:rPr lang="en-US" altLang="zh-CN" sz="800" dirty="0" smtClean="0">
                <a:latin typeface="微软雅黑" panose="020B0503020204020204" pitchFamily="34" charset="-122"/>
                <a:ea typeface="微软雅黑" panose="020B0503020204020204" pitchFamily="34" charset="-122"/>
              </a:rPr>
              <a:t>19</a:t>
            </a:r>
            <a:r>
              <a:rPr lang="zh-CN" altLang="en-US" sz="800" dirty="0" smtClean="0">
                <a:latin typeface="微软雅黑" panose="020B0503020204020204" pitchFamily="34" charset="-122"/>
                <a:ea typeface="微软雅黑" panose="020B0503020204020204" pitchFamily="34" charset="-122"/>
              </a:rPr>
              <a:t>万</a:t>
            </a:r>
            <a:r>
              <a:rPr lang="zh-CN" altLang="en-US" sz="800" b="1" dirty="0" smtClean="0">
                <a:solidFill>
                  <a:schemeClr val="tx1"/>
                </a:solidFill>
                <a:latin typeface="微软雅黑" panose="020B0503020204020204" pitchFamily="34" charset="-122"/>
                <a:ea typeface="微软雅黑" panose="020B0503020204020204" pitchFamily="34" charset="-122"/>
              </a:rPr>
              <a:t>，</a:t>
            </a:r>
            <a:r>
              <a:rPr lang="en-US" altLang="zh-CN" sz="800" b="1" dirty="0" smtClean="0">
                <a:solidFill>
                  <a:srgbClr val="C00000"/>
                </a:solidFill>
                <a:latin typeface="微软雅黑" panose="020B0503020204020204" pitchFamily="34" charset="-122"/>
                <a:ea typeface="微软雅黑" panose="020B0503020204020204" pitchFamily="34" charset="-122"/>
              </a:rPr>
              <a:t>NOI</a:t>
            </a:r>
            <a:r>
              <a:rPr lang="zh-CN" altLang="en-US" sz="800" b="1" dirty="0" smtClean="0">
                <a:solidFill>
                  <a:srgbClr val="C00000"/>
                </a:solidFill>
                <a:latin typeface="微软雅黑" panose="020B0503020204020204" pitchFamily="34" charset="-122"/>
                <a:ea typeface="微软雅黑" panose="020B0503020204020204" pitchFamily="34" charset="-122"/>
              </a:rPr>
              <a:t>减少</a:t>
            </a:r>
            <a:r>
              <a:rPr lang="en-US" altLang="zh-CN" sz="800" b="1" dirty="0" smtClean="0">
                <a:solidFill>
                  <a:srgbClr val="C00000"/>
                </a:solidFill>
                <a:latin typeface="微软雅黑" panose="020B0503020204020204" pitchFamily="34" charset="-122"/>
                <a:ea typeface="微软雅黑" panose="020B0503020204020204" pitchFamily="34" charset="-122"/>
              </a:rPr>
              <a:t>4,262</a:t>
            </a:r>
            <a:r>
              <a:rPr lang="zh-CN" altLang="en-US" sz="800" b="1" dirty="0" smtClean="0">
                <a:solidFill>
                  <a:srgbClr val="C00000"/>
                </a:solidFill>
                <a:latin typeface="微软雅黑" panose="020B0503020204020204" pitchFamily="34" charset="-122"/>
                <a:ea typeface="微软雅黑" panose="020B0503020204020204" pitchFamily="34" charset="-122"/>
              </a:rPr>
              <a:t>万。</a:t>
            </a:r>
            <a:endParaRPr lang="en-US" altLang="zh-CN" sz="800" dirty="0" smtClean="0">
              <a:solidFill>
                <a:srgbClr val="C00000"/>
              </a:solidFill>
              <a:latin typeface="微软雅黑" panose="020B0503020204020204" pitchFamily="34" charset="-122"/>
              <a:ea typeface="微软雅黑" panose="020B0503020204020204" pitchFamily="34" charset="-122"/>
            </a:endParaRPr>
          </a:p>
          <a:p>
            <a:pPr lvl="0">
              <a:defRPr/>
            </a:pPr>
            <a:r>
              <a:rPr lang="zh-CN" altLang="en-US" sz="800" b="1" dirty="0" smtClean="0">
                <a:latin typeface="微软雅黑" panose="020B0503020204020204" pitchFamily="34" charset="-122"/>
                <a:ea typeface="微软雅黑" panose="020B0503020204020204" pitchFamily="34" charset="-122"/>
              </a:rPr>
              <a:t>双子塔：</a:t>
            </a:r>
            <a:r>
              <a:rPr lang="zh-CN" altLang="en-US" sz="800" b="1" dirty="0" smtClean="0">
                <a:solidFill>
                  <a:srgbClr val="C00000"/>
                </a:solidFill>
                <a:latin typeface="微软雅黑" panose="020B0503020204020204" pitchFamily="34" charset="-122"/>
                <a:ea typeface="微软雅黑" panose="020B0503020204020204" pitchFamily="34" charset="-122"/>
              </a:rPr>
              <a:t>收入增加</a:t>
            </a:r>
            <a:r>
              <a:rPr lang="en-US" altLang="zh-CN" sz="800" b="1" dirty="0" smtClean="0">
                <a:solidFill>
                  <a:srgbClr val="C00000"/>
                </a:solidFill>
                <a:latin typeface="微软雅黑" panose="020B0503020204020204" pitchFamily="34" charset="-122"/>
                <a:ea typeface="微软雅黑" panose="020B0503020204020204" pitchFamily="34" charset="-122"/>
              </a:rPr>
              <a:t>5,108</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zh-CN" altLang="en-US" sz="800" dirty="0" smtClean="0">
                <a:solidFill>
                  <a:schemeClr val="tx1"/>
                </a:solidFill>
                <a:latin typeface="微软雅黑" panose="020B0503020204020204" pitchFamily="34" charset="-122"/>
                <a:ea typeface="微软雅黑" panose="020B0503020204020204" pitchFamily="34" charset="-122"/>
              </a:rPr>
              <a:t>，</a:t>
            </a:r>
            <a:r>
              <a:rPr lang="zh-CN" altLang="en-US" sz="800" b="1" dirty="0" smtClean="0">
                <a:solidFill>
                  <a:schemeClr val="tx1"/>
                </a:solidFill>
                <a:latin typeface="微软雅黑" panose="020B0503020204020204" pitchFamily="34" charset="-122"/>
                <a:ea typeface="微软雅黑" panose="020B0503020204020204" pitchFamily="34" charset="-122"/>
              </a:rPr>
              <a:t>成本费用减少</a:t>
            </a:r>
            <a:r>
              <a:rPr lang="en-US" altLang="zh-CN" sz="800" b="1" dirty="0" smtClean="0">
                <a:solidFill>
                  <a:schemeClr val="tx1"/>
                </a:solidFill>
                <a:latin typeface="微软雅黑" panose="020B0503020204020204" pitchFamily="34" charset="-122"/>
                <a:ea typeface="微软雅黑" panose="020B0503020204020204" pitchFamily="34" charset="-122"/>
              </a:rPr>
              <a:t>1,358</a:t>
            </a:r>
            <a:r>
              <a:rPr lang="zh-CN" altLang="en-US" sz="800" b="1" dirty="0" smtClean="0">
                <a:solidFill>
                  <a:schemeClr val="tx1"/>
                </a:solidFill>
                <a:latin typeface="微软雅黑" panose="020B0503020204020204" pitchFamily="34" charset="-122"/>
                <a:ea typeface="微软雅黑" panose="020B0503020204020204" pitchFamily="34" charset="-122"/>
              </a:rPr>
              <a:t>万，</a:t>
            </a:r>
            <a:r>
              <a:rPr lang="zh-CN" altLang="en-US" sz="800" dirty="0" smtClean="0">
                <a:solidFill>
                  <a:schemeClr val="tx1"/>
                </a:solidFill>
                <a:latin typeface="微软雅黑" panose="020B0503020204020204" pitchFamily="34" charset="-122"/>
                <a:ea typeface="微软雅黑" panose="020B0503020204020204" pitchFamily="34" charset="-122"/>
              </a:rPr>
              <a:t>主要为物业补亏减少</a:t>
            </a:r>
            <a:r>
              <a:rPr lang="en-US" altLang="zh-CN" sz="800" dirty="0" smtClean="0">
                <a:solidFill>
                  <a:schemeClr val="tx1"/>
                </a:solidFill>
                <a:latin typeface="微软雅黑" panose="020B0503020204020204" pitchFamily="34" charset="-122"/>
                <a:ea typeface="微软雅黑" panose="020B0503020204020204" pitchFamily="34" charset="-122"/>
              </a:rPr>
              <a:t>1,218</a:t>
            </a:r>
            <a:r>
              <a:rPr lang="zh-CN" altLang="en-US" sz="800" dirty="0" smtClean="0">
                <a:solidFill>
                  <a:schemeClr val="tx1"/>
                </a:solidFill>
                <a:latin typeface="微软雅黑" panose="020B0503020204020204" pitchFamily="34" charset="-122"/>
                <a:ea typeface="微软雅黑" panose="020B0503020204020204" pitchFamily="34" charset="-122"/>
              </a:rPr>
              <a:t>万，工程维修费减少</a:t>
            </a:r>
            <a:r>
              <a:rPr lang="en-US" altLang="zh-CN" sz="800" dirty="0" smtClean="0">
                <a:solidFill>
                  <a:schemeClr val="tx1"/>
                </a:solidFill>
                <a:latin typeface="微软雅黑" panose="020B0503020204020204" pitchFamily="34" charset="-122"/>
                <a:ea typeface="微软雅黑" panose="020B0503020204020204" pitchFamily="34" charset="-122"/>
              </a:rPr>
              <a:t>34</a:t>
            </a:r>
            <a:r>
              <a:rPr lang="zh-CN" altLang="en-US" sz="800" dirty="0" smtClean="0">
                <a:solidFill>
                  <a:schemeClr val="tx1"/>
                </a:solidFill>
                <a:latin typeface="微软雅黑" panose="020B0503020204020204" pitchFamily="34" charset="-122"/>
                <a:ea typeface="微软雅黑" panose="020B0503020204020204" pitchFamily="34" charset="-122"/>
              </a:rPr>
              <a:t>万，营销费用减少</a:t>
            </a:r>
            <a:r>
              <a:rPr lang="en-US" altLang="zh-CN" sz="800" dirty="0" smtClean="0">
                <a:solidFill>
                  <a:schemeClr val="tx1"/>
                </a:solidFill>
                <a:latin typeface="微软雅黑" panose="020B0503020204020204" pitchFamily="34" charset="-122"/>
                <a:ea typeface="微软雅黑" panose="020B0503020204020204" pitchFamily="34" charset="-122"/>
              </a:rPr>
              <a:t>74</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en-US" altLang="zh-CN" sz="800" b="1" dirty="0" smtClean="0">
                <a:solidFill>
                  <a:srgbClr val="C00000"/>
                </a:solidFill>
                <a:latin typeface="微软雅黑" panose="020B0503020204020204" pitchFamily="34" charset="-122"/>
                <a:ea typeface="微软雅黑" panose="020B0503020204020204" pitchFamily="34" charset="-122"/>
              </a:rPr>
              <a:t>NOI</a:t>
            </a:r>
            <a:r>
              <a:rPr lang="zh-CN" altLang="en-US" sz="800" b="1" dirty="0" smtClean="0">
                <a:solidFill>
                  <a:srgbClr val="C00000"/>
                </a:solidFill>
                <a:latin typeface="微软雅黑" panose="020B0503020204020204" pitchFamily="34" charset="-122"/>
                <a:ea typeface="微软雅黑" panose="020B0503020204020204" pitchFamily="34" charset="-122"/>
              </a:rPr>
              <a:t>增加</a:t>
            </a:r>
            <a:r>
              <a:rPr lang="en-US" altLang="zh-CN" sz="800" b="1" dirty="0" smtClean="0">
                <a:solidFill>
                  <a:srgbClr val="C00000"/>
                </a:solidFill>
                <a:latin typeface="微软雅黑" panose="020B0503020204020204" pitchFamily="34" charset="-122"/>
                <a:ea typeface="微软雅黑" panose="020B0503020204020204" pitchFamily="34" charset="-122"/>
              </a:rPr>
              <a:t>3,490</a:t>
            </a:r>
            <a:r>
              <a:rPr lang="zh-CN" altLang="en-US" sz="800" b="1" dirty="0" smtClean="0">
                <a:solidFill>
                  <a:srgbClr val="C00000"/>
                </a:solidFill>
                <a:latin typeface="微软雅黑" panose="020B0503020204020204" pitchFamily="34" charset="-122"/>
                <a:ea typeface="微软雅黑" panose="020B0503020204020204" pitchFamily="34" charset="-122"/>
              </a:rPr>
              <a:t>万。</a:t>
            </a:r>
            <a:endParaRPr lang="zh-CN" altLang="en-US" sz="800" b="1" dirty="0" smtClean="0">
              <a:solidFill>
                <a:srgbClr val="C00000"/>
              </a:solidFill>
              <a:latin typeface="微软雅黑" panose="020B0503020204020204" pitchFamily="34" charset="-122"/>
              <a:ea typeface="微软雅黑" panose="020B0503020204020204" pitchFamily="34" charset="-122"/>
            </a:endParaRPr>
          </a:p>
          <a:p>
            <a:pPr lvl="0">
              <a:defRPr/>
            </a:pPr>
            <a:r>
              <a:rPr lang="zh-CN" altLang="en-US" sz="800" b="1" dirty="0" smtClean="0">
                <a:latin typeface="微软雅黑" panose="020B0503020204020204" pitchFamily="34" charset="-122"/>
                <a:ea typeface="微软雅黑" panose="020B0503020204020204" pitchFamily="34" charset="-122"/>
              </a:rPr>
              <a:t>XH</a:t>
            </a:r>
            <a:r>
              <a:rPr lang="zh-CN" altLang="en-US" sz="800" b="1" dirty="0">
                <a:latin typeface="微软雅黑" panose="020B0503020204020204" pitchFamily="34" charset="-122"/>
                <a:ea typeface="微软雅黑" panose="020B0503020204020204" pitchFamily="34" charset="-122"/>
              </a:rPr>
              <a:t>中心：</a:t>
            </a:r>
            <a:r>
              <a:rPr lang="zh-CN" altLang="en-US" sz="800" b="1" dirty="0" smtClean="0">
                <a:solidFill>
                  <a:srgbClr val="C00000"/>
                </a:solidFill>
                <a:latin typeface="微软雅黑" panose="020B0503020204020204" pitchFamily="34" charset="-122"/>
                <a:ea typeface="微软雅黑" panose="020B0503020204020204" pitchFamily="34" charset="-122"/>
              </a:rPr>
              <a:t>收入减少</a:t>
            </a:r>
            <a:r>
              <a:rPr lang="en-US" altLang="zh-CN" sz="800" b="1" dirty="0" smtClean="0">
                <a:solidFill>
                  <a:srgbClr val="C00000"/>
                </a:solidFill>
                <a:latin typeface="微软雅黑" panose="020B0503020204020204" pitchFamily="34" charset="-122"/>
                <a:ea typeface="微软雅黑" panose="020B0503020204020204" pitchFamily="34" charset="-122"/>
              </a:rPr>
              <a:t>505</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zh-CN" altLang="en-US" sz="800" b="1" dirty="0">
                <a:solidFill>
                  <a:srgbClr val="C00000"/>
                </a:solidFill>
                <a:latin typeface="微软雅黑" panose="020B0503020204020204" pitchFamily="34" charset="-122"/>
                <a:ea typeface="微软雅黑" panose="020B0503020204020204" pitchFamily="34" charset="-122"/>
              </a:rPr>
              <a:t>，</a:t>
            </a:r>
            <a:r>
              <a:rPr lang="zh-CN" altLang="en-US" sz="800" dirty="0">
                <a:latin typeface="微软雅黑" panose="020B0503020204020204" pitchFamily="34" charset="-122"/>
                <a:ea typeface="微软雅黑" panose="020B0503020204020204" pitchFamily="34" charset="-122"/>
              </a:rPr>
              <a:t>主要因</a:t>
            </a:r>
            <a:r>
              <a:rPr lang="en-US" altLang="zh-CN" sz="800" dirty="0">
                <a:latin typeface="微软雅黑" panose="020B0503020204020204" pitchFamily="34" charset="-122"/>
                <a:ea typeface="微软雅黑" panose="020B0503020204020204" pitchFamily="34" charset="-122"/>
              </a:rPr>
              <a:t>1</a:t>
            </a:r>
            <a:r>
              <a:rPr lang="zh-CN" altLang="en-US" sz="800" dirty="0">
                <a:latin typeface="微软雅黑" panose="020B0503020204020204" pitchFamily="34" charset="-122"/>
                <a:ea typeface="微软雅黑" panose="020B0503020204020204" pitchFamily="34" charset="-122"/>
              </a:rPr>
              <a:t>、出租率下降</a:t>
            </a:r>
            <a:r>
              <a:rPr lang="en-US" altLang="zh-CN" sz="800" dirty="0">
                <a:latin typeface="微软雅黑" panose="020B0503020204020204" pitchFamily="34" charset="-122"/>
                <a:ea typeface="微软雅黑" panose="020B0503020204020204" pitchFamily="34" charset="-122"/>
              </a:rPr>
              <a:t>1.40%</a:t>
            </a:r>
            <a:r>
              <a:rPr lang="zh-CN" altLang="en-US" sz="800" dirty="0">
                <a:latin typeface="微软雅黑" panose="020B0503020204020204" pitchFamily="34" charset="-122"/>
                <a:ea typeface="微软雅黑" panose="020B0503020204020204" pitchFamily="34" charset="-122"/>
              </a:rPr>
              <a:t>，影响收入</a:t>
            </a:r>
            <a:r>
              <a:rPr lang="en-US" altLang="zh-CN" sz="800" dirty="0">
                <a:latin typeface="微软雅黑" panose="020B0503020204020204" pitchFamily="34" charset="-122"/>
                <a:ea typeface="微软雅黑" panose="020B0503020204020204" pitchFamily="34" charset="-122"/>
              </a:rPr>
              <a:t>136</a:t>
            </a:r>
            <a:r>
              <a:rPr lang="zh-CN" altLang="en-US" sz="800" dirty="0">
                <a:latin typeface="微软雅黑" panose="020B0503020204020204" pitchFamily="34" charset="-122"/>
                <a:ea typeface="微软雅黑" panose="020B0503020204020204" pitchFamily="34" charset="-122"/>
              </a:rPr>
              <a:t>万；</a:t>
            </a:r>
            <a:r>
              <a:rPr lang="en-US" altLang="zh-CN" sz="800" dirty="0">
                <a:latin typeface="微软雅黑" panose="020B0503020204020204" pitchFamily="34" charset="-122"/>
                <a:ea typeface="微软雅黑" panose="020B0503020204020204" pitchFamily="34" charset="-122"/>
              </a:rPr>
              <a:t>2</a:t>
            </a:r>
            <a:r>
              <a:rPr lang="zh-CN" altLang="en-US" sz="800" dirty="0">
                <a:latin typeface="微软雅黑" panose="020B0503020204020204" pitchFamily="34" charset="-122"/>
                <a:ea typeface="微软雅黑" panose="020B0503020204020204" pitchFamily="34" charset="-122"/>
              </a:rPr>
              <a:t>、</a:t>
            </a:r>
            <a:r>
              <a:rPr lang="en-US" altLang="zh-CN" sz="800" dirty="0">
                <a:latin typeface="微软雅黑" panose="020B0503020204020204" pitchFamily="34" charset="-122"/>
                <a:ea typeface="微软雅黑" panose="020B0503020204020204" pitchFamily="34" charset="-122"/>
              </a:rPr>
              <a:t>2026</a:t>
            </a:r>
            <a:r>
              <a:rPr lang="zh-CN" altLang="en-US" sz="800" dirty="0">
                <a:latin typeface="微软雅黑" panose="020B0503020204020204" pitchFamily="34" charset="-122"/>
                <a:ea typeface="微软雅黑" panose="020B0503020204020204" pitchFamily="34" charset="-122"/>
              </a:rPr>
              <a:t>年大客户企业降价和额外给免租期影响收入共计</a:t>
            </a:r>
            <a:r>
              <a:rPr lang="en-US" altLang="zh-CN" sz="800" dirty="0">
                <a:latin typeface="微软雅黑" panose="020B0503020204020204" pitchFamily="34" charset="-122"/>
                <a:ea typeface="微软雅黑" panose="020B0503020204020204" pitchFamily="34" charset="-122"/>
              </a:rPr>
              <a:t>255</a:t>
            </a:r>
            <a:r>
              <a:rPr lang="zh-CN" altLang="en-US" sz="800" dirty="0">
                <a:latin typeface="微软雅黑" panose="020B0503020204020204" pitchFamily="34" charset="-122"/>
                <a:ea typeface="微软雅黑" panose="020B0503020204020204" pitchFamily="34" charset="-122"/>
              </a:rPr>
              <a:t>万（</a:t>
            </a:r>
            <a:r>
              <a:rPr lang="zh-CN" altLang="en-US" sz="800" dirty="0">
                <a:latin typeface="微软雅黑" panose="020B0503020204020204" pitchFamily="34" charset="-122"/>
                <a:ea typeface="微软雅黑" panose="020B0503020204020204" pitchFamily="34" charset="-122"/>
                <a:sym typeface="+mn-ea"/>
              </a:rPr>
              <a:t>深租赁影响</a:t>
            </a:r>
            <a:r>
              <a:rPr lang="en-US" altLang="zh-CN" sz="800" dirty="0">
                <a:latin typeface="微软雅黑" panose="020B0503020204020204" pitchFamily="34" charset="-122"/>
                <a:ea typeface="微软雅黑" panose="020B0503020204020204" pitchFamily="34" charset="-122"/>
                <a:sym typeface="+mn-ea"/>
              </a:rPr>
              <a:t>87</a:t>
            </a:r>
            <a:r>
              <a:rPr lang="zh-CN" altLang="en-US" sz="800" dirty="0">
                <a:latin typeface="微软雅黑" panose="020B0503020204020204" pitchFamily="34" charset="-122"/>
                <a:ea typeface="微软雅黑" panose="020B0503020204020204" pitchFamily="34" charset="-122"/>
                <a:sym typeface="+mn-ea"/>
              </a:rPr>
              <a:t>万，</a:t>
            </a:r>
            <a:r>
              <a:rPr lang="zh-CN" altLang="en-US" sz="800" dirty="0">
                <a:latin typeface="微软雅黑" panose="020B0503020204020204" pitchFamily="34" charset="-122"/>
                <a:ea typeface="微软雅黑" panose="020B0503020204020204" pitchFamily="34" charset="-122"/>
              </a:rPr>
              <a:t>多来采购影响</a:t>
            </a:r>
            <a:r>
              <a:rPr lang="en-US" altLang="zh-CN" sz="800" dirty="0">
                <a:latin typeface="微软雅黑" panose="020B0503020204020204" pitchFamily="34" charset="-122"/>
                <a:ea typeface="微软雅黑" panose="020B0503020204020204" pitchFamily="34" charset="-122"/>
              </a:rPr>
              <a:t>80</a:t>
            </a:r>
            <a:r>
              <a:rPr lang="zh-CN" altLang="en-US" sz="800" dirty="0">
                <a:latin typeface="微软雅黑" panose="020B0503020204020204" pitchFamily="34" charset="-122"/>
                <a:ea typeface="微软雅黑" panose="020B0503020204020204" pitchFamily="34" charset="-122"/>
              </a:rPr>
              <a:t>万，王佰福影响</a:t>
            </a:r>
            <a:r>
              <a:rPr lang="en-US" altLang="zh-CN" sz="800" dirty="0">
                <a:latin typeface="微软雅黑" panose="020B0503020204020204" pitchFamily="34" charset="-122"/>
                <a:ea typeface="微软雅黑" panose="020B0503020204020204" pitchFamily="34" charset="-122"/>
              </a:rPr>
              <a:t>48</a:t>
            </a:r>
            <a:r>
              <a:rPr lang="zh-CN" altLang="en-US" sz="800" dirty="0">
                <a:latin typeface="微软雅黑" panose="020B0503020204020204" pitchFamily="34" charset="-122"/>
                <a:ea typeface="微软雅黑" panose="020B0503020204020204" pitchFamily="34" charset="-122"/>
              </a:rPr>
              <a:t>万，中证金石影响</a:t>
            </a:r>
            <a:r>
              <a:rPr lang="en-US" altLang="zh-CN" sz="800" dirty="0">
                <a:latin typeface="微软雅黑" panose="020B0503020204020204" pitchFamily="34" charset="-122"/>
                <a:ea typeface="微软雅黑" panose="020B0503020204020204" pitchFamily="34" charset="-122"/>
              </a:rPr>
              <a:t>26</a:t>
            </a:r>
            <a:r>
              <a:rPr lang="zh-CN" altLang="en-US" sz="800" dirty="0">
                <a:latin typeface="微软雅黑" panose="020B0503020204020204" pitchFamily="34" charset="-122"/>
                <a:ea typeface="微软雅黑" panose="020B0503020204020204" pitchFamily="34" charset="-122"/>
              </a:rPr>
              <a:t>万；</a:t>
            </a:r>
            <a:r>
              <a:rPr lang="en-US" altLang="zh-CN" sz="800" dirty="0">
                <a:latin typeface="微软雅黑" panose="020B0503020204020204" pitchFamily="34" charset="-122"/>
                <a:ea typeface="微软雅黑" panose="020B0503020204020204" pitchFamily="34" charset="-122"/>
              </a:rPr>
              <a:t>3</a:t>
            </a:r>
            <a:r>
              <a:rPr lang="zh-CN" altLang="en-US" sz="800" dirty="0">
                <a:latin typeface="微软雅黑" panose="020B0503020204020204" pitchFamily="34" charset="-122"/>
                <a:ea typeface="微软雅黑" panose="020B0503020204020204" pitchFamily="34" charset="-122"/>
              </a:rPr>
              <a:t>、</a:t>
            </a:r>
            <a:r>
              <a:rPr lang="en-US" altLang="zh-CN" sz="800" dirty="0">
                <a:latin typeface="微软雅黑" panose="020B0503020204020204" pitchFamily="34" charset="-122"/>
                <a:ea typeface="微软雅黑" panose="020B0503020204020204" pitchFamily="34" charset="-122"/>
              </a:rPr>
              <a:t>26</a:t>
            </a:r>
            <a:r>
              <a:rPr lang="zh-CN" altLang="en-US" sz="800" dirty="0">
                <a:latin typeface="微软雅黑" panose="020B0503020204020204" pitchFamily="34" charset="-122"/>
                <a:ea typeface="微软雅黑" panose="020B0503020204020204" pitchFamily="34" charset="-122"/>
              </a:rPr>
              <a:t>年新签续签新增</a:t>
            </a:r>
            <a:r>
              <a:rPr lang="en-US" altLang="zh-CN" sz="800" dirty="0">
                <a:latin typeface="微软雅黑" panose="020B0503020204020204" pitchFamily="34" charset="-122"/>
                <a:ea typeface="微软雅黑" panose="020B0503020204020204" pitchFamily="34" charset="-122"/>
              </a:rPr>
              <a:t>1</a:t>
            </a:r>
            <a:r>
              <a:rPr lang="zh-CN" altLang="en-US" sz="800" dirty="0">
                <a:latin typeface="微软雅黑" panose="020B0503020204020204" pitchFamily="34" charset="-122"/>
                <a:ea typeface="微软雅黑" panose="020B0503020204020204" pitchFamily="34" charset="-122"/>
              </a:rPr>
              <a:t>个月免租期影响</a:t>
            </a:r>
            <a:r>
              <a:rPr lang="en-US" altLang="zh-CN" sz="800" dirty="0">
                <a:latin typeface="微软雅黑" panose="020B0503020204020204" pitchFamily="34" charset="-122"/>
                <a:ea typeface="微软雅黑" panose="020B0503020204020204" pitchFamily="34" charset="-122"/>
              </a:rPr>
              <a:t>110</a:t>
            </a:r>
            <a:r>
              <a:rPr lang="zh-CN" altLang="en-US" sz="800" dirty="0">
                <a:latin typeface="微软雅黑" panose="020B0503020204020204" pitchFamily="34" charset="-122"/>
                <a:ea typeface="微软雅黑" panose="020B0503020204020204" pitchFamily="34" charset="-122"/>
              </a:rPr>
              <a:t>万；</a:t>
            </a:r>
            <a:r>
              <a:rPr lang="zh-CN" altLang="en-US" sz="800" b="1" dirty="0">
                <a:latin typeface="微软雅黑" panose="020B0503020204020204" pitchFamily="34" charset="-122"/>
                <a:ea typeface="微软雅黑" panose="020B0503020204020204" pitchFamily="34" charset="-122"/>
              </a:rPr>
              <a:t>成本费用减少</a:t>
            </a:r>
            <a:r>
              <a:rPr lang="en-US" altLang="zh-CN" sz="800" b="1" dirty="0">
                <a:latin typeface="微软雅黑" panose="020B0503020204020204" pitchFamily="34" charset="-122"/>
                <a:ea typeface="微软雅黑" panose="020B0503020204020204" pitchFamily="34" charset="-122"/>
              </a:rPr>
              <a:t>25</a:t>
            </a:r>
            <a:r>
              <a:rPr lang="zh-CN" altLang="en-US" sz="800" b="1" dirty="0">
                <a:latin typeface="微软雅黑" panose="020B0503020204020204" pitchFamily="34" charset="-122"/>
                <a:ea typeface="微软雅黑" panose="020B0503020204020204" pitchFamily="34" charset="-122"/>
              </a:rPr>
              <a:t>万，</a:t>
            </a:r>
            <a:r>
              <a:rPr lang="zh-CN" altLang="en-US" sz="800" dirty="0">
                <a:latin typeface="微软雅黑" panose="020B0503020204020204" pitchFamily="34" charset="-122"/>
                <a:ea typeface="微软雅黑" panose="020B0503020204020204" pitchFamily="34" charset="-122"/>
              </a:rPr>
              <a:t>主要因工程维修费减少</a:t>
            </a:r>
            <a:r>
              <a:rPr lang="en-US" altLang="zh-CN" sz="800" dirty="0">
                <a:latin typeface="微软雅黑" panose="020B0503020204020204" pitchFamily="34" charset="-122"/>
                <a:ea typeface="微软雅黑" panose="020B0503020204020204" pitchFamily="34" charset="-122"/>
              </a:rPr>
              <a:t>30</a:t>
            </a:r>
            <a:r>
              <a:rPr lang="zh-CN" altLang="en-US" sz="800" dirty="0">
                <a:latin typeface="微软雅黑" panose="020B0503020204020204" pitchFamily="34" charset="-122"/>
                <a:ea typeface="微软雅黑" panose="020B0503020204020204" pitchFamily="34" charset="-122"/>
              </a:rPr>
              <a:t>万，</a:t>
            </a:r>
            <a:r>
              <a:rPr lang="en-US" altLang="zh-CN" sz="800" b="1" dirty="0">
                <a:solidFill>
                  <a:srgbClr val="C00000"/>
                </a:solidFill>
                <a:latin typeface="微软雅黑" panose="020B0503020204020204" pitchFamily="34" charset="-122"/>
                <a:ea typeface="微软雅黑" panose="020B0503020204020204" pitchFamily="34" charset="-122"/>
              </a:rPr>
              <a:t>NOI</a:t>
            </a:r>
            <a:r>
              <a:rPr lang="zh-CN" altLang="en-US" sz="800" b="1" dirty="0">
                <a:solidFill>
                  <a:srgbClr val="C00000"/>
                </a:solidFill>
                <a:latin typeface="微软雅黑" panose="020B0503020204020204" pitchFamily="34" charset="-122"/>
                <a:ea typeface="微软雅黑" panose="020B0503020204020204" pitchFamily="34" charset="-122"/>
              </a:rPr>
              <a:t>减少</a:t>
            </a:r>
            <a:r>
              <a:rPr lang="en-US" altLang="zh-CN" sz="800" b="1" dirty="0">
                <a:solidFill>
                  <a:srgbClr val="C00000"/>
                </a:solidFill>
                <a:latin typeface="微软雅黑" panose="020B0503020204020204" pitchFamily="34" charset="-122"/>
                <a:ea typeface="微软雅黑" panose="020B0503020204020204" pitchFamily="34" charset="-122"/>
              </a:rPr>
              <a:t>438</a:t>
            </a:r>
            <a:r>
              <a:rPr lang="zh-CN" altLang="en-US" sz="800" b="1" dirty="0">
                <a:solidFill>
                  <a:srgbClr val="C00000"/>
                </a:solidFill>
                <a:latin typeface="微软雅黑" panose="020B0503020204020204" pitchFamily="34" charset="-122"/>
                <a:ea typeface="微软雅黑" panose="020B0503020204020204" pitchFamily="34" charset="-122"/>
              </a:rPr>
              <a:t>万。</a:t>
            </a:r>
            <a:endParaRPr lang="zh-CN" altLang="en-US" sz="8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487" y="93379"/>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effectLst/>
                <a:uLnTx/>
                <a:uFillTx/>
                <a:sym typeface="+mn-ea"/>
              </a:rPr>
              <a:t>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租赁预算情况</a:t>
            </a:r>
            <a:r>
              <a:rPr lang="zh-CN" altLang="en-US" b="1" dirty="0" smtClean="0">
                <a:solidFill>
                  <a:srgbClr val="002060"/>
                </a:solidFill>
              </a:rPr>
              <a:t>（深圳公司）</a:t>
            </a:r>
            <a:endParaRPr kumimoji="0" lang="zh-CN" altLang="en-US" sz="1800" b="1" i="0" u="none" strike="noStrike" kern="1200" cap="none" spc="-41" normalizeH="0" baseline="0" noProof="0" dirty="0" smtClean="0">
              <a:ln>
                <a:noFill/>
              </a:ln>
              <a:solidFill>
                <a:srgbClr val="002060"/>
              </a:solidFill>
              <a:effectLst/>
              <a:uLnTx/>
              <a:uFillTx/>
            </a:endParaRPr>
          </a:p>
        </p:txBody>
      </p:sp>
      <p:graphicFrame>
        <p:nvGraphicFramePr>
          <p:cNvPr id="9" name="表格 8"/>
          <p:cNvGraphicFramePr/>
          <p:nvPr>
            <p:custDataLst>
              <p:tags r:id="rId1"/>
            </p:custDataLst>
          </p:nvPr>
        </p:nvGraphicFramePr>
        <p:xfrm>
          <a:off x="132715" y="553085"/>
          <a:ext cx="9022715" cy="4289425"/>
        </p:xfrm>
        <a:graphic>
          <a:graphicData uri="http://schemas.openxmlformats.org/drawingml/2006/table">
            <a:tbl>
              <a:tblPr/>
              <a:tblGrid>
                <a:gridCol w="1294130"/>
                <a:gridCol w="540385"/>
                <a:gridCol w="521335"/>
                <a:gridCol w="528320"/>
                <a:gridCol w="597535"/>
                <a:gridCol w="536575"/>
                <a:gridCol w="525145"/>
                <a:gridCol w="474980"/>
                <a:gridCol w="509905"/>
                <a:gridCol w="511810"/>
                <a:gridCol w="509905"/>
                <a:gridCol w="510540"/>
                <a:gridCol w="508635"/>
                <a:gridCol w="504825"/>
                <a:gridCol w="503555"/>
                <a:gridCol w="445135"/>
              </a:tblGrid>
              <a:tr h="183515">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项目</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XH</a:t>
                      </a:r>
                      <a:r>
                        <a:rPr lang="zh-CN" altLang="en-US" sz="800" b="1" i="0">
                          <a:solidFill>
                            <a:srgbClr val="FFFFFF"/>
                          </a:solidFill>
                          <a:latin typeface="微软雅黑" panose="020B0503020204020204" pitchFamily="34" charset="-122"/>
                          <a:ea typeface="微软雅黑" panose="020B0503020204020204" pitchFamily="34" charset="-122"/>
                        </a:rPr>
                        <a:t>世纪</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银海项目</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时代大厦</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开市客</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抵消</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31051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165100">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一、收入合计（含税）</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940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1,002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886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3,763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3,773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3,192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335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-1,311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5100">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二、成本费用合计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642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641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245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223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-897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-1,236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5735">
                <a:tc>
                  <a:txBody>
                    <a:bodyPr/>
                    <a:p>
                      <a:pPr indent="0" algn="l" fontAlgn="ctr">
                        <a:lnSpc>
                          <a:spcPct val="100000"/>
                        </a:lnSpc>
                      </a:pP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营运费用小计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735">
                <a:tc>
                  <a:txBody>
                    <a:bodyPr/>
                    <a:p>
                      <a:pPr indent="0" algn="l" fontAlgn="ctr">
                        <a:lnSpc>
                          <a:spcPct val="100000"/>
                        </a:lnSpc>
                      </a:pPr>
                      <a:r>
                        <a:rPr lang="en-US" altLang="zh-CN" sz="800" b="0" i="0">
                          <a:solidFill>
                            <a:srgbClr val="000000"/>
                          </a:solidFill>
                          <a:latin typeface="微软雅黑" panose="020B0503020204020204" pitchFamily="34" charset="-122"/>
                          <a:ea typeface="微软雅黑" panose="020B0503020204020204" pitchFamily="34" charset="-122"/>
                        </a:rPr>
                        <a:t>1.1</a:t>
                      </a:r>
                      <a:r>
                        <a:rPr lang="zh-CN" altLang="en-US" sz="800" b="0" i="0">
                          <a:solidFill>
                            <a:srgbClr val="000000"/>
                          </a:solidFill>
                          <a:latin typeface="微软雅黑" panose="020B0503020204020204" pitchFamily="34" charset="-122"/>
                          <a:ea typeface="微软雅黑" panose="020B0503020204020204" pitchFamily="34" charset="-122"/>
                        </a:rPr>
                        <a:t>管理费用小计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735">
                <a:tc>
                  <a:txBody>
                    <a:bodyPr/>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人工费用类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100">
                <a:tc>
                  <a:txBody>
                    <a:bodyPr/>
                    <a:p>
                      <a:pPr indent="0" algn="l" fontAlgn="ctr">
                        <a:lnSpc>
                          <a:spcPct val="100000"/>
                        </a:lnSpc>
                      </a:pPr>
                      <a:r>
                        <a:rPr lang="en-US" altLang="zh-CN" sz="800" b="0" i="0">
                          <a:solidFill>
                            <a:srgbClr val="000000"/>
                          </a:solidFill>
                          <a:latin typeface="微软雅黑" panose="020B0503020204020204" pitchFamily="34" charset="-122"/>
                          <a:ea typeface="微软雅黑" panose="020B0503020204020204" pitchFamily="34" charset="-122"/>
                        </a:rPr>
                        <a:t>1.2</a:t>
                      </a:r>
                      <a:r>
                        <a:rPr lang="zh-CN" altLang="en-US" sz="800" b="0" i="0">
                          <a:solidFill>
                            <a:srgbClr val="000000"/>
                          </a:solidFill>
                          <a:latin typeface="微软雅黑" panose="020B0503020204020204" pitchFamily="34" charset="-122"/>
                          <a:ea typeface="微软雅黑" panose="020B0503020204020204" pitchFamily="34" charset="-122"/>
                        </a:rPr>
                        <a:t>物业费用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735">
                <a:tc>
                  <a:txBody>
                    <a:bodyPr/>
                    <a:p>
                      <a:pPr indent="0" algn="l" fontAlgn="ctr">
                        <a:lnSpc>
                          <a:spcPct val="100000"/>
                        </a:lnSpc>
                      </a:pPr>
                      <a:r>
                        <a:rPr lang="zh-CN" altLang="en-US" sz="800" b="1" i="1">
                          <a:solidFill>
                            <a:srgbClr val="963634"/>
                          </a:solidFill>
                          <a:latin typeface="微软雅黑" panose="020B0503020204020204" pitchFamily="34" charset="-122"/>
                          <a:ea typeface="微软雅黑" panose="020B0503020204020204" pitchFamily="34" charset="-122"/>
                        </a:rPr>
                        <a:t>维保费</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100">
                <a:tc>
                  <a:txBody>
                    <a:bodyPr/>
                    <a:p>
                      <a:pPr indent="0" algn="l" fontAlgn="ctr">
                        <a:lnSpc>
                          <a:spcPct val="100000"/>
                        </a:lnSpc>
                      </a:pPr>
                      <a:r>
                        <a:rPr lang="zh-CN" altLang="en-US" sz="800" b="1" i="1">
                          <a:solidFill>
                            <a:srgbClr val="963634"/>
                          </a:solidFill>
                          <a:latin typeface="微软雅黑" panose="020B0503020204020204" pitchFamily="34" charset="-122"/>
                          <a:ea typeface="微软雅黑" panose="020B0503020204020204" pitchFamily="34" charset="-122"/>
                        </a:rPr>
                        <a:t>物业管理费</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100">
                <a:tc>
                  <a:txBody>
                    <a:bodyPr/>
                    <a:p>
                      <a:pPr indent="0" algn="l" fontAlgn="ctr">
                        <a:lnSpc>
                          <a:spcPct val="100000"/>
                        </a:lnSpc>
                      </a:pPr>
                      <a:r>
                        <a:rPr lang="zh-CN" altLang="en-US" sz="800" b="1" i="1">
                          <a:solidFill>
                            <a:srgbClr val="963634"/>
                          </a:solidFill>
                          <a:latin typeface="微软雅黑" panose="020B0503020204020204" pitchFamily="34" charset="-122"/>
                          <a:ea typeface="微软雅黑" panose="020B0503020204020204" pitchFamily="34" charset="-122"/>
                        </a:rPr>
                        <a:t>物业补亏额</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100">
                <a:tc>
                  <a:txBody>
                    <a:bodyPr/>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空置费</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5735">
                <a:tc>
                  <a:txBody>
                    <a:bodyPr/>
                    <a:p>
                      <a:pPr indent="0" algn="l" fontAlgn="ctr">
                        <a:lnSpc>
                          <a:spcPct val="100000"/>
                        </a:lnSpc>
                      </a:pPr>
                      <a:r>
                        <a:rPr lang="en-US" altLang="zh-CN" sz="800" b="0" i="0">
                          <a:solidFill>
                            <a:srgbClr val="000000"/>
                          </a:solidFill>
                          <a:latin typeface="微软雅黑" panose="020B0503020204020204" pitchFamily="34" charset="-122"/>
                          <a:ea typeface="微软雅黑" panose="020B0503020204020204" pitchFamily="34" charset="-122"/>
                        </a:rPr>
                        <a:t>1.3</a:t>
                      </a:r>
                      <a:r>
                        <a:rPr lang="zh-CN" altLang="en-US" sz="800" b="0" i="0">
                          <a:solidFill>
                            <a:srgbClr val="000000"/>
                          </a:solidFill>
                          <a:latin typeface="微软雅黑" panose="020B0503020204020204" pitchFamily="34" charset="-122"/>
                          <a:ea typeface="微软雅黑" panose="020B0503020204020204" pitchFamily="34" charset="-122"/>
                        </a:rPr>
                        <a:t>营销费用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5735">
                <a:tc>
                  <a:txBody>
                    <a:bodyPr/>
                    <a:p>
                      <a:pPr indent="0" algn="l" fontAlgn="ctr">
                        <a:lnSpc>
                          <a:spcPct val="100000"/>
                        </a:lnSpc>
                      </a:pP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推广促销类费用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5100">
                <a:tc>
                  <a:txBody>
                    <a:bodyPr/>
                    <a:p>
                      <a:pPr indent="0" algn="l" fontAlgn="ctr">
                        <a:lnSpc>
                          <a:spcPct val="100000"/>
                        </a:lnSpc>
                      </a:pP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佣金费用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5100">
                <a:tc>
                  <a:txBody>
                    <a:bodyPr/>
                    <a:p>
                      <a:pPr indent="0" algn="l" fontAlgn="ctr">
                        <a:lnSpc>
                          <a:spcPct val="100000"/>
                        </a:lnSpc>
                      </a:pP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案场物业费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5735">
                <a:tc>
                  <a:txBody>
                    <a:bodyPr/>
                    <a:p>
                      <a:pPr indent="0" algn="l" fontAlgn="ctr">
                        <a:lnSpc>
                          <a:spcPct val="100000"/>
                        </a:lnSpc>
                      </a:pP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其他营销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5100">
                <a:tc>
                  <a:txBody>
                    <a:bodyPr/>
                    <a:p>
                      <a:pPr indent="0" algn="l" fontAlgn="ctr">
                        <a:lnSpc>
                          <a:spcPct val="100000"/>
                        </a:lnSpc>
                      </a:pPr>
                      <a:r>
                        <a:rPr lang="en-US" altLang="zh-CN" sz="800" b="0" i="0">
                          <a:solidFill>
                            <a:srgbClr val="000000"/>
                          </a:solidFill>
                          <a:latin typeface="微软雅黑" panose="020B0503020204020204" pitchFamily="34" charset="-122"/>
                          <a:ea typeface="微软雅黑" panose="020B0503020204020204" pitchFamily="34" charset="-122"/>
                        </a:rPr>
                        <a:t>1.4</a:t>
                      </a:r>
                      <a:r>
                        <a:rPr lang="zh-CN" altLang="en-US" sz="800" b="0" i="0">
                          <a:solidFill>
                            <a:srgbClr val="000000"/>
                          </a:solidFill>
                          <a:latin typeface="微软雅黑" panose="020B0503020204020204" pitchFamily="34" charset="-122"/>
                          <a:ea typeface="微软雅黑" panose="020B0503020204020204" pitchFamily="34" charset="-122"/>
                        </a:rPr>
                        <a:t>成本支出</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4465">
                <a:tc>
                  <a:txBody>
                    <a:bodyPr/>
                    <a:p>
                      <a:pPr indent="0" algn="l" fontAlgn="ctr">
                        <a:lnSpc>
                          <a:spcPct val="100000"/>
                        </a:lnSpc>
                      </a:pPr>
                      <a:r>
                        <a:rPr lang="en-US" altLang="zh-CN" sz="800" b="0" i="0">
                          <a:solidFill>
                            <a:srgbClr val="000000"/>
                          </a:solidFill>
                          <a:latin typeface="微软雅黑" panose="020B0503020204020204" pitchFamily="34" charset="-122"/>
                          <a:ea typeface="微软雅黑" panose="020B0503020204020204" pitchFamily="34" charset="-122"/>
                        </a:rPr>
                        <a:t>2.</a:t>
                      </a:r>
                      <a:r>
                        <a:rPr lang="zh-CN" altLang="en-US" sz="800" b="0" i="0">
                          <a:solidFill>
                            <a:srgbClr val="000000"/>
                          </a:solidFill>
                          <a:latin typeface="微软雅黑" panose="020B0503020204020204" pitchFamily="34" charset="-122"/>
                          <a:ea typeface="微软雅黑" panose="020B0503020204020204" pitchFamily="34" charset="-122"/>
                        </a:rPr>
                        <a:t>税金及附加</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6370">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三、</a:t>
                      </a:r>
                      <a:r>
                        <a:rPr lang="en-US" altLang="zh-CN" sz="800" b="1" i="0">
                          <a:solidFill>
                            <a:srgbClr val="000000"/>
                          </a:solidFill>
                          <a:latin typeface="微软雅黑" panose="020B0503020204020204" pitchFamily="34" charset="-122"/>
                          <a:ea typeface="微软雅黑" panose="020B0503020204020204" pitchFamily="34" charset="-122"/>
                        </a:rPr>
                        <a:t>GOP</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2,954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2,929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2,392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3195">
                <a:tc>
                  <a:txBody>
                    <a:bodyPr/>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房产税及土地使用税</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4465">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四、</a:t>
                      </a:r>
                      <a:r>
                        <a:rPr lang="en-US" altLang="zh-CN" sz="800" b="1" i="0">
                          <a:solidFill>
                            <a:srgbClr val="000000"/>
                          </a:solidFill>
                          <a:latin typeface="微软雅黑" panose="020B0503020204020204" pitchFamily="34" charset="-122"/>
                          <a:ea typeface="微软雅黑" panose="020B0503020204020204" pitchFamily="34" charset="-122"/>
                        </a:rPr>
                        <a:t>NOI</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795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671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2,918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2,893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3830">
                <a:tc>
                  <a:txBody>
                    <a:bodyPr/>
                    <a:p>
                      <a:pPr indent="0" algn="l" fontAlgn="ctr">
                        <a:lnSpc>
                          <a:spcPct val="100000"/>
                        </a:lnSpc>
                      </a:pPr>
                      <a:r>
                        <a:rPr lang="zh-CN" altLang="en-US" sz="800" b="0" i="0">
                          <a:solidFill>
                            <a:srgbClr val="000000"/>
                          </a:solidFill>
                          <a:latin typeface="微软雅黑" panose="020B0503020204020204" pitchFamily="34" charset="-122"/>
                          <a:ea typeface="微软雅黑" panose="020B0503020204020204" pitchFamily="34" charset="-122"/>
                        </a:rPr>
                        <a:t>资产管理服务费</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3830">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五、</a:t>
                      </a:r>
                      <a:r>
                        <a:rPr lang="en-US" altLang="zh-CN" sz="800" b="1" i="0">
                          <a:solidFill>
                            <a:srgbClr val="000000"/>
                          </a:solidFill>
                          <a:latin typeface="微软雅黑" panose="020B0503020204020204" pitchFamily="34" charset="-122"/>
                          <a:ea typeface="微软雅黑" panose="020B0503020204020204" pitchFamily="34" charset="-122"/>
                        </a:rPr>
                        <a:t>NPI</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2,866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2,844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3195">
                <a:tc>
                  <a:txBody>
                    <a:bodyPr/>
                    <a:p>
                      <a:pPr indent="0" algn="l" fontAlgn="ctr">
                        <a:lnSpc>
                          <a:spcPct val="100000"/>
                        </a:lnSpc>
                      </a:pPr>
                      <a:r>
                        <a:rPr lang="zh-CN" altLang="en-US" sz="800" b="1" i="0">
                          <a:solidFill>
                            <a:srgbClr val="000000"/>
                          </a:solidFill>
                          <a:latin typeface="微软雅黑" panose="020B0503020204020204" pitchFamily="34" charset="-122"/>
                          <a:ea typeface="微软雅黑" panose="020B0503020204020204" pitchFamily="34" charset="-122"/>
                        </a:rPr>
                        <a:t>六、</a:t>
                      </a:r>
                      <a:r>
                        <a:rPr lang="en-US" altLang="zh-CN" sz="800" b="1" i="0">
                          <a:solidFill>
                            <a:srgbClr val="000000"/>
                          </a:solidFill>
                          <a:latin typeface="微软雅黑" panose="020B0503020204020204" pitchFamily="34" charset="-122"/>
                          <a:ea typeface="微软雅黑" panose="020B0503020204020204" pitchFamily="34" charset="-122"/>
                        </a:rPr>
                        <a:t>EBITDA</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2,866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2,844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bl>
          </a:graphicData>
        </a:graphic>
      </p:graphicFrame>
      <p:sp>
        <p:nvSpPr>
          <p:cNvPr id="7" name="矩形 6"/>
          <p:cNvSpPr/>
          <p:nvPr/>
        </p:nvSpPr>
        <p:spPr>
          <a:xfrm>
            <a:off x="99695" y="4919980"/>
            <a:ext cx="9032240" cy="654050"/>
          </a:xfrm>
          <a:prstGeom prst="rect">
            <a:avLst/>
          </a:prstGeom>
        </p:spPr>
        <p:txBody>
          <a:bodyPr wrap="square">
            <a:noAutofit/>
          </a:bodyPr>
          <a:p>
            <a:pPr lvl="0">
              <a:defRPr/>
            </a:pPr>
            <a:r>
              <a:rPr lang="zh-CN" altLang="en-US" sz="800" b="1" dirty="0" smtClean="0">
                <a:solidFill>
                  <a:schemeClr val="tx1"/>
                </a:solidFill>
                <a:latin typeface="微软雅黑" panose="020B0503020204020204" pitchFamily="34" charset="-122"/>
                <a:ea typeface="微软雅黑" panose="020B0503020204020204" pitchFamily="34" charset="-122"/>
              </a:rPr>
              <a:t>XH世纪：</a:t>
            </a:r>
            <a:r>
              <a:rPr lang="zh-CN" altLang="en-US" sz="800" b="1" dirty="0" smtClean="0">
                <a:solidFill>
                  <a:srgbClr val="C00000"/>
                </a:solidFill>
                <a:latin typeface="微软雅黑" panose="020B0503020204020204" pitchFamily="34" charset="-122"/>
                <a:ea typeface="微软雅黑" panose="020B0503020204020204" pitchFamily="34" charset="-122"/>
              </a:rPr>
              <a:t>收入减少</a:t>
            </a:r>
            <a:r>
              <a:rPr lang="en-US" altLang="zh-CN" sz="800" b="1" dirty="0" smtClean="0">
                <a:solidFill>
                  <a:srgbClr val="C00000"/>
                </a:solidFill>
                <a:latin typeface="微软雅黑" panose="020B0503020204020204" pitchFamily="34" charset="-122"/>
                <a:ea typeface="微软雅黑" panose="020B0503020204020204" pitchFamily="34" charset="-122"/>
              </a:rPr>
              <a:t>116</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en-US" altLang="zh-CN" sz="800" dirty="0" smtClean="0">
                <a:solidFill>
                  <a:schemeClr val="tx1"/>
                </a:solidFill>
                <a:latin typeface="微软雅黑" panose="020B0503020204020204" pitchFamily="34" charset="-122"/>
                <a:ea typeface="微软雅黑" panose="020B0503020204020204" pitchFamily="34" charset="-122"/>
              </a:rPr>
              <a:t>1</a:t>
            </a:r>
            <a:r>
              <a:rPr lang="zh-CN" altLang="en-US" sz="800" dirty="0" smtClean="0">
                <a:solidFill>
                  <a:schemeClr val="tx1"/>
                </a:solidFill>
                <a:latin typeface="微软雅黑" panose="020B0503020204020204" pitchFamily="34" charset="-122"/>
                <a:ea typeface="微软雅黑" panose="020B0503020204020204" pitchFamily="34" charset="-122"/>
              </a:rPr>
              <a:t>、平均出租率下降</a:t>
            </a:r>
            <a:r>
              <a:rPr lang="en-US" altLang="zh-CN" sz="800" dirty="0" smtClean="0">
                <a:solidFill>
                  <a:schemeClr val="tx1"/>
                </a:solidFill>
                <a:latin typeface="微软雅黑" panose="020B0503020204020204" pitchFamily="34" charset="-122"/>
                <a:ea typeface="微软雅黑" panose="020B0503020204020204" pitchFamily="34" charset="-122"/>
              </a:rPr>
              <a:t>1%</a:t>
            </a:r>
            <a:r>
              <a:rPr lang="zh-CN" altLang="en-US" sz="800" dirty="0" smtClean="0">
                <a:solidFill>
                  <a:schemeClr val="tx1"/>
                </a:solidFill>
                <a:latin typeface="微软雅黑" panose="020B0503020204020204" pitchFamily="34" charset="-122"/>
                <a:ea typeface="微软雅黑" panose="020B0503020204020204" pitchFamily="34" charset="-122"/>
              </a:rPr>
              <a:t>，影响</a:t>
            </a:r>
            <a:r>
              <a:rPr lang="en-US" altLang="zh-CN" sz="800" dirty="0" smtClean="0">
                <a:solidFill>
                  <a:schemeClr val="tx1"/>
                </a:solidFill>
                <a:latin typeface="微软雅黑" panose="020B0503020204020204" pitchFamily="34" charset="-122"/>
                <a:ea typeface="微软雅黑" panose="020B0503020204020204" pitchFamily="34" charset="-122"/>
              </a:rPr>
              <a:t>10</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en-US" altLang="zh-CN" sz="800" dirty="0" smtClean="0">
                <a:solidFill>
                  <a:schemeClr val="tx1"/>
                </a:solidFill>
                <a:latin typeface="微软雅黑" panose="020B0503020204020204" pitchFamily="34" charset="-122"/>
                <a:ea typeface="微软雅黑" panose="020B0503020204020204" pitchFamily="34" charset="-122"/>
              </a:rPr>
              <a:t>2</a:t>
            </a:r>
            <a:r>
              <a:rPr lang="zh-CN" altLang="en-US" sz="800" dirty="0" smtClean="0">
                <a:solidFill>
                  <a:schemeClr val="tx1"/>
                </a:solidFill>
                <a:latin typeface="微软雅黑" panose="020B0503020204020204" pitchFamily="34" charset="-122"/>
                <a:ea typeface="微软雅黑" panose="020B0503020204020204" pitchFamily="34" charset="-122"/>
              </a:rPr>
              <a:t>、租金单价下降</a:t>
            </a:r>
            <a:r>
              <a:rPr lang="en-US" altLang="zh-CN" sz="800" dirty="0" smtClean="0">
                <a:solidFill>
                  <a:schemeClr val="tx1"/>
                </a:solidFill>
                <a:latin typeface="微软雅黑" panose="020B0503020204020204" pitchFamily="34" charset="-122"/>
                <a:ea typeface="微软雅黑" panose="020B0503020204020204" pitchFamily="34" charset="-122"/>
              </a:rPr>
              <a:t>11.7</a:t>
            </a:r>
            <a:r>
              <a:rPr lang="zh-CN" altLang="en-US" sz="800" dirty="0" smtClean="0">
                <a:solidFill>
                  <a:schemeClr val="tx1"/>
                </a:solidFill>
                <a:latin typeface="微软雅黑" panose="020B0503020204020204" pitchFamily="34" charset="-122"/>
                <a:ea typeface="微软雅黑" panose="020B0503020204020204" pitchFamily="34" charset="-122"/>
              </a:rPr>
              <a:t>元，减少收入</a:t>
            </a:r>
            <a:r>
              <a:rPr lang="en-US" altLang="zh-CN" sz="800" dirty="0" smtClean="0">
                <a:solidFill>
                  <a:schemeClr val="tx1"/>
                </a:solidFill>
                <a:latin typeface="微软雅黑" panose="020B0503020204020204" pitchFamily="34" charset="-122"/>
                <a:ea typeface="微软雅黑" panose="020B0503020204020204" pitchFamily="34" charset="-122"/>
              </a:rPr>
              <a:t>79</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zh-CN" altLang="en-US" sz="800" b="1" dirty="0" smtClean="0">
                <a:solidFill>
                  <a:schemeClr val="tx1"/>
                </a:solidFill>
                <a:latin typeface="微软雅黑" panose="020B0503020204020204" pitchFamily="34" charset="-122"/>
                <a:ea typeface="微软雅黑" panose="020B0503020204020204" pitchFamily="34" charset="-122"/>
              </a:rPr>
              <a:t>成本费用增加</a:t>
            </a:r>
            <a:r>
              <a:rPr lang="en-US" altLang="zh-CN" sz="800" b="1" dirty="0" smtClean="0">
                <a:solidFill>
                  <a:schemeClr val="tx1"/>
                </a:solidFill>
                <a:latin typeface="微软雅黑" panose="020B0503020204020204" pitchFamily="34" charset="-122"/>
                <a:ea typeface="微软雅黑" panose="020B0503020204020204" pitchFamily="34" charset="-122"/>
              </a:rPr>
              <a:t>9</a:t>
            </a:r>
            <a:r>
              <a:rPr lang="zh-CN" altLang="en-US" sz="800" b="1" dirty="0" smtClean="0">
                <a:solidFill>
                  <a:schemeClr val="tx1"/>
                </a:solidFill>
                <a:latin typeface="微软雅黑" panose="020B0503020204020204" pitchFamily="34" charset="-122"/>
                <a:ea typeface="微软雅黑" panose="020B0503020204020204" pitchFamily="34" charset="-122"/>
              </a:rPr>
              <a:t>万，</a:t>
            </a:r>
            <a:r>
              <a:rPr lang="en-US" altLang="zh-CN" sz="800" dirty="0" smtClean="0">
                <a:solidFill>
                  <a:schemeClr val="tx1"/>
                </a:solidFill>
                <a:latin typeface="微软雅黑" panose="020B0503020204020204" pitchFamily="34" charset="-122"/>
                <a:ea typeface="微软雅黑" panose="020B0503020204020204" pitchFamily="34" charset="-122"/>
              </a:rPr>
              <a:t>26</a:t>
            </a:r>
            <a:r>
              <a:rPr lang="zh-CN" altLang="en-US" sz="800" dirty="0" smtClean="0">
                <a:solidFill>
                  <a:schemeClr val="tx1"/>
                </a:solidFill>
                <a:latin typeface="微软雅黑" panose="020B0503020204020204" pitchFamily="34" charset="-122"/>
                <a:ea typeface="微软雅黑" panose="020B0503020204020204" pitchFamily="34" charset="-122"/>
              </a:rPr>
              <a:t>年新签面积增加，佣金费用增加；</a:t>
            </a:r>
            <a:r>
              <a:rPr lang="en-US" altLang="zh-CN" sz="800" b="1" dirty="0" smtClean="0">
                <a:solidFill>
                  <a:srgbClr val="C00000"/>
                </a:solidFill>
                <a:latin typeface="微软雅黑" panose="020B0503020204020204" pitchFamily="34" charset="-122"/>
                <a:ea typeface="微软雅黑" panose="020B0503020204020204" pitchFamily="34" charset="-122"/>
              </a:rPr>
              <a:t>NOI</a:t>
            </a:r>
            <a:r>
              <a:rPr lang="zh-CN" altLang="en-US" sz="800" b="1" dirty="0" smtClean="0">
                <a:solidFill>
                  <a:srgbClr val="C00000"/>
                </a:solidFill>
                <a:latin typeface="微软雅黑" panose="020B0503020204020204" pitchFamily="34" charset="-122"/>
                <a:ea typeface="微软雅黑" panose="020B0503020204020204" pitchFamily="34" charset="-122"/>
              </a:rPr>
              <a:t>减少</a:t>
            </a:r>
            <a:r>
              <a:rPr lang="en-US" altLang="zh-CN" sz="800" b="1" dirty="0" smtClean="0">
                <a:solidFill>
                  <a:srgbClr val="C00000"/>
                </a:solidFill>
                <a:latin typeface="微软雅黑" panose="020B0503020204020204" pitchFamily="34" charset="-122"/>
                <a:ea typeface="微软雅黑" panose="020B0503020204020204" pitchFamily="34" charset="-122"/>
              </a:rPr>
              <a:t>124</a:t>
            </a:r>
            <a:r>
              <a:rPr lang="zh-CN" altLang="en-US" sz="800" b="1" dirty="0" smtClean="0">
                <a:solidFill>
                  <a:srgbClr val="C00000"/>
                </a:solidFill>
                <a:latin typeface="微软雅黑" panose="020B0503020204020204" pitchFamily="34" charset="-122"/>
                <a:ea typeface="微软雅黑" panose="020B0503020204020204" pitchFamily="34" charset="-122"/>
              </a:rPr>
              <a:t>万。</a:t>
            </a:r>
            <a:endParaRPr lang="zh-CN" altLang="en-US" sz="800" b="1" dirty="0" smtClean="0">
              <a:solidFill>
                <a:srgbClr val="C00000"/>
              </a:solidFill>
              <a:latin typeface="微软雅黑" panose="020B0503020204020204" pitchFamily="34" charset="-122"/>
              <a:ea typeface="微软雅黑" panose="020B0503020204020204" pitchFamily="34" charset="-122"/>
            </a:endParaRPr>
          </a:p>
          <a:p>
            <a:pPr lvl="0">
              <a:defRPr/>
            </a:pPr>
            <a:r>
              <a:rPr lang="zh-CN" altLang="en-US" sz="800" b="1" dirty="0" smtClean="0">
                <a:solidFill>
                  <a:schemeClr val="tx1"/>
                </a:solidFill>
                <a:latin typeface="微软雅黑" panose="020B0503020204020204" pitchFamily="34" charset="-122"/>
                <a:ea typeface="微软雅黑" panose="020B0503020204020204" pitchFamily="34" charset="-122"/>
              </a:rPr>
              <a:t>银海时代：</a:t>
            </a:r>
            <a:r>
              <a:rPr lang="zh-CN" altLang="en-US" sz="800" b="1" dirty="0" smtClean="0">
                <a:solidFill>
                  <a:srgbClr val="C00000"/>
                </a:solidFill>
                <a:latin typeface="微软雅黑" panose="020B0503020204020204" pitchFamily="34" charset="-122"/>
                <a:ea typeface="微软雅黑" panose="020B0503020204020204" pitchFamily="34" charset="-122"/>
              </a:rPr>
              <a:t>收入减少</a:t>
            </a:r>
            <a:r>
              <a:rPr lang="en-US" altLang="zh-CN" sz="800" b="1" dirty="0" smtClean="0">
                <a:solidFill>
                  <a:srgbClr val="C00000"/>
                </a:solidFill>
                <a:latin typeface="微软雅黑" panose="020B0503020204020204" pitchFamily="34" charset="-122"/>
                <a:ea typeface="微软雅黑" panose="020B0503020204020204" pitchFamily="34" charset="-122"/>
              </a:rPr>
              <a:t>581</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zh-CN" altLang="en-US" sz="800" dirty="0" smtClean="0">
                <a:solidFill>
                  <a:schemeClr val="tx1"/>
                </a:solidFill>
                <a:latin typeface="微软雅黑" panose="020B0503020204020204" pitchFamily="34" charset="-122"/>
                <a:ea typeface="微软雅黑" panose="020B0503020204020204" pitchFamily="34" charset="-122"/>
              </a:rPr>
              <a:t>纵维立方约</a:t>
            </a:r>
            <a:r>
              <a:rPr lang="en-US" altLang="zh-CN" sz="800" dirty="0" smtClean="0">
                <a:solidFill>
                  <a:schemeClr val="tx1"/>
                </a:solidFill>
                <a:latin typeface="微软雅黑" panose="020B0503020204020204" pitchFamily="34" charset="-122"/>
                <a:ea typeface="微软雅黑" panose="020B0503020204020204" pitchFamily="34" charset="-122"/>
              </a:rPr>
              <a:t>2.5</a:t>
            </a:r>
            <a:r>
              <a:rPr lang="zh-CN" altLang="en-US" sz="800" dirty="0" smtClean="0">
                <a:solidFill>
                  <a:schemeClr val="tx1"/>
                </a:solidFill>
                <a:latin typeface="微软雅黑" panose="020B0503020204020204" pitchFamily="34" charset="-122"/>
                <a:ea typeface="微软雅黑" panose="020B0503020204020204" pitchFamily="34" charset="-122"/>
              </a:rPr>
              <a:t>万㎡厂房预计到期退租，影响</a:t>
            </a:r>
            <a:r>
              <a:rPr lang="en-US" altLang="zh-CN" sz="800" dirty="0" smtClean="0">
                <a:solidFill>
                  <a:schemeClr val="tx1"/>
                </a:solidFill>
                <a:latin typeface="微软雅黑" panose="020B0503020204020204" pitchFamily="34" charset="-122"/>
                <a:ea typeface="微软雅黑" panose="020B0503020204020204" pitchFamily="34" charset="-122"/>
              </a:rPr>
              <a:t>240</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en-US" altLang="zh-CN" sz="800" dirty="0" smtClean="0">
                <a:solidFill>
                  <a:schemeClr val="tx1"/>
                </a:solidFill>
                <a:latin typeface="微软雅黑" panose="020B0503020204020204" pitchFamily="34" charset="-122"/>
                <a:ea typeface="微软雅黑" panose="020B0503020204020204" pitchFamily="34" charset="-122"/>
              </a:rPr>
              <a:t>6</a:t>
            </a:r>
            <a:r>
              <a:rPr lang="zh-CN" altLang="en-US" sz="800" dirty="0" smtClean="0">
                <a:solidFill>
                  <a:schemeClr val="tx1"/>
                </a:solidFill>
                <a:latin typeface="微软雅黑" panose="020B0503020204020204" pitchFamily="34" charset="-122"/>
                <a:ea typeface="微软雅黑" panose="020B0503020204020204" pitchFamily="34" charset="-122"/>
              </a:rPr>
              <a:t>号宿舍整栋</a:t>
            </a:r>
            <a:r>
              <a:rPr lang="en-US" altLang="zh-CN" sz="800" dirty="0" smtClean="0">
                <a:solidFill>
                  <a:schemeClr val="tx1"/>
                </a:solidFill>
                <a:latin typeface="微软雅黑" panose="020B0503020204020204" pitchFamily="34" charset="-122"/>
                <a:ea typeface="微软雅黑" panose="020B0503020204020204" pitchFamily="34" charset="-122"/>
              </a:rPr>
              <a:t>4816</a:t>
            </a:r>
            <a:r>
              <a:rPr lang="zh-CN" altLang="en-US" sz="800" dirty="0" smtClean="0">
                <a:solidFill>
                  <a:schemeClr val="tx1"/>
                </a:solidFill>
                <a:latin typeface="微软雅黑" panose="020B0503020204020204" pitchFamily="34" charset="-122"/>
                <a:ea typeface="微软雅黑" panose="020B0503020204020204" pitchFamily="34" charset="-122"/>
              </a:rPr>
              <a:t>㎡预计到期退租，影响</a:t>
            </a:r>
            <a:r>
              <a:rPr lang="en-US" altLang="zh-CN" sz="800" dirty="0" smtClean="0">
                <a:solidFill>
                  <a:schemeClr val="tx1"/>
                </a:solidFill>
                <a:latin typeface="微软雅黑" panose="020B0503020204020204" pitchFamily="34" charset="-122"/>
                <a:ea typeface="微软雅黑" panose="020B0503020204020204" pitchFamily="34" charset="-122"/>
              </a:rPr>
              <a:t>60</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en-US" altLang="zh-CN" sz="800" dirty="0" smtClean="0">
                <a:solidFill>
                  <a:schemeClr val="tx1"/>
                </a:solidFill>
                <a:latin typeface="微软雅黑" panose="020B0503020204020204" pitchFamily="34" charset="-122"/>
                <a:ea typeface="微软雅黑" panose="020B0503020204020204" pitchFamily="34" charset="-122"/>
              </a:rPr>
              <a:t>C1C2</a:t>
            </a:r>
            <a:r>
              <a:rPr lang="zh-CN" altLang="en-US" sz="800" dirty="0" smtClean="0">
                <a:solidFill>
                  <a:schemeClr val="tx1"/>
                </a:solidFill>
                <a:latin typeface="微软雅黑" panose="020B0503020204020204" pitchFamily="34" charset="-122"/>
                <a:ea typeface="微软雅黑" panose="020B0503020204020204" pitchFamily="34" charset="-122"/>
              </a:rPr>
              <a:t>宿舍加固影响</a:t>
            </a:r>
            <a:r>
              <a:rPr lang="en-US" altLang="zh-CN" sz="800" dirty="0" smtClean="0">
                <a:solidFill>
                  <a:schemeClr val="tx1"/>
                </a:solidFill>
                <a:latin typeface="微软雅黑" panose="020B0503020204020204" pitchFamily="34" charset="-122"/>
                <a:ea typeface="微软雅黑" panose="020B0503020204020204" pitchFamily="34" charset="-122"/>
              </a:rPr>
              <a:t>301</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zh-CN" altLang="en-US" sz="800" b="1" dirty="0" smtClean="0">
                <a:solidFill>
                  <a:schemeClr val="tx1"/>
                </a:solidFill>
                <a:latin typeface="微软雅黑" panose="020B0503020204020204" pitchFamily="34" charset="-122"/>
                <a:ea typeface="微软雅黑" panose="020B0503020204020204" pitchFamily="34" charset="-122"/>
              </a:rPr>
              <a:t>成本费用减少</a:t>
            </a:r>
            <a:r>
              <a:rPr lang="en-US" altLang="zh-CN" sz="800" b="1" dirty="0" smtClean="0">
                <a:solidFill>
                  <a:schemeClr val="tx1"/>
                </a:solidFill>
                <a:latin typeface="微软雅黑" panose="020B0503020204020204" pitchFamily="34" charset="-122"/>
                <a:ea typeface="微软雅黑" panose="020B0503020204020204" pitchFamily="34" charset="-122"/>
              </a:rPr>
              <a:t>1</a:t>
            </a:r>
            <a:r>
              <a:rPr lang="zh-CN" altLang="en-US" sz="800" b="1" dirty="0" smtClean="0">
                <a:solidFill>
                  <a:schemeClr val="tx1"/>
                </a:solidFill>
                <a:latin typeface="微软雅黑" panose="020B0503020204020204" pitchFamily="34" charset="-122"/>
                <a:ea typeface="微软雅黑" panose="020B0503020204020204" pitchFamily="34" charset="-122"/>
              </a:rPr>
              <a:t>万；</a:t>
            </a:r>
            <a:r>
              <a:rPr lang="en-US" altLang="zh-CN" sz="800" b="1" dirty="0" smtClean="0">
                <a:solidFill>
                  <a:srgbClr val="C00000"/>
                </a:solidFill>
                <a:latin typeface="微软雅黑" panose="020B0503020204020204" pitchFamily="34" charset="-122"/>
                <a:ea typeface="微软雅黑" panose="020B0503020204020204" pitchFamily="34" charset="-122"/>
              </a:rPr>
              <a:t>NOI</a:t>
            </a:r>
            <a:r>
              <a:rPr lang="zh-CN" altLang="en-US" sz="800" b="1" dirty="0" smtClean="0">
                <a:solidFill>
                  <a:srgbClr val="C00000"/>
                </a:solidFill>
                <a:latin typeface="微软雅黑" panose="020B0503020204020204" pitchFamily="34" charset="-122"/>
                <a:ea typeface="微软雅黑" panose="020B0503020204020204" pitchFamily="34" charset="-122"/>
              </a:rPr>
              <a:t>减少</a:t>
            </a:r>
            <a:r>
              <a:rPr lang="en-US" altLang="zh-CN" sz="800" b="1" dirty="0" smtClean="0">
                <a:solidFill>
                  <a:srgbClr val="C00000"/>
                </a:solidFill>
                <a:latin typeface="微软雅黑" panose="020B0503020204020204" pitchFamily="34" charset="-122"/>
                <a:ea typeface="微软雅黑" panose="020B0503020204020204" pitchFamily="34" charset="-122"/>
              </a:rPr>
              <a:t>537</a:t>
            </a:r>
            <a:r>
              <a:rPr lang="zh-CN" altLang="en-US" sz="800" b="1" dirty="0" smtClean="0">
                <a:solidFill>
                  <a:srgbClr val="C00000"/>
                </a:solidFill>
                <a:latin typeface="微软雅黑" panose="020B0503020204020204" pitchFamily="34" charset="-122"/>
                <a:ea typeface="微软雅黑" panose="020B0503020204020204" pitchFamily="34" charset="-122"/>
              </a:rPr>
              <a:t>万。</a:t>
            </a:r>
            <a:endParaRPr lang="zh-CN" altLang="en-US" sz="800" b="1" dirty="0" smtClean="0">
              <a:solidFill>
                <a:srgbClr val="C00000"/>
              </a:solidFill>
              <a:latin typeface="微软雅黑" panose="020B0503020204020204" pitchFamily="34" charset="-122"/>
              <a:ea typeface="微软雅黑" panose="020B0503020204020204" pitchFamily="34" charset="-122"/>
            </a:endParaRPr>
          </a:p>
          <a:p>
            <a:pPr lvl="0">
              <a:defRPr/>
            </a:pPr>
            <a:r>
              <a:rPr lang="zh-CN" altLang="en-US" sz="800" b="1" dirty="0" smtClean="0">
                <a:solidFill>
                  <a:schemeClr val="tx1"/>
                </a:solidFill>
                <a:latin typeface="微软雅黑" panose="020B0503020204020204" pitchFamily="34" charset="-122"/>
                <a:ea typeface="微软雅黑" panose="020B0503020204020204" pitchFamily="34" charset="-122"/>
              </a:rPr>
              <a:t>时代大厦：</a:t>
            </a:r>
            <a:r>
              <a:rPr lang="zh-CN" altLang="en-US" sz="800" b="1" dirty="0" smtClean="0">
                <a:solidFill>
                  <a:srgbClr val="C00000"/>
                </a:solidFill>
                <a:latin typeface="微软雅黑" panose="020B0503020204020204" pitchFamily="34" charset="-122"/>
                <a:ea typeface="微软雅黑" panose="020B0503020204020204" pitchFamily="34" charset="-122"/>
              </a:rPr>
              <a:t>收入增加</a:t>
            </a:r>
            <a:r>
              <a:rPr lang="en-US" altLang="zh-CN" sz="800" b="1" dirty="0" smtClean="0">
                <a:solidFill>
                  <a:srgbClr val="C00000"/>
                </a:solidFill>
                <a:latin typeface="微软雅黑" panose="020B0503020204020204" pitchFamily="34" charset="-122"/>
                <a:ea typeface="微软雅黑" panose="020B0503020204020204" pitchFamily="34" charset="-122"/>
              </a:rPr>
              <a:t>16</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zh-CN" altLang="en-US" sz="800" dirty="0" smtClean="0">
                <a:solidFill>
                  <a:schemeClr val="tx1"/>
                </a:solidFill>
                <a:latin typeface="微软雅黑" panose="020B0503020204020204" pitchFamily="34" charset="-122"/>
                <a:ea typeface="微软雅黑" panose="020B0503020204020204" pitchFamily="34" charset="-122"/>
              </a:rPr>
              <a:t>出租率增加；</a:t>
            </a:r>
            <a:r>
              <a:rPr lang="zh-CN" altLang="en-US" sz="800" b="1" dirty="0" smtClean="0">
                <a:solidFill>
                  <a:schemeClr val="tx1"/>
                </a:solidFill>
                <a:latin typeface="微软雅黑" panose="020B0503020204020204" pitchFamily="34" charset="-122"/>
                <a:ea typeface="微软雅黑" panose="020B0503020204020204" pitchFamily="34" charset="-122"/>
              </a:rPr>
              <a:t>成本费用增加</a:t>
            </a:r>
            <a:r>
              <a:rPr lang="en-US" altLang="zh-CN" sz="800" b="1" dirty="0" smtClean="0">
                <a:solidFill>
                  <a:schemeClr val="tx1"/>
                </a:solidFill>
                <a:latin typeface="微软雅黑" panose="020B0503020204020204" pitchFamily="34" charset="-122"/>
                <a:ea typeface="微软雅黑" panose="020B0503020204020204" pitchFamily="34" charset="-122"/>
              </a:rPr>
              <a:t>8</a:t>
            </a:r>
            <a:r>
              <a:rPr lang="zh-CN" altLang="en-US" sz="800" b="1" dirty="0" smtClean="0">
                <a:solidFill>
                  <a:schemeClr val="tx1"/>
                </a:solidFill>
                <a:latin typeface="微软雅黑" panose="020B0503020204020204" pitchFamily="34" charset="-122"/>
                <a:ea typeface="微软雅黑" panose="020B0503020204020204" pitchFamily="34" charset="-122"/>
              </a:rPr>
              <a:t>万</a:t>
            </a:r>
            <a:r>
              <a:rPr lang="zh-CN" altLang="en-US" sz="800" dirty="0" smtClean="0">
                <a:solidFill>
                  <a:schemeClr val="tx1"/>
                </a:solidFill>
                <a:latin typeface="微软雅黑" panose="020B0503020204020204" pitchFamily="34" charset="-122"/>
                <a:ea typeface="微软雅黑" panose="020B0503020204020204" pitchFamily="34" charset="-122"/>
              </a:rPr>
              <a:t>（人工费用增加</a:t>
            </a:r>
            <a:r>
              <a:rPr lang="en-US" altLang="zh-CN" sz="800" dirty="0" smtClean="0">
                <a:solidFill>
                  <a:schemeClr val="tx1"/>
                </a:solidFill>
                <a:latin typeface="微软雅黑" panose="020B0503020204020204" pitchFamily="34" charset="-122"/>
                <a:ea typeface="微软雅黑" panose="020B0503020204020204" pitchFamily="34" charset="-122"/>
              </a:rPr>
              <a:t>15</a:t>
            </a:r>
            <a:r>
              <a:rPr lang="zh-CN" altLang="en-US" sz="800" dirty="0" smtClean="0">
                <a:solidFill>
                  <a:schemeClr val="tx1"/>
                </a:solidFill>
                <a:latin typeface="微软雅黑" panose="020B0503020204020204" pitchFamily="34" charset="-122"/>
                <a:ea typeface="微软雅黑" panose="020B0503020204020204" pitchFamily="34" charset="-122"/>
              </a:rPr>
              <a:t>万，营销费用减少</a:t>
            </a:r>
            <a:r>
              <a:rPr lang="en-US" altLang="zh-CN" sz="800" dirty="0" smtClean="0">
                <a:solidFill>
                  <a:schemeClr val="tx1"/>
                </a:solidFill>
                <a:latin typeface="微软雅黑" panose="020B0503020204020204" pitchFamily="34" charset="-122"/>
                <a:ea typeface="微软雅黑" panose="020B0503020204020204" pitchFamily="34" charset="-122"/>
              </a:rPr>
              <a:t>8</a:t>
            </a:r>
            <a:r>
              <a:rPr lang="zh-CN" altLang="en-US" sz="800" dirty="0" smtClean="0">
                <a:solidFill>
                  <a:schemeClr val="tx1"/>
                </a:solidFill>
                <a:latin typeface="微软雅黑" panose="020B0503020204020204" pitchFamily="34" charset="-122"/>
                <a:ea typeface="微软雅黑" panose="020B0503020204020204" pitchFamily="34" charset="-122"/>
              </a:rPr>
              <a:t>万），</a:t>
            </a:r>
            <a:r>
              <a:rPr lang="en-US" altLang="zh-CN" sz="800" b="1" dirty="0" smtClean="0">
                <a:solidFill>
                  <a:srgbClr val="C00000"/>
                </a:solidFill>
                <a:latin typeface="微软雅黑" panose="020B0503020204020204" pitchFamily="34" charset="-122"/>
                <a:ea typeface="微软雅黑" panose="020B0503020204020204" pitchFamily="34" charset="-122"/>
              </a:rPr>
              <a:t>NOI</a:t>
            </a:r>
            <a:r>
              <a:rPr lang="zh-CN" altLang="en-US" sz="800" b="1" dirty="0" smtClean="0">
                <a:solidFill>
                  <a:srgbClr val="C00000"/>
                </a:solidFill>
                <a:latin typeface="微软雅黑" panose="020B0503020204020204" pitchFamily="34" charset="-122"/>
                <a:ea typeface="微软雅黑" panose="020B0503020204020204" pitchFamily="34" charset="-122"/>
              </a:rPr>
              <a:t>增加</a:t>
            </a:r>
            <a:r>
              <a:rPr lang="en-US" altLang="zh-CN" sz="800" b="1" dirty="0" smtClean="0">
                <a:solidFill>
                  <a:srgbClr val="C00000"/>
                </a:solidFill>
                <a:latin typeface="微软雅黑" panose="020B0503020204020204" pitchFamily="34" charset="-122"/>
                <a:ea typeface="微软雅黑" panose="020B0503020204020204" pitchFamily="34" charset="-122"/>
              </a:rPr>
              <a:t>7</a:t>
            </a:r>
            <a:r>
              <a:rPr lang="zh-CN" altLang="en-US" sz="800" b="1" dirty="0" smtClean="0">
                <a:solidFill>
                  <a:srgbClr val="C00000"/>
                </a:solidFill>
                <a:latin typeface="微软雅黑" panose="020B0503020204020204" pitchFamily="34" charset="-122"/>
                <a:ea typeface="微软雅黑" panose="020B0503020204020204" pitchFamily="34" charset="-122"/>
              </a:rPr>
              <a:t>万。</a:t>
            </a:r>
            <a:endParaRPr lang="zh-CN" altLang="en-US" sz="800" b="1" dirty="0" smtClean="0">
              <a:solidFill>
                <a:srgbClr val="C00000"/>
              </a:solidFill>
              <a:latin typeface="微软雅黑" panose="020B0503020204020204" pitchFamily="34" charset="-122"/>
              <a:ea typeface="微软雅黑" panose="020B0503020204020204" pitchFamily="34" charset="-122"/>
            </a:endParaRPr>
          </a:p>
          <a:p>
            <a:pPr lvl="0">
              <a:defRPr/>
            </a:pPr>
            <a:r>
              <a:rPr lang="zh-CN" altLang="en-US" sz="800" b="1" dirty="0" smtClean="0">
                <a:solidFill>
                  <a:schemeClr val="tx1"/>
                </a:solidFill>
                <a:latin typeface="微软雅黑" panose="020B0503020204020204" pitchFamily="34" charset="-122"/>
                <a:ea typeface="微软雅黑" panose="020B0503020204020204" pitchFamily="34" charset="-122"/>
              </a:rPr>
              <a:t>开市客：</a:t>
            </a:r>
            <a:r>
              <a:rPr lang="zh-CN" altLang="en-US" sz="800" b="1" dirty="0" smtClean="0">
                <a:solidFill>
                  <a:srgbClr val="C00000"/>
                </a:solidFill>
                <a:latin typeface="微软雅黑" panose="020B0503020204020204" pitchFamily="34" charset="-122"/>
                <a:ea typeface="微软雅黑" panose="020B0503020204020204" pitchFamily="34" charset="-122"/>
              </a:rPr>
              <a:t>收入增加</a:t>
            </a:r>
            <a:r>
              <a:rPr lang="en-US" altLang="zh-CN" sz="800" b="1" dirty="0" smtClean="0">
                <a:solidFill>
                  <a:srgbClr val="C00000"/>
                </a:solidFill>
                <a:latin typeface="微软雅黑" panose="020B0503020204020204" pitchFamily="34" charset="-122"/>
                <a:ea typeface="微软雅黑" panose="020B0503020204020204" pitchFamily="34" charset="-122"/>
              </a:rPr>
              <a:t>326</a:t>
            </a:r>
            <a:r>
              <a:rPr lang="zh-CN" altLang="en-US" sz="800" b="1" dirty="0" smtClean="0">
                <a:solidFill>
                  <a:srgbClr val="C00000"/>
                </a:solidFill>
                <a:latin typeface="微软雅黑" panose="020B0503020204020204" pitchFamily="34" charset="-122"/>
                <a:ea typeface="微软雅黑" panose="020B0503020204020204" pitchFamily="34" charset="-122"/>
              </a:rPr>
              <a:t>万，</a:t>
            </a:r>
            <a:r>
              <a:rPr lang="en-US" altLang="zh-CN" sz="800" dirty="0" smtClean="0">
                <a:solidFill>
                  <a:schemeClr val="tx1"/>
                </a:solidFill>
                <a:latin typeface="微软雅黑" panose="020B0503020204020204" pitchFamily="34" charset="-122"/>
                <a:ea typeface="微软雅黑" panose="020B0503020204020204" pitchFamily="34" charset="-122"/>
              </a:rPr>
              <a:t>26</a:t>
            </a:r>
            <a:r>
              <a:rPr lang="zh-CN" altLang="en-US" sz="800" dirty="0" smtClean="0">
                <a:solidFill>
                  <a:schemeClr val="tx1"/>
                </a:solidFill>
                <a:latin typeface="微软雅黑" panose="020B0503020204020204" pitchFamily="34" charset="-122"/>
                <a:ea typeface="微软雅黑" panose="020B0503020204020204" pitchFamily="34" charset="-122"/>
              </a:rPr>
              <a:t>年出租率到</a:t>
            </a:r>
            <a:r>
              <a:rPr lang="en-US" altLang="zh-CN" sz="800" dirty="0" smtClean="0">
                <a:solidFill>
                  <a:schemeClr val="tx1"/>
                </a:solidFill>
                <a:latin typeface="微软雅黑" panose="020B0503020204020204" pitchFamily="34" charset="-122"/>
                <a:ea typeface="微软雅黑" panose="020B0503020204020204" pitchFamily="34" charset="-122"/>
              </a:rPr>
              <a:t>40.8%</a:t>
            </a:r>
            <a:r>
              <a:rPr lang="zh-CN" altLang="en-US" sz="800" dirty="0" smtClean="0">
                <a:solidFill>
                  <a:schemeClr val="tx1"/>
                </a:solidFill>
                <a:latin typeface="微软雅黑" panose="020B0503020204020204" pitchFamily="34" charset="-122"/>
                <a:ea typeface="微软雅黑" panose="020B0503020204020204" pitchFamily="34" charset="-122"/>
              </a:rPr>
              <a:t>，预计新签面积</a:t>
            </a:r>
            <a:r>
              <a:rPr lang="en-US" altLang="zh-CN" sz="800" dirty="0" smtClean="0">
                <a:solidFill>
                  <a:schemeClr val="tx1"/>
                </a:solidFill>
                <a:latin typeface="微软雅黑" panose="020B0503020204020204" pitchFamily="34" charset="-122"/>
                <a:ea typeface="微软雅黑" panose="020B0503020204020204" pitchFamily="34" charset="-122"/>
              </a:rPr>
              <a:t>1.39</a:t>
            </a:r>
            <a:r>
              <a:rPr lang="zh-CN" altLang="en-US" sz="800" dirty="0" smtClean="0">
                <a:solidFill>
                  <a:schemeClr val="tx1"/>
                </a:solidFill>
                <a:latin typeface="微软雅黑" panose="020B0503020204020204" pitchFamily="34" charset="-122"/>
                <a:ea typeface="微软雅黑" panose="020B0503020204020204" pitchFamily="34" charset="-122"/>
              </a:rPr>
              <a:t>万平方；</a:t>
            </a:r>
            <a:r>
              <a:rPr lang="zh-CN" altLang="en-US" sz="800" b="1" dirty="0" smtClean="0">
                <a:solidFill>
                  <a:schemeClr val="tx1"/>
                </a:solidFill>
                <a:latin typeface="微软雅黑" panose="020B0503020204020204" pitchFamily="34" charset="-122"/>
                <a:ea typeface="微软雅黑" panose="020B0503020204020204" pitchFamily="34" charset="-122"/>
              </a:rPr>
              <a:t>成本费用增加</a:t>
            </a:r>
            <a:r>
              <a:rPr lang="en-US" altLang="zh-CN" sz="800" b="1" dirty="0" smtClean="0">
                <a:solidFill>
                  <a:schemeClr val="tx1"/>
                </a:solidFill>
                <a:latin typeface="微软雅黑" panose="020B0503020204020204" pitchFamily="34" charset="-122"/>
                <a:ea typeface="微软雅黑" panose="020B0503020204020204" pitchFamily="34" charset="-122"/>
              </a:rPr>
              <a:t>229</a:t>
            </a:r>
            <a:r>
              <a:rPr lang="zh-CN" altLang="en-US" sz="800" b="1" dirty="0" smtClean="0">
                <a:solidFill>
                  <a:schemeClr val="tx1"/>
                </a:solidFill>
                <a:latin typeface="微软雅黑" panose="020B0503020204020204" pitchFamily="34" charset="-122"/>
                <a:ea typeface="微软雅黑" panose="020B0503020204020204" pitchFamily="34" charset="-122"/>
              </a:rPr>
              <a:t>万</a:t>
            </a:r>
            <a:r>
              <a:rPr lang="zh-CN" altLang="en-US" sz="800" dirty="0" smtClean="0">
                <a:solidFill>
                  <a:schemeClr val="tx1"/>
                </a:solidFill>
                <a:latin typeface="微软雅黑" panose="020B0503020204020204" pitchFamily="34" charset="-122"/>
                <a:ea typeface="微软雅黑" panose="020B0503020204020204" pitchFamily="34" charset="-122"/>
              </a:rPr>
              <a:t>（明年的费用为整年费用）；</a:t>
            </a:r>
            <a:r>
              <a:rPr lang="en-US" altLang="zh-CN" sz="800" b="1" dirty="0" smtClean="0">
                <a:solidFill>
                  <a:srgbClr val="C00000"/>
                </a:solidFill>
                <a:latin typeface="微软雅黑" panose="020B0503020204020204" pitchFamily="34" charset="-122"/>
                <a:ea typeface="微软雅黑" panose="020B0503020204020204" pitchFamily="34" charset="-122"/>
              </a:rPr>
              <a:t>NOI</a:t>
            </a:r>
            <a:r>
              <a:rPr lang="zh-CN" altLang="en-US" sz="800" b="1" dirty="0" smtClean="0">
                <a:solidFill>
                  <a:srgbClr val="C00000"/>
                </a:solidFill>
                <a:latin typeface="微软雅黑" panose="020B0503020204020204" pitchFamily="34" charset="-122"/>
                <a:ea typeface="微软雅黑" panose="020B0503020204020204" pitchFamily="34" charset="-122"/>
              </a:rPr>
              <a:t>增加</a:t>
            </a:r>
            <a:r>
              <a:rPr lang="en-US" altLang="zh-CN" sz="800" b="1" dirty="0" smtClean="0">
                <a:solidFill>
                  <a:srgbClr val="C00000"/>
                </a:solidFill>
                <a:latin typeface="微软雅黑" panose="020B0503020204020204" pitchFamily="34" charset="-122"/>
                <a:ea typeface="微软雅黑" panose="020B0503020204020204" pitchFamily="34" charset="-122"/>
              </a:rPr>
              <a:t>70</a:t>
            </a:r>
            <a:r>
              <a:rPr lang="zh-CN" altLang="en-US" sz="800" b="1" dirty="0" smtClean="0">
                <a:solidFill>
                  <a:srgbClr val="C00000"/>
                </a:solidFill>
                <a:latin typeface="微软雅黑" panose="020B0503020204020204" pitchFamily="34" charset="-122"/>
                <a:ea typeface="微软雅黑" panose="020B0503020204020204" pitchFamily="34" charset="-122"/>
              </a:rPr>
              <a:t>万。</a:t>
            </a:r>
            <a:endParaRPr lang="zh-CN" altLang="en-US" sz="800" b="1" dirty="0" smtClean="0">
              <a:solidFill>
                <a:srgbClr val="C00000"/>
              </a:solidFill>
              <a:latin typeface="微软雅黑" panose="020B0503020204020204" pitchFamily="34" charset="-122"/>
              <a:ea typeface="微软雅黑" panose="020B0503020204020204" pitchFamily="34" charset="-122"/>
            </a:endParaRPr>
          </a:p>
          <a:p>
            <a:pPr lvl="0">
              <a:defRPr/>
            </a:pPr>
            <a:endParaRPr lang="zh-CN" altLang="en-US" sz="800" b="1" dirty="0" smtClean="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487" y="93379"/>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effectLst/>
                <a:uLnTx/>
                <a:uFillTx/>
                <a:sym typeface="+mn-ea"/>
              </a:rPr>
              <a:t>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租赁预算情况</a:t>
            </a:r>
            <a:r>
              <a:rPr lang="zh-CN" altLang="en-US" b="1" dirty="0" smtClean="0">
                <a:solidFill>
                  <a:srgbClr val="002060"/>
                </a:solidFill>
              </a:rPr>
              <a:t>（双塔分期数据）</a:t>
            </a:r>
            <a:endParaRPr kumimoji="0" lang="zh-CN" altLang="en-US" sz="1800" b="1" i="0" u="none" strike="noStrike" kern="1200" cap="none" spc="-41" normalizeH="0" baseline="0" noProof="0" dirty="0" smtClean="0">
              <a:ln>
                <a:noFill/>
              </a:ln>
              <a:solidFill>
                <a:srgbClr val="002060"/>
              </a:solidFill>
              <a:effectLst/>
              <a:uLnTx/>
              <a:uFillTx/>
            </a:endParaRPr>
          </a:p>
        </p:txBody>
      </p:sp>
      <p:graphicFrame>
        <p:nvGraphicFramePr>
          <p:cNvPr id="4" name="表格 3"/>
          <p:cNvGraphicFramePr/>
          <p:nvPr/>
        </p:nvGraphicFramePr>
        <p:xfrm>
          <a:off x="267970" y="605155"/>
          <a:ext cx="9639935" cy="4193540"/>
        </p:xfrm>
        <a:graphic>
          <a:graphicData uri="http://schemas.openxmlformats.org/drawingml/2006/table">
            <a:tbl>
              <a:tblPr/>
              <a:tblGrid>
                <a:gridCol w="1177290"/>
                <a:gridCol w="475615"/>
                <a:gridCol w="485140"/>
                <a:gridCol w="396240"/>
                <a:gridCol w="405130"/>
                <a:gridCol w="456565"/>
                <a:gridCol w="439420"/>
                <a:gridCol w="351155"/>
                <a:gridCol w="438150"/>
                <a:gridCol w="439420"/>
                <a:gridCol w="438785"/>
                <a:gridCol w="438150"/>
                <a:gridCol w="439420"/>
                <a:gridCol w="399415"/>
                <a:gridCol w="399415"/>
                <a:gridCol w="400050"/>
                <a:gridCol w="477520"/>
                <a:gridCol w="389255"/>
                <a:gridCol w="433705"/>
                <a:gridCol w="344805"/>
                <a:gridCol w="415290"/>
              </a:tblGrid>
              <a:tr h="372110">
                <a:tc rowSpan="2">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项目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租赁</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双塔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西塔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东塔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生态大厦</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-IEO</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34798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r>
              <a:tr h="12954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收入合计（不含税）</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23,374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28,059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4,685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14,054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14,937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883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5,497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8,684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3,187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58.0%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3,254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308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307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35.1%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8351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一、收入合计（含税）</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25,470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30,579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5,108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15,313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16,276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963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5,992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9,466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3,474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58.0%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3,211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3,547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336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335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35.1%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租金收入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24,951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30,009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14,807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15,716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5,992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9,466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1,290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35.1%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物业盈余收入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停车场收入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产业运营收入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二、成本费用合计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5,515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4,158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-1,358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-24.6%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2,660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1,767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-893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-33.6%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2,386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1,919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-19.6%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340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-20.5%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55.3%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营运费用小计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5,515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-24.6%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-893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-19.6%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55.3%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1.1</a:t>
                      </a:r>
                      <a:r>
                        <a:rPr lang="zh-CN" altLang="en-US" sz="800" b="0" i="0">
                          <a:solidFill>
                            <a:srgbClr val="000000"/>
                          </a:solidFill>
                          <a:latin typeface="微软雅黑" panose="020B0503020204020204" pitchFamily="34" charset="-122"/>
                          <a:ea typeface="微软雅黑" panose="020B0503020204020204" pitchFamily="34" charset="-122"/>
                        </a:rPr>
                        <a:t>管理费用小计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人工费用类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办公事务类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业务活动类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财产费用类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企业文化类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1.2</a:t>
                      </a:r>
                      <a:r>
                        <a:rPr lang="zh-CN" altLang="en-US" sz="800" b="0" i="0">
                          <a:solidFill>
                            <a:srgbClr val="000000"/>
                          </a:solidFill>
                          <a:latin typeface="微软雅黑" panose="020B0503020204020204" pitchFamily="34" charset="-122"/>
                          <a:ea typeface="微软雅黑" panose="020B0503020204020204" pitchFamily="34" charset="-122"/>
                        </a:rPr>
                        <a:t>物业费用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-74.6%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-77.1%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-77.7%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49.5%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zh-CN" altLang="en-US" sz="800" b="1" i="1">
                          <a:solidFill>
                            <a:srgbClr val="963634"/>
                          </a:solidFill>
                          <a:latin typeface="微软雅黑" panose="020B0503020204020204" pitchFamily="34" charset="-122"/>
                          <a:ea typeface="微软雅黑" panose="020B0503020204020204" pitchFamily="34" charset="-122"/>
                        </a:rPr>
                        <a:t>维保修理费</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zh-CN" altLang="en-US" sz="800" b="1" i="1">
                          <a:solidFill>
                            <a:srgbClr val="963634"/>
                          </a:solidFill>
                          <a:latin typeface="微软雅黑" panose="020B0503020204020204" pitchFamily="34" charset="-122"/>
                          <a:ea typeface="微软雅黑" panose="020B0503020204020204" pitchFamily="34" charset="-122"/>
                        </a:rPr>
                        <a:t>物业管理费</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zh-CN" altLang="en-US" sz="800" b="1" i="1">
                          <a:solidFill>
                            <a:srgbClr val="963634"/>
                          </a:solidFill>
                          <a:latin typeface="微软雅黑" panose="020B0503020204020204" pitchFamily="34" charset="-122"/>
                          <a:ea typeface="微软雅黑" panose="020B0503020204020204" pitchFamily="34" charset="-122"/>
                        </a:rPr>
                        <a:t>物业补亏额</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-89.0%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673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-90.7%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386.3%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1.3</a:t>
                      </a:r>
                      <a:r>
                        <a:rPr lang="zh-CN" altLang="en-US" sz="800" b="0" i="0">
                          <a:solidFill>
                            <a:srgbClr val="000000"/>
                          </a:solidFill>
                          <a:latin typeface="微软雅黑" panose="020B0503020204020204" pitchFamily="34" charset="-122"/>
                          <a:ea typeface="微软雅黑" panose="020B0503020204020204" pitchFamily="34" charset="-122"/>
                        </a:rPr>
                        <a:t>营销费用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19.1%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147.1%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推广促销类费用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佣金费用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31.5%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案场物业费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其他营销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954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三、</a:t>
                      </a:r>
                      <a:r>
                        <a:rPr lang="en-US" altLang="zh-CN" sz="800" b="1" i="0">
                          <a:solidFill>
                            <a:srgbClr val="000000"/>
                          </a:solidFill>
                          <a:latin typeface="微软雅黑" panose="020B0503020204020204" pitchFamily="34" charset="-122"/>
                          <a:ea typeface="微软雅黑" panose="020B0503020204020204" pitchFamily="34" charset="-122"/>
                        </a:rPr>
                        <a:t>GOP</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17,859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23,901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6,042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33.8%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11,395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13,170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15.6%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3,111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3,653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117.4%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2,606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378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14.5%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983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31.6%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r h="16383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房产税及土地使用税</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2,553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2,553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1,104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1,104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1,089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1,089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227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227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132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chemeClr val="tx1"/>
                          </a:solidFill>
                          <a:latin typeface="微软雅黑" panose="020B0503020204020204" pitchFamily="34" charset="-122"/>
                          <a:ea typeface="微软雅黑" panose="020B0503020204020204" pitchFamily="34" charset="-122"/>
                        </a:rPr>
                        <a:t> 132 </a:t>
                      </a:r>
                      <a:endParaRPr lang="en-US" altLang="zh-CN"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2954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四、</a:t>
                      </a:r>
                      <a:r>
                        <a:rPr lang="en-US" altLang="zh-CN" sz="800" b="1" i="0">
                          <a:solidFill>
                            <a:srgbClr val="000000"/>
                          </a:solidFill>
                          <a:latin typeface="微软雅黑" panose="020B0503020204020204" pitchFamily="34" charset="-122"/>
                          <a:ea typeface="微软雅黑" panose="020B0503020204020204" pitchFamily="34" charset="-122"/>
                        </a:rPr>
                        <a:t>NOI</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17,859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21,349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3,490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11,395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12,065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3,111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5,676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82.4%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2,606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2,756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13.9%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bl>
          </a:graphicData>
        </a:graphic>
      </p:graphicFrame>
      <p:sp>
        <p:nvSpPr>
          <p:cNvPr id="5" name="文本框 4"/>
          <p:cNvSpPr txBox="1"/>
          <p:nvPr/>
        </p:nvSpPr>
        <p:spPr>
          <a:xfrm>
            <a:off x="276225" y="4989830"/>
            <a:ext cx="8173085" cy="304165"/>
          </a:xfrm>
          <a:prstGeom prst="rect">
            <a:avLst/>
          </a:prstGeom>
          <a:noFill/>
        </p:spPr>
        <p:txBody>
          <a:bodyPr wrap="square" rtlCol="0">
            <a:noAutofit/>
          </a:bodyPr>
          <a:p>
            <a:r>
              <a:rPr lang="zh-CN" altLang="en-US" sz="1000" dirty="0" smtClean="0">
                <a:latin typeface="微软雅黑" panose="020B0503020204020204" pitchFamily="34" charset="-122"/>
                <a:ea typeface="微软雅黑" panose="020B0503020204020204" pitchFamily="34" charset="-122"/>
              </a:rPr>
              <a:t>分摊原则：租金收入按照合同台账，停车场收入暂全部放西塔，费用是按照可出租面积比例分摊，佣金是按照新签面积比例分摊。</a:t>
            </a:r>
            <a:endParaRPr lang="zh-CN" altLang="en-US" sz="1000" dirty="0" smtClean="0">
              <a:latin typeface="微软雅黑" panose="020B0503020204020204" pitchFamily="34" charset="-122"/>
              <a:ea typeface="微软雅黑" panose="020B0503020204020204" pitchFamily="34" charset="-122"/>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695" y="93345"/>
            <a:ext cx="7751445" cy="359410"/>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effectLst/>
                <a:uLnTx/>
                <a:uFillTx/>
                <a:sym typeface="+mn-ea"/>
              </a:rPr>
              <a:t>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租赁预算情况</a:t>
            </a:r>
            <a:r>
              <a:rPr lang="zh-CN" altLang="en-US" b="1" dirty="0" smtClean="0">
                <a:solidFill>
                  <a:srgbClr val="002060"/>
                </a:solidFill>
              </a:rPr>
              <a:t>（</a:t>
            </a:r>
            <a:r>
              <a:rPr lang="en-US" altLang="zh-CN" b="1" dirty="0" smtClean="0">
                <a:solidFill>
                  <a:srgbClr val="002060"/>
                </a:solidFill>
              </a:rPr>
              <a:t>123</a:t>
            </a:r>
            <a:r>
              <a:rPr lang="zh-CN" altLang="en-US" b="1" dirty="0" smtClean="0">
                <a:solidFill>
                  <a:srgbClr val="002060"/>
                </a:solidFill>
              </a:rPr>
              <a:t>期分期数据）</a:t>
            </a:r>
            <a:endParaRPr kumimoji="0" lang="zh-CN" altLang="en-US" sz="1800" b="1" i="0" u="none" strike="noStrike" kern="1200" cap="none" spc="-41" normalizeH="0" baseline="0" noProof="0" dirty="0" smtClean="0">
              <a:ln>
                <a:noFill/>
              </a:ln>
              <a:solidFill>
                <a:srgbClr val="002060"/>
              </a:solidFill>
              <a:effectLst/>
              <a:uLnTx/>
              <a:uFillTx/>
            </a:endParaRPr>
          </a:p>
        </p:txBody>
      </p:sp>
      <p:sp>
        <p:nvSpPr>
          <p:cNvPr id="5" name="文本框 4"/>
          <p:cNvSpPr txBox="1"/>
          <p:nvPr/>
        </p:nvSpPr>
        <p:spPr>
          <a:xfrm>
            <a:off x="349250" y="5081905"/>
            <a:ext cx="9294495" cy="438150"/>
          </a:xfrm>
          <a:prstGeom prst="rect">
            <a:avLst/>
          </a:prstGeom>
          <a:noFill/>
        </p:spPr>
        <p:txBody>
          <a:bodyPr wrap="square" rtlCol="0">
            <a:noAutofit/>
          </a:bodyPr>
          <a:p>
            <a:r>
              <a:rPr lang="zh-CN" altLang="en-US" sz="1000" dirty="0" smtClean="0">
                <a:latin typeface="微软雅黑" panose="020B0503020204020204" pitchFamily="34" charset="-122"/>
                <a:ea typeface="微软雅黑" panose="020B0503020204020204" pitchFamily="34" charset="-122"/>
              </a:rPr>
              <a:t>分摊原则：收入按照合同台账，费用是按照可出租面积比例，佣金是按照新签面积比例。联办成本放</a:t>
            </a:r>
            <a:r>
              <a:rPr lang="en-US" altLang="zh-CN" sz="1000" dirty="0" smtClean="0">
                <a:latin typeface="微软雅黑" panose="020B0503020204020204" pitchFamily="34" charset="-122"/>
                <a:ea typeface="微软雅黑" panose="020B0503020204020204" pitchFamily="34" charset="-122"/>
              </a:rPr>
              <a:t>2</a:t>
            </a:r>
            <a:r>
              <a:rPr lang="zh-CN" altLang="en-US" sz="1000" dirty="0" smtClean="0">
                <a:latin typeface="微软雅黑" panose="020B0503020204020204" pitchFamily="34" charset="-122"/>
                <a:ea typeface="微软雅黑" panose="020B0503020204020204" pitchFamily="34" charset="-122"/>
              </a:rPr>
              <a:t>期，宿舍（五号公社及领创放在</a:t>
            </a:r>
            <a:r>
              <a:rPr lang="en-US" altLang="zh-CN" sz="1000" dirty="0" smtClean="0">
                <a:latin typeface="微软雅黑" panose="020B0503020204020204" pitchFamily="34" charset="-122"/>
                <a:ea typeface="微软雅黑" panose="020B0503020204020204" pitchFamily="34" charset="-122"/>
              </a:rPr>
              <a:t>1</a:t>
            </a:r>
            <a:r>
              <a:rPr lang="zh-CN" altLang="en-US" sz="1000" dirty="0" smtClean="0">
                <a:latin typeface="微软雅黑" panose="020B0503020204020204" pitchFamily="34" charset="-122"/>
                <a:ea typeface="微软雅黑" panose="020B0503020204020204" pitchFamily="34" charset="-122"/>
              </a:rPr>
              <a:t>期、二期宿舍放在</a:t>
            </a:r>
            <a:r>
              <a:rPr lang="en-US" altLang="zh-CN" sz="1000" dirty="0" smtClean="0">
                <a:latin typeface="微软雅黑" panose="020B0503020204020204" pitchFamily="34" charset="-122"/>
                <a:ea typeface="微软雅黑" panose="020B0503020204020204" pitchFamily="34" charset="-122"/>
              </a:rPr>
              <a:t>2</a:t>
            </a:r>
            <a:r>
              <a:rPr lang="zh-CN" altLang="en-US" sz="1000" dirty="0" smtClean="0">
                <a:latin typeface="微软雅黑" panose="020B0503020204020204" pitchFamily="34" charset="-122"/>
                <a:ea typeface="微软雅黑" panose="020B0503020204020204" pitchFamily="34" charset="-122"/>
              </a:rPr>
              <a:t>期），广告成本，会议室成本，其他成本在</a:t>
            </a:r>
            <a:r>
              <a:rPr lang="en-US" altLang="zh-CN" sz="1000" dirty="0" smtClean="0">
                <a:latin typeface="微软雅黑" panose="020B0503020204020204" pitchFamily="34" charset="-122"/>
                <a:ea typeface="微软雅黑" panose="020B0503020204020204" pitchFamily="34" charset="-122"/>
              </a:rPr>
              <a:t>1</a:t>
            </a:r>
            <a:r>
              <a:rPr lang="zh-CN" altLang="en-US" sz="1000" dirty="0" smtClean="0">
                <a:latin typeface="微软雅黑" panose="020B0503020204020204" pitchFamily="34" charset="-122"/>
                <a:ea typeface="微软雅黑" panose="020B0503020204020204" pitchFamily="34" charset="-122"/>
              </a:rPr>
              <a:t>期。</a:t>
            </a:r>
            <a:endParaRPr lang="en-US" altLang="zh-CN" sz="1000" dirty="0" smtClean="0">
              <a:latin typeface="微软雅黑" panose="020B0503020204020204" pitchFamily="34" charset="-122"/>
              <a:ea typeface="微软雅黑" panose="020B0503020204020204" pitchFamily="34" charset="-122"/>
            </a:endParaRPr>
          </a:p>
        </p:txBody>
      </p:sp>
      <p:graphicFrame>
        <p:nvGraphicFramePr>
          <p:cNvPr id="2" name="表格 1"/>
          <p:cNvGraphicFramePr/>
          <p:nvPr>
            <p:custDataLst>
              <p:tags r:id="rId1"/>
            </p:custDataLst>
          </p:nvPr>
        </p:nvGraphicFramePr>
        <p:xfrm>
          <a:off x="421005" y="596900"/>
          <a:ext cx="9059545" cy="4454525"/>
        </p:xfrm>
        <a:graphic>
          <a:graphicData uri="http://schemas.openxmlformats.org/drawingml/2006/table">
            <a:tbl>
              <a:tblPr/>
              <a:tblGrid>
                <a:gridCol w="1593850"/>
                <a:gridCol w="467360"/>
                <a:gridCol w="467360"/>
                <a:gridCol w="450850"/>
                <a:gridCol w="467995"/>
                <a:gridCol w="467360"/>
                <a:gridCol w="469265"/>
                <a:gridCol w="467360"/>
                <a:gridCol w="467360"/>
                <a:gridCol w="467995"/>
                <a:gridCol w="467360"/>
                <a:gridCol w="466725"/>
                <a:gridCol w="467995"/>
                <a:gridCol w="467995"/>
                <a:gridCol w="467360"/>
                <a:gridCol w="467995"/>
                <a:gridCol w="467360"/>
              </a:tblGrid>
              <a:tr h="325120">
                <a:tc rowSpan="2">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 </a:t>
                      </a:r>
                      <a:r>
                        <a:rPr lang="zh-CN" altLang="en-US" sz="800" b="1" i="0">
                          <a:solidFill>
                            <a:srgbClr val="FFFFFF"/>
                          </a:solidFill>
                          <a:latin typeface="微软雅黑" panose="020B0503020204020204" pitchFamily="34" charset="-122"/>
                          <a:ea typeface="微软雅黑" panose="020B0503020204020204" pitchFamily="34" charset="-122"/>
                        </a:rPr>
                        <a:t>项目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租赁</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-123</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-1</a:t>
                      </a:r>
                      <a:r>
                        <a:rPr lang="zh-CN" altLang="en-US" sz="800" b="1" i="0">
                          <a:solidFill>
                            <a:srgbClr val="FFFFFF"/>
                          </a:solidFill>
                          <a:latin typeface="微软雅黑" panose="020B0503020204020204" pitchFamily="34" charset="-122"/>
                          <a:ea typeface="微软雅黑" panose="020B0503020204020204" pitchFamily="34" charset="-122"/>
                        </a:rPr>
                        <a:t>期</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-2</a:t>
                      </a:r>
                      <a:r>
                        <a:rPr lang="zh-CN" altLang="en-US" sz="800" b="1" i="0">
                          <a:solidFill>
                            <a:srgbClr val="FFFFFF"/>
                          </a:solidFill>
                          <a:latin typeface="微软雅黑" panose="020B0503020204020204" pitchFamily="34" charset="-122"/>
                          <a:ea typeface="微软雅黑" panose="020B0503020204020204" pitchFamily="34" charset="-122"/>
                        </a:rPr>
                        <a:t>期</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4">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深圳</a:t>
                      </a:r>
                      <a:r>
                        <a:rPr lang="en-US" altLang="zh-CN" sz="800" b="1" i="0">
                          <a:solidFill>
                            <a:srgbClr val="FFFFFF"/>
                          </a:solidFill>
                          <a:latin typeface="微软雅黑" panose="020B0503020204020204" pitchFamily="34" charset="-122"/>
                          <a:ea typeface="微软雅黑" panose="020B0503020204020204" pitchFamily="34" charset="-122"/>
                        </a:rPr>
                        <a:t>-3</a:t>
                      </a:r>
                      <a:r>
                        <a:rPr lang="zh-CN" altLang="en-US" sz="800" b="1" i="0">
                          <a:solidFill>
                            <a:srgbClr val="FFFFFF"/>
                          </a:solidFill>
                          <a:latin typeface="微软雅黑" panose="020B0503020204020204" pitchFamily="34" charset="-122"/>
                          <a:ea typeface="微软雅黑" panose="020B0503020204020204" pitchFamily="34" charset="-122"/>
                        </a:rPr>
                        <a:t>期</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r>
              <a:tr h="31559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r>
              <a:tr h="1466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收入合计（不含税）</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42,238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37,959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-4,279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-10.1%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16,146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14,020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-2,126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-13.2%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14,126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13,331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-795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-5.6%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11,967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10,608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66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一、收入合计（含税）</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45,936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41,286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-4,649</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17,531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15,204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-2,327</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-13.3%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14,523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-844</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-5.5%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13,037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11,559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-1,478</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租金收入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40,401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36,178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14,824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12,650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-14.7%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13,194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12,483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12,383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11,045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物业盈余收入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-26.9%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-48.3%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停车场收入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产业运营收入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-15.0%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二、成本费用合计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FF0000"/>
                          </a:solidFill>
                          <a:latin typeface="微软雅黑" panose="020B0503020204020204" pitchFamily="34" charset="-122"/>
                          <a:ea typeface="微软雅黑" panose="020B0503020204020204" pitchFamily="34" charset="-122"/>
                        </a:rPr>
                        <a:t> </a:t>
                      </a:r>
                      <a:r>
                        <a:rPr lang="en-US" altLang="zh-CN" sz="800" b="1" i="0">
                          <a:solidFill>
                            <a:srgbClr val="FF0000"/>
                          </a:solidFill>
                          <a:latin typeface="微软雅黑" panose="020B0503020204020204" pitchFamily="34" charset="-122"/>
                          <a:ea typeface="微软雅黑" panose="020B0503020204020204" pitchFamily="34" charset="-122"/>
                        </a:rPr>
                        <a:t>-16</a:t>
                      </a:r>
                      <a:r>
                        <a:rPr lang="en-US" altLang="zh-CN" sz="800" b="1" i="0">
                          <a:solidFill>
                            <a:srgbClr val="FF0000"/>
                          </a:solidFill>
                          <a:latin typeface="微软雅黑" panose="020B0503020204020204" pitchFamily="34" charset="-122"/>
                          <a:ea typeface="微软雅黑" panose="020B0503020204020204" pitchFamily="34" charset="-122"/>
                        </a:rPr>
                        <a:t> </a:t>
                      </a:r>
                      <a:endParaRPr lang="en-US" altLang="zh-CN" sz="8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-5.2%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1,441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1,443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0.2%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6.2%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营运费用小计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3,536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1,391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1,304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1,311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905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1.1</a:t>
                      </a:r>
                      <a:r>
                        <a:rPr lang="zh-CN" altLang="en-US" sz="800" b="0" i="0">
                          <a:solidFill>
                            <a:srgbClr val="000000"/>
                          </a:solidFill>
                          <a:latin typeface="微软雅黑" panose="020B0503020204020204" pitchFamily="34" charset="-122"/>
                          <a:ea typeface="微软雅黑" panose="020B0503020204020204" pitchFamily="34" charset="-122"/>
                        </a:rPr>
                        <a:t>管理费用小计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1,346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1,336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471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445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443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426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人工费用类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办公事务类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业务活动类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财产费用类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企业文化类</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1.2</a:t>
                      </a:r>
                      <a:r>
                        <a:rPr lang="zh-CN" altLang="en-US" sz="800" b="0" i="0">
                          <a:solidFill>
                            <a:srgbClr val="000000"/>
                          </a:solidFill>
                          <a:latin typeface="微软雅黑" panose="020B0503020204020204" pitchFamily="34" charset="-122"/>
                          <a:ea typeface="微软雅黑" panose="020B0503020204020204" pitchFamily="34" charset="-122"/>
                        </a:rPr>
                        <a:t>物业费用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526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521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168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800" b="1" i="1">
                          <a:solidFill>
                            <a:srgbClr val="963634"/>
                          </a:solidFill>
                          <a:latin typeface="微软雅黑" panose="020B0503020204020204" pitchFamily="34" charset="-122"/>
                          <a:ea typeface="微软雅黑" panose="020B0503020204020204" pitchFamily="34" charset="-122"/>
                        </a:rPr>
                        <a:t>维保修理费</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343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800" b="1" i="1">
                          <a:solidFill>
                            <a:srgbClr val="963634"/>
                          </a:solidFill>
                          <a:latin typeface="微软雅黑" panose="020B0503020204020204" pitchFamily="34" charset="-122"/>
                          <a:ea typeface="微软雅黑" panose="020B0503020204020204" pitchFamily="34" charset="-122"/>
                        </a:rPr>
                        <a:t>物业管理费</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800" b="1" i="1">
                          <a:solidFill>
                            <a:srgbClr val="963634"/>
                          </a:solidFill>
                          <a:latin typeface="微软雅黑" panose="020B0503020204020204" pitchFamily="34" charset="-122"/>
                          <a:ea typeface="微软雅黑" panose="020B0503020204020204" pitchFamily="34" charset="-122"/>
                        </a:rPr>
                        <a:t>物业补亏额</a:t>
                      </a:r>
                      <a:endParaRPr lang="zh-CN" altLang="en-US" sz="800" b="1" i="1">
                        <a:solidFill>
                          <a:srgbClr val="963634"/>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1.3</a:t>
                      </a:r>
                      <a:r>
                        <a:rPr lang="zh-CN" altLang="en-US" sz="800" b="0" i="0">
                          <a:solidFill>
                            <a:srgbClr val="000000"/>
                          </a:solidFill>
                          <a:latin typeface="微软雅黑" panose="020B0503020204020204" pitchFamily="34" charset="-122"/>
                          <a:ea typeface="微软雅黑" panose="020B0503020204020204" pitchFamily="34" charset="-122"/>
                        </a:rPr>
                        <a:t>营销费用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435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386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315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29.2%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推广促销类费用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佣金费用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952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939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406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360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290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289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33.5%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案场物业费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800" b="1" i="0">
                          <a:solidFill>
                            <a:srgbClr val="E26B0A"/>
                          </a:solidFill>
                          <a:latin typeface="微软雅黑" panose="020B0503020204020204" pitchFamily="34" charset="-122"/>
                          <a:ea typeface="微软雅黑" panose="020B0503020204020204" pitchFamily="34" charset="-122"/>
                        </a:rPr>
                        <a:t> </a:t>
                      </a:r>
                      <a:r>
                        <a:rPr lang="zh-CN" altLang="en-US" sz="800" b="1" i="0">
                          <a:solidFill>
                            <a:srgbClr val="E26B0A"/>
                          </a:solidFill>
                          <a:latin typeface="微软雅黑" panose="020B0503020204020204" pitchFamily="34" charset="-122"/>
                          <a:ea typeface="微软雅黑" panose="020B0503020204020204" pitchFamily="34" charset="-122"/>
                        </a:rPr>
                        <a:t>其他营销 </a:t>
                      </a:r>
                      <a:endParaRPr lang="zh-CN" altLang="en-US" sz="8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-22.2%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-22.3%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-22.1%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-22.4%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三、</a:t>
                      </a:r>
                      <a:r>
                        <a:rPr lang="en-US" altLang="zh-CN" sz="800" b="1" i="0">
                          <a:solidFill>
                            <a:srgbClr val="000000"/>
                          </a:solidFill>
                          <a:latin typeface="微软雅黑" panose="020B0503020204020204" pitchFamily="34" charset="-122"/>
                          <a:ea typeface="微软雅黑" panose="020B0503020204020204" pitchFamily="34" charset="-122"/>
                        </a:rPr>
                        <a:t>GOP</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38,291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34,028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-4,262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14,611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12,565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-14.0%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12,685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11,888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-797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-6.3%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10,995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9,576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-12.9%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r h="1466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房产税及土地使用税</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FF0000"/>
                          </a:solidFill>
                          <a:latin typeface="微软雅黑" panose="020B0503020204020204" pitchFamily="34" charset="-122"/>
                          <a:ea typeface="微软雅黑" panose="020B0503020204020204" pitchFamily="34" charset="-122"/>
                        </a:rPr>
                        <a:t> </a:t>
                      </a:r>
                      <a:r>
                        <a:rPr lang="en-US" altLang="zh-CN" sz="900" b="0" i="0">
                          <a:solidFill>
                            <a:srgbClr val="FF0000"/>
                          </a:solidFill>
                          <a:latin typeface="微软雅黑" panose="020B0503020204020204" pitchFamily="34" charset="-122"/>
                          <a:ea typeface="微软雅黑" panose="020B0503020204020204" pitchFamily="34" charset="-122"/>
                        </a:rPr>
                        <a:t>-</a:t>
                      </a:r>
                      <a:r>
                        <a:rPr lang="en-US" altLang="zh-CN" sz="900" b="0" i="0">
                          <a:solidFill>
                            <a:srgbClr val="FF0000"/>
                          </a:solidFill>
                          <a:latin typeface="微软雅黑" panose="020B0503020204020204" pitchFamily="34" charset="-122"/>
                          <a:ea typeface="微软雅黑" panose="020B0503020204020204" pitchFamily="34" charset="-122"/>
                        </a:rPr>
                        <a:t> </a:t>
                      </a:r>
                      <a:endParaRPr lang="en-US" altLang="zh-CN" sz="9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四、</a:t>
                      </a:r>
                      <a:r>
                        <a:rPr lang="en-US" altLang="zh-CN" sz="800" b="1" i="0">
                          <a:solidFill>
                            <a:srgbClr val="000000"/>
                          </a:solidFill>
                          <a:latin typeface="微软雅黑" panose="020B0503020204020204" pitchFamily="34" charset="-122"/>
                          <a:ea typeface="微软雅黑" panose="020B0503020204020204" pitchFamily="34" charset="-122"/>
                        </a:rPr>
                        <a:t>NOI</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36,281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32,019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-4,262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-11.7%</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13,752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11,705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-14.9%</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12,087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11,290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-797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-6.6%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10,443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9,024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-13.6%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2DCDB"/>
                    </a:solidFill>
                  </a:tcPr>
                </a:tc>
              </a:tr>
            </a:tbl>
          </a:graphicData>
        </a:graphic>
      </p:graphicFrame>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3" name="标题 4"/>
          <p:cNvSpPr>
            <a:spLocks noGrp="1"/>
          </p:cNvSpPr>
          <p:nvPr>
            <p:ph type="title"/>
          </p:nvPr>
        </p:nvSpPr>
        <p:spPr>
          <a:xfrm>
            <a:off x="99487" y="94014"/>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租赁预算情况</a:t>
            </a:r>
            <a:r>
              <a:rPr lang="zh-CN" altLang="en-US" b="1" dirty="0" smtClean="0">
                <a:solidFill>
                  <a:srgbClr val="002060"/>
                </a:solidFill>
              </a:rPr>
              <a:t>（华南产业）</a:t>
            </a:r>
            <a:endParaRPr kumimoji="0" lang="zh-CN" altLang="en-US" sz="1800" b="1" i="0" u="none" strike="noStrike" kern="1200" cap="none" spc="-41" normalizeH="0" baseline="0" noProof="0" dirty="0" smtClean="0">
              <a:ln>
                <a:noFill/>
              </a:ln>
              <a:solidFill>
                <a:srgbClr val="002060"/>
              </a:solidFill>
              <a:effectLst/>
              <a:uLnTx/>
              <a:uFillTx/>
            </a:endParaRPr>
          </a:p>
        </p:txBody>
      </p:sp>
      <p:graphicFrame>
        <p:nvGraphicFramePr>
          <p:cNvPr id="3" name="表格 2"/>
          <p:cNvGraphicFramePr/>
          <p:nvPr>
            <p:custDataLst>
              <p:tags r:id="rId1"/>
            </p:custDataLst>
          </p:nvPr>
        </p:nvGraphicFramePr>
        <p:xfrm>
          <a:off x="132715" y="453390"/>
          <a:ext cx="9726930" cy="3964940"/>
        </p:xfrm>
        <a:graphic>
          <a:graphicData uri="http://schemas.openxmlformats.org/drawingml/2006/table">
            <a:tbl>
              <a:tblPr/>
              <a:tblGrid>
                <a:gridCol w="1209675"/>
                <a:gridCol w="438150"/>
                <a:gridCol w="438150"/>
                <a:gridCol w="410845"/>
                <a:gridCol w="324485"/>
                <a:gridCol w="415925"/>
                <a:gridCol w="405765"/>
                <a:gridCol w="406400"/>
                <a:gridCol w="404495"/>
                <a:gridCol w="406400"/>
                <a:gridCol w="404495"/>
                <a:gridCol w="405765"/>
                <a:gridCol w="406400"/>
                <a:gridCol w="405130"/>
                <a:gridCol w="405765"/>
                <a:gridCol w="406400"/>
                <a:gridCol w="404495"/>
                <a:gridCol w="406400"/>
                <a:gridCol w="405130"/>
                <a:gridCol w="406400"/>
                <a:gridCol w="403860"/>
                <a:gridCol w="406400"/>
              </a:tblGrid>
              <a:tr h="335280">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项目</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5">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华南</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总合并</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华南</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发展大厦</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华南</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东湾村</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华南</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亚金</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华南</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云颂府</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华南</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珠宝小镇</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ctr" fontAlgn="ctr">
                        <a:buNone/>
                      </a:pPr>
                      <a:r>
                        <a:rPr lang="zh-CN" altLang="en-US" sz="800" b="1" i="0">
                          <a:solidFill>
                            <a:srgbClr val="FFFFFF"/>
                          </a:solidFill>
                          <a:latin typeface="微软雅黑" panose="020B0503020204020204" pitchFamily="34" charset="-122"/>
                          <a:ea typeface="微软雅黑" panose="020B0503020204020204" pitchFamily="34" charset="-122"/>
                        </a:rPr>
                        <a:t>东湾旧改</a:t>
                      </a:r>
                      <a:endParaRPr lang="zh-CN" altLang="en-US" sz="800" b="1" i="0">
                        <a:solidFill>
                          <a:srgbClr val="FFFFFF"/>
                        </a:solidFill>
                        <a:latin typeface="微软雅黑" panose="020B0503020204020204" pitchFamily="34" charset="-122"/>
                        <a:ea typeface="微软雅黑" panose="020B0503020204020204" pitchFamily="34" charset="-122"/>
                      </a:endParaRPr>
                    </a:p>
                  </a:txBody>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29908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buNone/>
                      </a:pPr>
                      <a:r>
                        <a:rPr lang="en-US" altLang="zh-CN" sz="800" b="1">
                          <a:solidFill>
                            <a:srgbClr val="FFFFFF"/>
                          </a:solidFill>
                          <a:latin typeface="微软雅黑" panose="020B0503020204020204" pitchFamily="34" charset="-122"/>
                          <a:ea typeface="微软雅黑" panose="020B0503020204020204" pitchFamily="34" charset="-122"/>
                          <a:sym typeface="+mn-ea"/>
                        </a:rPr>
                        <a:t>2026</a:t>
                      </a:r>
                      <a:r>
                        <a:rPr lang="zh-CN" altLang="en-US" sz="800" b="1">
                          <a:solidFill>
                            <a:srgbClr val="FFFFFF"/>
                          </a:solidFill>
                          <a:latin typeface="微软雅黑" panose="020B0503020204020204" pitchFamily="34" charset="-122"/>
                          <a:ea typeface="微软雅黑" panose="020B0503020204020204" pitchFamily="34" charset="-122"/>
                          <a:sym typeface="+mn-ea"/>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14668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一、收入合计（含税）</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9,247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8,646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8,709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1,591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1,326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4,016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3,162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3,631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612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632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658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120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6685">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二、成本费用合计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2,364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2,844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573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804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1,008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717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686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a:t>
                      </a:r>
                      <a:r>
                        <a:rPr lang="zh-CN" altLang="en-US" sz="900" b="0" i="0">
                          <a:solidFill>
                            <a:srgbClr val="000000"/>
                          </a:solidFill>
                          <a:latin typeface="微软雅黑" panose="020B0503020204020204" pitchFamily="34" charset="-122"/>
                          <a:ea typeface="微软雅黑" panose="020B0503020204020204" pitchFamily="34" charset="-122"/>
                        </a:rPr>
                        <a:t>营运费用小计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1.1</a:t>
                      </a:r>
                      <a:r>
                        <a:rPr lang="zh-CN" altLang="en-US" sz="900" b="0" i="0">
                          <a:solidFill>
                            <a:srgbClr val="000000"/>
                          </a:solidFill>
                          <a:latin typeface="微软雅黑" panose="020B0503020204020204" pitchFamily="34" charset="-122"/>
                          <a:ea typeface="微软雅黑" panose="020B0503020204020204" pitchFamily="34" charset="-122"/>
                        </a:rPr>
                        <a:t>管理费用小计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人工费用类</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1.2</a:t>
                      </a:r>
                      <a:r>
                        <a:rPr lang="zh-CN" altLang="en-US" sz="900" b="0" i="0">
                          <a:solidFill>
                            <a:srgbClr val="000000"/>
                          </a:solidFill>
                          <a:latin typeface="微软雅黑" panose="020B0503020204020204" pitchFamily="34" charset="-122"/>
                          <a:ea typeface="微软雅黑" panose="020B0503020204020204" pitchFamily="34" charset="-122"/>
                        </a:rPr>
                        <a:t>物业费用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1,190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1" i="0">
                          <a:solidFill>
                            <a:srgbClr val="C0504D"/>
                          </a:solidFill>
                          <a:latin typeface="微软雅黑" panose="020B0503020204020204" pitchFamily="34" charset="-122"/>
                          <a:ea typeface="微软雅黑" panose="020B0503020204020204" pitchFamily="34" charset="-122"/>
                        </a:rPr>
                        <a:t> </a:t>
                      </a:r>
                      <a:r>
                        <a:rPr lang="zh-CN" altLang="en-US" sz="900" b="1" i="0">
                          <a:solidFill>
                            <a:srgbClr val="C0504D"/>
                          </a:solidFill>
                          <a:latin typeface="微软雅黑" panose="020B0503020204020204" pitchFamily="34" charset="-122"/>
                          <a:ea typeface="微软雅黑" panose="020B0503020204020204" pitchFamily="34" charset="-122"/>
                        </a:rPr>
                        <a:t>维保费</a:t>
                      </a:r>
                      <a:r>
                        <a:rPr lang="zh-CN" altLang="en-US" sz="900" b="1" i="0">
                          <a:solidFill>
                            <a:srgbClr val="C0504D"/>
                          </a:solidFill>
                          <a:latin typeface="微软雅黑" panose="020B0503020204020204" pitchFamily="34" charset="-122"/>
                          <a:ea typeface="微软雅黑" panose="020B0503020204020204" pitchFamily="34" charset="-122"/>
                        </a:rPr>
                        <a:t> </a:t>
                      </a:r>
                      <a:endParaRPr lang="zh-CN" altLang="en-US" sz="900" b="1" i="0">
                        <a:solidFill>
                          <a:srgbClr val="C0504D"/>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1" i="0">
                          <a:solidFill>
                            <a:srgbClr val="C0504D"/>
                          </a:solidFill>
                          <a:latin typeface="微软雅黑" panose="020B0503020204020204" pitchFamily="34" charset="-122"/>
                          <a:ea typeface="微软雅黑" panose="020B0503020204020204" pitchFamily="34" charset="-122"/>
                        </a:rPr>
                        <a:t> </a:t>
                      </a:r>
                      <a:r>
                        <a:rPr lang="zh-CN" altLang="en-US" sz="900" b="1" i="0">
                          <a:solidFill>
                            <a:srgbClr val="C0504D"/>
                          </a:solidFill>
                          <a:latin typeface="微软雅黑" panose="020B0503020204020204" pitchFamily="34" charset="-122"/>
                          <a:ea typeface="微软雅黑" panose="020B0503020204020204" pitchFamily="34" charset="-122"/>
                        </a:rPr>
                        <a:t>物业管理费</a:t>
                      </a:r>
                      <a:r>
                        <a:rPr lang="zh-CN" altLang="en-US" sz="900" b="1" i="0">
                          <a:solidFill>
                            <a:srgbClr val="C0504D"/>
                          </a:solidFill>
                          <a:latin typeface="微软雅黑" panose="020B0503020204020204" pitchFamily="34" charset="-122"/>
                          <a:ea typeface="微软雅黑" panose="020B0503020204020204" pitchFamily="34" charset="-122"/>
                        </a:rPr>
                        <a:t> </a:t>
                      </a:r>
                      <a:endParaRPr lang="zh-CN" altLang="en-US" sz="900" b="1" i="0">
                        <a:solidFill>
                          <a:srgbClr val="C0504D"/>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1" i="0">
                          <a:solidFill>
                            <a:srgbClr val="C0504D"/>
                          </a:solidFill>
                          <a:latin typeface="微软雅黑" panose="020B0503020204020204" pitchFamily="34" charset="-122"/>
                          <a:ea typeface="微软雅黑" panose="020B0503020204020204" pitchFamily="34" charset="-122"/>
                        </a:rPr>
                        <a:t> </a:t>
                      </a:r>
                      <a:r>
                        <a:rPr lang="zh-CN" altLang="en-US" sz="900" b="1" i="0">
                          <a:solidFill>
                            <a:srgbClr val="C0504D"/>
                          </a:solidFill>
                          <a:latin typeface="微软雅黑" panose="020B0503020204020204" pitchFamily="34" charset="-122"/>
                          <a:ea typeface="微软雅黑" panose="020B0503020204020204" pitchFamily="34" charset="-122"/>
                        </a:rPr>
                        <a:t>物业补亏额</a:t>
                      </a:r>
                      <a:r>
                        <a:rPr lang="zh-CN" altLang="en-US" sz="900" b="1" i="0">
                          <a:solidFill>
                            <a:srgbClr val="C0504D"/>
                          </a:solidFill>
                          <a:latin typeface="微软雅黑" panose="020B0503020204020204" pitchFamily="34" charset="-122"/>
                          <a:ea typeface="微软雅黑" panose="020B0503020204020204" pitchFamily="34" charset="-122"/>
                        </a:rPr>
                        <a:t> </a:t>
                      </a:r>
                      <a:endParaRPr lang="zh-CN" altLang="en-US" sz="900" b="1" i="0">
                        <a:solidFill>
                          <a:srgbClr val="C0504D"/>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1.3</a:t>
                      </a:r>
                      <a:r>
                        <a:rPr lang="zh-CN" altLang="en-US" sz="900" b="0" i="0">
                          <a:solidFill>
                            <a:srgbClr val="000000"/>
                          </a:solidFill>
                          <a:latin typeface="微软雅黑" panose="020B0503020204020204" pitchFamily="34" charset="-122"/>
                          <a:ea typeface="微软雅黑" panose="020B0503020204020204" pitchFamily="34" charset="-122"/>
                        </a:rPr>
                        <a:t>营销费用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推广促销类费用</a:t>
                      </a:r>
                      <a:r>
                        <a:rPr lang="zh-CN" altLang="en-US" sz="900" b="1" i="0">
                          <a:solidFill>
                            <a:srgbClr val="E26B0A"/>
                          </a:solidFill>
                          <a:latin typeface="微软雅黑" panose="020B0503020204020204" pitchFamily="34" charset="-122"/>
                          <a:ea typeface="微软雅黑" panose="020B0503020204020204" pitchFamily="34" charset="-122"/>
                        </a:rPr>
                        <a:t>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佣金费用</a:t>
                      </a:r>
                      <a:r>
                        <a:rPr lang="zh-CN" altLang="en-US" sz="900" b="1" i="0">
                          <a:solidFill>
                            <a:srgbClr val="E26B0A"/>
                          </a:solidFill>
                          <a:latin typeface="微软雅黑" panose="020B0503020204020204" pitchFamily="34" charset="-122"/>
                          <a:ea typeface="微软雅黑" panose="020B0503020204020204" pitchFamily="34" charset="-122"/>
                        </a:rPr>
                        <a:t>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369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-11.7%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1" i="0">
                          <a:solidFill>
                            <a:srgbClr val="E26B0A"/>
                          </a:solidFill>
                          <a:latin typeface="微软雅黑" panose="020B0503020204020204" pitchFamily="34" charset="-122"/>
                          <a:ea typeface="微软雅黑" panose="020B0503020204020204" pitchFamily="34" charset="-122"/>
                        </a:rPr>
                        <a:t> </a:t>
                      </a:r>
                      <a:r>
                        <a:rPr lang="zh-CN" altLang="en-US" sz="900" b="1" i="0">
                          <a:solidFill>
                            <a:srgbClr val="E26B0A"/>
                          </a:solidFill>
                          <a:latin typeface="微软雅黑" panose="020B0503020204020204" pitchFamily="34" charset="-122"/>
                          <a:ea typeface="微软雅黑" panose="020B0503020204020204" pitchFamily="34" charset="-122"/>
                        </a:rPr>
                        <a:t>其他营销费</a:t>
                      </a:r>
                      <a:r>
                        <a:rPr lang="zh-CN" altLang="en-US" sz="900" b="1" i="0">
                          <a:solidFill>
                            <a:srgbClr val="E26B0A"/>
                          </a:solidFill>
                          <a:latin typeface="微软雅黑" panose="020B0503020204020204" pitchFamily="34" charset="-122"/>
                          <a:ea typeface="微软雅黑" panose="020B0503020204020204" pitchFamily="34" charset="-122"/>
                        </a:rPr>
                        <a:t> </a:t>
                      </a:r>
                      <a:endParaRPr lang="zh-CN" altLang="en-US" sz="900" b="1" i="0">
                        <a:solidFill>
                          <a:srgbClr val="E26B0A"/>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197.7%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1.4</a:t>
                      </a:r>
                      <a:r>
                        <a:rPr lang="zh-CN" altLang="en-US" sz="900" b="0" i="0">
                          <a:solidFill>
                            <a:srgbClr val="000000"/>
                          </a:solidFill>
                          <a:latin typeface="微软雅黑" panose="020B0503020204020204" pitchFamily="34" charset="-122"/>
                          <a:ea typeface="微软雅黑" panose="020B0503020204020204" pitchFamily="34" charset="-122"/>
                        </a:rPr>
                        <a:t>成本支出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900.0%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46685">
                <a:tc>
                  <a:txBody>
                    <a:bodyPr/>
                    <a:p>
                      <a:pPr algn="l" fontAlgn="ctr">
                        <a:buClrTx/>
                        <a:buSzTx/>
                        <a:buFontTx/>
                      </a:pPr>
                      <a:r>
                        <a:rPr lang="en-US" altLang="zh-CN" sz="900" i="0">
                          <a:solidFill>
                            <a:srgbClr val="000000"/>
                          </a:solidFill>
                          <a:latin typeface="微软雅黑" panose="020B0503020204020204" pitchFamily="34" charset="-122"/>
                          <a:ea typeface="微软雅黑" panose="020B0503020204020204" pitchFamily="34" charset="-122"/>
                        </a:rPr>
                        <a:t>2.税金及附加</a:t>
                      </a:r>
                      <a:endParaRPr lang="en-US" altLang="zh-CN" sz="90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8351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三、</a:t>
                      </a:r>
                      <a:r>
                        <a:rPr lang="en-US" altLang="zh-CN" sz="800" b="1" i="0">
                          <a:solidFill>
                            <a:srgbClr val="000000"/>
                          </a:solidFill>
                          <a:latin typeface="微软雅黑" panose="020B0503020204020204" pitchFamily="34" charset="-122"/>
                          <a:ea typeface="微软雅黑" panose="020B0503020204020204" pitchFamily="34" charset="-122"/>
                        </a:rPr>
                        <a:t>GOP</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6,139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5,112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5,185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738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412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2,924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2,324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2,225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2,087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593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房产税及土地使用税</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四、</a:t>
                      </a:r>
                      <a:r>
                        <a:rPr lang="en-US" altLang="zh-CN" sz="800" b="1" i="0">
                          <a:solidFill>
                            <a:srgbClr val="000000"/>
                          </a:solidFill>
                          <a:latin typeface="微软雅黑" panose="020B0503020204020204" pitchFamily="34" charset="-122"/>
                          <a:ea typeface="微软雅黑" panose="020B0503020204020204" pitchFamily="34" charset="-122"/>
                        </a:rPr>
                        <a:t>NOI</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5,633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4,593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4,671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1.7%</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617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2,924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1,755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2,324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1,910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1,778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249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593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资产管理服务费</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5938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五、</a:t>
                      </a:r>
                      <a:r>
                        <a:rPr lang="en-US" altLang="zh-CN" sz="800" b="1" i="0">
                          <a:solidFill>
                            <a:srgbClr val="000000"/>
                          </a:solidFill>
                          <a:latin typeface="微软雅黑" panose="020B0503020204020204" pitchFamily="34" charset="-122"/>
                          <a:ea typeface="微软雅黑" panose="020B0503020204020204" pitchFamily="34" charset="-122"/>
                        </a:rPr>
                        <a:t>NPI</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5,503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4,479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534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1,713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2,271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1,869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1,735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242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3779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整租成本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3,146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161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六、</a:t>
                      </a:r>
                      <a:r>
                        <a:rPr lang="en-US" altLang="zh-CN" sz="800" b="1" i="0">
                          <a:solidFill>
                            <a:srgbClr val="000000"/>
                          </a:solidFill>
                          <a:latin typeface="微软雅黑" panose="020B0503020204020204" pitchFamily="34" charset="-122"/>
                          <a:ea typeface="微软雅黑" panose="020B0503020204020204" pitchFamily="34" charset="-122"/>
                        </a:rPr>
                        <a:t>EBITDA</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2,357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1,333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1,345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256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-1,092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-589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1,846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1,869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1,735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242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bl>
          </a:graphicData>
        </a:graphic>
      </p:graphicFrame>
      <p:sp>
        <p:nvSpPr>
          <p:cNvPr id="8" name="矩形 7"/>
          <p:cNvSpPr/>
          <p:nvPr/>
        </p:nvSpPr>
        <p:spPr>
          <a:xfrm>
            <a:off x="-11430" y="4413250"/>
            <a:ext cx="10054590" cy="1172210"/>
          </a:xfrm>
          <a:prstGeom prst="rect">
            <a:avLst/>
          </a:prstGeom>
        </p:spPr>
        <p:txBody>
          <a:bodyPr wrap="square">
            <a:noAutofit/>
          </a:bodyPr>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华南产业：</a:t>
            </a:r>
            <a:r>
              <a:rPr kumimoji="0" lang="zh-CN" altLang="en-US"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预算</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收入</a:t>
            </a:r>
            <a:r>
              <a:rPr kumimoji="0" lang="en-US" alt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8,709</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altLang="en-US"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，同比</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增加</a:t>
            </a:r>
            <a:r>
              <a:rPr kumimoji="0" lang="en-US" alt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64</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altLang="en-US"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增幅</a:t>
            </a:r>
            <a:r>
              <a:rPr kumimoji="0" lang="en-US" alt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0.7%</a:t>
            </a:r>
            <a:r>
              <a:rPr kumimoji="0" lang="zh-CN" altLang="en-US"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a:t>
            </a:r>
            <a:r>
              <a:rPr kumimoji="0" lang="zh-CN" altLang="en-US" sz="9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成本费用</a:t>
            </a:r>
            <a:r>
              <a:rPr kumimoji="0" lang="en-US" altLang="zh-CN" sz="9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2,823</a:t>
            </a:r>
            <a:r>
              <a:rPr kumimoji="0" lang="zh-CN" altLang="en-US" sz="9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万，</a:t>
            </a:r>
            <a:r>
              <a:rPr kumimoji="0" lang="zh-CN" altLang="en-US"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同比减少</a:t>
            </a:r>
            <a:r>
              <a:rPr kumimoji="0" lang="en-US" altLang="zh-CN"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22</a:t>
            </a:r>
            <a:r>
              <a:rPr kumimoji="0" lang="zh-CN" altLang="en-US"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sz="9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降幅</a:t>
            </a:r>
            <a:r>
              <a:rPr kumimoji="0" lang="en-US" altLang="zh-CN" sz="9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0.8%</a:t>
            </a:r>
            <a:r>
              <a:rPr kumimoji="0" lang="zh-CN" altLang="en-US" sz="900" b="1"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rPr>
              <a:t>，</a:t>
            </a:r>
            <a:r>
              <a:rPr kumimoji="0" lang="en-US" altLang="zh-CN" sz="9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NOI4,671</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万，同比</a:t>
            </a:r>
            <a:r>
              <a:rPr kumimoji="0" 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增加</a:t>
            </a:r>
            <a:r>
              <a:rPr kumimoji="0" lang="en-US" alt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78</a:t>
            </a:r>
            <a:r>
              <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增幅</a:t>
            </a:r>
            <a:r>
              <a:rPr kumimoji="0" lang="en-US" altLang="zh-CN"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1.7%</a:t>
            </a:r>
            <a:r>
              <a:rPr kumimoji="0" lang="zh-CN" altLang="en-US" sz="9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，各项目分析如下：</a:t>
            </a:r>
            <a:endParaRPr kumimoji="0" lang="zh-CN" altLang="en-US" sz="9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endParaRPr>
          </a:p>
          <a:p>
            <a:pPr lvl="0">
              <a:defRPr/>
            </a:pP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发展大厦：</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收入</a:t>
            </a:r>
            <a:r>
              <a:rPr kumimoji="0" lang="zh-CN"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减少</a:t>
            </a:r>
            <a:r>
              <a:rPr kumimoji="0" lang="en-US" altLang="zh-CN"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265</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万</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25</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年有工程收入</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122</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万，保险服务中心</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275</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26</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年无；成本费用增加</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79</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a:t>
            </a:r>
            <a:r>
              <a:rPr kumimoji="0" lang="en-US" altLang="zh-CN" sz="8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NOI</a:t>
            </a:r>
            <a:r>
              <a:rPr kumimoji="0" lang="zh-CN" altLang="en-US" sz="8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减少</a:t>
            </a:r>
            <a:r>
              <a:rPr kumimoji="0" lang="en-US" altLang="zh-CN" sz="8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326</a:t>
            </a:r>
            <a:r>
              <a:rPr kumimoji="0" lang="zh-CN" altLang="en-US" sz="800" b="1"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a:t>
            </a:r>
            <a:endPar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endParaRPr>
          </a:p>
          <a:p>
            <a:pPr lvl="0">
              <a:defRPr/>
            </a:pPr>
            <a:r>
              <a:rPr lang="zh-CN" altLang="en-US" sz="800" b="1"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东湾村：</a:t>
            </a:r>
            <a:r>
              <a:rPr lang="zh-CN" altLang="en-US" sz="8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收入增加</a:t>
            </a:r>
            <a:r>
              <a:rPr lang="en-US" altLang="zh-CN" sz="8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469</a:t>
            </a:r>
            <a:r>
              <a:rPr lang="zh-CN" altLang="en-US" sz="8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万，</a:t>
            </a:r>
            <a:r>
              <a:rPr lang="zh-CN" altLang="en-US"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出租率上升；成本费用减少</a:t>
            </a:r>
            <a:r>
              <a:rPr lang="en-US" altLang="zh-CN"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139</a:t>
            </a:r>
            <a:r>
              <a:rPr lang="zh-CN" altLang="en-US"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万（人工减少</a:t>
            </a:r>
            <a:r>
              <a:rPr lang="en-US" altLang="zh-CN"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49</a:t>
            </a:r>
            <a:r>
              <a:rPr lang="zh-CN" altLang="en-US"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万，出租率提升，物业费用减少</a:t>
            </a:r>
            <a:r>
              <a:rPr lang="en-US" altLang="zh-CN"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63</a:t>
            </a:r>
            <a:r>
              <a:rPr lang="zh-CN" altLang="en-US"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万，签约面积减少，营销费用减少</a:t>
            </a:r>
            <a:r>
              <a:rPr lang="en-US" altLang="zh-CN"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28</a:t>
            </a:r>
            <a:r>
              <a:rPr lang="zh-CN" altLang="en-US"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万，包租成本增加</a:t>
            </a:r>
            <a:r>
              <a:rPr lang="en-US" altLang="zh-CN"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55</a:t>
            </a:r>
            <a:r>
              <a:rPr lang="zh-CN" altLang="en-US" sz="800"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a:t>
            </a:r>
            <a:r>
              <a:rPr lang="en-US" altLang="zh-CN" sz="800" b="1"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NOI</a:t>
            </a:r>
            <a:r>
              <a:rPr lang="zh-CN" altLang="en-US" sz="800" b="1"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增加</a:t>
            </a:r>
            <a:r>
              <a:rPr lang="en-US" altLang="zh-CN" sz="800" b="1"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569</a:t>
            </a:r>
            <a:r>
              <a:rPr lang="zh-CN" altLang="en-US" sz="800" b="1"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rPr>
              <a:t>万。</a:t>
            </a:r>
            <a:endParaRPr lang="zh-CN" altLang="en-US" sz="800" b="1" noProof="0" dirty="0" smtClean="0">
              <a:ln>
                <a:noFill/>
              </a:ln>
              <a:solidFill>
                <a:schemeClr val="tx1"/>
              </a:solidFill>
              <a:effectLst/>
              <a:uLnTx/>
              <a:uFillTx/>
              <a:latin typeface="微软雅黑" panose="020B0503020204020204" pitchFamily="34" charset="-122"/>
              <a:ea typeface="微软雅黑" panose="020B0503020204020204" pitchFamily="34" charset="-122"/>
              <a:sym typeface="+mn-ea"/>
            </a:endParaRPr>
          </a:p>
          <a:p>
            <a:pPr lvl="0">
              <a:defRPr/>
            </a:pP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亚金：</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收入减少</a:t>
            </a:r>
            <a:r>
              <a:rPr kumimoji="0" lang="en-US" altLang="zh-CN"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176</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（到期帮扶</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61</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万，续租满足降价影响</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90</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万</a:t>
            </a:r>
            <a:r>
              <a:rPr lang="zh-CN" altLang="en-US" sz="800" dirty="0">
                <a:solidFill>
                  <a:schemeClr val="tx1"/>
                </a:solidFill>
                <a:effectLst/>
                <a:latin typeface="微软雅黑" panose="020B0503020204020204" pitchFamily="34" charset="-122"/>
                <a:ea typeface="微软雅黑" panose="020B0503020204020204" pitchFamily="34" charset="-122"/>
                <a:sym typeface="+mn-ea"/>
              </a:rPr>
              <a:t>），</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成本费用</a:t>
            </a:r>
            <a:r>
              <a:rPr kumimoji="0" 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减少</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27</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a:t>
            </a:r>
            <a:r>
              <a:rPr lang="zh-CN" altLang="en-US"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营销费用</a:t>
            </a:r>
            <a:r>
              <a:rPr lang="zh-CN"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减少</a:t>
            </a:r>
            <a:r>
              <a:rPr lang="en-US" altLang="zh-CN"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2</a:t>
            </a:r>
            <a:r>
              <a:rPr lang="zh-CN" altLang="en-US"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万，物业费用减少</a:t>
            </a:r>
            <a:r>
              <a:rPr lang="en-US" altLang="zh-CN"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6</a:t>
            </a:r>
            <a:r>
              <a:rPr lang="zh-CN" altLang="en-US"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万</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NOI</a:t>
            </a:r>
            <a:r>
              <a:rPr kumimoji="0" 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减少</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132</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endPar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r>
              <a:rPr kumimoji="0" lang="zh-CN" sz="800" b="1" i="0" u="none" strike="noStrike" cap="none" spc="0" normalizeH="0" baseline="0" dirty="0">
                <a:solidFill>
                  <a:prstClr val="black"/>
                </a:solidFill>
                <a:latin typeface="微软雅黑" panose="020B0503020204020204" pitchFamily="34" charset="-122"/>
                <a:ea typeface="微软雅黑" panose="020B0503020204020204" pitchFamily="34" charset="-122"/>
              </a:rPr>
              <a:t>云颂府：</a:t>
            </a:r>
            <a:r>
              <a:rPr kumimoji="0" lang="zh-CN" altLang="en-US" sz="800" b="1" i="0" u="none" strike="noStrike" cap="none" spc="0" normalizeH="0" baseline="0" dirty="0">
                <a:solidFill>
                  <a:srgbClr val="C00000"/>
                </a:solidFill>
                <a:latin typeface="微软雅黑" panose="020B0503020204020204" pitchFamily="34" charset="-122"/>
                <a:ea typeface="微软雅黑" panose="020B0503020204020204" pitchFamily="34" charset="-122"/>
              </a:rPr>
              <a:t>收入增加</a:t>
            </a:r>
            <a:r>
              <a:rPr kumimoji="0" lang="en-US" altLang="zh-CN" sz="800" b="1" i="0" u="none" strike="noStrike" cap="none" spc="0" normalizeH="0" baseline="0" dirty="0">
                <a:solidFill>
                  <a:srgbClr val="C00000"/>
                </a:solidFill>
                <a:latin typeface="微软雅黑" panose="020B0503020204020204" pitchFamily="34" charset="-122"/>
                <a:ea typeface="微软雅黑" panose="020B0503020204020204" pitchFamily="34" charset="-122"/>
              </a:rPr>
              <a:t>26</a:t>
            </a:r>
            <a:r>
              <a:rPr kumimoji="0" lang="zh-CN" altLang="en-US" sz="800" b="1" i="0" u="none" strike="noStrike" cap="none" spc="0" normalizeH="0" baseline="0" dirty="0">
                <a:solidFill>
                  <a:srgbClr val="C00000"/>
                </a:solidFill>
                <a:latin typeface="微软雅黑" panose="020B0503020204020204" pitchFamily="34" charset="-122"/>
                <a:ea typeface="微软雅黑" panose="020B0503020204020204" pitchFamily="34" charset="-122"/>
              </a:rPr>
              <a:t>万</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a:t>
            </a:r>
            <a:r>
              <a:rPr lang="zh-CN" altLang="en-US" sz="800" dirty="0">
                <a:solidFill>
                  <a:schemeClr val="tx1"/>
                </a:solidFill>
                <a:effectLst/>
                <a:latin typeface="微软雅黑" panose="020B0503020204020204" pitchFamily="34" charset="-122"/>
                <a:ea typeface="微软雅黑" panose="020B0503020204020204" pitchFamily="34" charset="-122"/>
                <a:sym typeface="+mn-ea"/>
              </a:rPr>
              <a:t>精装房出租微上升</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），成本费用增加</a:t>
            </a:r>
            <a:r>
              <a:rPr kumimoji="0" lang="en-US" altLang="zh-CN"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25</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万（</a:t>
            </a:r>
            <a:r>
              <a:rPr kumimoji="0" lang="en-US" altLang="zh-CN"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25</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年增加编制</a:t>
            </a:r>
            <a:r>
              <a:rPr kumimoji="0" lang="en-US" altLang="zh-CN"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1</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人，</a:t>
            </a:r>
            <a:r>
              <a:rPr kumimoji="0" lang="en-US" altLang="zh-CN"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26</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年为全年费用）；物业增加</a:t>
            </a:r>
            <a:r>
              <a:rPr kumimoji="0" lang="en-US" altLang="zh-CN"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8</a:t>
            </a:r>
            <a:r>
              <a:rPr kumimoji="0" lang="zh-CN" altLang="en-US" sz="800" b="0" i="0" u="none" strike="noStrike" cap="none" spc="0" normalizeH="0" baseline="0" dirty="0">
                <a:solidFill>
                  <a:prstClr val="black"/>
                </a:solidFill>
                <a:latin typeface="微软雅黑" panose="020B0503020204020204" pitchFamily="34" charset="-122"/>
                <a:ea typeface="微软雅黑" panose="020B0503020204020204" pitchFamily="34" charset="-122"/>
              </a:rPr>
              <a:t>万考虑免费停车结算成本和办公用电），</a:t>
            </a:r>
            <a:r>
              <a:rPr kumimoji="0" lang="en-US" altLang="zh-CN" sz="800" b="1" i="0" u="none" strike="noStrike" cap="none" spc="0" normalizeH="0" baseline="0" dirty="0">
                <a:solidFill>
                  <a:prstClr val="black"/>
                </a:solidFill>
                <a:latin typeface="微软雅黑" panose="020B0503020204020204" pitchFamily="34" charset="-122"/>
                <a:ea typeface="微软雅黑" panose="020B0503020204020204" pitchFamily="34" charset="-122"/>
              </a:rPr>
              <a:t>NOI</a:t>
            </a:r>
            <a:r>
              <a:rPr kumimoji="0" lang="zh-CN" altLang="en-US" sz="800" b="1" i="0" u="none" strike="noStrike" cap="none" spc="0" normalizeH="0" baseline="0" dirty="0">
                <a:solidFill>
                  <a:prstClr val="black"/>
                </a:solidFill>
                <a:latin typeface="微软雅黑" panose="020B0503020204020204" pitchFamily="34" charset="-122"/>
                <a:ea typeface="微软雅黑" panose="020B0503020204020204" pitchFamily="34" charset="-122"/>
              </a:rPr>
              <a:t>减少</a:t>
            </a:r>
            <a:r>
              <a:rPr kumimoji="0" lang="en-US" altLang="zh-CN" sz="800" b="1" i="0" u="none" strike="noStrike" cap="none" spc="0" normalizeH="0" baseline="0" dirty="0">
                <a:solidFill>
                  <a:prstClr val="black"/>
                </a:solidFill>
                <a:latin typeface="微软雅黑" panose="020B0503020204020204" pitchFamily="34" charset="-122"/>
                <a:ea typeface="微软雅黑" panose="020B0503020204020204" pitchFamily="34" charset="-122"/>
              </a:rPr>
              <a:t>1</a:t>
            </a:r>
            <a:r>
              <a:rPr kumimoji="0" lang="zh-CN" altLang="en-US" sz="800" b="1" i="0" u="none" strike="noStrike" cap="none" spc="0" normalizeH="0" baseline="0" dirty="0">
                <a:solidFill>
                  <a:prstClr val="black"/>
                </a:solidFill>
                <a:latin typeface="微软雅黑" panose="020B0503020204020204" pitchFamily="34" charset="-122"/>
                <a:ea typeface="微软雅黑" panose="020B0503020204020204" pitchFamily="34" charset="-122"/>
              </a:rPr>
              <a:t>万。</a:t>
            </a:r>
            <a:endParaRPr kumimoji="0" sz="800" b="1" i="0" u="none" strike="noStrike" cap="none" spc="0" normalizeH="0" baseline="0" dirty="0">
              <a:solidFill>
                <a:prstClr val="black"/>
              </a:solidFill>
              <a:latin typeface="微软雅黑" panose="020B0503020204020204" pitchFamily="34" charset="-122"/>
              <a:ea typeface="微软雅黑" panose="020B0503020204020204" pitchFamily="34" charset="-122"/>
            </a:endParaRPr>
          </a:p>
          <a:p>
            <a:pPr lvl="0">
              <a:defRPr/>
            </a:pP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珠宝小镇：</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收入增加</a:t>
            </a:r>
            <a:r>
              <a:rPr kumimoji="0" lang="en-US" altLang="zh-CN"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10</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25</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年有</a:t>
            </a:r>
            <a:r>
              <a:rPr kumimoji="0" lang="en-US" altLang="zh-CN"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1</a:t>
            </a:r>
            <a:r>
              <a:rPr kumimoji="0" lang="zh-CN" altLang="en-US" sz="800" i="0" u="none" strike="noStrike" kern="120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rPr>
              <a:t>个月免租期）</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成本费用减少</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4</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万（营销费用减少），</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NOI</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增加</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13</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endPar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东湾旧改：</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预计</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8</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月接管验收成本费用支出</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45</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万：招商现场办公费</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7</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万、营销费</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18</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万、物业客服机电人工及物资</a:t>
            </a:r>
            <a:r>
              <a:rPr kumimoji="0" lang="en-US" altLang="zh-CN"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20</a:t>
            </a:r>
            <a:r>
              <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endPar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endParaRPr kumimoji="0" lang="zh-CN" altLang="en-US" sz="8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endParaRPr>
          </a:p>
          <a:p>
            <a:pPr lvl="0">
              <a:defRPr/>
            </a:pPr>
            <a:r>
              <a:rPr lang="zh-CN" altLang="en-US"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九联包租成本（不含税）</a:t>
            </a:r>
            <a:r>
              <a:rPr lang="en-US" altLang="zh-CN"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341</a:t>
            </a:r>
            <a:r>
              <a:rPr lang="zh-CN" altLang="en-US"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万（现金流口径：按照实际支付包租成本</a:t>
            </a:r>
            <a:r>
              <a:rPr lang="en-US" altLang="zh-CN"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2,127</a:t>
            </a:r>
            <a:r>
              <a:rPr lang="zh-CN" altLang="en-US"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万），东湾村包租成本（不含税）</a:t>
            </a:r>
            <a:r>
              <a:rPr lang="en-US" altLang="zh-CN"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2,860</a:t>
            </a:r>
            <a:r>
              <a:rPr lang="zh-CN" altLang="en-US" sz="800" spc="-41" dirty="0">
                <a:solidFill>
                  <a:prstClr val="black">
                    <a:lumMod val="75000"/>
                    <a:lumOff val="25000"/>
                  </a:prstClr>
                </a:solidFill>
                <a:latin typeface="微软雅黑" panose="020B0503020204020204" pitchFamily="34" charset="-122"/>
                <a:ea typeface="微软雅黑" panose="020B0503020204020204" pitchFamily="34" charset="-122"/>
                <a:sym typeface="+mn-ea"/>
              </a:rPr>
              <a:t>万。</a:t>
            </a:r>
            <a:endParaRPr kumimoji="0" lang="zh-CN" altLang="en-US" sz="800" b="1" i="0" u="none" strike="noStrike" kern="1200" cap="none" spc="-41" normalizeH="0" baseline="0" noProof="0" dirty="0" smtClean="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sym typeface="+mn-ea"/>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132715" y="237491"/>
            <a:ext cx="9072438"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酒店预算情况</a:t>
            </a:r>
            <a:endParaRPr kumimoji="0" lang="zh-CN" altLang="en-US" sz="2800" b="1" i="0" u="none" strike="noStrike" kern="1200" cap="none" spc="-41" normalizeH="0" baseline="0" noProof="0" dirty="0">
              <a:ln>
                <a:noFill/>
              </a:ln>
              <a:solidFill>
                <a:schemeClr val="tx1">
                  <a:lumMod val="75000"/>
                  <a:lumOff val="25000"/>
                </a:schemeClr>
              </a:solidFill>
              <a:effectLs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8" name="表格 7"/>
          <p:cNvGraphicFramePr/>
          <p:nvPr>
            <p:custDataLst>
              <p:tags r:id="rId1"/>
            </p:custDataLst>
          </p:nvPr>
        </p:nvGraphicFramePr>
        <p:xfrm>
          <a:off x="72390" y="711200"/>
          <a:ext cx="9829165" cy="3255645"/>
        </p:xfrm>
        <a:graphic>
          <a:graphicData uri="http://schemas.openxmlformats.org/drawingml/2006/table">
            <a:tbl>
              <a:tblPr/>
              <a:tblGrid>
                <a:gridCol w="608965"/>
                <a:gridCol w="486410"/>
                <a:gridCol w="504190"/>
                <a:gridCol w="492125"/>
                <a:gridCol w="443230"/>
                <a:gridCol w="449580"/>
                <a:gridCol w="510540"/>
                <a:gridCol w="500380"/>
                <a:gridCol w="493395"/>
                <a:gridCol w="385445"/>
                <a:gridCol w="424815"/>
                <a:gridCol w="469265"/>
                <a:gridCol w="523875"/>
                <a:gridCol w="471170"/>
                <a:gridCol w="384175"/>
                <a:gridCol w="396240"/>
                <a:gridCol w="471170"/>
                <a:gridCol w="492760"/>
                <a:gridCol w="455930"/>
                <a:gridCol w="406400"/>
                <a:gridCol w="459105"/>
              </a:tblGrid>
              <a:tr h="254635">
                <a:tc rowSpan="2">
                  <a:txBody>
                    <a:bodyPr/>
                    <a:lstStyle/>
                    <a:p>
                      <a:pPr indent="0" algn="ctr">
                        <a:buNone/>
                      </a:pPr>
                      <a:r>
                        <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项目</a:t>
                      </a:r>
                      <a:endPar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gridSpan="3">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收入含税</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hMerge="1">
                  <a:tcPr>
                    <a:lnT w="12700">
                      <a:solidFill>
                        <a:schemeClr val="tx1"/>
                      </a:solidFill>
                      <a:prstDash val="solid"/>
                    </a:lnT>
                    <a:lnB w="6350">
                      <a:solidFill>
                        <a:srgbClr val="B8CCE4"/>
                      </a:solidFill>
                      <a:prstDash val="solid"/>
                    </a:lnB>
                  </a:tcPr>
                </a:tc>
                <a:tc hMerge="1">
                  <a:tcPr>
                    <a:lnR w="6350">
                      <a:solidFill>
                        <a:srgbClr val="B8CCE4"/>
                      </a:solidFill>
                      <a:prstDash val="solid"/>
                    </a:lnR>
                    <a:lnT w="12700">
                      <a:solidFill>
                        <a:schemeClr val="tx1"/>
                      </a:solidFill>
                      <a:prstDash val="solid"/>
                    </a:lnT>
                    <a:lnB w="6350">
                      <a:solidFill>
                        <a:srgbClr val="B8CCE4"/>
                      </a:solidFill>
                      <a:prstDash val="soli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12700">
                      <a:solidFill>
                        <a:schemeClr val="tx1"/>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gridSpan="3">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成本费用</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chemeClr val="accent1">
                        <a:lumMod val="50000"/>
                      </a:schemeClr>
                    </a:solidFill>
                  </a:tcPr>
                </a:tc>
                <a:tc hMerge="1">
                  <a:tcPr>
                    <a:lnT w="12700">
                      <a:solidFill>
                        <a:schemeClr val="tx1"/>
                      </a:solidFill>
                      <a:prstDash val="solid"/>
                    </a:lnT>
                    <a:lnB w="6350">
                      <a:solidFill>
                        <a:srgbClr val="B8CCE4"/>
                      </a:solidFill>
                      <a:prstDash val="solid"/>
                    </a:lnB>
                  </a:tcPr>
                </a:tc>
                <a:tc hMerge="1">
                  <a:tcPr>
                    <a:lnR w="6350">
                      <a:solidFill>
                        <a:srgbClr val="B8CCE4"/>
                      </a:solidFill>
                      <a:prstDash val="solid"/>
                    </a:lnR>
                    <a:lnT w="12700">
                      <a:solidFill>
                        <a:schemeClr val="tx1"/>
                      </a:solidFill>
                      <a:prstDash val="solid"/>
                    </a:lnT>
                    <a:lnB w="6350">
                      <a:solidFill>
                        <a:srgbClr val="B8CCE4"/>
                      </a:solidFill>
                      <a:prstDash val="soli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chemeClr val="accent1">
                        <a:lumMod val="50000"/>
                      </a:schemeClr>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12700">
                      <a:solidFill>
                        <a:schemeClr val="tx1"/>
                      </a:solidFill>
                      <a:prstDash val="solid"/>
                    </a:lnR>
                    <a:lnT w="12700">
                      <a:solidFill>
                        <a:schemeClr val="tx1"/>
                      </a:solidFill>
                      <a:prstDash val="solid"/>
                    </a:lnT>
                    <a:lnB w="6350">
                      <a:solidFill>
                        <a:srgbClr val="B8CCE4"/>
                      </a:solidFill>
                      <a:prstDash val="solid"/>
                    </a:lnB>
                    <a:lnTlToBr>
                      <a:noFill/>
                    </a:lnTlToBr>
                    <a:lnBlToTr>
                      <a:noFill/>
                    </a:lnBlToTr>
                    <a:solidFill>
                      <a:schemeClr val="accent1">
                        <a:lumMod val="50000"/>
                      </a:schemeClr>
                    </a:solidFill>
                  </a:tcPr>
                </a:tc>
                <a:tc gridSpan="3">
                  <a:txBody>
                    <a:bodyPr/>
                    <a:p>
                      <a:pPr indent="0" algn="ctr">
                        <a:buNone/>
                      </a:pPr>
                      <a:r>
                        <a:rPr lang="en-US" altLang="zh-CN" sz="900" b="1">
                          <a:solidFill>
                            <a:srgbClr val="FFFFFF"/>
                          </a:solidFill>
                          <a:latin typeface="微软雅黑" panose="020B0503020204020204" pitchFamily="34" charset="-122"/>
                          <a:ea typeface="微软雅黑" panose="020B0503020204020204" pitchFamily="34" charset="-122"/>
                        </a:rPr>
                        <a:t>GOP</a:t>
                      </a:r>
                      <a:endParaRPr lang="en-US" altLang="zh-CN"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hMerge="1">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a:solidFill>
                        <a:srgbClr val="B8CCE4"/>
                      </a:solidFill>
                      <a:prstDash val="solid"/>
                    </a:lnB>
                    <a:lnTlToBr>
                      <a:noFill/>
                    </a:lnTlToBr>
                    <a:lnBlToTr>
                      <a:noFill/>
                    </a:lnBlToTr>
                    <a:solidFill>
                      <a:srgbClr val="C00000"/>
                    </a:solidFill>
                  </a:tcPr>
                </a:tc>
                <a:tc hMerge="1">
                  <a:tcPr marL="12700" marR="12700" marT="12700" anchor="ctr">
                    <a:lnL w="12700" cap="flat" cmpd="sng">
                      <a:solidFill>
                        <a:srgbClr val="000000"/>
                      </a:solidFill>
                      <a:prstDash val="solid"/>
                      <a:headEnd type="none" w="med" len="med"/>
                      <a:tailEnd type="none" w="med" len="me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rowSpan="2">
                  <a:txBody>
                    <a:bodyPr/>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rowSpan="2">
                  <a:txBody>
                    <a:bodyPr/>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12700">
                      <a:solidFill>
                        <a:schemeClr val="tx1"/>
                      </a:solidFill>
                      <a:prstDash val="solid"/>
                    </a:lnR>
                    <a:lnT w="12700">
                      <a:solidFill>
                        <a:schemeClr val="tx1"/>
                      </a:solidFill>
                      <a:prstDash val="solid"/>
                    </a:lnT>
                    <a:lnB w="6350">
                      <a:solidFill>
                        <a:srgbClr val="B8CCE4"/>
                      </a:solidFill>
                      <a:prstDash val="solid"/>
                    </a:lnB>
                    <a:lnTlToBr>
                      <a:noFill/>
                    </a:lnTlToBr>
                    <a:lnBlToTr>
                      <a:noFill/>
                    </a:lnBlToTr>
                    <a:solidFill>
                      <a:srgbClr val="C00000"/>
                    </a:solidFill>
                  </a:tcPr>
                </a:tc>
                <a:tc gridSpan="3">
                  <a:txBody>
                    <a:bodyPr/>
                    <a:lstStyle/>
                    <a:p>
                      <a:pPr indent="0" algn="ctr">
                        <a:buNone/>
                      </a:pPr>
                      <a:r>
                        <a:rPr lang="en-US" altLang="zh-CN"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NOI</a:t>
                      </a:r>
                      <a:endParaRPr lang="en-US" altLang="zh-CN"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531808"/>
                    </a:solidFill>
                  </a:tcPr>
                </a:tc>
                <a:tc hMerge="1">
                  <a:tcPr>
                    <a:lnT w="12700">
                      <a:solidFill>
                        <a:schemeClr val="tx1"/>
                      </a:solidFill>
                      <a:prstDash val="solid"/>
                    </a:lnT>
                    <a:lnB w="6350">
                      <a:solidFill>
                        <a:srgbClr val="B8CCE4"/>
                      </a:solidFill>
                      <a:prstDash val="solid"/>
                    </a:lnB>
                  </a:tcPr>
                </a:tc>
                <a:tc hMerge="1">
                  <a:tcPr>
                    <a:lnR w="6350">
                      <a:solidFill>
                        <a:srgbClr val="B8CCE4"/>
                      </a:solidFill>
                      <a:prstDash val="solid"/>
                    </a:lnR>
                    <a:lnT w="12700">
                      <a:solidFill>
                        <a:schemeClr val="tx1"/>
                      </a:solidFill>
                      <a:prstDash val="solid"/>
                    </a:lnT>
                    <a:lnB w="6350">
                      <a:solidFill>
                        <a:srgbClr val="B8CCE4"/>
                      </a:solidFill>
                      <a:prstDash val="soli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12700">
                      <a:solidFill>
                        <a:schemeClr val="tx1"/>
                      </a:solidFill>
                      <a:prstDash val="solid"/>
                    </a:lnT>
                    <a:lnB w="6350">
                      <a:solidFill>
                        <a:srgbClr val="B8CCE4"/>
                      </a:solidFill>
                      <a:prstDash val="solid"/>
                    </a:lnB>
                    <a:lnTlToBr>
                      <a:noFill/>
                    </a:lnTlToBr>
                    <a:lnBlToTr>
                      <a:noFill/>
                    </a:lnBlToTr>
                    <a:solidFill>
                      <a:srgbClr val="531808"/>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a:solidFill>
                        <a:srgbClr val="B8CCE4"/>
                      </a:solidFill>
                      <a:prstDash val="solid"/>
                    </a:lnL>
                    <a:lnR w="12700">
                      <a:solidFill>
                        <a:schemeClr val="tx1"/>
                      </a:solidFill>
                      <a:prstDash val="solid"/>
                    </a:lnR>
                    <a:lnT w="12700">
                      <a:solidFill>
                        <a:schemeClr val="tx1"/>
                      </a:solidFill>
                      <a:prstDash val="solid"/>
                    </a:lnT>
                    <a:lnB w="6350">
                      <a:solidFill>
                        <a:srgbClr val="B8CCE4"/>
                      </a:solidFill>
                      <a:prstDash val="solid"/>
                    </a:lnB>
                    <a:lnTlToBr>
                      <a:noFill/>
                    </a:lnTlToBr>
                    <a:lnBlToTr>
                      <a:noFill/>
                    </a:lnBlToTr>
                    <a:solidFill>
                      <a:srgbClr val="531808"/>
                    </a:solidFill>
                  </a:tcPr>
                </a:tc>
              </a:tr>
              <a:tr h="334645">
                <a:tc vMerge="1">
                  <a:tcPr>
                    <a:lnL w="12700">
                      <a:solidFill>
                        <a:schemeClr val="tx1"/>
                      </a:solidFill>
                      <a:prstDash val="solid"/>
                    </a:lnL>
                    <a:lnR w="6350">
                      <a:solidFill>
                        <a:srgbClr val="B8CCE4"/>
                      </a:solidFill>
                      <a:prstDash val="solid"/>
                    </a:lnR>
                    <a:lnB w="6350">
                      <a:solidFill>
                        <a:srgbClr val="B8CCE4"/>
                      </a:solidFill>
                      <a:prstDash val="solid"/>
                    </a:lnB>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C00000"/>
                    </a:solidFill>
                  </a:tcPr>
                </a:tc>
                <a:tc vMerge="1">
                  <a:tcPr>
                    <a:lnL w="6350">
                      <a:solidFill>
                        <a:srgbClr val="B8CCE4"/>
                      </a:solidFill>
                      <a:prstDash val="solid"/>
                    </a:lnL>
                    <a:lnR w="6350">
                      <a:solidFill>
                        <a:srgbClr val="B8CCE4"/>
                      </a:solidFill>
                      <a:prstDash val="solid"/>
                    </a:lnR>
                    <a:lnB w="6350">
                      <a:solidFill>
                        <a:srgbClr val="B8CCE4"/>
                      </a:solidFill>
                      <a:prstDash val="solid"/>
                    </a:lnB>
                  </a:tcPr>
                </a:tc>
                <a:tc vMerge="1">
                  <a:tcPr>
                    <a:lnL w="6350">
                      <a:solidFill>
                        <a:srgbClr val="B8CCE4"/>
                      </a:solidFill>
                      <a:prstDash val="solid"/>
                    </a:lnL>
                    <a:lnR w="12700">
                      <a:solidFill>
                        <a:schemeClr val="tx1"/>
                      </a:solidFill>
                      <a:prstDash val="solid"/>
                    </a:lnR>
                    <a:lnB w="6350">
                      <a:solidFill>
                        <a:srgbClr val="B8CCE4"/>
                      </a:solidFill>
                      <a:prstDash val="solid"/>
                    </a:lnB>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chemeClr val="accent1">
                        <a:lumMod val="50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chemeClr val="accent1">
                        <a:lumMod val="50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chemeClr val="accent1">
                        <a:lumMod val="50000"/>
                      </a:schemeClr>
                    </a:solidFill>
                  </a:tcPr>
                </a:tc>
                <a:tc vMerge="1">
                  <a:tcPr>
                    <a:lnL w="6350">
                      <a:solidFill>
                        <a:srgbClr val="B8CCE4"/>
                      </a:solidFill>
                      <a:prstDash val="solid"/>
                    </a:lnL>
                    <a:lnR w="6350">
                      <a:solidFill>
                        <a:srgbClr val="B8CCE4"/>
                      </a:solidFill>
                      <a:prstDash val="solid"/>
                    </a:lnR>
                    <a:lnB w="6350">
                      <a:solidFill>
                        <a:srgbClr val="B8CCE4"/>
                      </a:solidFill>
                      <a:prstDash val="solid"/>
                    </a:lnB>
                  </a:tcPr>
                </a:tc>
                <a:tc vMerge="1">
                  <a:tcPr>
                    <a:lnL w="6350">
                      <a:solidFill>
                        <a:srgbClr val="B8CCE4"/>
                      </a:solidFill>
                      <a:prstDash val="solid"/>
                    </a:lnL>
                    <a:lnR w="12700">
                      <a:solidFill>
                        <a:schemeClr val="tx1"/>
                      </a:solidFill>
                      <a:prstDash val="solid"/>
                    </a:lnR>
                    <a:lnB w="6350">
                      <a:solidFill>
                        <a:srgbClr val="B8CCE4"/>
                      </a:solidFill>
                      <a:prstDash val="solid"/>
                    </a:lnB>
                  </a:tcPr>
                </a:tc>
                <a:tc>
                  <a:txBody>
                    <a:bodyPr/>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C00000"/>
                    </a:solidFill>
                  </a:tcPr>
                </a:tc>
                <a:tc>
                  <a:txBody>
                    <a:bodyPr/>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C00000"/>
                    </a:solidFill>
                  </a:tcPr>
                </a:tc>
                <a:tc>
                  <a:txBody>
                    <a:bodyPr/>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C00000"/>
                    </a:solidFill>
                  </a:tcPr>
                </a:tc>
                <a:tc vMerge="1">
                  <a:tcPr marL="12700" marR="12700" marT="12700" anchor="ctr">
                    <a:lnL w="6350">
                      <a:solidFill>
                        <a:srgbClr val="B8CCE4"/>
                      </a:solidFill>
                      <a:prstDash val="solid"/>
                    </a:lnL>
                    <a:lnR w="6350">
                      <a:solidFill>
                        <a:srgbClr val="B8CCE4"/>
                      </a:solidFill>
                      <a:prstDash val="solid"/>
                    </a:lnR>
                    <a:lnT w="6350" cap="flat" cmpd="sng">
                      <a:solidFill>
                        <a:srgbClr val="B8CCE4"/>
                      </a:solidFill>
                      <a:prstDash val="solid"/>
                      <a:headEnd type="none" w="med" len="med"/>
                      <a:tailEnd type="none" w="med" len="med"/>
                    </a:lnT>
                    <a:lnB w="6350">
                      <a:solidFill>
                        <a:srgbClr val="B8CCE4"/>
                      </a:solidFill>
                      <a:prstDash val="solid"/>
                    </a:lnB>
                    <a:lnTlToBr>
                      <a:noFill/>
                    </a:lnTlToBr>
                    <a:lnBlToTr>
                      <a:noFill/>
                    </a:lnBlToTr>
                    <a:solidFill>
                      <a:srgbClr val="C00000"/>
                    </a:solidFill>
                  </a:tcPr>
                </a:tc>
                <a:tc vMerge="1">
                  <a:tcPr marL="12700" marR="12700" marT="12700" anchor="ctr">
                    <a:lnL w="6350">
                      <a:solidFill>
                        <a:srgbClr val="B8CCE4"/>
                      </a:solidFill>
                      <a:prstDash val="solid"/>
                    </a:lnL>
                    <a:lnR w="12700">
                      <a:solidFill>
                        <a:schemeClr val="tx1"/>
                      </a:solidFill>
                      <a:prstDash val="solid"/>
                    </a:lnR>
                    <a:lnT w="6350" cap="flat" cmpd="sng">
                      <a:solidFill>
                        <a:srgbClr val="B8CCE4"/>
                      </a:solidFill>
                      <a:prstDash val="solid"/>
                      <a:headEnd type="none" w="med" len="med"/>
                      <a:tailEnd type="none" w="med" len="med"/>
                    </a:lnT>
                    <a:lnB w="6350">
                      <a:solidFill>
                        <a:srgbClr val="B8CCE4"/>
                      </a:solidFill>
                      <a:prstDash val="soli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531808"/>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531808"/>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531808"/>
                    </a:solidFill>
                  </a:tcPr>
                </a:tc>
                <a:tc vMerge="1">
                  <a:tcPr>
                    <a:lnL w="6350">
                      <a:solidFill>
                        <a:srgbClr val="B8CCE4"/>
                      </a:solidFill>
                      <a:prstDash val="solid"/>
                    </a:lnL>
                    <a:lnR w="6350">
                      <a:solidFill>
                        <a:srgbClr val="B8CCE4"/>
                      </a:solidFill>
                      <a:prstDash val="solid"/>
                    </a:lnR>
                    <a:lnB w="6350">
                      <a:solidFill>
                        <a:srgbClr val="B8CCE4"/>
                      </a:solidFill>
                      <a:prstDash val="solid"/>
                    </a:lnB>
                  </a:tcPr>
                </a:tc>
                <a:tc vMerge="1">
                  <a:tcPr>
                    <a:lnL w="6350">
                      <a:solidFill>
                        <a:srgbClr val="B8CCE4"/>
                      </a:solidFill>
                      <a:prstDash val="solid"/>
                    </a:lnL>
                    <a:lnR w="12700">
                      <a:solidFill>
                        <a:schemeClr val="tx1"/>
                      </a:solidFill>
                      <a:prstDash val="solid"/>
                    </a:lnR>
                    <a:lnB w="6350">
                      <a:solidFill>
                        <a:srgbClr val="B8CCE4"/>
                      </a:solidFill>
                      <a:prstDash val="solid"/>
                    </a:lnB>
                  </a:tcPr>
                </a:tc>
              </a:tr>
              <a:tr h="22098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深圳吉酒店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10,726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10,397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7,515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7,334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7,319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2,596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2,487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25146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星度假酒店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322.9%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19177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东山酒店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1,401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13.0%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51.8%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49.2%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19177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广州吉酒店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4,072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3,755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3,348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3,259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95.0%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95.0%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19177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上海吉酒店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4,497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5,135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3,020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2,044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1,931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208280">
                <a:tc>
                  <a:txBody>
                    <a:bodyPr/>
                    <a:lstStyle/>
                    <a:p>
                      <a:pPr indent="0" algn="l" fontAlgn="ctr"/>
                      <a:r>
                        <a:rPr lang="zh-CN" altLang="en-US" sz="900" b="1" i="0">
                          <a:solidFill>
                            <a:srgbClr val="000000"/>
                          </a:solidFill>
                          <a:latin typeface="微软雅黑" panose="020B0503020204020204" pitchFamily="34" charset="-122"/>
                          <a:ea typeface="微软雅黑" panose="020B0503020204020204" pitchFamily="34" charset="-122"/>
                        </a:rPr>
                        <a:t>丽思酒店</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17,209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18,298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17,312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-986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-5.4%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16,111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15,684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15,764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1,567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-63.8%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-105.7%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19812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万丽酒店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8,041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7,791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7,861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7,043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6,843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6,879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203835">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事业部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251460">
                <a:tc>
                  <a:txBody>
                    <a:bodyPr/>
                    <a:p>
                      <a:pPr indent="0" algn="l" fontAlgn="ctr"/>
                      <a:r>
                        <a:rPr lang="zh-CN" altLang="en-US" sz="900" b="1" i="0">
                          <a:solidFill>
                            <a:schemeClr val="tx1"/>
                          </a:solidFill>
                          <a:latin typeface="微软雅黑" panose="020B0503020204020204" pitchFamily="34" charset="-122"/>
                          <a:ea typeface="微软雅黑" panose="020B0503020204020204" pitchFamily="34" charset="-122"/>
                        </a:rPr>
                        <a:t>酒店合计</a:t>
                      </a:r>
                      <a:endParaRPr lang="zh-CN" altLang="en-US" sz="900" b="1"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48,596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48,066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47,584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41,925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39,891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40,002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111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0.3%</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3,878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5,409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4,861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-548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-10.1%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2,400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3,931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3,383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-548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-13.9%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283845">
                <a:tc>
                  <a:txBody>
                    <a:bodyPr/>
                    <a:lstStyle/>
                    <a:p>
                      <a:pPr indent="0" algn="l" fontAlgn="ctr"/>
                      <a:r>
                        <a:rPr lang="zh-CN" altLang="en-US" sz="900" b="1" i="0">
                          <a:solidFill>
                            <a:schemeClr val="tx1"/>
                          </a:solidFill>
                          <a:latin typeface="微软雅黑" panose="020B0503020204020204" pitchFamily="34" charset="-122"/>
                          <a:ea typeface="微软雅黑" panose="020B0503020204020204" pitchFamily="34" charset="-122"/>
                        </a:rPr>
                        <a:t>酒店不含</a:t>
                      </a:r>
                      <a:endParaRPr lang="zh-CN" altLang="en-US" sz="900" b="1" i="0">
                        <a:solidFill>
                          <a:schemeClr val="tx1"/>
                        </a:solidFill>
                        <a:latin typeface="微软雅黑" panose="020B0503020204020204" pitchFamily="34" charset="-122"/>
                        <a:ea typeface="微软雅黑" panose="020B0503020204020204" pitchFamily="34" charset="-122"/>
                      </a:endParaRPr>
                    </a:p>
                    <a:p>
                      <a:pPr indent="0" algn="l" fontAlgn="ctr"/>
                      <a:r>
                        <a:rPr lang="zh-CN" altLang="en-US" sz="900" b="1" i="0">
                          <a:solidFill>
                            <a:schemeClr val="tx1"/>
                          </a:solidFill>
                          <a:latin typeface="微软雅黑" panose="020B0503020204020204" pitchFamily="34" charset="-122"/>
                          <a:ea typeface="微软雅黑" panose="020B0503020204020204" pitchFamily="34" charset="-122"/>
                        </a:rPr>
                        <a:t>丽思</a:t>
                      </a:r>
                      <a:endParaRPr lang="zh-CN" altLang="en-US" sz="900" b="1"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31,387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29,768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30,272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504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FC000"/>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1.7%</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25,813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24,207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24,238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31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FC000"/>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0.1%</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3,755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3,842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4,293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451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11.7%</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2,899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2,986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3,437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 451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solidFill>
                      <a:srgbClr val="FFC000"/>
                    </a:solidFill>
                  </a:tcPr>
                </a:tc>
                <a:tc>
                  <a:txBody>
                    <a:bodyPr/>
                    <a:lstStyle/>
                    <a:p>
                      <a:pPr algn="r" fontAlgn="ctr"/>
                      <a:r>
                        <a:rPr lang="en-US" altLang="zh-CN" sz="800" b="1" i="1">
                          <a:solidFill>
                            <a:srgbClr val="000000"/>
                          </a:solidFill>
                          <a:latin typeface="微软雅黑" panose="020B0503020204020204" pitchFamily="34" charset="-122"/>
                          <a:ea typeface="微软雅黑" panose="020B0503020204020204" pitchFamily="34" charset="-122"/>
                        </a:rPr>
                        <a:t>15.1%</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solidFill>
                      <a:srgbClr val="FD877B"/>
                    </a:solidFill>
                  </a:tcPr>
                </a:tc>
              </a:tr>
              <a:tr h="221615">
                <a:tc>
                  <a:txBody>
                    <a:bodyPr/>
                    <a:lstStyle/>
                    <a:p>
                      <a:pPr indent="0" algn="l" fontAlgn="ctr">
                        <a:buNone/>
                      </a:pPr>
                      <a:r>
                        <a:rPr lang="zh-CN" sz="900" b="0">
                          <a:solidFill>
                            <a:srgbClr val="000000"/>
                          </a:solidFill>
                          <a:latin typeface="微软雅黑" panose="020B0503020204020204" pitchFamily="34" charset="-122"/>
                          <a:ea typeface="微软雅黑" panose="020B0503020204020204" pitchFamily="34" charset="-122"/>
                        </a:rPr>
                        <a:t>自营酒店</a:t>
                      </a:r>
                      <a:endParaRPr lang="zh-CN" altLang="en-US" sz="900" b="0">
                        <a:solidFill>
                          <a:srgbClr val="000000"/>
                        </a:solidFill>
                        <a:latin typeface="微软雅黑" panose="020B0503020204020204" pitchFamily="34" charset="-122"/>
                        <a:ea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23,346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21,977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22,411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18,770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17,365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17,360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3,220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3,345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3,764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12.5%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2,839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3,257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418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6350">
                      <a:solidFill>
                        <a:srgbClr val="B8CCE4"/>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6350">
                      <a:solidFill>
                        <a:srgbClr val="B8CCE4"/>
                      </a:solidFill>
                      <a:prstDash val="solid"/>
                    </a:lnB>
                    <a:lnTlToBr>
                      <a:noFill/>
                    </a:lnTlToBr>
                    <a:lnBlToTr>
                      <a:noFill/>
                    </a:lnBlToTr>
                    <a:noFill/>
                  </a:tcPr>
                </a:tc>
              </a:tr>
              <a:tr h="251460">
                <a:tc>
                  <a:txBody>
                    <a:bodyPr/>
                    <a:lstStyle/>
                    <a:p>
                      <a:pPr indent="0" algn="l" fontAlgn="ctr">
                        <a:buNone/>
                      </a:pPr>
                      <a:r>
                        <a:rPr lang="zh-CN" sz="900" b="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委管酒店</a:t>
                      </a:r>
                      <a:endParaRPr lang="zh-CN" altLang="en-US" sz="900" b="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25,250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26,089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25,173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23,154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22,527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22,643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2,064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1,097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-46.8%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1,093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-967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6350">
                      <a:solidFill>
                        <a:srgbClr val="B8CCE4"/>
                      </a:solidFill>
                      <a:prstDash val="solid"/>
                    </a:lnR>
                    <a:lnT w="6350">
                      <a:solidFill>
                        <a:srgbClr val="B8CCE4"/>
                      </a:solidFill>
                      <a:prstDash val="solid"/>
                    </a:lnT>
                    <a:lnB w="12700">
                      <a:solidFill>
                        <a:schemeClr val="tx1"/>
                      </a:solidFill>
                      <a:prstDash val="soli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-88.5%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a:solidFill>
                        <a:srgbClr val="B8CCE4"/>
                      </a:solidFill>
                      <a:prstDash val="solid"/>
                    </a:lnL>
                    <a:lnR w="12700">
                      <a:solidFill>
                        <a:schemeClr val="tx1"/>
                      </a:solidFill>
                      <a:prstDash val="solid"/>
                    </a:lnR>
                    <a:lnT w="6350">
                      <a:solidFill>
                        <a:srgbClr val="B8CCE4"/>
                      </a:solidFill>
                      <a:prstDash val="solid"/>
                    </a:lnT>
                    <a:lnB w="12700">
                      <a:solidFill>
                        <a:schemeClr val="tx1"/>
                      </a:solidFill>
                      <a:prstDash val="solid"/>
                    </a:lnB>
                    <a:lnTlToBr>
                      <a:noFill/>
                    </a:lnTlToBr>
                    <a:lnBlToTr>
                      <a:noFill/>
                    </a:lnBlToTr>
                    <a:noFill/>
                  </a:tcPr>
                </a:tc>
              </a:tr>
            </a:tbl>
          </a:graphicData>
        </a:graphic>
      </p:graphicFrame>
      <p:sp>
        <p:nvSpPr>
          <p:cNvPr id="6" name="矩形 5"/>
          <p:cNvSpPr/>
          <p:nvPr/>
        </p:nvSpPr>
        <p:spPr>
          <a:xfrm>
            <a:off x="-10795" y="4003040"/>
            <a:ext cx="10086340" cy="1617980"/>
          </a:xfrm>
          <a:prstGeom prst="rect">
            <a:avLst/>
          </a:prstGeom>
        </p:spPr>
        <p:txBody>
          <a:bodyPr wrap="square">
            <a:noAutofit/>
          </a:bodyPr>
          <a:lstStyle>
            <a:defPPr>
              <a:defRPr lang="zh-CN"/>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收入预算</a:t>
            </a:r>
            <a:r>
              <a:rPr lang="en-US" altLang="zh-CN"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47,584</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万，</a:t>
            </a:r>
            <a:r>
              <a:rPr lang="zh-CN" altLang="en-US" sz="1000" b="1" noProof="0" dirty="0" smtClean="0">
                <a:ln>
                  <a:noFill/>
                </a:ln>
                <a:effectLst/>
                <a:uLnTx/>
                <a:uFillTx/>
                <a:latin typeface="微软雅黑" panose="020B0503020204020204" pitchFamily="34" charset="-122"/>
                <a:ea typeface="微软雅黑" panose="020B0503020204020204" pitchFamily="34" charset="-122"/>
                <a:sym typeface="+mn-ea"/>
              </a:rPr>
              <a:t>同比减少</a:t>
            </a:r>
            <a:r>
              <a:rPr lang="en-US" altLang="zh-CN" sz="1000" b="1" noProof="0" dirty="0" smtClean="0">
                <a:ln>
                  <a:noFill/>
                </a:ln>
                <a:effectLst/>
                <a:uLnTx/>
                <a:uFillTx/>
                <a:latin typeface="微软雅黑" panose="020B0503020204020204" pitchFamily="34" charset="-122"/>
                <a:ea typeface="微软雅黑" panose="020B0503020204020204" pitchFamily="34" charset="-122"/>
                <a:sym typeface="+mn-ea"/>
              </a:rPr>
              <a:t>482</a:t>
            </a:r>
            <a:r>
              <a:rPr lang="zh-CN" altLang="en-US" sz="1000" b="1" noProof="0" dirty="0" smtClean="0">
                <a:ln>
                  <a:noFill/>
                </a:ln>
                <a:effectLst/>
                <a:uLnTx/>
                <a:uFillTx/>
                <a:latin typeface="微软雅黑" panose="020B0503020204020204" pitchFamily="34" charset="-122"/>
                <a:ea typeface="微软雅黑" panose="020B0503020204020204" pitchFamily="34" charset="-122"/>
                <a:sym typeface="+mn-ea"/>
              </a:rPr>
              <a:t>万，降幅</a:t>
            </a:r>
            <a:r>
              <a:rPr lang="en-US" altLang="zh-CN" sz="1000" b="1" noProof="0" dirty="0" smtClean="0">
                <a:ln>
                  <a:noFill/>
                </a:ln>
                <a:effectLst/>
                <a:uLnTx/>
                <a:uFillTx/>
                <a:latin typeface="微软雅黑" panose="020B0503020204020204" pitchFamily="34" charset="-122"/>
                <a:ea typeface="微软雅黑" panose="020B0503020204020204" pitchFamily="34" charset="-122"/>
                <a:sym typeface="+mn-ea"/>
              </a:rPr>
              <a:t>1%</a:t>
            </a:r>
            <a:r>
              <a:rPr lang="zh-CN" altLang="en-US" sz="1000" b="1" noProof="0" dirty="0" smtClean="0">
                <a:ln>
                  <a:noFill/>
                </a:ln>
                <a:effectLst/>
                <a:uLnTx/>
                <a:uFillTx/>
                <a:latin typeface="微软雅黑" panose="020B0503020204020204" pitchFamily="34" charset="-122"/>
                <a:ea typeface="微软雅黑" panose="020B0503020204020204" pitchFamily="34" charset="-122"/>
                <a:sym typeface="+mn-ea"/>
              </a:rPr>
              <a:t>，</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不含丽思口径同比增加</a:t>
            </a:r>
            <a:r>
              <a:rPr lang="en-US" altLang="zh-CN"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504</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万，增幅</a:t>
            </a:r>
            <a:r>
              <a:rPr lang="en-US" altLang="zh-CN"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1.7%</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a:t>
            </a:r>
            <a:r>
              <a:rPr lang="en-US" altLang="zh-CN"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NOI</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不含丽思口径同比增加</a:t>
            </a:r>
            <a:r>
              <a:rPr lang="en-US" altLang="zh-CN"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451</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万，增幅</a:t>
            </a:r>
            <a:r>
              <a:rPr lang="en-US" altLang="zh-CN"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15.1%</a:t>
            </a:r>
            <a:r>
              <a:rPr lang="zh-CN" altLang="en-US" sz="1000" b="1" noProof="0" dirty="0" smtClean="0">
                <a:ln>
                  <a:noFill/>
                </a:ln>
                <a:solidFill>
                  <a:srgbClr val="C00000"/>
                </a:solidFill>
                <a:effectLst/>
                <a:uLnTx/>
                <a:uFillTx/>
                <a:latin typeface="微软雅黑" panose="020B0503020204020204" pitchFamily="34" charset="-122"/>
                <a:ea typeface="微软雅黑" panose="020B0503020204020204" pitchFamily="34" charset="-122"/>
                <a:sym typeface="+mn-ea"/>
              </a:rPr>
              <a:t>。</a:t>
            </a:r>
            <a:endParaRPr kumimoji="0" lang="zh-CN" altLang="en-US" sz="10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mn-cs"/>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9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、深圳吉酒店：</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受市场环境下行，消费降级，限酒令等影响，</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a:t>
            </a:r>
            <a:r>
              <a:rPr lang="en-US"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年与</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25</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年持平</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20</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900" b="1">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900" b="1">
                <a:latin typeface="微软雅黑" panose="020B0503020204020204" pitchFamily="34" charset="-122"/>
                <a:ea typeface="微软雅黑" panose="020B0503020204020204" pitchFamily="34" charset="-122"/>
                <a:cs typeface="微软雅黑" panose="020B0503020204020204" pitchFamily="34" charset="-122"/>
                <a:sym typeface="+mn-ea"/>
              </a:rPr>
              <a:t>、星度假酒店：</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110</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调整新款酒店套票，挖掘工抵房、宠物友好等渠道增加客房和餐饮收入，星遇公寓增加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55</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万；成本费用增加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68</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万（星遇公寓成本费用增加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42</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万，客房收入及餐饮收入增加，相应成本增加）；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35</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kumimoji="0" sz="900" b="0"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、东山酒店：</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根据市场需求和淡旺季情况灵活调整房价策略，房型设置及特色，创新产品，提升服务，</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94</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成本费用减少</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45</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万（人工费用下降</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100</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万，收入增加，相应成本增加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63</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132</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kumimoji="0" sz="900" b="0"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9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4、广州吉酒店：</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坚持精准市场定位策略，拓宽销售渠道，优化价格策略等，出租率</a:t>
            </a:r>
            <a:r>
              <a:rPr lang="zh-CN" sz="900">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0.8%</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20</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成本费用减少</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89</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万（人工成本下降</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82</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108</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5</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上海吉酒店</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出租率</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73.8%</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3.6%</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204</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成本费用增加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63万（</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人工费用增加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32</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万：年终奖，</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25</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年有人员缺编；税金及附加因留抵已用完增加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29</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137</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r>
              <a:rPr lang="en-US" altLang="zh-CN" sz="9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、万丽酒店：</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收入同比增加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70</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成本费用增加</a:t>
            </a:r>
            <a:r>
              <a:rPr lang="en-US" altLang="zh-CN" sz="900">
                <a:latin typeface="微软雅黑" panose="020B0503020204020204" pitchFamily="34" charset="-122"/>
                <a:ea typeface="微软雅黑" panose="020B0503020204020204" pitchFamily="34" charset="-122"/>
                <a:cs typeface="微软雅黑" panose="020B0503020204020204" pitchFamily="34" charset="-122"/>
                <a:sym typeface="+mn-ea"/>
              </a:rPr>
              <a:t>36万（主要</a:t>
            </a:r>
            <a:r>
              <a:rPr lang="zh-CN" altLang="en-US" sz="900">
                <a:latin typeface="微软雅黑" panose="020B0503020204020204" pitchFamily="34" charset="-122"/>
                <a:ea typeface="微软雅黑" panose="020B0503020204020204" pitchFamily="34" charset="-122"/>
                <a:cs typeface="微软雅黑" panose="020B0503020204020204" pitchFamily="34" charset="-122"/>
                <a:sym typeface="+mn-ea"/>
              </a:rPr>
              <a:t>是促销费用增加），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32</a:t>
            </a:r>
            <a:r>
              <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90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algn="l" defTabSz="914400" rtl="0" eaLnBrk="0" fontAlgn="base" latinLnBrk="0" hangingPunct="0">
              <a:lnSpc>
                <a:spcPct val="100000"/>
              </a:lnSpc>
              <a:buClrTx/>
              <a:buSzTx/>
              <a:buFontTx/>
              <a:buNone/>
              <a:defRPr/>
            </a:pPr>
            <a:r>
              <a:rPr lang="en-US" altLang="zh-CN" sz="900" b="1"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7、丽思酒店：</a:t>
            </a:r>
            <a:r>
              <a:rPr lang="zh-CN" altLang="en-US" sz="90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装修影响</a:t>
            </a:r>
            <a:r>
              <a:rPr lang="zh-CN" altLang="en-US" sz="900"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收入同比减少</a:t>
            </a:r>
            <a:r>
              <a:rPr lang="en-US" altLang="zh-CN"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986</a:t>
            </a:r>
            <a:r>
              <a:rPr lang="zh-CN" altLang="en-US"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en-US" altLang="zh-CN"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NOI</a:t>
            </a:r>
            <a:r>
              <a:rPr lang="zh-CN" altLang="en-US"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减少</a:t>
            </a:r>
            <a:r>
              <a:rPr lang="en-US" altLang="zh-CN"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999</a:t>
            </a:r>
            <a:r>
              <a:rPr lang="zh-CN" altLang="en-US" sz="900" noProof="0" dirty="0" smtClean="0">
                <a:ln>
                  <a:noFill/>
                </a:ln>
                <a:solidFill>
                  <a:srgbClr val="C00000"/>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lang="zh-CN" altLang="en-US" sz="900" noProof="0" dirty="0" smtClean="0">
              <a:ln>
                <a:noFill/>
              </a:ln>
              <a:solidFill>
                <a:srgbClr val="C00000"/>
              </a:solidFill>
              <a:effectLst/>
              <a:highlight>
                <a:srgbClr val="FFFF00"/>
              </a:highlight>
              <a:uLnTx/>
              <a:uFillTx/>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l" defTabSz="914400" rtl="0" eaLnBrk="0" fontAlgn="base" latinLnBrk="0" hangingPunct="0">
              <a:lnSpc>
                <a:spcPct val="100000"/>
              </a:lnSpc>
              <a:spcBef>
                <a:spcPct val="0"/>
              </a:spcBef>
              <a:spcAft>
                <a:spcPct val="0"/>
              </a:spcAft>
              <a:buClrTx/>
              <a:buSzTx/>
              <a:buFontTx/>
              <a:buNone/>
              <a:defRPr/>
            </a:pPr>
            <a:endParaRPr lang="zh-CN" altLang="en-US" sz="800">
              <a:solidFill>
                <a:schemeClr val="tx1"/>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800" b="0" i="0" u="none" strike="noStrike" kern="1200" cap="none" spc="0" normalizeH="0" baseline="0" noProof="0" dirty="0">
              <a:ln>
                <a:noFill/>
              </a:ln>
              <a:solidFill>
                <a:schemeClr val="tx1"/>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132715" y="237491"/>
            <a:ext cx="9072438"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酒店预算情况</a:t>
            </a:r>
            <a:endParaRPr kumimoji="0" lang="zh-CN" altLang="en-US" sz="2800" b="1" i="0" u="none" strike="noStrike" kern="1200" cap="none" spc="-41" normalizeH="0" baseline="0" noProof="0" dirty="0">
              <a:ln>
                <a:noFill/>
              </a:ln>
              <a:solidFill>
                <a:schemeClr val="tx1">
                  <a:lumMod val="75000"/>
                  <a:lumOff val="25000"/>
                </a:schemeClr>
              </a:solidFill>
              <a:effectLs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8" name="表格 7"/>
          <p:cNvGraphicFramePr/>
          <p:nvPr>
            <p:custDataLst>
              <p:tags r:id="rId1"/>
            </p:custDataLst>
          </p:nvPr>
        </p:nvGraphicFramePr>
        <p:xfrm>
          <a:off x="205105" y="1029335"/>
          <a:ext cx="9289415" cy="3218180"/>
        </p:xfrm>
        <a:graphic>
          <a:graphicData uri="http://schemas.openxmlformats.org/drawingml/2006/table">
            <a:tbl>
              <a:tblPr/>
              <a:tblGrid>
                <a:gridCol w="749935"/>
                <a:gridCol w="598805"/>
                <a:gridCol w="621030"/>
                <a:gridCol w="606425"/>
                <a:gridCol w="544830"/>
                <a:gridCol w="554355"/>
                <a:gridCol w="628015"/>
                <a:gridCol w="615950"/>
                <a:gridCol w="608330"/>
                <a:gridCol w="474345"/>
                <a:gridCol w="523240"/>
                <a:gridCol w="578485"/>
                <a:gridCol w="644525"/>
                <a:gridCol w="579755"/>
                <a:gridCol w="473710"/>
                <a:gridCol w="487680"/>
              </a:tblGrid>
              <a:tr h="260350">
                <a:tc rowSpan="2">
                  <a:txBody>
                    <a:bodyPr/>
                    <a:lstStyle/>
                    <a:p>
                      <a:pPr indent="0" algn="ctr">
                        <a:buNone/>
                      </a:pPr>
                      <a:r>
                        <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项目</a:t>
                      </a:r>
                      <a:endPar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gridSpan="3">
                  <a:txBody>
                    <a:bodyPr/>
                    <a:lstStyle/>
                    <a:p>
                      <a:pPr indent="0" algn="ctr">
                        <a:buNone/>
                      </a:pPr>
                      <a:r>
                        <a:rPr lang="en-US" altLang="zh-CN" sz="900" b="1">
                          <a:solidFill>
                            <a:srgbClr val="FFFFFF"/>
                          </a:solidFill>
                          <a:latin typeface="微软雅黑" panose="020B0503020204020204" pitchFamily="34" charset="-122"/>
                          <a:ea typeface="微软雅黑" panose="020B0503020204020204" pitchFamily="34" charset="-122"/>
                        </a:rPr>
                        <a:t>NPI</a:t>
                      </a:r>
                      <a:endParaRPr lang="en-US" altLang="zh-CN"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hMerge="1">
                  <a:tcP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gridSpan="3">
                  <a:txBody>
                    <a:bodyPr/>
                    <a:lstStyle/>
                    <a:p>
                      <a:pPr indent="0" algn="ctr">
                        <a:buNone/>
                      </a:pPr>
                      <a:r>
                        <a:rPr lang="en-US" altLang="zh-CN" sz="900" b="1">
                          <a:solidFill>
                            <a:srgbClr val="FFFFFF"/>
                          </a:solidFill>
                          <a:latin typeface="微软雅黑" panose="020B0503020204020204" pitchFamily="34" charset="-122"/>
                          <a:ea typeface="微软雅黑" panose="020B0503020204020204" pitchFamily="34" charset="-122"/>
                        </a:rPr>
                        <a:t>EBITDA</a:t>
                      </a:r>
                      <a:endParaRPr lang="en-US" altLang="zh-CN"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hMerge="1">
                  <a:tcP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gridSpan="3">
                  <a:txBody>
                    <a:bodyPr/>
                    <a:p>
                      <a:pPr indent="0" algn="ctr">
                        <a:buNone/>
                      </a:pPr>
                      <a:r>
                        <a:rPr lang="zh-CN" altLang="en-US" sz="900" b="1">
                          <a:solidFill>
                            <a:srgbClr val="FFFFFF"/>
                          </a:solidFill>
                          <a:latin typeface="微软雅黑" panose="020B0503020204020204" pitchFamily="34" charset="-122"/>
                          <a:ea typeface="微软雅黑" panose="020B0503020204020204" pitchFamily="34" charset="-122"/>
                        </a:rPr>
                        <a:t>经营活动净额</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hMerge="1">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hMerge="1">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rowSpan="2">
                  <a:txBody>
                    <a:bodyPr/>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rowSpan="2">
                  <a:txBody>
                    <a:bodyPr/>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r>
              <a:tr h="337820">
                <a:tc vMerge="1">
                  <a:tcPr>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B w="6350" cap="flat" cmpd="sng">
                      <a:solidFill>
                        <a:srgbClr val="B8CCE4"/>
                      </a:solidFill>
                      <a:prstDash val="solid"/>
                      <a:headEnd type="none" w="med" len="med"/>
                      <a:tailEnd type="none" w="med" len="med"/>
                    </a:lnB>
                  </a:tcPr>
                </a:tc>
                <a:tc>
                  <a:txBody>
                    <a:bodyPr/>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vMerge="1">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vMerge="1">
                  <a:tcPr marL="12700" marR="12700" marT="12700" anchor="ctr">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r>
              <a:tr h="21463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深圳吉酒店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2,153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2,049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2,050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2,153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2,049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2,050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244475">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星度假酒店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9.0%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-76.9%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7780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东山酒店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44.5%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44.5%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33.8%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236220">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广州吉酒店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49.0%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-859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85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8.2%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-58.1%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93675">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上海吉酒店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1,661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1,783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1,661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1,783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7.4%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1,497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2,213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-17.2%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96215">
                <a:tc>
                  <a:txBody>
                    <a:bodyPr/>
                    <a:lstStyle/>
                    <a:p>
                      <a:pPr indent="0" algn="l" fontAlgn="ctr"/>
                      <a:r>
                        <a:rPr lang="zh-CN" altLang="en-US" sz="900" b="1" i="0">
                          <a:solidFill>
                            <a:srgbClr val="000000"/>
                          </a:solidFill>
                          <a:latin typeface="微软雅黑" panose="020B0503020204020204" pitchFamily="34" charset="-122"/>
                          <a:ea typeface="微软雅黑" panose="020B0503020204020204" pitchFamily="34" charset="-122"/>
                        </a:rPr>
                        <a:t>丽思酒店</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-222.9%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-553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-222.9%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-2,043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-1,816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-1567.4%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92405">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万丽酒店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26.4%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26.4%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7325">
                <a:tc>
                  <a:txBody>
                    <a:bodyPr/>
                    <a:lstStyle/>
                    <a:p>
                      <a:pPr indent="0" algn="l" fontAlgn="ctr"/>
                      <a:r>
                        <a:rPr lang="zh-CN" altLang="en-US" sz="900" b="0" i="0">
                          <a:solidFill>
                            <a:srgbClr val="000000"/>
                          </a:solidFill>
                          <a:latin typeface="微软雅黑" panose="020B0503020204020204" pitchFamily="34" charset="-122"/>
                          <a:ea typeface="微软雅黑" panose="020B0503020204020204" pitchFamily="34" charset="-122"/>
                        </a:rPr>
                        <a:t>事业部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244475">
                <a:tc>
                  <a:txBody>
                    <a:bodyPr/>
                    <a:p>
                      <a:pPr indent="0" algn="l" fontAlgn="ctr"/>
                      <a:r>
                        <a:rPr lang="zh-CN" altLang="en-US" sz="900" b="1" i="0">
                          <a:solidFill>
                            <a:schemeClr val="tx1"/>
                          </a:solidFill>
                          <a:latin typeface="微软雅黑" panose="020B0503020204020204" pitchFamily="34" charset="-122"/>
                          <a:ea typeface="微软雅黑" panose="020B0503020204020204" pitchFamily="34" charset="-122"/>
                        </a:rPr>
                        <a:t>酒店合计</a:t>
                      </a:r>
                      <a:endParaRPr lang="zh-CN" altLang="en-US" sz="900" b="1"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3,300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2,695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-605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-18.3%</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898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2,476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1,855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-621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-25.1%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3,597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1,131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-2,466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-68.6%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283845">
                <a:tc>
                  <a:txBody>
                    <a:bodyPr/>
                    <a:lstStyle/>
                    <a:p>
                      <a:pPr indent="0" algn="l" fontAlgn="ctr"/>
                      <a:r>
                        <a:rPr lang="zh-CN" altLang="en-US" sz="900" b="1" i="0">
                          <a:solidFill>
                            <a:schemeClr val="tx1"/>
                          </a:solidFill>
                          <a:latin typeface="微软雅黑" panose="020B0503020204020204" pitchFamily="34" charset="-122"/>
                          <a:ea typeface="微软雅黑" panose="020B0503020204020204" pitchFamily="34" charset="-122"/>
                        </a:rPr>
                        <a:t>酒店不含</a:t>
                      </a:r>
                      <a:endParaRPr lang="zh-CN" altLang="en-US" sz="900" b="1" i="0">
                        <a:solidFill>
                          <a:schemeClr val="tx1"/>
                        </a:solidFill>
                        <a:latin typeface="微软雅黑" panose="020B0503020204020204" pitchFamily="34" charset="-122"/>
                        <a:ea typeface="微软雅黑" panose="020B0503020204020204" pitchFamily="34" charset="-122"/>
                      </a:endParaRPr>
                    </a:p>
                    <a:p>
                      <a:pPr indent="0" algn="l" fontAlgn="ctr"/>
                      <a:r>
                        <a:rPr lang="zh-CN" altLang="en-US" sz="900" b="1" i="0">
                          <a:solidFill>
                            <a:schemeClr val="tx1"/>
                          </a:solidFill>
                          <a:latin typeface="微软雅黑" panose="020B0503020204020204" pitchFamily="34" charset="-122"/>
                          <a:ea typeface="微软雅黑" panose="020B0503020204020204" pitchFamily="34" charset="-122"/>
                        </a:rPr>
                        <a:t>丽思</a:t>
                      </a:r>
                      <a:endParaRPr lang="zh-CN" altLang="en-US" sz="900" b="1" i="0">
                        <a:solidFill>
                          <a:schemeClr val="tx1"/>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2,712</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2,850</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3,248</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398</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FC000"/>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14.0%</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1,889</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2,026</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2,408</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 381</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FC000"/>
                    </a:solidFill>
                  </a:tcPr>
                </a:tc>
                <a:tc>
                  <a:txBody>
                    <a:bodyPr/>
                    <a:lstStyle/>
                    <a:p>
                      <a:pPr algn="r" fontAlgn="ctr"/>
                      <a:r>
                        <a:rPr lang="en-US" altLang="zh-CN" sz="900" b="1" i="1">
                          <a:solidFill>
                            <a:srgbClr val="000000"/>
                          </a:solidFill>
                          <a:latin typeface="微软雅黑" panose="020B0503020204020204" pitchFamily="34" charset="-122"/>
                          <a:ea typeface="微软雅黑" panose="020B0503020204020204" pitchFamily="34" charset="-122"/>
                        </a:rPr>
                        <a:t>18.8%</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900" b="1" i="1">
                          <a:solidFill>
                            <a:srgbClr val="000000"/>
                          </a:solidFill>
                          <a:latin typeface="微软雅黑" panose="020B0503020204020204" pitchFamily="34" charset="-122"/>
                          <a:ea typeface="微软雅黑" panose="020B0503020204020204" pitchFamily="34" charset="-122"/>
                        </a:rPr>
                        <a:t> 3,134</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900" b="1" i="1">
                          <a:solidFill>
                            <a:srgbClr val="000000"/>
                          </a:solidFill>
                          <a:latin typeface="微软雅黑" panose="020B0503020204020204" pitchFamily="34" charset="-122"/>
                          <a:ea typeface="微软雅黑" panose="020B0503020204020204" pitchFamily="34" charset="-122"/>
                        </a:rPr>
                        <a:t> 3,706</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900" b="1" i="1">
                          <a:solidFill>
                            <a:srgbClr val="000000"/>
                          </a:solidFill>
                          <a:latin typeface="微软雅黑" panose="020B0503020204020204" pitchFamily="34" charset="-122"/>
                          <a:ea typeface="微软雅黑" panose="020B0503020204020204" pitchFamily="34" charset="-122"/>
                        </a:rPr>
                        <a:t> 2,948</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900" b="1" i="1">
                          <a:solidFill>
                            <a:srgbClr val="000000"/>
                          </a:solidFill>
                          <a:latin typeface="微软雅黑" panose="020B0503020204020204" pitchFamily="34" charset="-122"/>
                          <a:ea typeface="微软雅黑" panose="020B0503020204020204" pitchFamily="34" charset="-122"/>
                        </a:rPr>
                        <a:t> -759</a:t>
                      </a:r>
                      <a:r>
                        <a:rPr lang="en-US" altLang="zh-CN" sz="900" b="1" i="1">
                          <a:solidFill>
                            <a:srgbClr val="000000"/>
                          </a:solidFill>
                          <a:latin typeface="微软雅黑" panose="020B0503020204020204" pitchFamily="34" charset="-122"/>
                          <a:ea typeface="微软雅黑" panose="020B0503020204020204" pitchFamily="34" charset="-122"/>
                        </a:rPr>
                        <a:t> </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900" b="1" i="1">
                          <a:solidFill>
                            <a:srgbClr val="000000"/>
                          </a:solidFill>
                          <a:latin typeface="微软雅黑" panose="020B0503020204020204" pitchFamily="34" charset="-122"/>
                          <a:ea typeface="微软雅黑" panose="020B0503020204020204" pitchFamily="34" charset="-122"/>
                        </a:rPr>
                        <a:t>-20.5%</a:t>
                      </a:r>
                      <a:endParaRPr lang="en-US" altLang="zh-CN" sz="9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9525" cap="flat" cmpd="sng">
                      <a:solidFill>
                        <a:schemeClr val="tx1"/>
                      </a:solidFill>
                      <a:prstDash val="solid"/>
                      <a:headEnd type="none" w="med" len="med"/>
                      <a:tailEnd type="none" w="med" len="med"/>
                    </a:lnB>
                    <a:lnTlToBr>
                      <a:noFill/>
                    </a:lnTlToBr>
                    <a:lnBlToTr>
                      <a:noFill/>
                    </a:lnBlToTr>
                    <a:solidFill>
                      <a:srgbClr val="FD877B"/>
                    </a:solidFill>
                  </a:tcPr>
                </a:tc>
              </a:tr>
              <a:tr h="203835">
                <a:tc>
                  <a:txBody>
                    <a:bodyPr/>
                    <a:lstStyle/>
                    <a:p>
                      <a:pPr indent="0" algn="l" fontAlgn="ctr">
                        <a:buNone/>
                      </a:pPr>
                      <a:r>
                        <a:rPr lang="zh-CN" sz="900" b="0">
                          <a:solidFill>
                            <a:srgbClr val="000000"/>
                          </a:solidFill>
                          <a:latin typeface="微软雅黑" panose="020B0503020204020204" pitchFamily="34" charset="-122"/>
                          <a:ea typeface="微软雅黑" panose="020B0503020204020204" pitchFamily="34" charset="-122"/>
                        </a:rPr>
                        <a:t>自营酒店</a:t>
                      </a:r>
                      <a:endParaRPr lang="zh-CN" altLang="en-US" sz="900" b="0">
                        <a:solidFill>
                          <a:srgbClr val="000000"/>
                        </a:solidFill>
                        <a:latin typeface="微软雅黑" panose="020B0503020204020204" pitchFamily="34" charset="-122"/>
                        <a:ea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12700" cap="flat" cmpd="sng">
                      <a:solidFill>
                        <a:srgbClr val="000000"/>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2,757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2,914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3,295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13.1%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1,934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2,090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2,454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17.4%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2,625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3,213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-778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-24.2%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9525" cap="flat" cmpd="sng">
                      <a:solidFill>
                        <a:schemeClr val="tx1"/>
                      </a:solidFill>
                      <a:prstDash val="solid"/>
                      <a:headEnd type="none" w="med" len="med"/>
                      <a:tailEnd type="none" w="med" len="med"/>
                    </a:lnT>
                    <a:lnB w="3175" cap="flat">
                      <a:solidFill>
                        <a:srgbClr val="B8CCE4"/>
                      </a:solidFill>
                      <a:prstDash val="solid"/>
                    </a:lnB>
                    <a:lnTlToBr>
                      <a:noFill/>
                    </a:lnTlToBr>
                    <a:lnBlToTr>
                      <a:noFill/>
                    </a:lnBlToTr>
                    <a:noFill/>
                  </a:tcPr>
                </a:tc>
              </a:tr>
              <a:tr h="245110">
                <a:tc>
                  <a:txBody>
                    <a:bodyPr/>
                    <a:lstStyle/>
                    <a:p>
                      <a:pPr indent="0" algn="l" fontAlgn="ctr">
                        <a:buNone/>
                      </a:pPr>
                      <a:r>
                        <a:rPr lang="zh-CN" sz="900" b="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委管酒店</a:t>
                      </a:r>
                      <a:endParaRPr lang="zh-CN" altLang="en-US" sz="900" b="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9525" cap="flat" cmpd="sng">
                      <a:solidFill>
                        <a:schemeClr val="tx1"/>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9525"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-600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-255.3%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-1,036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386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-600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-986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-255.3%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385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-1,303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-438.9%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3175" cap="flat">
                      <a:solidFill>
                        <a:srgbClr val="B8CCE4"/>
                      </a:solidFill>
                      <a:prstDash val="solid"/>
                    </a:lnT>
                    <a:lnB w="12700" cap="flat" cmpd="sng">
                      <a:solidFill>
                        <a:schemeClr val="tx1"/>
                      </a:solidFill>
                      <a:prstDash val="solid"/>
                      <a:headEnd type="none" w="med" len="med"/>
                      <a:tailEnd type="none" w="med" len="med"/>
                    </a:lnB>
                    <a:lnTlToBr>
                      <a:noFill/>
                    </a:lnTlToBr>
                    <a:lnBlToTr>
                      <a:noFill/>
                    </a:lnBlToTr>
                    <a:noFill/>
                  </a:tcPr>
                </a:tc>
              </a:tr>
            </a:tbl>
          </a:graphicData>
        </a:graphic>
      </p:graphicFrame>
    </p:spTree>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9250" y="238126"/>
            <a:ext cx="9072438" cy="359346"/>
          </a:xfrm>
        </p:spPr>
        <p:txBody>
          <a:bodyPr/>
          <a:lstStyle/>
          <a:p>
            <a:pPr lvl="0">
              <a:defRPr/>
            </a:pPr>
            <a:r>
              <a:rPr lang="zh-CN" altLang="en-US" b="1" noProof="0" dirty="0">
                <a:ln>
                  <a:noFill/>
                </a:ln>
                <a:effectLst/>
                <a:highlight>
                  <a:srgbClr val="000000">
                    <a:alpha val="0"/>
                  </a:srgbClr>
                </a:highlight>
                <a:uLnTx/>
                <a:uFillTx/>
                <a:sym typeface="+mn-ea"/>
              </a:rPr>
              <a:t>第三部分</a:t>
            </a:r>
            <a:r>
              <a:rPr lang="zh-CN" altLang="en-US" b="1" noProof="0" dirty="0" smtClean="0">
                <a:ln>
                  <a:noFill/>
                </a:ln>
                <a:effectLst/>
                <a:highlight>
                  <a:srgbClr val="000000">
                    <a:alpha val="0"/>
                  </a:srgbClr>
                </a:highlight>
                <a:uLnTx/>
                <a:uFillTx/>
                <a:sym typeface="+mn-ea"/>
              </a:rPr>
              <a:t>：</a:t>
            </a:r>
            <a:r>
              <a:rPr lang="en-US" altLang="zh-CN" b="1" noProof="0" dirty="0" smtClean="0">
                <a:ln>
                  <a:noFill/>
                </a:ln>
                <a:effectLst/>
                <a:highlight>
                  <a:srgbClr val="000000">
                    <a:alpha val="0"/>
                  </a:srgbClr>
                </a:highlight>
                <a:uLnTx/>
                <a:uFillTx/>
                <a:sym typeface="+mn-ea"/>
              </a:rPr>
              <a:t>2026年预算编制报告</a:t>
            </a:r>
            <a:r>
              <a:rPr lang="zh-CN" altLang="en-US" b="1" noProof="0" dirty="0">
                <a:ln>
                  <a:noFill/>
                </a:ln>
                <a:solidFill>
                  <a:prstClr val="black">
                    <a:lumMod val="75000"/>
                    <a:lumOff val="25000"/>
                  </a:prstClr>
                </a:solidFill>
                <a:effectLst/>
                <a:highlight>
                  <a:srgbClr val="000000">
                    <a:alpha val="0"/>
                  </a:srgbClr>
                </a:highlight>
                <a:uLnTx/>
                <a:uFillTx/>
                <a:sym typeface="+mn-ea"/>
              </a:rPr>
              <a:t> </a:t>
            </a:r>
            <a:r>
              <a:rPr lang="en-US" altLang="zh-CN" b="1" noProof="0" dirty="0">
                <a:ln>
                  <a:noFill/>
                </a:ln>
                <a:solidFill>
                  <a:srgbClr val="002060"/>
                </a:solidFill>
                <a:effectLst/>
                <a:highlight>
                  <a:srgbClr val="000000">
                    <a:alpha val="0"/>
                  </a:srgbClr>
                </a:highlight>
                <a:uLnTx/>
                <a:uFillTx/>
                <a:sym typeface="+mn-ea"/>
              </a:rPr>
              <a:t>–</a:t>
            </a:r>
            <a:r>
              <a:rPr lang="zh-CN" altLang="en-US" b="1" dirty="0" smtClean="0">
                <a:solidFill>
                  <a:srgbClr val="002060"/>
                </a:solidFill>
                <a:highlight>
                  <a:srgbClr val="000000">
                    <a:alpha val="0"/>
                  </a:srgbClr>
                </a:highlight>
                <a:sym typeface="+mn-ea"/>
              </a:rPr>
              <a:t>公寓预算情况</a:t>
            </a:r>
            <a:endParaRPr kumimoji="0" lang="zh-CN" altLang="en-US" sz="2800" b="1" i="0" u="none" strike="noStrike" kern="1200" cap="none" spc="-41" normalizeH="0" baseline="0" noProof="0" dirty="0" smtClean="0">
              <a:ln>
                <a:noFill/>
              </a:ln>
              <a:solidFill>
                <a:srgbClr val="002060"/>
              </a:solidFill>
              <a:effectLst/>
              <a:highlight>
                <a:srgbClr val="000000">
                  <a:alpha val="0"/>
                </a:srgbClr>
              </a:highligh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6" name="表格 5"/>
          <p:cNvGraphicFramePr/>
          <p:nvPr>
            <p:custDataLst>
              <p:tags r:id="rId1"/>
            </p:custDataLst>
          </p:nvPr>
        </p:nvGraphicFramePr>
        <p:xfrm>
          <a:off x="348615" y="813435"/>
          <a:ext cx="9121140" cy="3077210"/>
        </p:xfrm>
        <a:graphic>
          <a:graphicData uri="http://schemas.openxmlformats.org/drawingml/2006/table">
            <a:tbl>
              <a:tblPr/>
              <a:tblGrid>
                <a:gridCol w="793750"/>
                <a:gridCol w="414020"/>
                <a:gridCol w="415290"/>
                <a:gridCol w="412115"/>
                <a:gridCol w="413385"/>
                <a:gridCol w="413385"/>
                <a:gridCol w="440690"/>
                <a:gridCol w="447675"/>
                <a:gridCol w="454660"/>
                <a:gridCol w="331470"/>
                <a:gridCol w="394970"/>
                <a:gridCol w="413385"/>
                <a:gridCol w="414655"/>
                <a:gridCol w="412750"/>
                <a:gridCol w="414655"/>
                <a:gridCol w="412115"/>
                <a:gridCol w="438150"/>
                <a:gridCol w="443865"/>
                <a:gridCol w="463550"/>
                <a:gridCol w="374650"/>
                <a:gridCol w="401955"/>
              </a:tblGrid>
              <a:tr h="282575">
                <a:tc rowSpan="2">
                  <a:txBody>
                    <a:bodyPr/>
                    <a:lstStyle/>
                    <a:p>
                      <a:pPr indent="0" algn="ctr">
                        <a:buNone/>
                      </a:pPr>
                      <a:r>
                        <a:rPr lang="zh-CN" altLang="en-US" sz="8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项目</a:t>
                      </a:r>
                      <a:endParaRPr lang="zh-CN" altLang="en-US" sz="8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a:solidFill>
                        <a:schemeClr val="tx1"/>
                      </a:solidFill>
                      <a:prstDash val="soli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rgbClr val="C00000"/>
                    </a:solidFill>
                  </a:tcPr>
                </a:tc>
                <a:tc gridSpan="3">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收入含税</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rgbClr val="C00000"/>
                    </a:solidFill>
                  </a:tcPr>
                </a:tc>
                <a:tc hMerge="1">
                  <a:tcPr>
                    <a:lnT w="12700">
                      <a:solidFill>
                        <a:schemeClr val="tx1"/>
                      </a:solidFill>
                      <a:prstDash val="soli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tcPr>
                </a:tc>
                <a:tc rowSpan="2">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差异</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rgbClr val="C00000"/>
                    </a:solidFill>
                  </a:tcPr>
                </a:tc>
                <a:tc rowSpan="2">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增幅</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rgbClr val="C00000"/>
                    </a:solidFill>
                  </a:tcPr>
                </a:tc>
                <a:tc gridSpan="3">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成本费用</a:t>
                      </a:r>
                      <a:endParaRPr lang="zh-CN"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hMerge="1">
                  <a:tcPr>
                    <a:lnT w="12700">
                      <a:solidFill>
                        <a:schemeClr val="tx1"/>
                      </a:solidFill>
                      <a:prstDash val="soli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tcPr>
                </a:tc>
                <a:tc rowSpan="2">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差异</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rowSpan="2">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增幅</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gridSpan="3">
                  <a:txBody>
                    <a:bodyPr/>
                    <a:lstStyle/>
                    <a:p>
                      <a:pPr indent="0" algn="ctr">
                        <a:buNone/>
                      </a:pPr>
                      <a:r>
                        <a:rPr lang="en-US" altLang="zh-CN" sz="8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GOP</a:t>
                      </a:r>
                      <a:endParaRPr lang="en-US" altLang="zh-CN" sz="8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hMerge="1">
                  <a:tcPr>
                    <a:lnT w="12700">
                      <a:solidFill>
                        <a:schemeClr val="tx1"/>
                      </a:solidFill>
                      <a:prstDash val="soli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tcPr>
                </a:tc>
                <a:tc rowSpan="2">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差异</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rowSpan="2">
                  <a:txBody>
                    <a:bodyPr/>
                    <a:lstStyle/>
                    <a:p>
                      <a:pPr indent="0" algn="ctr">
                        <a:buNone/>
                      </a:pPr>
                      <a:r>
                        <a:rPr lang="zh-CN" sz="800" b="1">
                          <a:solidFill>
                            <a:srgbClr val="FFFFFF"/>
                          </a:solidFill>
                          <a:latin typeface="微软雅黑" panose="020B0503020204020204" pitchFamily="34" charset="-122"/>
                          <a:ea typeface="微软雅黑" panose="020B0503020204020204" pitchFamily="34" charset="-122"/>
                        </a:rPr>
                        <a:t>增幅</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12700">
                      <a:solidFill>
                        <a:schemeClr val="tx1"/>
                      </a:solidFill>
                      <a:prstDash val="soli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gridSpan="3">
                  <a:txBody>
                    <a:bodyPr/>
                    <a:p>
                      <a:pPr indent="0" algn="ctr">
                        <a:buNone/>
                      </a:pPr>
                      <a:r>
                        <a:rPr lang="en-US" altLang="zh-CN" sz="800" b="1">
                          <a:solidFill>
                            <a:srgbClr val="FFFFFF"/>
                          </a:solidFill>
                          <a:latin typeface="微软雅黑" panose="020B0503020204020204" pitchFamily="34" charset="-122"/>
                          <a:ea typeface="微软雅黑" panose="020B0503020204020204" pitchFamily="34" charset="-122"/>
                        </a:rPr>
                        <a:t>NOI</a:t>
                      </a:r>
                      <a:endParaRPr lang="en-US" altLang="zh-CN"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12700">
                      <a:solidFill>
                        <a:schemeClr val="tx1"/>
                      </a:solidFill>
                      <a:prstDash val="solid"/>
                    </a:lnT>
                    <a:lnB w="3175" cap="flat" cmpd="sng">
                      <a:solidFill>
                        <a:srgbClr val="B8CCE4"/>
                      </a:solidFill>
                      <a:prstDash val="solid"/>
                      <a:headEnd type="none" w="med" len="med"/>
                      <a:tailEnd type="none" w="med" len="med"/>
                    </a:lnB>
                    <a:lnTlToBr>
                      <a:noFill/>
                    </a:lnTlToBr>
                    <a:lnBlToTr>
                      <a:noFill/>
                    </a:lnBlToTr>
                    <a:solidFill>
                      <a:schemeClr val="accent1">
                        <a:lumMod val="75000"/>
                      </a:schemeClr>
                    </a:solidFill>
                  </a:tcPr>
                </a:tc>
                <a:tc hMerge="1">
                  <a:tcPr marL="12700" marR="12700" marT="12700" anchor="ctr">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12700">
                      <a:solidFill>
                        <a:schemeClr val="tx1"/>
                      </a:solidFill>
                      <a:prstDash val="solid"/>
                    </a:lnT>
                    <a:lnB w="3175"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hMerge="1">
                  <a:tcPr marL="12700" marR="12700" marT="12700" anchor="ctr">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12700">
                      <a:solidFill>
                        <a:schemeClr val="tx1"/>
                      </a:solidFill>
                      <a:prstDash val="solid"/>
                    </a:lnT>
                    <a:lnB w="3175"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rowSpan="2">
                  <a:txBody>
                    <a:bodyPr/>
                    <a:p>
                      <a:pPr indent="0" algn="ctr">
                        <a:buNone/>
                      </a:pPr>
                      <a:r>
                        <a:rPr lang="zh-CN" sz="800" b="1">
                          <a:solidFill>
                            <a:srgbClr val="FFFFFF"/>
                          </a:solidFill>
                          <a:latin typeface="微软雅黑" panose="020B0503020204020204" pitchFamily="34" charset="-122"/>
                          <a:ea typeface="微软雅黑" panose="020B0503020204020204" pitchFamily="34" charset="-122"/>
                        </a:rPr>
                        <a:t>差异</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12700">
                      <a:solidFill>
                        <a:schemeClr val="tx1"/>
                      </a:solidFill>
                      <a:prstDash val="solid"/>
                    </a:lnT>
                    <a:lnB w="3175" cap="flat" cmpd="sng">
                      <a:solidFill>
                        <a:srgbClr val="B8CCE4"/>
                      </a:solidFill>
                      <a:prstDash val="solid"/>
                      <a:headEnd type="none" w="med" len="med"/>
                      <a:tailEnd type="none" w="med" len="med"/>
                    </a:lnB>
                    <a:lnTlToBr>
                      <a:noFill/>
                    </a:lnTlToBr>
                    <a:lnBlToTr>
                      <a:noFill/>
                    </a:lnBlToTr>
                    <a:solidFill>
                      <a:schemeClr val="accent1">
                        <a:lumMod val="75000"/>
                      </a:schemeClr>
                    </a:solidFill>
                  </a:tcPr>
                </a:tc>
                <a:tc rowSpan="2">
                  <a:txBody>
                    <a:bodyPr/>
                    <a:p>
                      <a:pPr indent="0" algn="ctr">
                        <a:buNone/>
                      </a:pPr>
                      <a:r>
                        <a:rPr lang="zh-CN" sz="800" b="1">
                          <a:solidFill>
                            <a:srgbClr val="FFFFFF"/>
                          </a:solidFill>
                          <a:latin typeface="微软雅黑" panose="020B0503020204020204" pitchFamily="34" charset="-122"/>
                          <a:ea typeface="微软雅黑" panose="020B0503020204020204" pitchFamily="34" charset="-122"/>
                        </a:rPr>
                        <a:t>增幅</a:t>
                      </a:r>
                      <a:endParaRPr lang="zh-CN" altLang="en-US" sz="800" b="1">
                        <a:solidFill>
                          <a:srgbClr val="FFFFFF"/>
                        </a:solidFill>
                        <a:latin typeface="微软雅黑" panose="020B0503020204020204" pitchFamily="34" charset="-122"/>
                        <a:ea typeface="微软雅黑" panose="020B0503020204020204" pitchFamily="34" charset="-122"/>
                      </a:endParaRPr>
                    </a:p>
                  </a:txBody>
                  <a:tcPr marL="12700" marR="12700" marT="12700" anchor="ctr">
                    <a:lnL w="3175" cap="flat" cmpd="sng">
                      <a:solidFill>
                        <a:srgbClr val="B8CCE4"/>
                      </a:solidFill>
                      <a:prstDash val="solid"/>
                      <a:headEnd type="none" w="med" len="med"/>
                      <a:tailEnd type="none" w="med" len="med"/>
                    </a:lnL>
                    <a:lnR w="12700">
                      <a:solidFill>
                        <a:schemeClr val="tx1"/>
                      </a:solidFill>
                      <a:prstDash val="solid"/>
                    </a:lnR>
                    <a:lnT w="12700">
                      <a:solidFill>
                        <a:schemeClr val="tx1"/>
                      </a:solidFill>
                      <a:prstDash val="solid"/>
                    </a:lnT>
                    <a:lnB w="3175" cap="flat" cmpd="sng">
                      <a:solidFill>
                        <a:srgbClr val="B8CCE4"/>
                      </a:solidFill>
                      <a:prstDash val="solid"/>
                      <a:headEnd type="none" w="med" len="med"/>
                      <a:tailEnd type="none" w="med" len="med"/>
                    </a:lnB>
                    <a:lnTlToBr>
                      <a:noFill/>
                    </a:lnTlToBr>
                    <a:lnBlToTr>
                      <a:noFill/>
                    </a:lnBlToTr>
                    <a:solidFill>
                      <a:schemeClr val="accent1">
                        <a:lumMod val="75000"/>
                      </a:schemeClr>
                    </a:solidFill>
                  </a:tcPr>
                </a:tc>
              </a:tr>
              <a:tr h="346710">
                <a:tc vMerge="1">
                  <a:tcPr>
                    <a:lnL w="12700">
                      <a:solidFill>
                        <a:schemeClr val="tx1"/>
                      </a:solidFill>
                      <a:prstDash val="soli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a:txBody>
                    <a:bodyPr/>
                    <a:lstStyle/>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B w="6350" cap="flat" cmpd="sng">
                      <a:solidFill>
                        <a:srgbClr val="B8CCE4"/>
                      </a:solidFill>
                      <a:prstDash val="solid"/>
                      <a:headEnd type="none" w="med" len="med"/>
                      <a:tailEnd type="none" w="med" len="med"/>
                    </a:lnB>
                  </a:tcPr>
                </a:tc>
                <a:tc>
                  <a:txBody>
                    <a:bodyPr/>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mpd="sng">
                      <a:solidFill>
                        <a:srgbClr val="B8CCE4"/>
                      </a:solidFill>
                      <a:prstDash val="solid"/>
                    </a:lnT>
                    <a:lnB w="3175" cap="flat" cmpd="sng">
                      <a:solidFill>
                        <a:srgbClr val="B8CCE4"/>
                      </a:solidFill>
                      <a:prstDash val="solid"/>
                      <a:headEnd type="none" w="med" len="med"/>
                      <a:tailEnd type="none" w="med" len="med"/>
                    </a:lnB>
                    <a:solidFill>
                      <a:schemeClr val="accent1">
                        <a:lumMod val="75000"/>
                      </a:schemeClr>
                    </a:solidFill>
                  </a:tcPr>
                </a:tc>
                <a:tc>
                  <a:txBody>
                    <a:bodyPr/>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mpd="sng">
                      <a:solidFill>
                        <a:srgbClr val="B8CCE4"/>
                      </a:solidFill>
                      <a:prstDash val="solid"/>
                    </a:lnT>
                    <a:lnB w="3175" cap="flat" cmpd="sng">
                      <a:solidFill>
                        <a:srgbClr val="B8CCE4"/>
                      </a:solidFill>
                      <a:prstDash val="solid"/>
                      <a:headEnd type="none" w="med" len="med"/>
                      <a:tailEnd type="none" w="med" len="med"/>
                    </a:lnB>
                    <a:solidFill>
                      <a:schemeClr val="accent1">
                        <a:lumMod val="75000"/>
                      </a:schemeClr>
                    </a:solidFill>
                  </a:tcPr>
                </a:tc>
                <a:tc>
                  <a:txBody>
                    <a:bodyPr/>
                    <a:p>
                      <a:pPr indent="0" algn="ctr">
                        <a:buNone/>
                      </a:pPr>
                      <a:r>
                        <a:rPr lang="en-US"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mpd="sng">
                      <a:solidFill>
                        <a:srgbClr val="B8CCE4"/>
                      </a:solidFill>
                      <a:prstDash val="solid"/>
                    </a:lnT>
                    <a:lnB w="3175" cap="flat" cmpd="sng">
                      <a:solidFill>
                        <a:srgbClr val="B8CCE4"/>
                      </a:solidFill>
                      <a:prstDash val="solid"/>
                      <a:headEnd type="none" w="med" len="med"/>
                      <a:tailEnd type="none" w="med" len="med"/>
                    </a:lnB>
                    <a:solidFill>
                      <a:schemeClr val="accent1">
                        <a:lumMod val="75000"/>
                      </a:schemeClr>
                    </a:solidFill>
                  </a:tcPr>
                </a:tc>
                <a:tc vMerge="1">
                  <a:tcPr>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B w="3175" cap="flat" cmpd="sng">
                      <a:solidFill>
                        <a:srgbClr val="B8CCE4"/>
                      </a:solidFill>
                      <a:prstDash val="solid"/>
                      <a:headEnd type="none" w="med" len="med"/>
                      <a:tailEnd type="none" w="med" len="med"/>
                    </a:lnB>
                    <a:solidFill>
                      <a:schemeClr val="accent2">
                        <a:lumMod val="75000"/>
                      </a:schemeClr>
                    </a:solidFill>
                  </a:tcPr>
                </a:tc>
                <a:tc vMerge="1">
                  <a:tcPr>
                    <a:lnL w="3175" cap="flat" cmpd="sng">
                      <a:solidFill>
                        <a:srgbClr val="B8CCE4"/>
                      </a:solidFill>
                      <a:prstDash val="solid"/>
                      <a:headEnd type="none" w="med" len="med"/>
                      <a:tailEnd type="none" w="med" len="med"/>
                    </a:lnL>
                    <a:lnR w="12700">
                      <a:solidFill>
                        <a:schemeClr val="tx1"/>
                      </a:solidFill>
                      <a:prstDash val="solid"/>
                    </a:lnR>
                    <a:lnB w="3175" cap="flat" cmpd="sng">
                      <a:solidFill>
                        <a:srgbClr val="B8CCE4"/>
                      </a:solidFill>
                      <a:prstDash val="solid"/>
                      <a:headEnd type="none" w="med" len="med"/>
                      <a:tailEnd type="none" w="med" len="med"/>
                    </a:lnB>
                    <a:solidFill>
                      <a:schemeClr val="accent2">
                        <a:lumMod val="75000"/>
                      </a:schemeClr>
                    </a:solidFill>
                  </a:tcPr>
                </a:tc>
              </a:tr>
              <a:tr h="154940">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雅宝郡寓</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4,166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502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3,345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3,432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3,460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4305">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沙井荣御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8,316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8,633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5,874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-2,759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-32.0%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26.1%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7,157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7,571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4,884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-2,687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-35.5%</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6,493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6,907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4,220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-2,687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-38.9%</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5575">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锦居</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1,443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-8.6%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1,157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6845">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国都高尔夫</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343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4.6%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182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4305">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龙华龙岗</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593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645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129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525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4940">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福田罗湖</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892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893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714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659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705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5575">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亚金公寓</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722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697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184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-7.6%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461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476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3.2%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5575">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常州郡寓</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0.2%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256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240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237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-1.4%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178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195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2.3%</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7843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上海郡寓</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4,962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5,625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5,723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1.7%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788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879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7.8%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3,894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4,480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4,508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0.6%</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3,555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4,142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4,170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0.7%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62560">
                <a:tc>
                  <a:txBody>
                    <a:bodyPr/>
                    <a:lstStyle/>
                    <a:p>
                      <a:pPr algn="l" fontAlgn="ctr">
                        <a:buNone/>
                      </a:pPr>
                      <a:r>
                        <a:rPr lang="zh-CN" altLang="en-US" sz="800" b="1" i="1">
                          <a:solidFill>
                            <a:srgbClr val="002060"/>
                          </a:solidFill>
                          <a:latin typeface="微软雅黑" panose="020B0503020204020204" pitchFamily="34" charset="-122"/>
                          <a:ea typeface="微软雅黑" panose="020B0503020204020204" pitchFamily="34" charset="-122"/>
                          <a:sym typeface="+mn-ea"/>
                        </a:rPr>
                        <a:t>深圳北站</a:t>
                      </a:r>
                      <a:endParaRPr lang="zh-CN" altLang="en-US" sz="800" b="1" i="1">
                        <a:solidFill>
                          <a:srgbClr val="002060"/>
                        </a:solidFill>
                        <a:latin typeface="微软雅黑" panose="020B0503020204020204" pitchFamily="34" charset="-122"/>
                        <a:ea typeface="微软雅黑" panose="020B0503020204020204" pitchFamily="34" charset="-122"/>
                        <a:sym typeface="+mn-ea"/>
                      </a:endParaRPr>
                    </a:p>
                  </a:txBody>
                  <a:tcPr marL="9842" marR="9842" marT="9842"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1,062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619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154940">
                <a:tc>
                  <a:txBody>
                    <a:bodyPr/>
                    <a:lstStyle/>
                    <a:p>
                      <a:pPr algn="l" fontAlgn="ctr"/>
                      <a:r>
                        <a:rPr lang="zh-CN" altLang="en-US" sz="800" b="0" i="0">
                          <a:solidFill>
                            <a:srgbClr val="000000"/>
                          </a:solidFill>
                          <a:latin typeface="微软雅黑" panose="020B0503020204020204" pitchFamily="34" charset="-122"/>
                          <a:ea typeface="微软雅黑" panose="020B0503020204020204" pitchFamily="34" charset="-122"/>
                        </a:rPr>
                        <a:t>事业部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800" b="0" i="0">
                          <a:solidFill>
                            <a:srgbClr val="000000"/>
                          </a:solidFill>
                          <a:latin typeface="微软雅黑" panose="020B0503020204020204" pitchFamily="34" charset="-122"/>
                          <a:ea typeface="微软雅黑" panose="020B0503020204020204" pitchFamily="34" charset="-122"/>
                        </a:rPr>
                        <a:t>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-427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-438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-403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8.0%</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266700">
                <a:tc>
                  <a:txBody>
                    <a:bodyPr/>
                    <a:p>
                      <a:pPr algn="l" fontAlgn="ctr"/>
                      <a:r>
                        <a:rPr lang="zh-CN" altLang="en-US" sz="800" b="1" i="0">
                          <a:solidFill>
                            <a:srgbClr val="FF0000"/>
                          </a:solidFill>
                          <a:latin typeface="微软雅黑" panose="020B0503020204020204" pitchFamily="34" charset="-122"/>
                          <a:ea typeface="微软雅黑" panose="020B0503020204020204" pitchFamily="34" charset="-122"/>
                        </a:rPr>
                        <a:t>公寓合计</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21,885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23,083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21,423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-1,660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-7.2%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3,259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3,175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3,688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512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16.1%</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17,251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18,490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16,425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-2,065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-11.2%</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16,087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17,327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15,261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-2,066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-11.9%</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solidFill>
                      <a:srgbClr val="FD877B"/>
                    </a:solidFill>
                  </a:tcPr>
                </a:tc>
              </a:tr>
              <a:tr h="233680">
                <a:tc>
                  <a:txBody>
                    <a:bodyPr/>
                    <a:p>
                      <a:pPr algn="l" fontAlgn="ctr"/>
                      <a:r>
                        <a:rPr lang="zh-CN" altLang="en-US" sz="700" b="1" i="1">
                          <a:solidFill>
                            <a:srgbClr val="1F497D"/>
                          </a:solidFill>
                          <a:latin typeface="微软雅黑" panose="020B0503020204020204" pitchFamily="34" charset="-122"/>
                          <a:ea typeface="微软雅黑" panose="020B0503020204020204" pitchFamily="34" charset="-122"/>
                        </a:rPr>
                        <a:t>其中：现有口径</a:t>
                      </a:r>
                      <a:endParaRPr lang="zh-CN" altLang="en-US" sz="700" b="1" i="1">
                        <a:solidFill>
                          <a:srgbClr val="1F497D"/>
                        </a:solidFill>
                        <a:latin typeface="微软雅黑" panose="020B0503020204020204" pitchFamily="34" charset="-122"/>
                        <a:ea typeface="微软雅黑" panose="020B0503020204020204" pitchFamily="34" charset="-122"/>
                      </a:endParaRPr>
                    </a:p>
                  </a:txBody>
                  <a:tcPr marL="9842" marR="9842" marT="9842"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13,569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14,450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14,487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37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0.3%</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2,737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2,775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2,800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25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0.9%</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10,094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10,919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10,922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3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0.0%</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9,595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10,419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10,421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 2 </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800" b="1" i="1">
                          <a:solidFill>
                            <a:srgbClr val="000000"/>
                          </a:solidFill>
                          <a:latin typeface="微软雅黑" panose="020B0503020204020204" pitchFamily="34" charset="-122"/>
                          <a:ea typeface="微软雅黑" panose="020B0503020204020204" pitchFamily="34" charset="-122"/>
                        </a:rPr>
                        <a:t>0.0%</a:t>
                      </a:r>
                      <a:endParaRPr lang="en-US" altLang="zh-CN" sz="8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3175" cap="flat" cmpd="sng">
                      <a:solidFill>
                        <a:srgbClr val="B8CCE4"/>
                      </a:solidFill>
                      <a:prstDash val="solid"/>
                      <a:headEnd type="none" w="med" len="med"/>
                      <a:tailEnd type="none" w="med" len="med"/>
                    </a:lnB>
                    <a:lnTlToBr>
                      <a:noFill/>
                    </a:lnTlToBr>
                    <a:lnBlToTr>
                      <a:noFill/>
                    </a:lnBlToTr>
                    <a:noFill/>
                  </a:tcPr>
                </a:tc>
              </a:tr>
              <a:tr h="209550">
                <a:tc>
                  <a:txBody>
                    <a:bodyPr/>
                    <a:lstStyle/>
                    <a:p>
                      <a:pPr algn="l" fontAlgn="ctr"/>
                      <a:r>
                        <a:rPr lang="en-US" altLang="zh-CN" sz="700" b="1" i="1">
                          <a:solidFill>
                            <a:srgbClr val="1F497D"/>
                          </a:solidFill>
                          <a:latin typeface="微软雅黑" panose="020B0503020204020204" pitchFamily="34" charset="-122"/>
                          <a:ea typeface="微软雅黑" panose="020B0503020204020204" pitchFamily="34" charset="-122"/>
                        </a:rPr>
                        <a:t>     </a:t>
                      </a:r>
                      <a:r>
                        <a:rPr lang="zh-CN" altLang="en-US" sz="700" b="1" i="1">
                          <a:solidFill>
                            <a:srgbClr val="1F497D"/>
                          </a:solidFill>
                          <a:latin typeface="微软雅黑" panose="020B0503020204020204" pitchFamily="34" charset="-122"/>
                          <a:ea typeface="微软雅黑" panose="020B0503020204020204" pitchFamily="34" charset="-122"/>
                        </a:rPr>
                        <a:t>新增</a:t>
                      </a:r>
                      <a:r>
                        <a:rPr lang="en-US" altLang="zh-CN" sz="700" b="1" i="1">
                          <a:solidFill>
                            <a:srgbClr val="1F497D"/>
                          </a:solidFill>
                          <a:latin typeface="微软雅黑" panose="020B0503020204020204" pitchFamily="34" charset="-122"/>
                          <a:ea typeface="微软雅黑" panose="020B0503020204020204" pitchFamily="34" charset="-122"/>
                        </a:rPr>
                        <a:t>/</a:t>
                      </a:r>
                      <a:r>
                        <a:rPr lang="zh-CN" altLang="en-US" sz="700" b="1" i="1">
                          <a:solidFill>
                            <a:srgbClr val="1F497D"/>
                          </a:solidFill>
                          <a:latin typeface="微软雅黑" panose="020B0503020204020204" pitchFamily="34" charset="-122"/>
                          <a:ea typeface="微软雅黑" panose="020B0503020204020204" pitchFamily="34" charset="-122"/>
                        </a:rPr>
                        <a:t>改造口径</a:t>
                      </a:r>
                      <a:endParaRPr lang="zh-CN" altLang="en-US" sz="700" b="1" i="1">
                        <a:solidFill>
                          <a:srgbClr val="1F497D"/>
                        </a:solidFill>
                        <a:latin typeface="微软雅黑" panose="020B0503020204020204" pitchFamily="34" charset="-122"/>
                        <a:ea typeface="微软雅黑" panose="020B0503020204020204" pitchFamily="34" charset="-122"/>
                      </a:endParaRPr>
                    </a:p>
                  </a:txBody>
                  <a:tcPr marL="9842" marR="9842" marT="9842" marB="0" anchor="ctr" anchorCtr="0">
                    <a:lnL w="12700">
                      <a:solidFill>
                        <a:schemeClr val="tx1"/>
                      </a:solidFill>
                      <a:prstDash val="soli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8,316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8,633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6,936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-1,697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-19.7%</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522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400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888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488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121.9%</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7,157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7,571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5,503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 -2,068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lstStyle/>
                    <a:p>
                      <a:pPr algn="r" fontAlgn="ctr"/>
                      <a:r>
                        <a:rPr lang="en-US" altLang="zh-CN" sz="800" b="1" i="1">
                          <a:solidFill>
                            <a:srgbClr val="1F497D"/>
                          </a:solidFill>
                          <a:latin typeface="微软雅黑" panose="020B0503020204020204" pitchFamily="34" charset="-122"/>
                          <a:ea typeface="微软雅黑" panose="020B0503020204020204" pitchFamily="34" charset="-122"/>
                        </a:rPr>
                        <a:t>-27.3%</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6,493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6,907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4,839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 -2,068 </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3175" cap="flat" cmpd="sng">
                      <a:solidFill>
                        <a:srgbClr val="B8CCE4"/>
                      </a:solidFill>
                      <a:prstDash val="solid"/>
                      <a:headEnd type="none" w="med" len="med"/>
                      <a:tailEnd type="none" w="med" len="med"/>
                    </a:lnR>
                    <a:lnT w="3175"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c>
                  <a:txBody>
                    <a:bodyPr/>
                    <a:p>
                      <a:pPr algn="r" fontAlgn="ctr"/>
                      <a:r>
                        <a:rPr lang="en-US" altLang="zh-CN" sz="800" b="1" i="1">
                          <a:solidFill>
                            <a:srgbClr val="1F497D"/>
                          </a:solidFill>
                          <a:latin typeface="微软雅黑" panose="020B0503020204020204" pitchFamily="34" charset="-122"/>
                          <a:ea typeface="微软雅黑" panose="020B0503020204020204" pitchFamily="34" charset="-122"/>
                        </a:rPr>
                        <a:t>-29.9%</a:t>
                      </a:r>
                      <a:endParaRPr lang="en-US" altLang="zh-CN" sz="8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rgbClr val="B8CCE4"/>
                      </a:solidFill>
                      <a:prstDash val="solid"/>
                      <a:headEnd type="none" w="med" len="med"/>
                      <a:tailEnd type="none" w="med" len="med"/>
                    </a:lnL>
                    <a:lnR w="12700">
                      <a:solidFill>
                        <a:schemeClr val="tx1"/>
                      </a:solidFill>
                      <a:prstDash val="solid"/>
                    </a:lnR>
                    <a:lnT w="3175" cap="flat" cmpd="sng">
                      <a:solidFill>
                        <a:srgbClr val="B8CCE4"/>
                      </a:solidFill>
                      <a:prstDash val="solid"/>
                      <a:headEnd type="none" w="med" len="med"/>
                      <a:tailEnd type="none" w="med" len="med"/>
                    </a:lnT>
                    <a:lnB w="12700">
                      <a:solidFill>
                        <a:schemeClr val="tx1"/>
                      </a:solidFill>
                      <a:prstDash val="solid"/>
                    </a:lnB>
                    <a:lnTlToBr>
                      <a:noFill/>
                    </a:lnTlToBr>
                    <a:lnBlToTr>
                      <a:noFill/>
                    </a:lnBlToTr>
                    <a:solidFill>
                      <a:schemeClr val="bg1"/>
                    </a:solidFill>
                  </a:tcPr>
                </a:tc>
              </a:tr>
            </a:tbl>
          </a:graphicData>
        </a:graphic>
      </p:graphicFrame>
      <p:sp>
        <p:nvSpPr>
          <p:cNvPr id="3" name="文本框 2"/>
          <p:cNvSpPr txBox="1"/>
          <p:nvPr/>
        </p:nvSpPr>
        <p:spPr>
          <a:xfrm>
            <a:off x="276225" y="3962400"/>
            <a:ext cx="9316720" cy="1601470"/>
          </a:xfrm>
          <a:prstGeom prst="rect">
            <a:avLst/>
          </a:prstGeom>
          <a:noFill/>
        </p:spPr>
        <p:txBody>
          <a:bodyPr wrap="square" rtlCol="0" anchor="t">
            <a:noAutofit/>
          </a:bodyPr>
          <a:p>
            <a:r>
              <a:rPr lang="zh-CN" altLang="en-US" sz="900" b="1" noProof="0" dirty="0">
                <a:ln>
                  <a:noFill/>
                </a:ln>
                <a:solidFill>
                  <a:srgbClr val="C00000"/>
                </a:solidFill>
                <a:effectLst/>
                <a:uLnTx/>
                <a:uFillTx/>
                <a:latin typeface="微软雅黑" panose="020B0503020204020204" pitchFamily="34" charset="-122"/>
                <a:ea typeface="微软雅黑" panose="020B0503020204020204" pitchFamily="34" charset="-122"/>
                <a:sym typeface="+mn-ea"/>
              </a:rPr>
              <a:t>收入预算</a:t>
            </a:r>
            <a:r>
              <a:rPr lang="en-US" altLang="zh-CN" sz="900" b="1" noProof="0" dirty="0">
                <a:ln>
                  <a:noFill/>
                </a:ln>
                <a:solidFill>
                  <a:srgbClr val="C00000"/>
                </a:solidFill>
                <a:effectLst/>
                <a:uLnTx/>
                <a:uFillTx/>
                <a:latin typeface="微软雅黑" panose="020B0503020204020204" pitchFamily="34" charset="-122"/>
                <a:ea typeface="微软雅黑" panose="020B0503020204020204" pitchFamily="34" charset="-122"/>
                <a:sym typeface="+mn-ea"/>
              </a:rPr>
              <a:t>21,423</a:t>
            </a:r>
            <a:r>
              <a:rPr lang="zh-CN" altLang="en-US" sz="900" b="1" noProof="0" dirty="0">
                <a:ln>
                  <a:noFill/>
                </a:ln>
                <a:solidFill>
                  <a:srgbClr val="C00000"/>
                </a:solidFill>
                <a:effectLst/>
                <a:uLnTx/>
                <a:uFillTx/>
                <a:latin typeface="微软雅黑" panose="020B0503020204020204" pitchFamily="34" charset="-122"/>
                <a:ea typeface="微软雅黑" panose="020B0503020204020204" pitchFamily="34" charset="-122"/>
                <a:sym typeface="+mn-ea"/>
              </a:rPr>
              <a:t>万，</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同比下降</a:t>
            </a: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1,660</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万，降幅</a:t>
            </a: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7.2%</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a:t>
            </a:r>
            <a:r>
              <a:rPr lang="en-US" altLang="zh-CN" sz="900" b="1" noProof="0" dirty="0">
                <a:ln>
                  <a:noFill/>
                </a:ln>
                <a:solidFill>
                  <a:srgbClr val="C00000"/>
                </a:solidFill>
                <a:effectLst/>
                <a:uLnTx/>
                <a:uFillTx/>
                <a:latin typeface="微软雅黑" panose="020B0503020204020204" pitchFamily="34" charset="-122"/>
                <a:ea typeface="微软雅黑" panose="020B0503020204020204" pitchFamily="34" charset="-122"/>
                <a:sym typeface="+mn-ea"/>
              </a:rPr>
              <a:t>NOI15,261</a:t>
            </a:r>
            <a:r>
              <a:rPr lang="zh-CN" altLang="en-US" sz="900" b="1" noProof="0" dirty="0">
                <a:ln>
                  <a:noFill/>
                </a:ln>
                <a:solidFill>
                  <a:srgbClr val="C00000"/>
                </a:solidFill>
                <a:effectLst/>
                <a:uLnTx/>
                <a:uFillTx/>
                <a:latin typeface="微软雅黑" panose="020B0503020204020204" pitchFamily="34" charset="-122"/>
                <a:ea typeface="微软雅黑" panose="020B0503020204020204" pitchFamily="34" charset="-122"/>
                <a:sym typeface="+mn-ea"/>
              </a:rPr>
              <a:t>万，</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下降</a:t>
            </a: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2,066</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万，降幅</a:t>
            </a:r>
            <a:r>
              <a:rPr lang="en-US" altLang="zh-CN"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11.9%</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a:t>
            </a:r>
            <a:endPar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endParaRPr>
          </a:p>
          <a:p>
            <a:endPar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endParaRPr>
          </a:p>
          <a:p>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沙井</a:t>
            </a:r>
            <a:r>
              <a:rPr lang="zh-CN" altLang="en-US" sz="900" b="1">
                <a:solidFill>
                  <a:srgbClr val="000000"/>
                </a:solidFill>
                <a:latin typeface="微软雅黑" panose="020B0503020204020204" pitchFamily="34" charset="-122"/>
                <a:ea typeface="微软雅黑" panose="020B0503020204020204" pitchFamily="34" charset="-122"/>
                <a:sym typeface="+mn-ea"/>
              </a:rPr>
              <a:t>荣御</a:t>
            </a:r>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6</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年收回大户型自营</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424</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套，自营租金单价</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50</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元</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平，平均出租率</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84.6%</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，收入同比减少</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2,759</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万；成本费用增加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105</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万（大户型不续签，全部自营后运营及营销费用上涨，增加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4</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个人员编制，人工增加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47</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万，营销费增加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41</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万（其中预留了</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10</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万的中介费及</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19.9</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万的团队佣金），其余运营成本基本与</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25</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年持平）</a:t>
            </a:r>
            <a:endPar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endParaRPr>
          </a:p>
          <a:p>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锦居：</a:t>
            </a:r>
            <a:r>
              <a:rPr lang="zh-CN" altLang="en-US" sz="900" dirty="0">
                <a:solidFill>
                  <a:prstClr val="black"/>
                </a:solidFill>
                <a:latin typeface="微软雅黑" panose="020B0503020204020204" pitchFamily="34" charset="-122"/>
                <a:ea typeface="微软雅黑" panose="020B0503020204020204" pitchFamily="34" charset="-122"/>
                <a:sym typeface="+mn-ea"/>
              </a:rPr>
              <a:t>与XH锦居店一墙之隔的创意园启动旧改，明年施工噪音影响极大，出租率下降至</a:t>
            </a:r>
            <a:r>
              <a:rPr lang="en-US" altLang="zh-CN" sz="900" dirty="0">
                <a:solidFill>
                  <a:prstClr val="black"/>
                </a:solidFill>
                <a:latin typeface="微软雅黑" panose="020B0503020204020204" pitchFamily="34" charset="-122"/>
                <a:ea typeface="微软雅黑" panose="020B0503020204020204" pitchFamily="34" charset="-122"/>
                <a:sym typeface="+mn-ea"/>
              </a:rPr>
              <a:t>87%</a:t>
            </a:r>
            <a:r>
              <a:rPr lang="zh-CN" altLang="en-US" sz="900" dirty="0">
                <a:solidFill>
                  <a:prstClr val="black"/>
                </a:solidFill>
                <a:latin typeface="微软雅黑" panose="020B0503020204020204" pitchFamily="34" charset="-122"/>
                <a:ea typeface="微软雅黑" panose="020B0503020204020204" pitchFamily="34" charset="-122"/>
                <a:sym typeface="+mn-ea"/>
              </a:rPr>
              <a:t>，收入同比减少</a:t>
            </a:r>
            <a:r>
              <a:rPr lang="en-US" altLang="zh-CN" sz="900" dirty="0">
                <a:solidFill>
                  <a:prstClr val="black"/>
                </a:solidFill>
                <a:latin typeface="微软雅黑" panose="020B0503020204020204" pitchFamily="34" charset="-122"/>
                <a:ea typeface="微软雅黑" panose="020B0503020204020204" pitchFamily="34" charset="-122"/>
                <a:sym typeface="+mn-ea"/>
              </a:rPr>
              <a:t>118</a:t>
            </a:r>
            <a:r>
              <a:rPr lang="zh-CN" altLang="en-US" sz="900" dirty="0">
                <a:solidFill>
                  <a:prstClr val="black"/>
                </a:solidFill>
                <a:latin typeface="微软雅黑" panose="020B0503020204020204" pitchFamily="34" charset="-122"/>
                <a:ea typeface="微软雅黑" panose="020B0503020204020204" pitchFamily="34" charset="-122"/>
                <a:sym typeface="+mn-ea"/>
              </a:rPr>
              <a:t>万；</a:t>
            </a:r>
            <a:endParaRPr lang="zh-CN" altLang="en-US" sz="900" dirty="0">
              <a:solidFill>
                <a:prstClr val="black"/>
              </a:solidFill>
              <a:latin typeface="微软雅黑" panose="020B0503020204020204" pitchFamily="34" charset="-122"/>
              <a:ea typeface="微软雅黑" panose="020B0503020204020204" pitchFamily="34" charset="-122"/>
              <a:sym typeface="+mn-ea"/>
            </a:endParaRPr>
          </a:p>
          <a:p>
            <a:r>
              <a:rPr lang="zh-CN" altLang="en-US" sz="900" b="1"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上海郡寓：</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出租率</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94.5%</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1.8%</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，收入增加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98</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万；成本费用</a:t>
            </a:r>
            <a:r>
              <a:rPr 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64</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万（其中营销中介费整体下降</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11</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 26</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年物业成本维修费等因上海大项目维保到期增加</a:t>
            </a:r>
            <a:r>
              <a:rPr lang="en-US" altLang="zh-CN"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89</a:t>
            </a:r>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万）；</a:t>
            </a:r>
            <a:endPar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endParaRPr>
          </a:p>
          <a:p>
            <a:r>
              <a:rPr lang="zh-CN" altLang="en-US" sz="900" b="1" dirty="0">
                <a:solidFill>
                  <a:prstClr val="black"/>
                </a:solidFill>
                <a:latin typeface="微软雅黑" panose="020B0503020204020204" pitchFamily="34" charset="-122"/>
                <a:ea typeface="微软雅黑" panose="020B0503020204020204" pitchFamily="34" charset="-122"/>
                <a:sym typeface="+mn-ea"/>
              </a:rPr>
              <a:t>深圳北站</a:t>
            </a:r>
            <a:r>
              <a:rPr lang="zh-CN" altLang="en-US" sz="900" dirty="0">
                <a:solidFill>
                  <a:prstClr val="black"/>
                </a:solidFill>
                <a:latin typeface="微软雅黑" panose="020B0503020204020204" pitchFamily="34" charset="-122"/>
                <a:ea typeface="微软雅黑" panose="020B0503020204020204" pitchFamily="34" charset="-122"/>
                <a:sym typeface="+mn-ea"/>
              </a:rPr>
              <a:t>：按照高区及低区分三个标段交付，第一批</a:t>
            </a:r>
            <a:r>
              <a:rPr lang="en-US" altLang="zh-CN" sz="900" dirty="0">
                <a:solidFill>
                  <a:prstClr val="black"/>
                </a:solidFill>
                <a:latin typeface="微软雅黑" panose="020B0503020204020204" pitchFamily="34" charset="-122"/>
                <a:ea typeface="微软雅黑" panose="020B0503020204020204" pitchFamily="34" charset="-122"/>
                <a:sym typeface="+mn-ea"/>
              </a:rPr>
              <a:t>5</a:t>
            </a:r>
            <a:r>
              <a:rPr lang="zh-CN" altLang="en-US" sz="900" dirty="0">
                <a:solidFill>
                  <a:prstClr val="black"/>
                </a:solidFill>
                <a:latin typeface="微软雅黑" panose="020B0503020204020204" pitchFamily="34" charset="-122"/>
                <a:ea typeface="微软雅黑" panose="020B0503020204020204" pitchFamily="34" charset="-122"/>
                <a:sym typeface="+mn-ea"/>
              </a:rPr>
              <a:t>月</a:t>
            </a:r>
            <a:r>
              <a:rPr lang="en-US" altLang="zh-CN" sz="900" dirty="0">
                <a:solidFill>
                  <a:prstClr val="black"/>
                </a:solidFill>
                <a:latin typeface="微软雅黑" panose="020B0503020204020204" pitchFamily="34" charset="-122"/>
                <a:ea typeface="微软雅黑" panose="020B0503020204020204" pitchFamily="34" charset="-122"/>
                <a:sym typeface="+mn-ea"/>
              </a:rPr>
              <a:t>15</a:t>
            </a:r>
            <a:r>
              <a:rPr lang="zh-CN" altLang="en-US" sz="900" dirty="0">
                <a:solidFill>
                  <a:prstClr val="black"/>
                </a:solidFill>
                <a:latin typeface="微软雅黑" panose="020B0503020204020204" pitchFamily="34" charset="-122"/>
                <a:ea typeface="微软雅黑" panose="020B0503020204020204" pitchFamily="34" charset="-122"/>
                <a:sym typeface="+mn-ea"/>
              </a:rPr>
              <a:t>日开业低区</a:t>
            </a:r>
            <a:r>
              <a:rPr lang="en-US" altLang="zh-CN" sz="900" dirty="0">
                <a:solidFill>
                  <a:prstClr val="black"/>
                </a:solidFill>
                <a:latin typeface="微软雅黑" panose="020B0503020204020204" pitchFamily="34" charset="-122"/>
                <a:ea typeface="微软雅黑" panose="020B0503020204020204" pitchFamily="34" charset="-122"/>
                <a:sym typeface="+mn-ea"/>
              </a:rPr>
              <a:t>270</a:t>
            </a:r>
            <a:r>
              <a:rPr lang="zh-CN" altLang="en-US" sz="900" dirty="0">
                <a:solidFill>
                  <a:prstClr val="black"/>
                </a:solidFill>
                <a:latin typeface="微软雅黑" panose="020B0503020204020204" pitchFamily="34" charset="-122"/>
                <a:ea typeface="微软雅黑" panose="020B0503020204020204" pitchFamily="34" charset="-122"/>
                <a:sym typeface="+mn-ea"/>
              </a:rPr>
              <a:t>间，第二批</a:t>
            </a:r>
            <a:r>
              <a:rPr lang="en-US" altLang="zh-CN" sz="900" dirty="0">
                <a:solidFill>
                  <a:prstClr val="black"/>
                </a:solidFill>
                <a:latin typeface="微软雅黑" panose="020B0503020204020204" pitchFamily="34" charset="-122"/>
                <a:ea typeface="微软雅黑" panose="020B0503020204020204" pitchFamily="34" charset="-122"/>
                <a:sym typeface="+mn-ea"/>
              </a:rPr>
              <a:t>7</a:t>
            </a:r>
            <a:r>
              <a:rPr lang="zh-CN" altLang="en-US" sz="900" dirty="0">
                <a:solidFill>
                  <a:prstClr val="black"/>
                </a:solidFill>
                <a:latin typeface="微软雅黑" panose="020B0503020204020204" pitchFamily="34" charset="-122"/>
                <a:ea typeface="微软雅黑" panose="020B0503020204020204" pitchFamily="34" charset="-122"/>
                <a:sym typeface="+mn-ea"/>
              </a:rPr>
              <a:t>月</a:t>
            </a:r>
            <a:r>
              <a:rPr lang="en-US" altLang="zh-CN" sz="900" dirty="0">
                <a:solidFill>
                  <a:prstClr val="black"/>
                </a:solidFill>
                <a:latin typeface="微软雅黑" panose="020B0503020204020204" pitchFamily="34" charset="-122"/>
                <a:ea typeface="微软雅黑" panose="020B0503020204020204" pitchFamily="34" charset="-122"/>
                <a:sym typeface="+mn-ea"/>
              </a:rPr>
              <a:t>15</a:t>
            </a:r>
            <a:r>
              <a:rPr lang="zh-CN" altLang="en-US" sz="900" dirty="0">
                <a:solidFill>
                  <a:prstClr val="black"/>
                </a:solidFill>
                <a:latin typeface="微软雅黑" panose="020B0503020204020204" pitchFamily="34" charset="-122"/>
                <a:ea typeface="微软雅黑" panose="020B0503020204020204" pitchFamily="34" charset="-122"/>
                <a:sym typeface="+mn-ea"/>
              </a:rPr>
              <a:t>日开业高区</a:t>
            </a:r>
            <a:r>
              <a:rPr lang="en-US" altLang="zh-CN" sz="900" dirty="0">
                <a:solidFill>
                  <a:prstClr val="black"/>
                </a:solidFill>
                <a:latin typeface="微软雅黑" panose="020B0503020204020204" pitchFamily="34" charset="-122"/>
                <a:ea typeface="微软雅黑" panose="020B0503020204020204" pitchFamily="34" charset="-122"/>
                <a:sym typeface="+mn-ea"/>
              </a:rPr>
              <a:t>240</a:t>
            </a:r>
            <a:r>
              <a:rPr lang="zh-CN" altLang="en-US" sz="900" dirty="0">
                <a:solidFill>
                  <a:prstClr val="black"/>
                </a:solidFill>
                <a:latin typeface="微软雅黑" panose="020B0503020204020204" pitchFamily="34" charset="-122"/>
                <a:ea typeface="微软雅黑" panose="020B0503020204020204" pitchFamily="34" charset="-122"/>
                <a:sym typeface="+mn-ea"/>
              </a:rPr>
              <a:t>间，第三批</a:t>
            </a:r>
            <a:r>
              <a:rPr lang="en-US" altLang="zh-CN" sz="900" dirty="0">
                <a:solidFill>
                  <a:prstClr val="black"/>
                </a:solidFill>
                <a:latin typeface="微软雅黑" panose="020B0503020204020204" pitchFamily="34" charset="-122"/>
                <a:ea typeface="微软雅黑" panose="020B0503020204020204" pitchFamily="34" charset="-122"/>
                <a:sym typeface="+mn-ea"/>
              </a:rPr>
              <a:t>7</a:t>
            </a:r>
            <a:r>
              <a:rPr lang="zh-CN" altLang="en-US" sz="900" dirty="0">
                <a:solidFill>
                  <a:prstClr val="black"/>
                </a:solidFill>
                <a:latin typeface="微软雅黑" panose="020B0503020204020204" pitchFamily="34" charset="-122"/>
                <a:ea typeface="微软雅黑" panose="020B0503020204020204" pitchFamily="34" charset="-122"/>
                <a:sym typeface="+mn-ea"/>
              </a:rPr>
              <a:t>月</a:t>
            </a:r>
            <a:r>
              <a:rPr lang="en-US" altLang="zh-CN" sz="900" dirty="0">
                <a:solidFill>
                  <a:prstClr val="black"/>
                </a:solidFill>
                <a:latin typeface="微软雅黑" panose="020B0503020204020204" pitchFamily="34" charset="-122"/>
                <a:ea typeface="微软雅黑" panose="020B0503020204020204" pitchFamily="34" charset="-122"/>
                <a:sym typeface="+mn-ea"/>
              </a:rPr>
              <a:t>30</a:t>
            </a:r>
            <a:r>
              <a:rPr lang="zh-CN" altLang="en-US" sz="900" dirty="0">
                <a:solidFill>
                  <a:prstClr val="black"/>
                </a:solidFill>
                <a:latin typeface="微软雅黑" panose="020B0503020204020204" pitchFamily="34" charset="-122"/>
                <a:ea typeface="微软雅黑" panose="020B0503020204020204" pitchFamily="34" charset="-122"/>
                <a:sym typeface="+mn-ea"/>
              </a:rPr>
              <a:t>日开业两层酒店</a:t>
            </a:r>
            <a:r>
              <a:rPr lang="en-US" altLang="zh-CN" sz="900" dirty="0">
                <a:solidFill>
                  <a:prstClr val="black"/>
                </a:solidFill>
                <a:latin typeface="微软雅黑" panose="020B0503020204020204" pitchFamily="34" charset="-122"/>
                <a:ea typeface="微软雅黑" panose="020B0503020204020204" pitchFamily="34" charset="-122"/>
                <a:sym typeface="+mn-ea"/>
              </a:rPr>
              <a:t>46</a:t>
            </a:r>
            <a:r>
              <a:rPr lang="zh-CN" altLang="en-US" sz="900" dirty="0">
                <a:solidFill>
                  <a:prstClr val="black"/>
                </a:solidFill>
                <a:latin typeface="微软雅黑" panose="020B0503020204020204" pitchFamily="34" charset="-122"/>
                <a:ea typeface="微软雅黑" panose="020B0503020204020204" pitchFamily="34" charset="-122"/>
                <a:sym typeface="+mn-ea"/>
              </a:rPr>
              <a:t>间，合计</a:t>
            </a:r>
            <a:r>
              <a:rPr lang="en-US" altLang="zh-CN" sz="900" dirty="0">
                <a:solidFill>
                  <a:prstClr val="black"/>
                </a:solidFill>
                <a:latin typeface="微软雅黑" panose="020B0503020204020204" pitchFamily="34" charset="-122"/>
                <a:ea typeface="微软雅黑" panose="020B0503020204020204" pitchFamily="34" charset="-122"/>
                <a:sym typeface="+mn-ea"/>
              </a:rPr>
              <a:t>556</a:t>
            </a:r>
            <a:r>
              <a:rPr lang="zh-CN" altLang="en-US" sz="900" dirty="0">
                <a:solidFill>
                  <a:prstClr val="black"/>
                </a:solidFill>
                <a:latin typeface="微软雅黑" panose="020B0503020204020204" pitchFamily="34" charset="-122"/>
                <a:ea typeface="微软雅黑" panose="020B0503020204020204" pitchFamily="34" charset="-122"/>
                <a:sym typeface="+mn-ea"/>
              </a:rPr>
              <a:t>间（含</a:t>
            </a:r>
            <a:r>
              <a:rPr lang="en-US" altLang="zh-CN" sz="900" dirty="0">
                <a:solidFill>
                  <a:prstClr val="black"/>
                </a:solidFill>
                <a:latin typeface="微软雅黑" panose="020B0503020204020204" pitchFamily="34" charset="-122"/>
                <a:ea typeface="微软雅黑" panose="020B0503020204020204" pitchFamily="34" charset="-122"/>
                <a:sym typeface="+mn-ea"/>
              </a:rPr>
              <a:t>6</a:t>
            </a:r>
            <a:r>
              <a:rPr lang="zh-CN" altLang="en-US" sz="900" dirty="0">
                <a:solidFill>
                  <a:prstClr val="black"/>
                </a:solidFill>
                <a:latin typeface="微软雅黑" panose="020B0503020204020204" pitchFamily="34" charset="-122"/>
                <a:ea typeface="微软雅黑" panose="020B0503020204020204" pitchFamily="34" charset="-122"/>
                <a:sym typeface="+mn-ea"/>
              </a:rPr>
              <a:t>间员工宿舍）。</a:t>
            </a:r>
            <a:r>
              <a:rPr lang="en-US" altLang="zh-CN" sz="900" dirty="0">
                <a:solidFill>
                  <a:prstClr val="black"/>
                </a:solidFill>
                <a:latin typeface="微软雅黑" panose="020B0503020204020204" pitchFamily="34" charset="-122"/>
                <a:ea typeface="微软雅黑" panose="020B0503020204020204" pitchFamily="34" charset="-122"/>
                <a:sym typeface="+mn-ea"/>
              </a:rPr>
              <a:t>26</a:t>
            </a:r>
            <a:r>
              <a:rPr lang="zh-CN" altLang="en-US" sz="900" dirty="0">
                <a:solidFill>
                  <a:prstClr val="black"/>
                </a:solidFill>
                <a:latin typeface="微软雅黑" panose="020B0503020204020204" pitchFamily="34" charset="-122"/>
                <a:ea typeface="微软雅黑" panose="020B0503020204020204" pitchFamily="34" charset="-122"/>
                <a:sym typeface="+mn-ea"/>
              </a:rPr>
              <a:t>年平均出租率</a:t>
            </a:r>
            <a:r>
              <a:rPr lang="en-US" altLang="zh-CN" sz="900" dirty="0">
                <a:solidFill>
                  <a:prstClr val="black"/>
                </a:solidFill>
                <a:latin typeface="微软雅黑" panose="020B0503020204020204" pitchFamily="34" charset="-122"/>
                <a:ea typeface="微软雅黑" panose="020B0503020204020204" pitchFamily="34" charset="-122"/>
                <a:sym typeface="+mn-ea"/>
              </a:rPr>
              <a:t>56.2%</a:t>
            </a:r>
            <a:r>
              <a:rPr lang="zh-CN" altLang="en-US" sz="900" dirty="0">
                <a:solidFill>
                  <a:prstClr val="black"/>
                </a:solidFill>
                <a:latin typeface="微软雅黑" panose="020B0503020204020204" pitchFamily="34" charset="-122"/>
                <a:ea typeface="微软雅黑" panose="020B0503020204020204" pitchFamily="34" charset="-122"/>
                <a:sym typeface="+mn-ea"/>
              </a:rPr>
              <a:t>，期末出租率</a:t>
            </a:r>
            <a:r>
              <a:rPr lang="en-US" altLang="zh-CN" sz="900" dirty="0">
                <a:solidFill>
                  <a:prstClr val="black"/>
                </a:solidFill>
                <a:latin typeface="微软雅黑" panose="020B0503020204020204" pitchFamily="34" charset="-122"/>
                <a:ea typeface="微软雅黑" panose="020B0503020204020204" pitchFamily="34" charset="-122"/>
                <a:sym typeface="+mn-ea"/>
              </a:rPr>
              <a:t>85%</a:t>
            </a:r>
            <a:r>
              <a:rPr lang="zh-CN" altLang="en-US" sz="900" dirty="0">
                <a:solidFill>
                  <a:prstClr val="black"/>
                </a:solidFill>
                <a:latin typeface="微软雅黑" panose="020B0503020204020204" pitchFamily="34" charset="-122"/>
                <a:ea typeface="微软雅黑" panose="020B0503020204020204" pitchFamily="34" charset="-122"/>
                <a:sym typeface="+mn-ea"/>
              </a:rPr>
              <a:t>，平均房价</a:t>
            </a:r>
            <a:r>
              <a:rPr lang="en-US" altLang="zh-CN" sz="900" dirty="0">
                <a:solidFill>
                  <a:prstClr val="black"/>
                </a:solidFill>
                <a:latin typeface="微软雅黑" panose="020B0503020204020204" pitchFamily="34" charset="-122"/>
                <a:ea typeface="微软雅黑" panose="020B0503020204020204" pitchFamily="34" charset="-122"/>
                <a:sym typeface="+mn-ea"/>
              </a:rPr>
              <a:t>4,420</a:t>
            </a:r>
            <a:r>
              <a:rPr lang="zh-CN" altLang="en-US" sz="900" dirty="0">
                <a:solidFill>
                  <a:prstClr val="black"/>
                </a:solidFill>
                <a:latin typeface="微软雅黑" panose="020B0503020204020204" pitchFamily="34" charset="-122"/>
                <a:ea typeface="微软雅黑" panose="020B0503020204020204" pitchFamily="34" charset="-122"/>
                <a:sym typeface="+mn-ea"/>
              </a:rPr>
              <a:t>元</a:t>
            </a:r>
            <a:r>
              <a:rPr lang="en-US" altLang="zh-CN" sz="900" dirty="0">
                <a:solidFill>
                  <a:prstClr val="black"/>
                </a:solidFill>
                <a:latin typeface="微软雅黑" panose="020B0503020204020204" pitchFamily="34" charset="-122"/>
                <a:ea typeface="微软雅黑" panose="020B0503020204020204" pitchFamily="34" charset="-122"/>
                <a:sym typeface="+mn-ea"/>
              </a:rPr>
              <a:t>/</a:t>
            </a:r>
            <a:r>
              <a:rPr lang="zh-CN" altLang="en-US" sz="900" dirty="0">
                <a:solidFill>
                  <a:prstClr val="black"/>
                </a:solidFill>
                <a:latin typeface="微软雅黑" panose="020B0503020204020204" pitchFamily="34" charset="-122"/>
                <a:ea typeface="微软雅黑" panose="020B0503020204020204" pitchFamily="34" charset="-122"/>
                <a:sym typeface="+mn-ea"/>
              </a:rPr>
              <a:t>月；成本费用</a:t>
            </a:r>
            <a:r>
              <a:rPr lang="en-US" altLang="zh-CN" sz="900" dirty="0">
                <a:solidFill>
                  <a:prstClr val="black"/>
                </a:solidFill>
                <a:latin typeface="微软雅黑" panose="020B0503020204020204" pitchFamily="34" charset="-122"/>
                <a:ea typeface="微软雅黑" panose="020B0503020204020204" pitchFamily="34" charset="-122"/>
                <a:sym typeface="+mn-ea"/>
              </a:rPr>
              <a:t>383</a:t>
            </a:r>
            <a:r>
              <a:rPr lang="zh-CN" altLang="en-US" sz="900" dirty="0">
                <a:solidFill>
                  <a:prstClr val="black"/>
                </a:solidFill>
                <a:latin typeface="微软雅黑" panose="020B0503020204020204" pitchFamily="34" charset="-122"/>
                <a:ea typeface="微软雅黑" panose="020B0503020204020204" pitchFamily="34" charset="-122"/>
                <a:sym typeface="+mn-ea"/>
              </a:rPr>
              <a:t>万（主要是</a:t>
            </a:r>
            <a:r>
              <a:rPr lang="en-US" altLang="zh-CN" sz="900" dirty="0">
                <a:solidFill>
                  <a:prstClr val="black"/>
                </a:solidFill>
                <a:latin typeface="微软雅黑" panose="020B0503020204020204" pitchFamily="34" charset="-122"/>
                <a:ea typeface="微软雅黑" panose="020B0503020204020204" pitchFamily="34" charset="-122"/>
                <a:sym typeface="+mn-ea"/>
              </a:rPr>
              <a:t>134</a:t>
            </a:r>
            <a:r>
              <a:rPr lang="zh-CN" altLang="en-US" sz="900" dirty="0">
                <a:solidFill>
                  <a:prstClr val="black"/>
                </a:solidFill>
                <a:latin typeface="微软雅黑" panose="020B0503020204020204" pitchFamily="34" charset="-122"/>
                <a:ea typeface="微软雅黑" panose="020B0503020204020204" pitchFamily="34" charset="-122"/>
                <a:sym typeface="+mn-ea"/>
              </a:rPr>
              <a:t>万物业费用，</a:t>
            </a:r>
            <a:r>
              <a:rPr lang="en-US" altLang="zh-CN" sz="900" dirty="0">
                <a:solidFill>
                  <a:prstClr val="black"/>
                </a:solidFill>
                <a:latin typeface="微软雅黑" panose="020B0503020204020204" pitchFamily="34" charset="-122"/>
                <a:ea typeface="微软雅黑" panose="020B0503020204020204" pitchFamily="34" charset="-122"/>
                <a:sym typeface="+mn-ea"/>
              </a:rPr>
              <a:t>4.2</a:t>
            </a:r>
            <a:r>
              <a:rPr lang="zh-CN" altLang="en-US" sz="900" dirty="0">
                <a:solidFill>
                  <a:prstClr val="black"/>
                </a:solidFill>
                <a:latin typeface="微软雅黑" panose="020B0503020204020204" pitchFamily="34" charset="-122"/>
                <a:ea typeface="微软雅黑" panose="020B0503020204020204" pitchFamily="34" charset="-122"/>
                <a:sym typeface="+mn-ea"/>
              </a:rPr>
              <a:t>元</a:t>
            </a:r>
            <a:r>
              <a:rPr lang="en-US" altLang="zh-CN" sz="900" dirty="0">
                <a:solidFill>
                  <a:prstClr val="black"/>
                </a:solidFill>
                <a:latin typeface="微软雅黑" panose="020B0503020204020204" pitchFamily="34" charset="-122"/>
                <a:ea typeface="微软雅黑" panose="020B0503020204020204" pitchFamily="34" charset="-122"/>
                <a:sym typeface="+mn-ea"/>
              </a:rPr>
              <a:t>/m²</a:t>
            </a:r>
            <a:r>
              <a:rPr lang="zh-CN" altLang="en-US" sz="900" dirty="0">
                <a:solidFill>
                  <a:prstClr val="black"/>
                </a:solidFill>
                <a:latin typeface="微软雅黑" panose="020B0503020204020204" pitchFamily="34" charset="-122"/>
                <a:ea typeface="微软雅黑" panose="020B0503020204020204" pitchFamily="34" charset="-122"/>
                <a:sym typeface="+mn-ea"/>
              </a:rPr>
              <a:t>支付智善物业费；营销费用</a:t>
            </a:r>
            <a:r>
              <a:rPr lang="en-US" altLang="zh-CN" sz="900" dirty="0">
                <a:solidFill>
                  <a:prstClr val="black"/>
                </a:solidFill>
                <a:latin typeface="微软雅黑" panose="020B0503020204020204" pitchFamily="34" charset="-122"/>
                <a:ea typeface="微软雅黑" panose="020B0503020204020204" pitchFamily="34" charset="-122"/>
                <a:sym typeface="+mn-ea"/>
              </a:rPr>
              <a:t>60</a:t>
            </a:r>
            <a:r>
              <a:rPr lang="zh-CN" altLang="en-US" sz="900" dirty="0">
                <a:solidFill>
                  <a:prstClr val="black"/>
                </a:solidFill>
                <a:latin typeface="微软雅黑" panose="020B0503020204020204" pitchFamily="34" charset="-122"/>
                <a:ea typeface="微软雅黑" panose="020B0503020204020204" pitchFamily="34" charset="-122"/>
                <a:sym typeface="+mn-ea"/>
              </a:rPr>
              <a:t>万；人工费用</a:t>
            </a:r>
            <a:r>
              <a:rPr lang="en-US" altLang="zh-CN" sz="900" dirty="0">
                <a:solidFill>
                  <a:prstClr val="black"/>
                </a:solidFill>
                <a:latin typeface="微软雅黑" panose="020B0503020204020204" pitchFamily="34" charset="-122"/>
                <a:ea typeface="微软雅黑" panose="020B0503020204020204" pitchFamily="34" charset="-122"/>
                <a:sym typeface="+mn-ea"/>
              </a:rPr>
              <a:t>62</a:t>
            </a:r>
            <a:r>
              <a:rPr lang="zh-CN" altLang="en-US" sz="900" dirty="0">
                <a:solidFill>
                  <a:prstClr val="black"/>
                </a:solidFill>
                <a:latin typeface="微软雅黑" panose="020B0503020204020204" pitchFamily="34" charset="-122"/>
                <a:ea typeface="微软雅黑" panose="020B0503020204020204" pitchFamily="34" charset="-122"/>
                <a:sym typeface="+mn-ea"/>
              </a:rPr>
              <a:t>万；其他运营成本</a:t>
            </a:r>
            <a:r>
              <a:rPr lang="en-US" altLang="zh-CN" sz="900" dirty="0">
                <a:solidFill>
                  <a:prstClr val="black"/>
                </a:solidFill>
                <a:latin typeface="微软雅黑" panose="020B0503020204020204" pitchFamily="34" charset="-122"/>
                <a:ea typeface="微软雅黑" panose="020B0503020204020204" pitchFamily="34" charset="-122"/>
                <a:sym typeface="+mn-ea"/>
              </a:rPr>
              <a:t>127</a:t>
            </a:r>
            <a:r>
              <a:rPr lang="zh-CN" altLang="en-US" sz="900" dirty="0">
                <a:solidFill>
                  <a:prstClr val="black"/>
                </a:solidFill>
                <a:latin typeface="微软雅黑" panose="020B0503020204020204" pitchFamily="34" charset="-122"/>
                <a:ea typeface="微软雅黑" panose="020B0503020204020204" pitchFamily="34" charset="-122"/>
                <a:sym typeface="+mn-ea"/>
              </a:rPr>
              <a:t>万）</a:t>
            </a:r>
            <a:endPar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endParaRPr>
          </a:p>
          <a:p>
            <a:r>
              <a:rPr lang="zh-CN" altLang="en-US" sz="900" noProof="0" dirty="0">
                <a:ln>
                  <a:noFill/>
                </a:ln>
                <a:solidFill>
                  <a:prstClr val="black"/>
                </a:solidFill>
                <a:effectLst/>
                <a:uLnTx/>
                <a:uFillTx/>
                <a:latin typeface="微软雅黑" panose="020B0503020204020204" pitchFamily="34" charset="-122"/>
                <a:ea typeface="微软雅黑" panose="020B0503020204020204" pitchFamily="34" charset="-122"/>
                <a:sym typeface="+mn-ea"/>
              </a:rPr>
              <a:t>其他项目同比差异较小。</a:t>
            </a:r>
            <a:endParaRPr kumimoji="0" lang="zh-CN" altLang="en-US" sz="90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a:p>
            <a:endParaRPr kumimoji="0" lang="zh-CN" altLang="en-US" sz="90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cs typeface="+mn-cs"/>
              <a:sym typeface="+mn-ea"/>
            </a:endParaRP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9250" y="238126"/>
            <a:ext cx="9072438" cy="359346"/>
          </a:xfrm>
        </p:spPr>
        <p:txBody>
          <a:bodyPr/>
          <a:lstStyle/>
          <a:p>
            <a:pPr lvl="0">
              <a:defRPr/>
            </a:pPr>
            <a:r>
              <a:rPr lang="zh-CN" altLang="en-US" b="1" noProof="0" dirty="0">
                <a:ln>
                  <a:noFill/>
                </a:ln>
                <a:effectLst/>
                <a:highlight>
                  <a:srgbClr val="000000">
                    <a:alpha val="0"/>
                  </a:srgbClr>
                </a:highlight>
                <a:uLnTx/>
                <a:uFillTx/>
                <a:sym typeface="+mn-ea"/>
              </a:rPr>
              <a:t>第三部分</a:t>
            </a:r>
            <a:r>
              <a:rPr lang="zh-CN" altLang="en-US" b="1" noProof="0" dirty="0" smtClean="0">
                <a:ln>
                  <a:noFill/>
                </a:ln>
                <a:effectLst/>
                <a:highlight>
                  <a:srgbClr val="000000">
                    <a:alpha val="0"/>
                  </a:srgbClr>
                </a:highlight>
                <a:uLnTx/>
                <a:uFillTx/>
                <a:sym typeface="+mn-ea"/>
              </a:rPr>
              <a:t>：</a:t>
            </a:r>
            <a:r>
              <a:rPr lang="en-US" altLang="zh-CN" b="1" noProof="0" dirty="0" smtClean="0">
                <a:ln>
                  <a:noFill/>
                </a:ln>
                <a:effectLst/>
                <a:highlight>
                  <a:srgbClr val="000000">
                    <a:alpha val="0"/>
                  </a:srgbClr>
                </a:highlight>
                <a:uLnTx/>
                <a:uFillTx/>
                <a:sym typeface="+mn-ea"/>
              </a:rPr>
              <a:t>2026年预算编制报告</a:t>
            </a:r>
            <a:r>
              <a:rPr lang="zh-CN" altLang="en-US" b="1" noProof="0" dirty="0">
                <a:ln>
                  <a:noFill/>
                </a:ln>
                <a:solidFill>
                  <a:prstClr val="black">
                    <a:lumMod val="75000"/>
                    <a:lumOff val="25000"/>
                  </a:prstClr>
                </a:solidFill>
                <a:effectLst/>
                <a:highlight>
                  <a:srgbClr val="000000">
                    <a:alpha val="0"/>
                  </a:srgbClr>
                </a:highlight>
                <a:uLnTx/>
                <a:uFillTx/>
                <a:sym typeface="+mn-ea"/>
              </a:rPr>
              <a:t> </a:t>
            </a:r>
            <a:r>
              <a:rPr lang="en-US" altLang="zh-CN" b="1" noProof="0" dirty="0">
                <a:ln>
                  <a:noFill/>
                </a:ln>
                <a:solidFill>
                  <a:srgbClr val="002060"/>
                </a:solidFill>
                <a:effectLst/>
                <a:highlight>
                  <a:srgbClr val="000000">
                    <a:alpha val="0"/>
                  </a:srgbClr>
                </a:highlight>
                <a:uLnTx/>
                <a:uFillTx/>
                <a:sym typeface="+mn-ea"/>
              </a:rPr>
              <a:t>–</a:t>
            </a:r>
            <a:r>
              <a:rPr lang="zh-CN" altLang="en-US" b="1" dirty="0" smtClean="0">
                <a:solidFill>
                  <a:srgbClr val="002060"/>
                </a:solidFill>
                <a:highlight>
                  <a:srgbClr val="000000">
                    <a:alpha val="0"/>
                  </a:srgbClr>
                </a:highlight>
                <a:sym typeface="+mn-ea"/>
              </a:rPr>
              <a:t>公寓预算情况</a:t>
            </a:r>
            <a:endParaRPr kumimoji="0" lang="zh-CN" altLang="en-US" sz="2800" b="1" i="0" u="none" strike="noStrike" kern="1200" cap="none" spc="-41" normalizeH="0" baseline="0" noProof="0" dirty="0" smtClean="0">
              <a:ln>
                <a:noFill/>
              </a:ln>
              <a:solidFill>
                <a:srgbClr val="002060"/>
              </a:solidFill>
              <a:effectLst/>
              <a:highlight>
                <a:srgbClr val="000000">
                  <a:alpha val="0"/>
                </a:srgbClr>
              </a:highligh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6" name="表格 5"/>
          <p:cNvGraphicFramePr/>
          <p:nvPr>
            <p:custDataLst>
              <p:tags r:id="rId1"/>
            </p:custDataLst>
          </p:nvPr>
        </p:nvGraphicFramePr>
        <p:xfrm>
          <a:off x="456565" y="1101090"/>
          <a:ext cx="8858250" cy="3404235"/>
        </p:xfrm>
        <a:graphic>
          <a:graphicData uri="http://schemas.openxmlformats.org/drawingml/2006/table">
            <a:tbl>
              <a:tblPr/>
              <a:tblGrid>
                <a:gridCol w="924560"/>
                <a:gridCol w="528320"/>
                <a:gridCol w="528955"/>
                <a:gridCol w="528955"/>
                <a:gridCol w="530225"/>
                <a:gridCol w="526415"/>
                <a:gridCol w="530225"/>
                <a:gridCol w="529590"/>
                <a:gridCol w="527685"/>
                <a:gridCol w="554355"/>
                <a:gridCol w="505460"/>
                <a:gridCol w="527050"/>
                <a:gridCol w="530860"/>
                <a:gridCol w="527685"/>
                <a:gridCol w="529590"/>
                <a:gridCol w="528320"/>
              </a:tblGrid>
              <a:tr h="328930">
                <a:tc rowSpan="2">
                  <a:txBody>
                    <a:bodyPr/>
                    <a:lstStyle/>
                    <a:p>
                      <a:pPr indent="0" algn="ctr">
                        <a:buNone/>
                      </a:pPr>
                      <a:r>
                        <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项目</a:t>
                      </a:r>
                      <a:endPar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gridSpan="3">
                  <a:txBody>
                    <a:bodyPr/>
                    <a:lstStyle/>
                    <a:p>
                      <a:pPr indent="0" algn="ctr">
                        <a:buNone/>
                      </a:pPr>
                      <a:r>
                        <a:rPr lang="en-US" altLang="zh-CN" sz="900" b="1">
                          <a:solidFill>
                            <a:srgbClr val="FFFFFF"/>
                          </a:solidFill>
                          <a:latin typeface="微软雅黑" panose="020B0503020204020204" pitchFamily="34" charset="-122"/>
                          <a:ea typeface="微软雅黑" panose="020B0503020204020204" pitchFamily="34" charset="-122"/>
                        </a:rPr>
                        <a:t>NPI</a:t>
                      </a:r>
                      <a:endParaRPr lang="en-US" altLang="zh-CN"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hMerge="1">
                  <a:tcP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gridSpan="3">
                  <a:txBody>
                    <a:bodyPr/>
                    <a:lstStyle/>
                    <a:p>
                      <a:pPr indent="0" algn="ctr">
                        <a:buNone/>
                      </a:pPr>
                      <a:r>
                        <a:rPr lang="en-US" altLang="zh-CN" sz="900" b="1">
                          <a:solidFill>
                            <a:srgbClr val="FFFFFF"/>
                          </a:solidFill>
                          <a:latin typeface="微软雅黑" panose="020B0503020204020204" pitchFamily="34" charset="-122"/>
                          <a:ea typeface="微软雅黑" panose="020B0503020204020204" pitchFamily="34" charset="-122"/>
                        </a:rPr>
                        <a:t>EBITDA</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hMerge="1">
                  <a:tcP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gridSpan="3">
                  <a:txBody>
                    <a:bodyPr/>
                    <a:lstStyle/>
                    <a:p>
                      <a:pPr indent="0" algn="ctr">
                        <a:buNone/>
                      </a:pPr>
                      <a:r>
                        <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经营活动净额</a:t>
                      </a:r>
                      <a:endParaRPr lang="zh-CN"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hMerge="1">
                  <a:tcP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tcPr>
                </a:tc>
                <a:tc hMerge="1">
                  <a:tcPr>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差异</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rowSpan="2">
                  <a:txBody>
                    <a:bodyPr/>
                    <a:lstStyle/>
                    <a:p>
                      <a:pPr indent="0" algn="ctr">
                        <a:buNone/>
                      </a:pPr>
                      <a:r>
                        <a:rPr lang="zh-CN" sz="900" b="1">
                          <a:solidFill>
                            <a:srgbClr val="FFFFFF"/>
                          </a:solidFill>
                          <a:latin typeface="微软雅黑" panose="020B0503020204020204" pitchFamily="34" charset="-122"/>
                          <a:ea typeface="微软雅黑" panose="020B0503020204020204" pitchFamily="34" charset="-122"/>
                        </a:rPr>
                        <a:t>增幅</a:t>
                      </a:r>
                      <a:endParaRPr lang="zh-CN" altLang="en-US" sz="900" b="1">
                        <a:solidFill>
                          <a:srgbClr val="FFFFFF"/>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r>
              <a:tr h="346075">
                <a:tc vMerge="1">
                  <a:tcP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C00000"/>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1">
                        <a:lumMod val="50000"/>
                      </a:schemeClr>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B w="6350" cap="flat" cmpd="sng">
                      <a:solidFill>
                        <a:srgbClr val="B8CCE4"/>
                      </a:solidFill>
                      <a:prstDash val="solid"/>
                      <a:headEnd type="none" w="med" len="med"/>
                      <a:tailEnd type="none" w="med" len="med"/>
                    </a:lnB>
                  </a:tcPr>
                </a:tc>
                <a:tc>
                  <a:txBody>
                    <a:bodyPr/>
                    <a:lstStyle/>
                    <a:p>
                      <a:pPr indent="0" algn="ctr">
                        <a:buNone/>
                      </a:pPr>
                      <a:r>
                        <a:rPr 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年预算</a:t>
                      </a:r>
                      <a:r>
                        <a:rPr 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预计</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a:txBody>
                    <a:bodyPr/>
                    <a:lstStyle/>
                    <a:p>
                      <a:pPr indent="0" algn="ctr">
                        <a:buNone/>
                      </a:pPr>
                      <a:r>
                        <a:rPr lang="en-US" sz="9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endParaRPr lang="en-US" alt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indent="0" algn="ctr">
                        <a:buNone/>
                      </a:pPr>
                      <a:r>
                        <a:rPr lang="zh-CN"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r>
                        <a:rPr 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en-US" sz="9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chemeClr val="accent2">
                        <a:lumMod val="75000"/>
                      </a:schemeClr>
                    </a:solidFill>
                  </a:tcPr>
                </a:tc>
                <a:tc vMerge="1">
                  <a:tcPr>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B w="6350" cap="flat" cmpd="sng">
                      <a:solidFill>
                        <a:srgbClr val="B8CCE4"/>
                      </a:solidFill>
                      <a:prstDash val="solid"/>
                      <a:headEnd type="none" w="med" len="med"/>
                      <a:tailEnd type="none" w="med" len="med"/>
                    </a:lnB>
                  </a:tcPr>
                </a:tc>
                <a:tc vMerge="1">
                  <a:tcPr>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B w="6350" cap="flat" cmpd="sng">
                      <a:solidFill>
                        <a:srgbClr val="B8CCE4"/>
                      </a:solidFill>
                      <a:prstDash val="solid"/>
                      <a:headEnd type="none" w="med" len="med"/>
                      <a:tailEnd type="none" w="med" len="med"/>
                    </a:lnB>
                  </a:tcPr>
                </a:tc>
              </a:tr>
              <a:tr h="18161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雅宝郡寓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3,206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3,295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3,318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3,206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3,295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3,318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沙井荣御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6,214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6,630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-2,605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-39.3%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6,214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6,630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-2,605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-39.3%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7,740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7,740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3,953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0">
                          <a:solidFill>
                            <a:srgbClr val="1F497D"/>
                          </a:solidFill>
                          <a:latin typeface="微软雅黑" panose="020B0503020204020204" pitchFamily="34" charset="-122"/>
                          <a:ea typeface="微软雅黑" panose="020B0503020204020204" pitchFamily="34" charset="-122"/>
                        </a:rPr>
                        <a:t> </a:t>
                      </a:r>
                      <a:r>
                        <a:rPr lang="en-US" altLang="zh-CN" sz="1000" b="1" i="0">
                          <a:solidFill>
                            <a:srgbClr val="1F497D"/>
                          </a:solidFill>
                          <a:latin typeface="微软雅黑" panose="020B0503020204020204" pitchFamily="34" charset="-122"/>
                          <a:ea typeface="微软雅黑" panose="020B0503020204020204" pitchFamily="34" charset="-122"/>
                        </a:rPr>
                        <a:t>-3,787</a:t>
                      </a:r>
                      <a:r>
                        <a:rPr lang="en-US" altLang="zh-CN" sz="1000" b="1" i="0">
                          <a:solidFill>
                            <a:srgbClr val="1F497D"/>
                          </a:solidFill>
                          <a:latin typeface="微软雅黑" panose="020B0503020204020204" pitchFamily="34" charset="-122"/>
                          <a:ea typeface="微软雅黑" panose="020B0503020204020204" pitchFamily="34" charset="-122"/>
                        </a:rPr>
                        <a:t> </a:t>
                      </a:r>
                      <a:endParaRPr lang="en-US" altLang="zh-CN" sz="1000" b="1" i="0">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0">
                          <a:solidFill>
                            <a:srgbClr val="1F497D"/>
                          </a:solidFill>
                          <a:latin typeface="微软雅黑" panose="020B0503020204020204" pitchFamily="34" charset="-122"/>
                          <a:ea typeface="微软雅黑" panose="020B0503020204020204" pitchFamily="34" charset="-122"/>
                        </a:rPr>
                        <a:t>-48.9%</a:t>
                      </a:r>
                      <a:endParaRPr lang="en-US" altLang="zh-CN" sz="1000" b="1" i="0">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锦居</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1,189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1,215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1,109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1,189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1,215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1,109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-8.8%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rowSpan="6">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5,503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rowSpan="6">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6,506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rowSpan="6">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6,503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rowSpan="6">
                  <a:txBody>
                    <a:bodyPr/>
                    <a:p>
                      <a:pPr algn="r" fontAlgn="ctr"/>
                      <a:r>
                        <a:rPr lang="en-US" altLang="zh-CN" sz="1000" b="1" i="0">
                          <a:solidFill>
                            <a:srgbClr val="1F497D"/>
                          </a:solidFill>
                          <a:latin typeface="微软雅黑" panose="020B0503020204020204" pitchFamily="34" charset="-122"/>
                          <a:ea typeface="微软雅黑" panose="020B0503020204020204" pitchFamily="34" charset="-122"/>
                        </a:rPr>
                        <a:t> </a:t>
                      </a:r>
                      <a:r>
                        <a:rPr lang="en-US" altLang="zh-CN" sz="1000" b="1" i="0">
                          <a:solidFill>
                            <a:srgbClr val="1F497D"/>
                          </a:solidFill>
                          <a:latin typeface="微软雅黑" panose="020B0503020204020204" pitchFamily="34" charset="-122"/>
                          <a:ea typeface="微软雅黑" panose="020B0503020204020204" pitchFamily="34" charset="-122"/>
                        </a:rPr>
                        <a:t>-3</a:t>
                      </a:r>
                      <a:r>
                        <a:rPr lang="en-US" altLang="zh-CN" sz="1000" b="1" i="0">
                          <a:solidFill>
                            <a:srgbClr val="1F497D"/>
                          </a:solidFill>
                          <a:latin typeface="微软雅黑" panose="020B0503020204020204" pitchFamily="34" charset="-122"/>
                          <a:ea typeface="微软雅黑" panose="020B0503020204020204" pitchFamily="34" charset="-122"/>
                        </a:rPr>
                        <a:t> </a:t>
                      </a:r>
                      <a:endParaRPr lang="en-US" altLang="zh-CN" sz="1000" b="1" i="0">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rowSpan="6">
                  <a:txBody>
                    <a:bodyPr/>
                    <a:p>
                      <a:pPr algn="r" fontAlgn="ctr"/>
                      <a:r>
                        <a:rPr lang="en-US" altLang="zh-CN" sz="1000" b="1" i="0">
                          <a:solidFill>
                            <a:srgbClr val="1F497D"/>
                          </a:solidFill>
                          <a:latin typeface="微软雅黑" panose="020B0503020204020204" pitchFamily="34" charset="-122"/>
                          <a:ea typeface="微软雅黑" panose="020B0503020204020204" pitchFamily="34" charset="-122"/>
                        </a:rPr>
                        <a:t>0%</a:t>
                      </a:r>
                      <a:endParaRPr lang="en-US" altLang="zh-CN" sz="1000" b="1" i="0">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288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国都高尔夫</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195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195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0975">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龙华龙岗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416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416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504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福田罗湖</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630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678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675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630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678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675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-0.4%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415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亚金公寓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3.3%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常州郡寓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143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157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143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157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2.5%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vMerge="1">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p>
                      <a:pPr algn="l" fontAlgn="ctr">
                        <a:buNone/>
                      </a:pPr>
                      <a:r>
                        <a:rPr lang="zh-CN" altLang="en-US" sz="900">
                          <a:solidFill>
                            <a:srgbClr val="000000"/>
                          </a:solidFill>
                          <a:latin typeface="微软雅黑" panose="020B0503020204020204" pitchFamily="34" charset="-122"/>
                          <a:ea typeface="微软雅黑" panose="020B0503020204020204" pitchFamily="34" charset="-122"/>
                          <a:sym typeface="+mn-ea"/>
                        </a:rPr>
                        <a:t>上海郡寓</a:t>
                      </a:r>
                      <a:endParaRPr lang="zh-CN" altLang="en-US" sz="9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3,389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3,980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0.5%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3,389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3,980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0.5%</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3,542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4,561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4,449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0">
                          <a:solidFill>
                            <a:srgbClr val="1F497D"/>
                          </a:solidFill>
                          <a:latin typeface="微软雅黑" panose="020B0503020204020204" pitchFamily="34" charset="-122"/>
                          <a:ea typeface="微软雅黑" panose="020B0503020204020204" pitchFamily="34" charset="-122"/>
                        </a:rPr>
                        <a:t> </a:t>
                      </a:r>
                      <a:r>
                        <a:rPr lang="en-US" altLang="zh-CN" sz="1000" b="1" i="0">
                          <a:solidFill>
                            <a:srgbClr val="1F497D"/>
                          </a:solidFill>
                          <a:latin typeface="微软雅黑" panose="020B0503020204020204" pitchFamily="34" charset="-122"/>
                          <a:ea typeface="微软雅黑" panose="020B0503020204020204" pitchFamily="34" charset="-122"/>
                        </a:rPr>
                        <a:t>-112</a:t>
                      </a:r>
                      <a:r>
                        <a:rPr lang="en-US" altLang="zh-CN" sz="1000" b="1" i="0">
                          <a:solidFill>
                            <a:srgbClr val="1F497D"/>
                          </a:solidFill>
                          <a:latin typeface="微软雅黑" panose="020B0503020204020204" pitchFamily="34" charset="-122"/>
                          <a:ea typeface="微软雅黑" panose="020B0503020204020204" pitchFamily="34" charset="-122"/>
                        </a:rPr>
                        <a:t> </a:t>
                      </a:r>
                      <a:endParaRPr lang="en-US" altLang="zh-CN" sz="1000" b="1" i="0">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0">
                          <a:solidFill>
                            <a:srgbClr val="1F497D"/>
                          </a:solidFill>
                          <a:latin typeface="微软雅黑" panose="020B0503020204020204" pitchFamily="34" charset="-122"/>
                          <a:ea typeface="微软雅黑" panose="020B0503020204020204" pitchFamily="34" charset="-122"/>
                        </a:rPr>
                        <a:t>-2.5%</a:t>
                      </a:r>
                      <a:endParaRPr lang="en-US" altLang="zh-CN" sz="1000" b="1" i="0">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p>
                      <a:pPr algn="l" fontAlgn="ctr">
                        <a:buNone/>
                      </a:pPr>
                      <a:r>
                        <a:rPr lang="zh-CN" altLang="en-US" sz="900" b="1" i="1">
                          <a:solidFill>
                            <a:srgbClr val="002060"/>
                          </a:solidFill>
                          <a:latin typeface="微软雅黑" panose="020B0503020204020204" pitchFamily="34" charset="-122"/>
                          <a:ea typeface="微软雅黑" panose="020B0503020204020204" pitchFamily="34" charset="-122"/>
                        </a:rPr>
                        <a:t>深圳北站</a:t>
                      </a:r>
                      <a:endParaRPr lang="zh-CN" altLang="en-US" sz="900" b="1" i="1">
                        <a:solidFill>
                          <a:srgbClr val="00206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1610">
                <a:tc>
                  <a:txBody>
                    <a:bodyPr/>
                    <a:lstStyle/>
                    <a:p>
                      <a:pPr algn="l" fontAlgn="ctr"/>
                      <a:r>
                        <a:rPr lang="zh-CN" altLang="en-US" sz="900" b="0" i="0">
                          <a:solidFill>
                            <a:srgbClr val="000000"/>
                          </a:solidFill>
                          <a:latin typeface="微软雅黑" panose="020B0503020204020204" pitchFamily="34" charset="-122"/>
                          <a:ea typeface="微软雅黑" panose="020B0503020204020204" pitchFamily="34" charset="-122"/>
                        </a:rPr>
                        <a:t>事业部</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lstStyle/>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2245">
                <a:tc>
                  <a:txBody>
                    <a:bodyPr/>
                    <a:p>
                      <a:pPr algn="l" fontAlgn="ctr"/>
                      <a:r>
                        <a:rPr lang="zh-CN" altLang="en-US" sz="900" b="1" i="0">
                          <a:solidFill>
                            <a:srgbClr val="FF0000"/>
                          </a:solidFill>
                          <a:latin typeface="微软雅黑" panose="020B0503020204020204" pitchFamily="34" charset="-122"/>
                          <a:ea typeface="微软雅黑" panose="020B0503020204020204" pitchFamily="34" charset="-122"/>
                        </a:rPr>
                        <a:t>公寓合计</a:t>
                      </a:r>
                      <a:endParaRPr lang="zh-CN" altLang="en-US" sz="9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15,782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17,023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14,951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-2,072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-12.2%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15,782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17,023</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14,951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-2,072</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-12.2%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16,785</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18,806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15,306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-3,501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FC000"/>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-18.6%</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solidFill>
                      <a:srgbClr val="FD877B"/>
                    </a:solidFill>
                  </a:tcPr>
                </a:tc>
              </a:tr>
              <a:tr h="182245">
                <a:tc>
                  <a:txBody>
                    <a:bodyPr/>
                    <a:p>
                      <a:pPr algn="l" fontAlgn="ctr"/>
                      <a:r>
                        <a:rPr lang="zh-CN" altLang="en-US" sz="800" b="1" i="1">
                          <a:solidFill>
                            <a:srgbClr val="1F497D"/>
                          </a:solidFill>
                          <a:latin typeface="微软雅黑" panose="020B0503020204020204" pitchFamily="34" charset="-122"/>
                          <a:ea typeface="微软雅黑" panose="020B0503020204020204" pitchFamily="34" charset="-122"/>
                        </a:rPr>
                        <a:t>其中：现有口径</a:t>
                      </a:r>
                      <a:endParaRPr lang="zh-CN" altLang="en-US" sz="800" b="1" i="1">
                        <a:solidFill>
                          <a:srgbClr val="1F497D"/>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9,568</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10,393</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10,343</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-51</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-0.5%</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9,568</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10,393</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10,343</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-51</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-0.5%</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9,045</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11,067</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10,952</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 </a:t>
                      </a:r>
                      <a:r>
                        <a:rPr lang="en-US" altLang="zh-CN" sz="1000" b="1" i="1">
                          <a:solidFill>
                            <a:srgbClr val="000000"/>
                          </a:solidFill>
                          <a:latin typeface="微软雅黑" panose="020B0503020204020204" pitchFamily="34" charset="-122"/>
                          <a:ea typeface="微软雅黑" panose="020B0503020204020204" pitchFamily="34" charset="-122"/>
                        </a:rPr>
                        <a:t>-115</a:t>
                      </a:r>
                      <a:r>
                        <a:rPr lang="en-US" altLang="zh-CN" sz="1000" b="1" i="1">
                          <a:solidFill>
                            <a:srgbClr val="000000"/>
                          </a:solidFill>
                          <a:latin typeface="微软雅黑" panose="020B0503020204020204" pitchFamily="34" charset="-122"/>
                          <a:ea typeface="微软雅黑" panose="020B0503020204020204" pitchFamily="34" charset="-122"/>
                        </a:rPr>
                        <a:t> </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c>
                  <a:txBody>
                    <a:bodyPr/>
                    <a:p>
                      <a:pPr algn="r" fontAlgn="ctr"/>
                      <a:r>
                        <a:rPr lang="en-US" altLang="zh-CN" sz="1000" b="1" i="1">
                          <a:solidFill>
                            <a:srgbClr val="000000"/>
                          </a:solidFill>
                          <a:latin typeface="微软雅黑" panose="020B0503020204020204" pitchFamily="34" charset="-122"/>
                          <a:ea typeface="微软雅黑" panose="020B0503020204020204" pitchFamily="34" charset="-122"/>
                        </a:rPr>
                        <a:t>-1.0%</a:t>
                      </a:r>
                      <a:endParaRPr lang="en-US" altLang="zh-CN" sz="1000" b="1"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lnTlToBr>
                      <a:noFill/>
                    </a:lnTlToBr>
                    <a:lnBlToTr>
                      <a:noFill/>
                    </a:lnBlToTr>
                    <a:noFill/>
                  </a:tcPr>
                </a:tc>
              </a:tr>
              <a:tr h="182245">
                <a:tc>
                  <a:txBody>
                    <a:bodyPr/>
                    <a:lstStyle/>
                    <a:p>
                      <a:pPr algn="l" fontAlgn="ctr"/>
                      <a:r>
                        <a:rPr lang="en-US" altLang="zh-CN" sz="800" b="1" i="1">
                          <a:solidFill>
                            <a:srgbClr val="1F497D"/>
                          </a:solidFill>
                          <a:latin typeface="微软雅黑" panose="020B0503020204020204" pitchFamily="34" charset="-122"/>
                          <a:ea typeface="微软雅黑" panose="020B0503020204020204" pitchFamily="34" charset="-122"/>
                        </a:rPr>
                        <a:t>     </a:t>
                      </a:r>
                      <a:r>
                        <a:rPr lang="zh-CN" altLang="en-US" sz="800" b="1" i="1">
                          <a:solidFill>
                            <a:srgbClr val="1F497D"/>
                          </a:solidFill>
                          <a:latin typeface="微软雅黑" panose="020B0503020204020204" pitchFamily="34" charset="-122"/>
                          <a:ea typeface="微软雅黑" panose="020B0503020204020204" pitchFamily="34" charset="-122"/>
                        </a:rPr>
                        <a:t>新增</a:t>
                      </a:r>
                      <a:r>
                        <a:rPr lang="en-US" altLang="zh-CN" sz="800" b="1" i="1">
                          <a:solidFill>
                            <a:srgbClr val="1F497D"/>
                          </a:solidFill>
                          <a:latin typeface="微软雅黑" panose="020B0503020204020204" pitchFamily="34" charset="-122"/>
                          <a:ea typeface="微软雅黑" panose="020B0503020204020204" pitchFamily="34" charset="-122"/>
                        </a:rPr>
                        <a:t>/</a:t>
                      </a:r>
                      <a:r>
                        <a:rPr lang="zh-CN" altLang="en-US" sz="800" b="1" i="1">
                          <a:solidFill>
                            <a:srgbClr val="1F497D"/>
                          </a:solidFill>
                          <a:latin typeface="微软雅黑" panose="020B0503020204020204" pitchFamily="34" charset="-122"/>
                          <a:ea typeface="微软雅黑" panose="020B0503020204020204" pitchFamily="34" charset="-122"/>
                        </a:rPr>
                        <a:t>改造口径</a:t>
                      </a:r>
                      <a:endParaRPr lang="zh-CN" altLang="en-US" sz="800" b="1" i="1">
                        <a:solidFill>
                          <a:srgbClr val="1F497D"/>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6,214</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6,630</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4,609</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-2,022</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-30.5%</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6,214</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6,630</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4,609</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-2,022</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-30.5%</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7,740</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7,740</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4,354</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 </a:t>
                      </a:r>
                      <a:r>
                        <a:rPr lang="en-US" altLang="zh-CN" sz="1000" b="1" i="1">
                          <a:solidFill>
                            <a:srgbClr val="1F497D"/>
                          </a:solidFill>
                          <a:latin typeface="微软雅黑" panose="020B0503020204020204" pitchFamily="34" charset="-122"/>
                          <a:ea typeface="微软雅黑" panose="020B0503020204020204" pitchFamily="34" charset="-122"/>
                        </a:rPr>
                        <a:t>-3,386</a:t>
                      </a:r>
                      <a:r>
                        <a:rPr lang="en-US" altLang="zh-CN" sz="1000" b="1" i="1">
                          <a:solidFill>
                            <a:srgbClr val="1F497D"/>
                          </a:solidFill>
                          <a:latin typeface="微软雅黑" panose="020B0503020204020204" pitchFamily="34" charset="-122"/>
                          <a:ea typeface="微软雅黑" panose="020B0503020204020204" pitchFamily="34" charset="-122"/>
                        </a:rPr>
                        <a:t> </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c>
                  <a:txBody>
                    <a:bodyPr/>
                    <a:lstStyle/>
                    <a:p>
                      <a:pPr algn="r" fontAlgn="ctr"/>
                      <a:r>
                        <a:rPr lang="en-US" altLang="zh-CN" sz="1000" b="1" i="1">
                          <a:solidFill>
                            <a:srgbClr val="1F497D"/>
                          </a:solidFill>
                          <a:latin typeface="微软雅黑" panose="020B0503020204020204" pitchFamily="34" charset="-122"/>
                          <a:ea typeface="微软雅黑" panose="020B0503020204020204" pitchFamily="34" charset="-122"/>
                        </a:rPr>
                        <a:t>-43.7%</a:t>
                      </a:r>
                      <a:endParaRPr lang="en-US" altLang="zh-CN" sz="1000" b="1" i="1">
                        <a:solidFill>
                          <a:srgbClr val="1F497D"/>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chemeClr val="bg1"/>
                    </a:solidFill>
                  </a:tcPr>
                </a:tc>
              </a:tr>
            </a:tbl>
          </a:graphicData>
        </a:graphic>
      </p:graphicFrame>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132715" y="237491"/>
            <a:ext cx="7559675" cy="359346"/>
          </a:xfrm>
        </p:spPr>
        <p:txBody>
          <a:bodyPr/>
          <a:lstStyle/>
          <a:p>
            <a:pPr lvl="0">
              <a:defRPr/>
            </a:pPr>
            <a:r>
              <a:rPr lang="zh-CN" altLang="en-US" b="1" noProof="0" dirty="0">
                <a:ln>
                  <a:noFill/>
                </a:ln>
                <a:effectLst/>
                <a:uLnTx/>
                <a:uFillTx/>
                <a:sym typeface="+mn-ea"/>
              </a:rPr>
              <a:t>第三部分</a:t>
            </a:r>
            <a:r>
              <a:rPr lang="zh-CN" altLang="en-US" b="1" noProof="0" dirty="0" smtClean="0">
                <a:ln>
                  <a:noFill/>
                </a:ln>
                <a:effectLst/>
                <a:uLnTx/>
                <a:uFillTx/>
                <a:sym typeface="+mn-ea"/>
              </a:rPr>
              <a:t>：</a:t>
            </a:r>
            <a:r>
              <a:rPr lang="en-US" altLang="zh-CN" b="1" noProof="0" dirty="0" smtClean="0">
                <a:ln>
                  <a:noFill/>
                </a:ln>
                <a:effectLst/>
                <a:uLnTx/>
                <a:uFillTx/>
                <a:sym typeface="+mn-ea"/>
              </a:rPr>
              <a:t>2026年预算编制报告</a:t>
            </a:r>
            <a:r>
              <a:rPr lang="zh-CN" altLang="en-US" b="1" noProof="0" dirty="0">
                <a:ln>
                  <a:noFill/>
                </a:ln>
                <a:solidFill>
                  <a:prstClr val="black">
                    <a:lumMod val="75000"/>
                    <a:lumOff val="25000"/>
                  </a:prstClr>
                </a:solidFill>
                <a:effectLst/>
                <a:uLnTx/>
                <a:uFillTx/>
                <a:sym typeface="+mn-ea"/>
              </a:rPr>
              <a:t> </a:t>
            </a:r>
            <a:r>
              <a:rPr lang="en-US" altLang="zh-CN" b="1" noProof="0" dirty="0">
                <a:ln>
                  <a:noFill/>
                </a:ln>
                <a:solidFill>
                  <a:srgbClr val="002060"/>
                </a:solidFill>
                <a:effectLst/>
                <a:uLnTx/>
                <a:uFillTx/>
                <a:sym typeface="+mn-ea"/>
              </a:rPr>
              <a:t>–</a:t>
            </a:r>
            <a:r>
              <a:rPr lang="zh-CN" altLang="en-US" b="1" dirty="0" smtClean="0">
                <a:solidFill>
                  <a:srgbClr val="002060"/>
                </a:solidFill>
                <a:sym typeface="+mn-ea"/>
              </a:rPr>
              <a:t>销售预算</a:t>
            </a:r>
            <a:r>
              <a:rPr lang="zh-CN" altLang="en-US" b="1" dirty="0">
                <a:solidFill>
                  <a:srgbClr val="002060"/>
                </a:solidFill>
                <a:sym typeface="+mn-ea"/>
              </a:rPr>
              <a:t>情况</a:t>
            </a:r>
            <a:endParaRPr kumimoji="0" lang="zh-CN" altLang="en-US" sz="1800" b="1" i="0" u="none" strike="noStrike" kern="1200" cap="none" spc="-41" normalizeH="0" baseline="0" noProof="0" dirty="0">
              <a:ln>
                <a:noFill/>
              </a:ln>
              <a:solidFill>
                <a:srgbClr val="002060"/>
              </a:solidFill>
              <a:effectLs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8" name="文本框 7"/>
          <p:cNvSpPr txBox="1"/>
          <p:nvPr/>
        </p:nvSpPr>
        <p:spPr>
          <a:xfrm>
            <a:off x="154305" y="4341495"/>
            <a:ext cx="9439910" cy="1092835"/>
          </a:xfrm>
          <a:prstGeom prst="rect">
            <a:avLst/>
          </a:prstGeom>
          <a:noFill/>
        </p:spPr>
        <p:txBody>
          <a:bodyPr wrap="square" rtlCol="0">
            <a:noAutofit/>
          </a:bodyPr>
          <a:lstStyle/>
          <a:p>
            <a:pPr lvl="0">
              <a:defRPr/>
            </a:pPr>
            <a:r>
              <a:rPr lang="zh-CN" altLang="en-US" sz="950" b="1" dirty="0" smtClean="0">
                <a:solidFill>
                  <a:srgbClr val="C00000"/>
                </a:solidFill>
                <a:latin typeface="微软雅黑" panose="020B0503020204020204" pitchFamily="34" charset="-122"/>
                <a:ea typeface="微软雅黑" panose="020B0503020204020204" pitchFamily="34" charset="-122"/>
              </a:rPr>
              <a:t>收入</a:t>
            </a:r>
            <a:r>
              <a:rPr lang="en-US" altLang="zh-CN" sz="950" b="1" dirty="0" smtClean="0">
                <a:solidFill>
                  <a:srgbClr val="C00000"/>
                </a:solidFill>
                <a:latin typeface="微软雅黑" panose="020B0503020204020204" pitchFamily="34" charset="-122"/>
                <a:ea typeface="微软雅黑" panose="020B0503020204020204" pitchFamily="34" charset="-122"/>
              </a:rPr>
              <a:t>8,600</a:t>
            </a:r>
            <a:r>
              <a:rPr lang="zh-CN" altLang="en-US" sz="950" b="1" dirty="0" smtClean="0">
                <a:solidFill>
                  <a:srgbClr val="C00000"/>
                </a:solidFill>
                <a:latin typeface="微软雅黑" panose="020B0503020204020204" pitchFamily="34" charset="-122"/>
                <a:ea typeface="微软雅黑" panose="020B0503020204020204" pitchFamily="34" charset="-122"/>
              </a:rPr>
              <a:t>万</a:t>
            </a:r>
            <a:r>
              <a:rPr lang="zh-CN" altLang="en-US" sz="950" b="1" dirty="0">
                <a:solidFill>
                  <a:srgbClr val="C00000"/>
                </a:solidFill>
                <a:latin typeface="微软雅黑" panose="020B0503020204020204" pitchFamily="34" charset="-122"/>
                <a:ea typeface="微软雅黑" panose="020B0503020204020204" pitchFamily="34" charset="-122"/>
              </a:rPr>
              <a:t>，同比</a:t>
            </a:r>
            <a:r>
              <a:rPr lang="zh-CN" altLang="en-US" sz="950" b="1" dirty="0" smtClean="0">
                <a:solidFill>
                  <a:srgbClr val="C00000"/>
                </a:solidFill>
                <a:latin typeface="微软雅黑" panose="020B0503020204020204" pitchFamily="34" charset="-122"/>
                <a:ea typeface="微软雅黑" panose="020B0503020204020204" pitchFamily="34" charset="-122"/>
              </a:rPr>
              <a:t>减少</a:t>
            </a:r>
            <a:r>
              <a:rPr lang="en-US" altLang="zh-CN" sz="950" b="1" dirty="0" smtClean="0">
                <a:solidFill>
                  <a:srgbClr val="C00000"/>
                </a:solidFill>
                <a:latin typeface="微软雅黑" panose="020B0503020204020204" pitchFamily="34" charset="-122"/>
                <a:ea typeface="微软雅黑" panose="020B0503020204020204" pitchFamily="34" charset="-122"/>
              </a:rPr>
              <a:t>21,444</a:t>
            </a:r>
            <a:r>
              <a:rPr lang="zh-CN" altLang="en-US" sz="950" b="1" dirty="0" smtClean="0">
                <a:solidFill>
                  <a:srgbClr val="C00000"/>
                </a:solidFill>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（成都</a:t>
            </a:r>
            <a:r>
              <a:rPr lang="zh-CN" altLang="en-US" sz="950" dirty="0" smtClean="0">
                <a:latin typeface="微软雅黑" panose="020B0503020204020204" pitchFamily="34" charset="-122"/>
                <a:ea typeface="微软雅黑" panose="020B0503020204020204" pitchFamily="34" charset="-122"/>
              </a:rPr>
              <a:t>减少</a:t>
            </a:r>
            <a:r>
              <a:rPr lang="en-US" altLang="zh-CN" sz="950" dirty="0" smtClean="0">
                <a:latin typeface="微软雅黑" panose="020B0503020204020204" pitchFamily="34" charset="-122"/>
                <a:ea typeface="微软雅黑" panose="020B0503020204020204" pitchFamily="34" charset="-122"/>
              </a:rPr>
              <a:t>3,778</a:t>
            </a:r>
            <a:r>
              <a:rPr lang="zh-CN" altLang="en-US" sz="950" dirty="0" smtClean="0">
                <a:latin typeface="微软雅黑" panose="020B0503020204020204" pitchFamily="34" charset="-122"/>
                <a:ea typeface="微软雅黑" panose="020B0503020204020204" pitchFamily="34" charset="-122"/>
              </a:rPr>
              <a:t>万，惠州减少</a:t>
            </a:r>
            <a:r>
              <a:rPr lang="en-US" altLang="zh-CN" sz="950" dirty="0" smtClean="0">
                <a:latin typeface="微软雅黑" panose="020B0503020204020204" pitchFamily="34" charset="-122"/>
                <a:ea typeface="微软雅黑" panose="020B0503020204020204" pitchFamily="34" charset="-122"/>
              </a:rPr>
              <a:t>4,731</a:t>
            </a:r>
            <a:r>
              <a:rPr lang="zh-CN" altLang="en-US" sz="950" dirty="0" smtClean="0">
                <a:latin typeface="微软雅黑" panose="020B0503020204020204" pitchFamily="34" charset="-122"/>
                <a:ea typeface="微软雅黑" panose="020B0503020204020204" pitchFamily="34" charset="-122"/>
              </a:rPr>
              <a:t>万已清盘，苏州减少</a:t>
            </a:r>
            <a:r>
              <a:rPr lang="en-US" altLang="zh-CN" sz="950" dirty="0" smtClean="0">
                <a:latin typeface="微软雅黑" panose="020B0503020204020204" pitchFamily="34" charset="-122"/>
                <a:ea typeface="微软雅黑" panose="020B0503020204020204" pitchFamily="34" charset="-122"/>
              </a:rPr>
              <a:t>9,630</a:t>
            </a:r>
            <a:r>
              <a:rPr lang="zh-CN" altLang="en-US" sz="950" dirty="0" smtClean="0">
                <a:latin typeface="微软雅黑" panose="020B0503020204020204" pitchFamily="34" charset="-122"/>
                <a:ea typeface="微软雅黑" panose="020B0503020204020204" pitchFamily="34" charset="-122"/>
              </a:rPr>
              <a:t>万已清盘，南京减少</a:t>
            </a:r>
            <a:r>
              <a:rPr lang="en-US" altLang="zh-CN" sz="950" dirty="0" smtClean="0">
                <a:latin typeface="微软雅黑" panose="020B0503020204020204" pitchFamily="34" charset="-122"/>
                <a:ea typeface="微软雅黑" panose="020B0503020204020204" pitchFamily="34" charset="-122"/>
              </a:rPr>
              <a:t>3,304</a:t>
            </a:r>
            <a:r>
              <a:rPr lang="zh-CN" altLang="en-US" sz="950" dirty="0" smtClean="0">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管理、营销费及物业费</a:t>
            </a:r>
            <a:r>
              <a:rPr lang="zh-CN" altLang="en-US" sz="950" dirty="0" smtClean="0">
                <a:latin typeface="微软雅黑" panose="020B0503020204020204" pitchFamily="34" charset="-122"/>
                <a:ea typeface="微软雅黑" panose="020B0503020204020204" pitchFamily="34" charset="-122"/>
              </a:rPr>
              <a:t>合计</a:t>
            </a:r>
            <a:r>
              <a:rPr lang="en-US" altLang="zh-CN" sz="950" dirty="0" smtClean="0">
                <a:latin typeface="微软雅黑" panose="020B0503020204020204" pitchFamily="34" charset="-122"/>
                <a:ea typeface="微软雅黑" panose="020B0503020204020204" pitchFamily="34" charset="-122"/>
              </a:rPr>
              <a:t>1,134</a:t>
            </a:r>
            <a:r>
              <a:rPr lang="zh-CN" altLang="en-US" sz="950" dirty="0" smtClean="0">
                <a:latin typeface="微软雅黑" panose="020B0503020204020204" pitchFamily="34" charset="-122"/>
                <a:ea typeface="微软雅黑" panose="020B0503020204020204" pitchFamily="34" charset="-122"/>
              </a:rPr>
              <a:t>万，</a:t>
            </a:r>
            <a:r>
              <a:rPr lang="zh-CN" altLang="en-US" sz="950" b="1" dirty="0" smtClean="0">
                <a:solidFill>
                  <a:srgbClr val="C00000"/>
                </a:solidFill>
                <a:latin typeface="微软雅黑" panose="020B0503020204020204" pitchFamily="34" charset="-122"/>
                <a:ea typeface="微软雅黑" panose="020B0503020204020204" pitchFamily="34" charset="-122"/>
              </a:rPr>
              <a:t>同比减少</a:t>
            </a:r>
            <a:r>
              <a:rPr lang="en-US" altLang="zh-CN" sz="950" b="1" dirty="0" smtClean="0">
                <a:solidFill>
                  <a:srgbClr val="C00000"/>
                </a:solidFill>
                <a:latin typeface="微软雅黑" panose="020B0503020204020204" pitchFamily="34" charset="-122"/>
                <a:ea typeface="微软雅黑" panose="020B0503020204020204" pitchFamily="34" charset="-122"/>
              </a:rPr>
              <a:t>1,947</a:t>
            </a:r>
            <a:r>
              <a:rPr lang="zh-CN" altLang="en-US" sz="950" b="1" dirty="0" smtClean="0">
                <a:solidFill>
                  <a:srgbClr val="C00000"/>
                </a:solidFill>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主要</a:t>
            </a:r>
            <a:r>
              <a:rPr lang="zh-CN" altLang="en-US" sz="950" dirty="0" smtClean="0">
                <a:latin typeface="微软雅黑" panose="020B0503020204020204" pitchFamily="34" charset="-122"/>
                <a:ea typeface="微软雅黑" panose="020B0503020204020204" pitchFamily="34" charset="-122"/>
              </a:rPr>
              <a:t>因：</a:t>
            </a:r>
            <a:endParaRPr lang="zh-CN" altLang="en-US" sz="950" dirty="0">
              <a:latin typeface="微软雅黑" panose="020B0503020204020204" pitchFamily="34" charset="-122"/>
              <a:ea typeface="微软雅黑" panose="020B0503020204020204" pitchFamily="34" charset="-122"/>
            </a:endParaRPr>
          </a:p>
          <a:p>
            <a:pPr lvl="0">
              <a:defRPr/>
            </a:pPr>
            <a:r>
              <a:rPr lang="zh-CN" altLang="en-US" sz="950" b="1" dirty="0">
                <a:latin typeface="微软雅黑" panose="020B0503020204020204" pitchFamily="34" charset="-122"/>
                <a:ea typeface="微软雅黑" panose="020B0503020204020204" pitchFamily="34" charset="-122"/>
              </a:rPr>
              <a:t>成都产业：</a:t>
            </a:r>
            <a:r>
              <a:rPr lang="zh-CN" altLang="en-US" sz="950" b="1" dirty="0" smtClean="0">
                <a:solidFill>
                  <a:srgbClr val="C00000"/>
                </a:solidFill>
                <a:latin typeface="微软雅黑" panose="020B0503020204020204" pitchFamily="34" charset="-122"/>
                <a:ea typeface="微软雅黑" panose="020B0503020204020204" pitchFamily="34" charset="-122"/>
              </a:rPr>
              <a:t>管理费用</a:t>
            </a:r>
            <a:r>
              <a:rPr lang="en-US" altLang="zh-CN" sz="950" b="1" dirty="0" smtClean="0">
                <a:solidFill>
                  <a:srgbClr val="C00000"/>
                </a:solidFill>
                <a:latin typeface="微软雅黑" panose="020B0503020204020204" pitchFamily="34" charset="-122"/>
                <a:ea typeface="微软雅黑" panose="020B0503020204020204" pitchFamily="34" charset="-122"/>
              </a:rPr>
              <a:t>335</a:t>
            </a:r>
            <a:r>
              <a:rPr lang="zh-CN" altLang="en-US" sz="950" b="1" dirty="0" smtClean="0">
                <a:solidFill>
                  <a:srgbClr val="C00000"/>
                </a:solidFill>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（人工</a:t>
            </a:r>
            <a:r>
              <a:rPr lang="zh-CN" altLang="en-US" sz="950" dirty="0" smtClean="0">
                <a:latin typeface="微软雅黑" panose="020B0503020204020204" pitchFamily="34" charset="-122"/>
                <a:ea typeface="微软雅黑" panose="020B0503020204020204" pitchFamily="34" charset="-122"/>
              </a:rPr>
              <a:t>费用</a:t>
            </a:r>
            <a:r>
              <a:rPr lang="en-US" altLang="zh-CN" sz="950" dirty="0" smtClean="0">
                <a:latin typeface="微软雅黑" panose="020B0503020204020204" pitchFamily="34" charset="-122"/>
                <a:ea typeface="微软雅黑" panose="020B0503020204020204" pitchFamily="34" charset="-122"/>
              </a:rPr>
              <a:t>270</a:t>
            </a:r>
            <a:r>
              <a:rPr lang="zh-CN" altLang="en-US" sz="950" dirty="0">
                <a:latin typeface="微软雅黑" panose="020B0503020204020204" pitchFamily="34" charset="-122"/>
                <a:ea typeface="微软雅黑" panose="020B0503020204020204" pitchFamily="34" charset="-122"/>
              </a:rPr>
              <a:t>万），</a:t>
            </a:r>
            <a:r>
              <a:rPr lang="zh-CN" altLang="en-US" sz="950" b="1" dirty="0">
                <a:solidFill>
                  <a:srgbClr val="C00000"/>
                </a:solidFill>
                <a:latin typeface="微软雅黑" panose="020B0503020204020204" pitchFamily="34" charset="-122"/>
                <a:ea typeface="微软雅黑" panose="020B0503020204020204" pitchFamily="34" charset="-122"/>
              </a:rPr>
              <a:t>占比</a:t>
            </a:r>
            <a:r>
              <a:rPr lang="zh-CN" altLang="en-US" sz="950" b="1" dirty="0" smtClean="0">
                <a:solidFill>
                  <a:srgbClr val="C00000"/>
                </a:solidFill>
                <a:latin typeface="微软雅黑" panose="020B0503020204020204" pitchFamily="34" charset="-122"/>
                <a:ea typeface="微软雅黑" panose="020B0503020204020204" pitchFamily="34" charset="-122"/>
              </a:rPr>
              <a:t>收入</a:t>
            </a:r>
            <a:r>
              <a:rPr lang="en-US" altLang="zh-CN" sz="950" b="1" dirty="0" smtClean="0">
                <a:solidFill>
                  <a:srgbClr val="C00000"/>
                </a:solidFill>
                <a:latin typeface="微软雅黑" panose="020B0503020204020204" pitchFamily="34" charset="-122"/>
                <a:ea typeface="微软雅黑" panose="020B0503020204020204" pitchFamily="34" charset="-122"/>
              </a:rPr>
              <a:t>6%</a:t>
            </a:r>
            <a:r>
              <a:rPr lang="zh-CN" altLang="en-US" sz="950" b="1" dirty="0">
                <a:solidFill>
                  <a:srgbClr val="C00000"/>
                </a:solidFill>
                <a:latin typeface="微软雅黑" panose="020B0503020204020204" pitchFamily="34" charset="-122"/>
                <a:ea typeface="微软雅黑" panose="020B0503020204020204" pitchFamily="34" charset="-122"/>
              </a:rPr>
              <a:t>；营销</a:t>
            </a:r>
            <a:r>
              <a:rPr lang="zh-CN" altLang="en-US" sz="950" b="1" dirty="0" smtClean="0">
                <a:solidFill>
                  <a:srgbClr val="C00000"/>
                </a:solidFill>
                <a:latin typeface="微软雅黑" panose="020B0503020204020204" pitchFamily="34" charset="-122"/>
                <a:ea typeface="微软雅黑" panose="020B0503020204020204" pitchFamily="34" charset="-122"/>
              </a:rPr>
              <a:t>费用</a:t>
            </a:r>
            <a:r>
              <a:rPr lang="en-US" altLang="zh-CN" sz="950" b="1" dirty="0" smtClean="0">
                <a:solidFill>
                  <a:srgbClr val="C00000"/>
                </a:solidFill>
                <a:latin typeface="微软雅黑" panose="020B0503020204020204" pitchFamily="34" charset="-122"/>
                <a:ea typeface="微软雅黑" panose="020B0503020204020204" pitchFamily="34" charset="-122"/>
              </a:rPr>
              <a:t>379</a:t>
            </a:r>
            <a:r>
              <a:rPr lang="zh-CN" altLang="en-US" sz="950" b="1" dirty="0" smtClean="0">
                <a:solidFill>
                  <a:srgbClr val="C00000"/>
                </a:solidFill>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（推广促销类</a:t>
            </a:r>
            <a:r>
              <a:rPr lang="en-US" altLang="zh-CN" sz="950" dirty="0">
                <a:latin typeface="微软雅黑" panose="020B0503020204020204" pitchFamily="34" charset="-122"/>
                <a:ea typeface="微软雅黑" panose="020B0503020204020204" pitchFamily="34" charset="-122"/>
              </a:rPr>
              <a:t>114</a:t>
            </a:r>
            <a:r>
              <a:rPr lang="zh-CN" altLang="en-US" sz="950" dirty="0">
                <a:latin typeface="微软雅黑" panose="020B0503020204020204" pitchFamily="34" charset="-122"/>
                <a:ea typeface="微软雅黑" panose="020B0503020204020204" pitchFamily="34" charset="-122"/>
              </a:rPr>
              <a:t>万</a:t>
            </a:r>
            <a:r>
              <a:rPr lang="zh-CN" altLang="en-US" sz="950" dirty="0" smtClean="0">
                <a:latin typeface="微软雅黑" panose="020B0503020204020204" pitchFamily="34" charset="-122"/>
                <a:ea typeface="微软雅黑" panose="020B0503020204020204" pitchFamily="34" charset="-122"/>
              </a:rPr>
              <a:t>，</a:t>
            </a:r>
            <a:r>
              <a:rPr lang="zh-CN" altLang="en-US" sz="950" dirty="0">
                <a:latin typeface="微软雅黑" panose="020B0503020204020204" pitchFamily="34" charset="-122"/>
                <a:ea typeface="微软雅黑" panose="020B0503020204020204" pitchFamily="34" charset="-122"/>
              </a:rPr>
              <a:t>代理</a:t>
            </a:r>
            <a:r>
              <a:rPr lang="zh-CN" altLang="en-US" sz="950" dirty="0" smtClean="0">
                <a:latin typeface="微软雅黑" panose="020B0503020204020204" pitchFamily="34" charset="-122"/>
                <a:ea typeface="微软雅黑" panose="020B0503020204020204" pitchFamily="34" charset="-122"/>
              </a:rPr>
              <a:t>佣金</a:t>
            </a:r>
            <a:r>
              <a:rPr lang="en-US" altLang="zh-CN" sz="950" dirty="0" smtClean="0">
                <a:latin typeface="微软雅黑" panose="020B0503020204020204" pitchFamily="34" charset="-122"/>
                <a:ea typeface="微软雅黑" panose="020B0503020204020204" pitchFamily="34" charset="-122"/>
              </a:rPr>
              <a:t>229</a:t>
            </a:r>
            <a:r>
              <a:rPr lang="zh-CN" altLang="en-US" sz="950" dirty="0" smtClean="0">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a:t>
            </a:r>
            <a:r>
              <a:rPr lang="zh-CN" altLang="en-US" sz="950" dirty="0" smtClean="0">
                <a:latin typeface="微软雅黑" panose="020B0503020204020204" pitchFamily="34" charset="-122"/>
                <a:ea typeface="微软雅黑" panose="020B0503020204020204" pitchFamily="34" charset="-122"/>
              </a:rPr>
              <a:t>案</a:t>
            </a:r>
            <a:r>
              <a:rPr lang="zh-CN" altLang="en-US" sz="950" dirty="0">
                <a:latin typeface="微软雅黑" panose="020B0503020204020204" pitchFamily="34" charset="-122"/>
                <a:ea typeface="微软雅黑" panose="020B0503020204020204" pitchFamily="34" charset="-122"/>
              </a:rPr>
              <a:t>场物业费</a:t>
            </a:r>
            <a:r>
              <a:rPr lang="en-US" altLang="zh-CN" sz="950" dirty="0">
                <a:latin typeface="微软雅黑" panose="020B0503020204020204" pitchFamily="34" charset="-122"/>
                <a:ea typeface="微软雅黑" panose="020B0503020204020204" pitchFamily="34" charset="-122"/>
              </a:rPr>
              <a:t>12</a:t>
            </a:r>
            <a:r>
              <a:rPr lang="zh-CN" altLang="en-US" sz="950" dirty="0" smtClean="0">
                <a:latin typeface="微软雅黑" panose="020B0503020204020204" pitchFamily="34" charset="-122"/>
                <a:ea typeface="微软雅黑" panose="020B0503020204020204" pitchFamily="34" charset="-122"/>
              </a:rPr>
              <a:t>万，赠送物业费</a:t>
            </a:r>
            <a:r>
              <a:rPr lang="en-US" altLang="zh-CN" sz="950" dirty="0" smtClean="0">
                <a:latin typeface="微软雅黑" panose="020B0503020204020204" pitchFamily="34" charset="-122"/>
                <a:ea typeface="微软雅黑" panose="020B0503020204020204" pitchFamily="34" charset="-122"/>
              </a:rPr>
              <a:t>24</a:t>
            </a:r>
            <a:r>
              <a:rPr lang="zh-CN" altLang="en-US" sz="950" dirty="0" smtClean="0">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占</a:t>
            </a:r>
            <a:r>
              <a:rPr lang="zh-CN" altLang="en-US" sz="950" dirty="0" smtClean="0">
                <a:latin typeface="微软雅黑" panose="020B0503020204020204" pitchFamily="34" charset="-122"/>
                <a:ea typeface="微软雅黑" panose="020B0503020204020204" pitchFamily="34" charset="-122"/>
              </a:rPr>
              <a:t>收入</a:t>
            </a:r>
            <a:r>
              <a:rPr lang="en-US" altLang="zh-CN" sz="950" dirty="0" smtClean="0">
                <a:latin typeface="微软雅黑" panose="020B0503020204020204" pitchFamily="34" charset="-122"/>
                <a:ea typeface="微软雅黑" panose="020B0503020204020204" pitchFamily="34" charset="-122"/>
              </a:rPr>
              <a:t>6.8%</a:t>
            </a:r>
            <a:r>
              <a:rPr lang="zh-CN" altLang="en-US" sz="950" dirty="0">
                <a:latin typeface="微软雅黑" panose="020B0503020204020204" pitchFamily="34" charset="-122"/>
                <a:ea typeface="微软雅黑" panose="020B0503020204020204" pitchFamily="34" charset="-122"/>
              </a:rPr>
              <a:t>，</a:t>
            </a:r>
            <a:r>
              <a:rPr lang="zh-CN" altLang="en-US" sz="950" b="1" dirty="0">
                <a:solidFill>
                  <a:srgbClr val="C00000"/>
                </a:solidFill>
                <a:latin typeface="微软雅黑" panose="020B0503020204020204" pitchFamily="34" charset="-122"/>
                <a:ea typeface="微软雅黑" panose="020B0503020204020204" pitchFamily="34" charset="-122"/>
              </a:rPr>
              <a:t>不含案场物业费及赠送物业费，占收入</a:t>
            </a:r>
            <a:r>
              <a:rPr lang="zh-CN" altLang="en-US" sz="950" b="1" dirty="0" smtClean="0">
                <a:solidFill>
                  <a:srgbClr val="C00000"/>
                </a:solidFill>
                <a:latin typeface="微软雅黑" panose="020B0503020204020204" pitchFamily="34" charset="-122"/>
                <a:ea typeface="微软雅黑" panose="020B0503020204020204" pitchFamily="34" charset="-122"/>
              </a:rPr>
              <a:t>比</a:t>
            </a:r>
            <a:r>
              <a:rPr lang="en-US" altLang="zh-CN" sz="950" b="1" dirty="0" smtClean="0">
                <a:solidFill>
                  <a:srgbClr val="C00000"/>
                </a:solidFill>
                <a:latin typeface="微软雅黑" panose="020B0503020204020204" pitchFamily="34" charset="-122"/>
                <a:ea typeface="微软雅黑" panose="020B0503020204020204" pitchFamily="34" charset="-122"/>
              </a:rPr>
              <a:t>6.1%</a:t>
            </a:r>
            <a:r>
              <a:rPr lang="zh-CN" altLang="en-US" sz="950" b="1" dirty="0">
                <a:solidFill>
                  <a:srgbClr val="C00000"/>
                </a:solidFill>
                <a:latin typeface="微软雅黑" panose="020B0503020204020204" pitchFamily="34" charset="-122"/>
                <a:ea typeface="微软雅黑" panose="020B0503020204020204" pitchFamily="34" charset="-122"/>
              </a:rPr>
              <a:t>；</a:t>
            </a:r>
            <a:endParaRPr lang="zh-CN" altLang="en-US" sz="950" b="1" dirty="0">
              <a:solidFill>
                <a:srgbClr val="C00000"/>
              </a:solidFill>
              <a:latin typeface="微软雅黑" panose="020B0503020204020204" pitchFamily="34" charset="-122"/>
              <a:ea typeface="微软雅黑" panose="020B0503020204020204" pitchFamily="34" charset="-122"/>
            </a:endParaRPr>
          </a:p>
          <a:p>
            <a:pPr lvl="0">
              <a:defRPr/>
            </a:pPr>
            <a:r>
              <a:rPr lang="zh-CN" altLang="en-US" sz="950" b="1" dirty="0">
                <a:latin typeface="微软雅黑" panose="020B0503020204020204" pitchFamily="34" charset="-122"/>
                <a:ea typeface="微软雅黑" panose="020B0503020204020204" pitchFamily="34" charset="-122"/>
              </a:rPr>
              <a:t>惠州产业：</a:t>
            </a:r>
            <a:r>
              <a:rPr lang="zh-CN" altLang="en-US" sz="950" dirty="0">
                <a:latin typeface="微软雅黑" panose="020B0503020204020204" pitchFamily="34" charset="-122"/>
                <a:ea typeface="微软雅黑" panose="020B0503020204020204" pitchFamily="34" charset="-122"/>
              </a:rPr>
              <a:t>空置物业费</a:t>
            </a:r>
            <a:r>
              <a:rPr lang="en-US" altLang="zh-CN" sz="950" dirty="0">
                <a:latin typeface="微软雅黑" panose="020B0503020204020204" pitchFamily="34" charset="-122"/>
                <a:ea typeface="微软雅黑" panose="020B0503020204020204" pitchFamily="34" charset="-122"/>
              </a:rPr>
              <a:t>76</a:t>
            </a:r>
            <a:r>
              <a:rPr lang="zh-CN" altLang="en-US" sz="950" dirty="0">
                <a:latin typeface="微软雅黑" panose="020B0503020204020204" pitchFamily="34" charset="-122"/>
                <a:ea typeface="微软雅黑" panose="020B0503020204020204" pitchFamily="34" charset="-122"/>
              </a:rPr>
              <a:t>万。</a:t>
            </a:r>
            <a:endParaRPr lang="zh-CN" altLang="en-US" sz="950" b="1" dirty="0">
              <a:solidFill>
                <a:srgbClr val="C00000"/>
              </a:solidFill>
              <a:latin typeface="微软雅黑" panose="020B0503020204020204" pitchFamily="34" charset="-122"/>
              <a:ea typeface="微软雅黑" panose="020B0503020204020204" pitchFamily="34" charset="-122"/>
            </a:endParaRPr>
          </a:p>
          <a:p>
            <a:pPr lvl="0">
              <a:defRPr/>
            </a:pPr>
            <a:r>
              <a:rPr lang="zh-CN" altLang="en-US" sz="950" b="1" dirty="0">
                <a:latin typeface="微软雅黑" panose="020B0503020204020204" pitchFamily="34" charset="-122"/>
                <a:ea typeface="微软雅黑" panose="020B0503020204020204" pitchFamily="34" charset="-122"/>
              </a:rPr>
              <a:t>南京产业：</a:t>
            </a:r>
            <a:r>
              <a:rPr lang="zh-CN" altLang="en-US" sz="950" b="1" dirty="0" smtClean="0">
                <a:solidFill>
                  <a:srgbClr val="C00000"/>
                </a:solidFill>
                <a:latin typeface="微软雅黑" panose="020B0503020204020204" pitchFamily="34" charset="-122"/>
                <a:ea typeface="微软雅黑" panose="020B0503020204020204" pitchFamily="34" charset="-122"/>
              </a:rPr>
              <a:t>管理费用</a:t>
            </a:r>
            <a:r>
              <a:rPr lang="en-US" altLang="zh-CN" sz="950" b="1" dirty="0" smtClean="0">
                <a:solidFill>
                  <a:srgbClr val="C00000"/>
                </a:solidFill>
                <a:latin typeface="微软雅黑" panose="020B0503020204020204" pitchFamily="34" charset="-122"/>
                <a:ea typeface="微软雅黑" panose="020B0503020204020204" pitchFamily="34" charset="-122"/>
              </a:rPr>
              <a:t>167</a:t>
            </a:r>
            <a:r>
              <a:rPr lang="zh-CN" altLang="en-US" sz="950" b="1" dirty="0" smtClean="0">
                <a:solidFill>
                  <a:srgbClr val="C00000"/>
                </a:solidFill>
                <a:latin typeface="微软雅黑" panose="020B0503020204020204" pitchFamily="34" charset="-122"/>
                <a:ea typeface="微软雅黑" panose="020B0503020204020204" pitchFamily="34" charset="-122"/>
              </a:rPr>
              <a:t>万，占</a:t>
            </a:r>
            <a:r>
              <a:rPr lang="zh-CN" altLang="en-US" sz="950" b="1" dirty="0">
                <a:solidFill>
                  <a:srgbClr val="C00000"/>
                </a:solidFill>
                <a:latin typeface="微软雅黑" panose="020B0503020204020204" pitchFamily="34" charset="-122"/>
                <a:ea typeface="微软雅黑" panose="020B0503020204020204" pitchFamily="34" charset="-122"/>
              </a:rPr>
              <a:t>比</a:t>
            </a:r>
            <a:r>
              <a:rPr lang="zh-CN" altLang="en-US" sz="950" b="1" dirty="0" smtClean="0">
                <a:solidFill>
                  <a:srgbClr val="C00000"/>
                </a:solidFill>
                <a:latin typeface="微软雅黑" panose="020B0503020204020204" pitchFamily="34" charset="-122"/>
                <a:ea typeface="微软雅黑" panose="020B0503020204020204" pitchFamily="34" charset="-122"/>
              </a:rPr>
              <a:t>收入</a:t>
            </a:r>
            <a:r>
              <a:rPr lang="en-US" altLang="zh-CN" sz="950" b="1" dirty="0" smtClean="0">
                <a:solidFill>
                  <a:srgbClr val="C00000"/>
                </a:solidFill>
                <a:latin typeface="微软雅黑" panose="020B0503020204020204" pitchFamily="34" charset="-122"/>
                <a:ea typeface="微软雅黑" panose="020B0503020204020204" pitchFamily="34" charset="-122"/>
              </a:rPr>
              <a:t>5.6%</a:t>
            </a:r>
            <a:r>
              <a:rPr lang="zh-CN" altLang="en-US" sz="950" dirty="0">
                <a:latin typeface="微软雅黑" panose="020B0503020204020204" pitchFamily="34" charset="-122"/>
                <a:ea typeface="微软雅黑" panose="020B0503020204020204" pitchFamily="34" charset="-122"/>
              </a:rPr>
              <a:t>；</a:t>
            </a:r>
            <a:r>
              <a:rPr lang="zh-CN" altLang="en-US" sz="950" b="1" dirty="0">
                <a:solidFill>
                  <a:srgbClr val="C00000"/>
                </a:solidFill>
                <a:latin typeface="微软雅黑" panose="020B0503020204020204" pitchFamily="34" charset="-122"/>
                <a:ea typeface="微软雅黑" panose="020B0503020204020204" pitchFamily="34" charset="-122"/>
              </a:rPr>
              <a:t>营销</a:t>
            </a:r>
            <a:r>
              <a:rPr lang="zh-CN" altLang="en-US" sz="950" b="1" dirty="0" smtClean="0">
                <a:solidFill>
                  <a:srgbClr val="C00000"/>
                </a:solidFill>
                <a:latin typeface="微软雅黑" panose="020B0503020204020204" pitchFamily="34" charset="-122"/>
                <a:ea typeface="微软雅黑" panose="020B0503020204020204" pitchFamily="34" charset="-122"/>
              </a:rPr>
              <a:t>费用</a:t>
            </a:r>
            <a:r>
              <a:rPr lang="en-US" altLang="zh-CN" sz="950" b="1" dirty="0" smtClean="0">
                <a:solidFill>
                  <a:srgbClr val="C00000"/>
                </a:solidFill>
                <a:latin typeface="微软雅黑" panose="020B0503020204020204" pitchFamily="34" charset="-122"/>
                <a:ea typeface="微软雅黑" panose="020B0503020204020204" pitchFamily="34" charset="-122"/>
              </a:rPr>
              <a:t>177</a:t>
            </a:r>
            <a:r>
              <a:rPr lang="zh-CN" altLang="en-US" sz="950" b="1" dirty="0" smtClean="0">
                <a:solidFill>
                  <a:srgbClr val="C00000"/>
                </a:solidFill>
                <a:latin typeface="微软雅黑" panose="020B0503020204020204" pitchFamily="34" charset="-122"/>
                <a:ea typeface="微软雅黑" panose="020B0503020204020204" pitchFamily="34" charset="-122"/>
              </a:rPr>
              <a:t>万</a:t>
            </a:r>
            <a:r>
              <a:rPr lang="zh-CN" altLang="en-US" sz="950" dirty="0">
                <a:latin typeface="微软雅黑" panose="020B0503020204020204" pitchFamily="34" charset="-122"/>
                <a:ea typeface="微软雅黑" panose="020B0503020204020204" pitchFamily="34" charset="-122"/>
              </a:rPr>
              <a:t>（</a:t>
            </a:r>
            <a:r>
              <a:rPr lang="zh-CN" altLang="en-US" sz="950" dirty="0">
                <a:latin typeface="微软雅黑" panose="020B0503020204020204" pitchFamily="34" charset="-122"/>
                <a:ea typeface="微软雅黑" panose="020B0503020204020204" pitchFamily="34" charset="-122"/>
                <a:sym typeface="+mn-ea"/>
              </a:rPr>
              <a:t>推广促销类</a:t>
            </a:r>
            <a:r>
              <a:rPr lang="en-US" altLang="zh-CN" sz="950" dirty="0">
                <a:latin typeface="微软雅黑" panose="020B0503020204020204" pitchFamily="34" charset="-122"/>
                <a:ea typeface="微软雅黑" panose="020B0503020204020204" pitchFamily="34" charset="-122"/>
                <a:sym typeface="+mn-ea"/>
              </a:rPr>
              <a:t>65</a:t>
            </a:r>
            <a:r>
              <a:rPr lang="zh-CN" altLang="en-US" sz="950" dirty="0">
                <a:latin typeface="微软雅黑" panose="020B0503020204020204" pitchFamily="34" charset="-122"/>
                <a:ea typeface="微软雅黑" panose="020B0503020204020204" pitchFamily="34" charset="-122"/>
                <a:sym typeface="+mn-ea"/>
              </a:rPr>
              <a:t>万</a:t>
            </a:r>
            <a:r>
              <a:rPr lang="zh-CN" altLang="en-US" sz="950" dirty="0" smtClean="0">
                <a:latin typeface="微软雅黑" panose="020B0503020204020204" pitchFamily="34" charset="-122"/>
                <a:ea typeface="微软雅黑" panose="020B0503020204020204" pitchFamily="34" charset="-122"/>
                <a:sym typeface="+mn-ea"/>
              </a:rPr>
              <a:t>，</a:t>
            </a:r>
            <a:r>
              <a:rPr lang="zh-CN" altLang="en-US" sz="950" dirty="0">
                <a:latin typeface="微软雅黑" panose="020B0503020204020204" pitchFamily="34" charset="-122"/>
                <a:ea typeface="微软雅黑" panose="020B0503020204020204" pitchFamily="34" charset="-122"/>
                <a:sym typeface="+mn-ea"/>
              </a:rPr>
              <a:t>代理</a:t>
            </a:r>
            <a:r>
              <a:rPr lang="zh-CN" altLang="en-US" sz="950" dirty="0" smtClean="0">
                <a:latin typeface="微软雅黑" panose="020B0503020204020204" pitchFamily="34" charset="-122"/>
                <a:ea typeface="微软雅黑" panose="020B0503020204020204" pitchFamily="34" charset="-122"/>
                <a:sym typeface="+mn-ea"/>
              </a:rPr>
              <a:t>佣金</a:t>
            </a:r>
            <a:r>
              <a:rPr lang="en-US" altLang="zh-CN" sz="950" dirty="0" smtClean="0">
                <a:latin typeface="微软雅黑" panose="020B0503020204020204" pitchFamily="34" charset="-122"/>
                <a:ea typeface="微软雅黑" panose="020B0503020204020204" pitchFamily="34" charset="-122"/>
                <a:sym typeface="+mn-ea"/>
              </a:rPr>
              <a:t>89</a:t>
            </a:r>
            <a:r>
              <a:rPr lang="zh-CN" altLang="en-US" sz="950" dirty="0" smtClean="0">
                <a:latin typeface="微软雅黑" panose="020B0503020204020204" pitchFamily="34" charset="-122"/>
                <a:ea typeface="微软雅黑" panose="020B0503020204020204" pitchFamily="34" charset="-122"/>
                <a:sym typeface="+mn-ea"/>
              </a:rPr>
              <a:t>万，其他</a:t>
            </a:r>
            <a:r>
              <a:rPr lang="zh-CN" altLang="en-US" sz="950" dirty="0">
                <a:latin typeface="微软雅黑" panose="020B0503020204020204" pitchFamily="34" charset="-122"/>
                <a:ea typeface="微软雅黑" panose="020B0503020204020204" pitchFamily="34" charset="-122"/>
                <a:sym typeface="+mn-ea"/>
              </a:rPr>
              <a:t>营销</a:t>
            </a:r>
            <a:r>
              <a:rPr lang="zh-CN" altLang="en-US" sz="950" dirty="0" smtClean="0">
                <a:latin typeface="微软雅黑" panose="020B0503020204020204" pitchFamily="34" charset="-122"/>
                <a:ea typeface="微软雅黑" panose="020B0503020204020204" pitchFamily="34" charset="-122"/>
                <a:sym typeface="+mn-ea"/>
              </a:rPr>
              <a:t>费</a:t>
            </a:r>
            <a:r>
              <a:rPr lang="en-US" altLang="zh-CN" sz="950" dirty="0" smtClean="0">
                <a:latin typeface="微软雅黑" panose="020B0503020204020204" pitchFamily="34" charset="-122"/>
                <a:ea typeface="微软雅黑" panose="020B0503020204020204" pitchFamily="34" charset="-122"/>
                <a:sym typeface="+mn-ea"/>
              </a:rPr>
              <a:t>24</a:t>
            </a:r>
            <a:r>
              <a:rPr lang="zh-CN" altLang="en-US" sz="950" dirty="0" smtClean="0">
                <a:latin typeface="微软雅黑" panose="020B0503020204020204" pitchFamily="34" charset="-122"/>
                <a:ea typeface="微软雅黑" panose="020B0503020204020204" pitchFamily="34" charset="-122"/>
                <a:sym typeface="+mn-ea"/>
              </a:rPr>
              <a:t>万</a:t>
            </a:r>
            <a:r>
              <a:rPr lang="zh-CN" altLang="en-US" sz="950" dirty="0" smtClean="0">
                <a:latin typeface="微软雅黑" panose="020B0503020204020204" pitchFamily="34" charset="-122"/>
                <a:ea typeface="微软雅黑" panose="020B0503020204020204" pitchFamily="34" charset="-122"/>
              </a:rPr>
              <a:t>），</a:t>
            </a:r>
            <a:r>
              <a:rPr lang="zh-CN" altLang="en-US" sz="950" dirty="0">
                <a:latin typeface="微软雅黑" panose="020B0503020204020204" pitchFamily="34" charset="-122"/>
                <a:ea typeface="微软雅黑" panose="020B0503020204020204" pitchFamily="34" charset="-122"/>
              </a:rPr>
              <a:t>占</a:t>
            </a:r>
            <a:r>
              <a:rPr lang="zh-CN" altLang="en-US" sz="950" dirty="0" smtClean="0">
                <a:latin typeface="微软雅黑" panose="020B0503020204020204" pitchFamily="34" charset="-122"/>
                <a:ea typeface="微软雅黑" panose="020B0503020204020204" pitchFamily="34" charset="-122"/>
              </a:rPr>
              <a:t>收入</a:t>
            </a:r>
            <a:r>
              <a:rPr lang="en-US" altLang="zh-CN" sz="950" dirty="0" smtClean="0">
                <a:latin typeface="微软雅黑" panose="020B0503020204020204" pitchFamily="34" charset="-122"/>
                <a:ea typeface="微软雅黑" panose="020B0503020204020204" pitchFamily="34" charset="-122"/>
              </a:rPr>
              <a:t>5.9%</a:t>
            </a:r>
            <a:r>
              <a:rPr lang="zh-CN" altLang="en-US" sz="950" dirty="0">
                <a:latin typeface="微软雅黑" panose="020B0503020204020204" pitchFamily="34" charset="-122"/>
                <a:ea typeface="微软雅黑" panose="020B0503020204020204" pitchFamily="34" charset="-122"/>
              </a:rPr>
              <a:t>，</a:t>
            </a:r>
            <a:r>
              <a:rPr lang="zh-CN" altLang="en-US" sz="950" b="1" dirty="0">
                <a:solidFill>
                  <a:srgbClr val="C00000"/>
                </a:solidFill>
                <a:latin typeface="微软雅黑" panose="020B0503020204020204" pitchFamily="34" charset="-122"/>
                <a:ea typeface="微软雅黑" panose="020B0503020204020204" pitchFamily="34" charset="-122"/>
                <a:sym typeface="+mn-ea"/>
              </a:rPr>
              <a:t>不含案场物业费及赠送物业费</a:t>
            </a:r>
            <a:r>
              <a:rPr lang="zh-CN" altLang="en-US" sz="950" b="1" dirty="0">
                <a:solidFill>
                  <a:srgbClr val="C00000"/>
                </a:solidFill>
                <a:latin typeface="微软雅黑" panose="020B0503020204020204" pitchFamily="34" charset="-122"/>
                <a:ea typeface="微软雅黑" panose="020B0503020204020204" pitchFamily="34" charset="-122"/>
              </a:rPr>
              <a:t>，占收入</a:t>
            </a:r>
            <a:r>
              <a:rPr lang="zh-CN" altLang="en-US" sz="950" b="1" dirty="0" smtClean="0">
                <a:solidFill>
                  <a:srgbClr val="C00000"/>
                </a:solidFill>
                <a:latin typeface="微软雅黑" panose="020B0503020204020204" pitchFamily="34" charset="-122"/>
                <a:ea typeface="微软雅黑" panose="020B0503020204020204" pitchFamily="34" charset="-122"/>
              </a:rPr>
              <a:t>比</a:t>
            </a:r>
            <a:r>
              <a:rPr lang="en-US" altLang="zh-CN" sz="950" b="1" dirty="0" smtClean="0">
                <a:solidFill>
                  <a:srgbClr val="C00000"/>
                </a:solidFill>
                <a:latin typeface="微软雅黑" panose="020B0503020204020204" pitchFamily="34" charset="-122"/>
                <a:ea typeface="微软雅黑" panose="020B0503020204020204" pitchFamily="34" charset="-122"/>
              </a:rPr>
              <a:t>5.9%</a:t>
            </a:r>
            <a:r>
              <a:rPr lang="zh-CN" altLang="en-US" sz="950" b="1" dirty="0" smtClean="0">
                <a:solidFill>
                  <a:srgbClr val="C00000"/>
                </a:solidFill>
                <a:latin typeface="微软雅黑" panose="020B0503020204020204" pitchFamily="34" charset="-122"/>
                <a:ea typeface="微软雅黑" panose="020B0503020204020204" pitchFamily="34" charset="-122"/>
              </a:rPr>
              <a:t>。</a:t>
            </a:r>
            <a:endParaRPr lang="zh-CN" altLang="en-US" sz="950" b="1" dirty="0" smtClean="0">
              <a:solidFill>
                <a:srgbClr val="C00000"/>
              </a:solidFill>
              <a:latin typeface="微软雅黑" panose="020B0503020204020204" pitchFamily="34" charset="-122"/>
              <a:ea typeface="微软雅黑" panose="020B0503020204020204" pitchFamily="34" charset="-122"/>
            </a:endParaRPr>
          </a:p>
        </p:txBody>
      </p:sp>
      <p:graphicFrame>
        <p:nvGraphicFramePr>
          <p:cNvPr id="7" name="表格 6"/>
          <p:cNvGraphicFramePr/>
          <p:nvPr>
            <p:custDataLst>
              <p:tags r:id="rId1"/>
            </p:custDataLst>
          </p:nvPr>
        </p:nvGraphicFramePr>
        <p:xfrm>
          <a:off x="156845" y="669290"/>
          <a:ext cx="9438640" cy="3639185"/>
        </p:xfrm>
        <a:graphic>
          <a:graphicData uri="http://schemas.openxmlformats.org/drawingml/2006/table">
            <a:tbl>
              <a:tblPr/>
              <a:tblGrid>
                <a:gridCol w="1291590"/>
                <a:gridCol w="508000"/>
                <a:gridCol w="508635"/>
                <a:gridCol w="507365"/>
                <a:gridCol w="509270"/>
                <a:gridCol w="525145"/>
                <a:gridCol w="490855"/>
                <a:gridCol w="489585"/>
                <a:gridCol w="490855"/>
                <a:gridCol w="444500"/>
                <a:gridCol w="445770"/>
                <a:gridCol w="445770"/>
                <a:gridCol w="463550"/>
                <a:gridCol w="463550"/>
                <a:gridCol w="462280"/>
                <a:gridCol w="494030"/>
                <a:gridCol w="450215"/>
                <a:gridCol w="447675"/>
              </a:tblGrid>
              <a:tr h="235585">
                <a:tc rowSpan="2">
                  <a:txBody>
                    <a:bodyPr/>
                    <a:p>
                      <a:pPr algn="ctr" fontAlgn="ctr"/>
                      <a:r>
                        <a:rPr lang="zh-CN" sz="800" b="1" i="0">
                          <a:solidFill>
                            <a:srgbClr val="FFFFFF"/>
                          </a:solidFill>
                          <a:latin typeface="微软雅黑" panose="020B0503020204020204" pitchFamily="34" charset="-122"/>
                          <a:ea typeface="微软雅黑" panose="020B0503020204020204" pitchFamily="34" charset="-122"/>
                        </a:rPr>
                        <a:t>项目</a:t>
                      </a:r>
                      <a:endParaRPr lang="zh-CN"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5">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产业</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销售小合并</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成都</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惠州</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苏州</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tcPr>
                </a:tc>
                <a:tc gridSpan="3">
                  <a:txBody>
                    <a:bodyPr/>
                    <a:p>
                      <a:pPr algn="ctr" fontAlgn="ctr">
                        <a:buNone/>
                      </a:pPr>
                      <a:r>
                        <a:rPr lang="zh-CN" altLang="en-US" sz="800" b="1" i="0">
                          <a:solidFill>
                            <a:srgbClr val="FFFFFF"/>
                          </a:solidFill>
                          <a:latin typeface="微软雅黑" panose="020B0503020204020204" pitchFamily="34" charset="-122"/>
                          <a:ea typeface="微软雅黑" panose="020B0503020204020204" pitchFamily="34" charset="-122"/>
                        </a:rPr>
                        <a:t>南京</a:t>
                      </a:r>
                      <a:endParaRPr lang="zh-CN" altLang="en-US" sz="800" b="1" i="0">
                        <a:solidFill>
                          <a:srgbClr val="FFFFFF"/>
                        </a:solidFill>
                        <a:latin typeface="微软雅黑" panose="020B0503020204020204" pitchFamily="34" charset="-122"/>
                        <a:ea typeface="微软雅黑" panose="020B0503020204020204" pitchFamily="34" charset="-122"/>
                      </a:endParaRPr>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R w="6350" cap="flat" cmpd="sng">
                      <a:solidFill>
                        <a:srgbClr val="C5D9F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hMerge="1">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337820">
                <a:tc vMerge="1">
                  <a:tcPr>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差异百分比</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15748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收入合计（不含税）</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17,901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27,563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7,890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-19,673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-71.4%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4,315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8,608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5,142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4,769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4,340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1,862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8,835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6,955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5,780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2,749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zh-CN" altLang="en-US" sz="800" b="1" i="0">
                          <a:solidFill>
                            <a:srgbClr val="FF0000"/>
                          </a:solidFill>
                          <a:latin typeface="微软雅黑" panose="020B0503020204020204" pitchFamily="34" charset="-122"/>
                          <a:ea typeface="微软雅黑" panose="020B0503020204020204" pitchFamily="34" charset="-122"/>
                        </a:rPr>
                        <a:t>一、收入合计（含税）</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19,512</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30,044</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8,600</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-21,444</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-71.4%</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4,704</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9,383</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5,604</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5,198</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4,731</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2,030</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9,630</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7,581</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6,300</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 </a:t>
                      </a:r>
                      <a:r>
                        <a:rPr lang="en-US" altLang="zh-CN" sz="900" b="1" i="0">
                          <a:solidFill>
                            <a:srgbClr val="FF0000"/>
                          </a:solidFill>
                          <a:latin typeface="微软雅黑" panose="020B0503020204020204" pitchFamily="34" charset="-122"/>
                          <a:ea typeface="微软雅黑" panose="020B0503020204020204" pitchFamily="34" charset="-122"/>
                        </a:rPr>
                        <a:t>2,996</a:t>
                      </a:r>
                      <a:r>
                        <a:rPr lang="en-US" altLang="zh-CN" sz="900" b="1" i="0">
                          <a:solidFill>
                            <a:srgbClr val="FF0000"/>
                          </a:solidFill>
                          <a:latin typeface="微软雅黑" panose="020B0503020204020204" pitchFamily="34" charset="-122"/>
                          <a:ea typeface="微软雅黑" panose="020B0503020204020204" pitchFamily="34" charset="-122"/>
                        </a:rPr>
                        <a:t> </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192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二、日常费用支出合计</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2,963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3,081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2060"/>
                          </a:solidFill>
                          <a:latin typeface="微软雅黑" panose="020B0503020204020204" pitchFamily="34" charset="-122"/>
                          <a:ea typeface="微软雅黑" panose="020B0503020204020204" pitchFamily="34" charset="-122"/>
                        </a:rPr>
                        <a:t> </a:t>
                      </a:r>
                      <a:r>
                        <a:rPr lang="en-US" altLang="zh-CN" sz="900" b="1" i="0">
                          <a:solidFill>
                            <a:srgbClr val="002060"/>
                          </a:solidFill>
                          <a:latin typeface="微软雅黑" panose="020B0503020204020204" pitchFamily="34" charset="-122"/>
                          <a:ea typeface="微软雅黑" panose="020B0503020204020204" pitchFamily="34" charset="-122"/>
                        </a:rPr>
                        <a:t>1,134</a:t>
                      </a:r>
                      <a:r>
                        <a:rPr lang="en-US" altLang="zh-CN" sz="900" b="1" i="0">
                          <a:solidFill>
                            <a:srgbClr val="002060"/>
                          </a:solidFill>
                          <a:latin typeface="微软雅黑" panose="020B0503020204020204" pitchFamily="34" charset="-122"/>
                          <a:ea typeface="微软雅黑" panose="020B0503020204020204" pitchFamily="34" charset="-122"/>
                        </a:rPr>
                        <a:t> </a:t>
                      </a:r>
                      <a:endParaRPr lang="en-US" altLang="zh-CN" sz="900" b="1" i="0">
                        <a:solidFill>
                          <a:srgbClr val="00206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-1,947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-63.2%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692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790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713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1,239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345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5811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管理费用小计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1,355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-64.4%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192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物业费用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-33.2%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5811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营销费用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-64.4%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30480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三、地产成本、税金、</a:t>
                      </a:r>
                      <a:endParaRPr lang="zh-CN" altLang="en-US" sz="800" b="1" i="0">
                        <a:solidFill>
                          <a:srgbClr val="000000"/>
                        </a:solidFill>
                        <a:latin typeface="微软雅黑" panose="020B0503020204020204" pitchFamily="34" charset="-122"/>
                        <a:ea typeface="微软雅黑" panose="020B0503020204020204" pitchFamily="34" charset="-122"/>
                      </a:endParaRPr>
                    </a:p>
                    <a:p>
                      <a:pPr algn="l" fontAlgn="ctr"/>
                      <a:r>
                        <a:rPr lang="zh-CN" altLang="en-US" sz="800" b="1" i="0">
                          <a:solidFill>
                            <a:srgbClr val="000000"/>
                          </a:solidFill>
                          <a:latin typeface="微软雅黑" panose="020B0503020204020204" pitchFamily="34" charset="-122"/>
                          <a:ea typeface="微软雅黑" panose="020B0503020204020204" pitchFamily="34" charset="-122"/>
                        </a:rPr>
                        <a:t>利息</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22,061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32,075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9,494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-22,581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-70.4%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4,931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8,418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5,065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4,800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4,417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1,919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7,624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10,410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11,616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4,429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7005">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1. </a:t>
                      </a:r>
                      <a:r>
                        <a:rPr lang="zh-CN" altLang="en-US" sz="800" b="0" i="0">
                          <a:solidFill>
                            <a:srgbClr val="000000"/>
                          </a:solidFill>
                          <a:latin typeface="微软雅黑" panose="020B0503020204020204" pitchFamily="34" charset="-122"/>
                          <a:ea typeface="微软雅黑" panose="020B0503020204020204" pitchFamily="34" charset="-122"/>
                        </a:rPr>
                        <a:t>土地成本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8,099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-68.0%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3,876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5875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2. </a:t>
                      </a:r>
                      <a:r>
                        <a:rPr lang="zh-CN" altLang="en-US" sz="800" b="0" i="0">
                          <a:solidFill>
                            <a:srgbClr val="000000"/>
                          </a:solidFill>
                          <a:latin typeface="微软雅黑" panose="020B0503020204020204" pitchFamily="34" charset="-122"/>
                          <a:ea typeface="微软雅黑" panose="020B0503020204020204" pitchFamily="34" charset="-122"/>
                        </a:rPr>
                        <a:t>建安成本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12,928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18,795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-13,706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-72.9%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5,728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1,158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0020">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3. </a:t>
                      </a:r>
                      <a:r>
                        <a:rPr lang="zh-CN" altLang="en-US" sz="800" b="0" i="0">
                          <a:solidFill>
                            <a:srgbClr val="000000"/>
                          </a:solidFill>
                          <a:latin typeface="微软雅黑" panose="020B0503020204020204" pitchFamily="34" charset="-122"/>
                          <a:ea typeface="微软雅黑" panose="020B0503020204020204" pitchFamily="34" charset="-122"/>
                        </a:rPr>
                        <a:t>税金及附加</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-59.5%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0020">
                <a:tc>
                  <a:txBody>
                    <a:bodyPr/>
                    <a:p>
                      <a:pPr algn="l" fontAlgn="ctr">
                        <a:buNone/>
                      </a:pPr>
                      <a:r>
                        <a:rPr lang="en-US" altLang="zh-CN" sz="800" b="0" i="0">
                          <a:solidFill>
                            <a:srgbClr val="000000"/>
                          </a:solidFill>
                          <a:latin typeface="微软雅黑" panose="020B0503020204020204" pitchFamily="34" charset="-122"/>
                          <a:ea typeface="微软雅黑" panose="020B0503020204020204" pitchFamily="34" charset="-122"/>
                        </a:rPr>
                        <a:t>4. </a:t>
                      </a:r>
                      <a:r>
                        <a:rPr lang="zh-CN" altLang="en-US" sz="800" b="0" i="0">
                          <a:solidFill>
                            <a:srgbClr val="000000"/>
                          </a:solidFill>
                          <a:latin typeface="微软雅黑" panose="020B0503020204020204" pitchFamily="34" charset="-122"/>
                          <a:ea typeface="微软雅黑" panose="020B0503020204020204" pitchFamily="34" charset="-122"/>
                        </a:rPr>
                        <a:t>资本化利息</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2,585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-67.0%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65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四、房产税及土地使用税</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五、折旧摊销所得税等</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92.3%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0020">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六、项目净利润</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-6,250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-6,214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-2,518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3,696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59.5%</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-637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-995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-1,178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-182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-613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555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-4,005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-5,268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-2,026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158750">
                <a:tc>
                  <a:txBody>
                    <a:bodyPr/>
                    <a:p>
                      <a:pPr algn="l" fontAlgn="ctr">
                        <a:buNone/>
                      </a:pPr>
                      <a:r>
                        <a:rPr lang="zh-CN" altLang="en-US" sz="800" b="0" i="0">
                          <a:solidFill>
                            <a:srgbClr val="000000"/>
                          </a:solidFill>
                          <a:latin typeface="微软雅黑" panose="020B0503020204020204" pitchFamily="34" charset="-122"/>
                          <a:ea typeface="微软雅黑" panose="020B0503020204020204" pitchFamily="34" charset="-122"/>
                        </a:rPr>
                        <a:t>本部分摊费用</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l"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002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少数股东权益</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r>
              <a:tr h="160655">
                <a:tc>
                  <a:txBody>
                    <a:bodyPr/>
                    <a:p>
                      <a:pPr algn="l" fontAlgn="ctr"/>
                      <a:r>
                        <a:rPr lang="zh-CN" altLang="en-US" sz="800" b="1" i="0">
                          <a:solidFill>
                            <a:srgbClr val="000000"/>
                          </a:solidFill>
                          <a:latin typeface="微软雅黑" panose="020B0503020204020204" pitchFamily="34" charset="-122"/>
                          <a:ea typeface="微软雅黑" panose="020B0503020204020204" pitchFamily="34" charset="-122"/>
                        </a:rPr>
                        <a:t>七、权益净利润</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-6,523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-6,608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-2,642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3,967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60.0%</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-703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-1,068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-1,240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-182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-641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428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-4,111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-5,351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-2,069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9748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销售净利润率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chemeClr val="tx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-32.0%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-20.7%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-29.3%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-41.5%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-13.5%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-5.5%</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-19.1%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-24.9%</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#DIV/0!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-30.2%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#DIV/0!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-83.6%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-67.6%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12700" cap="flat" cmpd="sng">
                      <a:solidFill>
                        <a:schemeClr val="tx1"/>
                      </a:solidFill>
                      <a:prstDash val="solid"/>
                      <a:headEnd type="none" w="med" len="med"/>
                      <a:tailEnd type="none" w="med" len="med"/>
                    </a:lnR>
                    <a:lnT w="6350" cap="flat" cmpd="sng">
                      <a:solidFill>
                        <a:srgbClr val="C5D9F1"/>
                      </a:solidFill>
                      <a:prstDash val="solid"/>
                      <a:headEnd type="none" w="med" len="med"/>
                      <a:tailEnd type="none" w="med" len="med"/>
                    </a:lnT>
                    <a:lnB w="12700" cap="flat" cmpd="sng">
                      <a:solidFill>
                        <a:schemeClr val="tx1"/>
                      </a:solidFill>
                      <a:prstDash val="solid"/>
                      <a:headEnd type="none" w="med" len="med"/>
                      <a:tailEnd type="none" w="med" len="med"/>
                    </a:lnB>
                    <a:solidFill>
                      <a:srgbClr val="FFFFFF"/>
                    </a:solidFill>
                  </a:tcPr>
                </a:tc>
              </a:tr>
            </a:tbl>
          </a:graphicData>
        </a:graphic>
      </p:graphicFrame>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420370" y="452755"/>
            <a:ext cx="8930640" cy="274955"/>
          </a:xfrm>
          <a:prstGeom prst="round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标题 4"/>
          <p:cNvSpPr>
            <a:spLocks noGrp="1"/>
          </p:cNvSpPr>
          <p:nvPr>
            <p:ph type="title"/>
          </p:nvPr>
        </p:nvSpPr>
        <p:spPr>
          <a:xfrm>
            <a:off x="348615" y="93346"/>
            <a:ext cx="9073073" cy="359346"/>
          </a:xfrm>
        </p:spPr>
        <p:txBody>
          <a:bodyPr/>
          <a:lstStyle/>
          <a:p>
            <a:pPr lvl="0">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第三部分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kumimoji="0" lang="en-US" altLang="zh-CN" sz="1800" b="1" i="0" u="none" strike="noStrike" kern="1200" cap="none" spc="-41" normalizeH="0" baseline="0" noProof="0" dirty="0" smtClean="0">
                <a:ln>
                  <a:noFill/>
                </a:ln>
                <a:solidFill>
                  <a:schemeClr val="tx1">
                    <a:lumMod val="75000"/>
                    <a:lumOff val="25000"/>
                  </a:schemeClr>
                </a:solidFill>
                <a:effectLst/>
                <a:uLnTx/>
                <a:uFillTx/>
              </a:rPr>
              <a:t>2026年预算编制报告</a:t>
            </a:r>
            <a:r>
              <a:rPr lang="en-US" altLang="zh-CN" b="1" noProof="0" dirty="0">
                <a:ln>
                  <a:noFill/>
                </a:ln>
                <a:effectLst/>
                <a:uLnTx/>
                <a:uFillTx/>
                <a:sym typeface="+mn-ea"/>
              </a:rPr>
              <a:t>-</a:t>
            </a:r>
            <a:r>
              <a:rPr lang="zh-CN" altLang="en-US" b="1" dirty="0">
                <a:solidFill>
                  <a:srgbClr val="002060"/>
                </a:solidFill>
              </a:rPr>
              <a:t>专项成本费用分析</a:t>
            </a:r>
            <a:r>
              <a:rPr lang="zh-CN" altLang="en-US" sz="1400" b="1" dirty="0" smtClean="0">
                <a:solidFill>
                  <a:srgbClr val="002060"/>
                </a:solidFill>
                <a:sym typeface="+mn-ea"/>
              </a:rPr>
              <a:t>（租赁</a:t>
            </a:r>
            <a:r>
              <a:rPr lang="en-US" altLang="zh-CN" sz="1400" b="1" dirty="0" smtClean="0">
                <a:solidFill>
                  <a:srgbClr val="002060"/>
                </a:solidFill>
                <a:sym typeface="+mn-ea"/>
              </a:rPr>
              <a:t>+</a:t>
            </a:r>
            <a:r>
              <a:rPr lang="zh-CN" altLang="en-US" sz="1400" b="1" dirty="0" smtClean="0">
                <a:solidFill>
                  <a:srgbClr val="002060"/>
                </a:solidFill>
                <a:sym typeface="+mn-ea"/>
              </a:rPr>
              <a:t>销售长期资产支出）</a:t>
            </a:r>
            <a:br>
              <a:rPr kumimoji="0" lang="zh-CN" altLang="en-US" sz="1400" b="1" i="0" u="none" strike="noStrike" kern="1200" cap="none" spc="-41" normalizeH="0" baseline="0" noProof="0" dirty="0">
                <a:ln>
                  <a:noFill/>
                </a:ln>
                <a:solidFill>
                  <a:schemeClr val="tx1">
                    <a:lumMod val="75000"/>
                    <a:lumOff val="25000"/>
                  </a:schemeClr>
                </a:solidFill>
                <a:effectLst/>
                <a:uLnTx/>
                <a:uFillTx/>
              </a:rPr>
            </a:br>
            <a:endParaRPr kumimoji="0" lang="zh-CN" altLang="en-US" sz="1400" b="1" i="0" u="none" strike="noStrike" kern="1200" cap="none" spc="-41" normalizeH="0" baseline="0" noProof="0" dirty="0">
              <a:ln>
                <a:noFill/>
              </a:ln>
              <a:solidFill>
                <a:schemeClr val="tx1">
                  <a:lumMod val="75000"/>
                  <a:lumOff val="25000"/>
                </a:schemeClr>
              </a:solidFill>
              <a:effectLs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7" name="表格 6"/>
          <p:cNvGraphicFramePr/>
          <p:nvPr>
            <p:custDataLst>
              <p:tags r:id="rId1"/>
            </p:custDataLst>
          </p:nvPr>
        </p:nvGraphicFramePr>
        <p:xfrm>
          <a:off x="349250" y="813435"/>
          <a:ext cx="9061450" cy="4460875"/>
        </p:xfrm>
        <a:graphic>
          <a:graphicData uri="http://schemas.openxmlformats.org/drawingml/2006/table">
            <a:tbl>
              <a:tblPr/>
              <a:tblGrid>
                <a:gridCol w="1408430"/>
                <a:gridCol w="588645"/>
                <a:gridCol w="676275"/>
                <a:gridCol w="556895"/>
                <a:gridCol w="485140"/>
                <a:gridCol w="591820"/>
                <a:gridCol w="4754245"/>
              </a:tblGrid>
              <a:tr h="0">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项目</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3">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长期资产支出 </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差异</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增幅</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rowSpan="2">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备注</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r>
              <a:tr h="22288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a:t>
                      </a:r>
                      <a:endParaRPr lang="zh-CN" altLang="en-US" sz="8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800" b="1" i="0">
                          <a:solidFill>
                            <a:srgbClr val="FFFFFF"/>
                          </a:solidFill>
                          <a:latin typeface="微软雅黑" panose="020B0503020204020204" pitchFamily="34" charset="-122"/>
                          <a:ea typeface="微软雅黑" panose="020B0503020204020204" pitchFamily="34" charset="-122"/>
                        </a:rPr>
                        <a:t>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B w="6350" cap="flat" cmpd="sng">
                      <a:solidFill>
                        <a:srgbClr val="C5D9F1"/>
                      </a:solidFill>
                      <a:prstDash val="solid"/>
                      <a:headEnd type="none" w="med" len="med"/>
                      <a:tailEnd type="none" w="med" len="med"/>
                    </a:lnB>
                  </a:tcPr>
                </a:tc>
              </a:tr>
              <a:tr h="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深圳公司小计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2,907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3,171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294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3510">
                <a:tc>
                  <a:txBody>
                    <a:bodyPr/>
                    <a:p>
                      <a:pPr algn="l" fontAlgn="ctr"/>
                      <a:r>
                        <a:rPr lang="zh-CN" altLang="en-US" sz="800" b="0" i="1">
                          <a:solidFill>
                            <a:srgbClr val="000000"/>
                          </a:solidFill>
                          <a:latin typeface="微软雅黑" panose="020B0503020204020204" pitchFamily="34" charset="-122"/>
                          <a:ea typeface="微软雅黑" panose="020B0503020204020204" pitchFamily="34" charset="-122"/>
                        </a:rPr>
                        <a:t>其中：</a:t>
                      </a:r>
                      <a:r>
                        <a:rPr lang="en-US" altLang="zh-CN" sz="800" b="0" i="1">
                          <a:solidFill>
                            <a:srgbClr val="000000"/>
                          </a:solidFill>
                          <a:latin typeface="微软雅黑" panose="020B0503020204020204" pitchFamily="34" charset="-122"/>
                          <a:ea typeface="微软雅黑" panose="020B0503020204020204" pitchFamily="34" charset="-122"/>
                        </a:rPr>
                        <a:t>WORLD123</a:t>
                      </a:r>
                      <a:r>
                        <a:rPr lang="zh-CN" altLang="en-US" sz="800" b="0" i="1">
                          <a:solidFill>
                            <a:srgbClr val="000000"/>
                          </a:solidFill>
                          <a:latin typeface="微软雅黑" panose="020B0503020204020204" pitchFamily="34" charset="-122"/>
                          <a:ea typeface="微软雅黑" panose="020B0503020204020204" pitchFamily="34" charset="-122"/>
                        </a:rPr>
                        <a:t>期</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空置单元翻新改造交付（</a:t>
                      </a:r>
                      <a:r>
                        <a:rPr lang="en-US" altLang="zh-CN" sz="800" b="0" i="0">
                          <a:solidFill>
                            <a:srgbClr val="000000"/>
                          </a:solidFill>
                          <a:latin typeface="微软雅黑" panose="020B0503020204020204" pitchFamily="34" charset="-122"/>
                          <a:ea typeface="微软雅黑" panose="020B0503020204020204" pitchFamily="34" charset="-122"/>
                        </a:rPr>
                        <a:t>2000</a:t>
                      </a:r>
                      <a:r>
                        <a:rPr lang="zh-CN" altLang="en-US" sz="800" b="0" i="0">
                          <a:solidFill>
                            <a:srgbClr val="000000"/>
                          </a:solidFill>
                          <a:latin typeface="微软雅黑" panose="020B0503020204020204" pitchFamily="34" charset="-122"/>
                          <a:ea typeface="微软雅黑" panose="020B0503020204020204" pitchFamily="34" charset="-122"/>
                        </a:rPr>
                        <a:t>平）</a:t>
                      </a:r>
                      <a:r>
                        <a:rPr lang="en-US" altLang="zh-CN" sz="800" b="0" i="0">
                          <a:solidFill>
                            <a:srgbClr val="000000"/>
                          </a:solidFill>
                          <a:latin typeface="微软雅黑" panose="020B0503020204020204" pitchFamily="34" charset="-122"/>
                          <a:ea typeface="微软雅黑" panose="020B0503020204020204" pitchFamily="34" charset="-122"/>
                        </a:rPr>
                        <a:t>180</a:t>
                      </a:r>
                      <a:r>
                        <a:rPr lang="zh-CN" altLang="en-US" sz="800" b="0" i="0">
                          <a:solidFill>
                            <a:srgbClr val="000000"/>
                          </a:solidFill>
                          <a:latin typeface="微软雅黑" panose="020B0503020204020204" pitchFamily="34" charset="-122"/>
                          <a:ea typeface="微软雅黑" panose="020B0503020204020204" pitchFamily="34" charset="-122"/>
                        </a:rPr>
                        <a:t>万元，零星改造工程</a:t>
                      </a:r>
                      <a:r>
                        <a:rPr lang="en-US" altLang="zh-CN" sz="800" b="0" i="0">
                          <a:solidFill>
                            <a:srgbClr val="000000"/>
                          </a:solidFill>
                          <a:latin typeface="微软雅黑" panose="020B0503020204020204" pitchFamily="34" charset="-122"/>
                          <a:ea typeface="微软雅黑" panose="020B0503020204020204" pitchFamily="34" charset="-122"/>
                        </a:rPr>
                        <a:t>346.4</a:t>
                      </a:r>
                      <a:r>
                        <a:rPr lang="zh-CN" altLang="en-US" sz="800" b="0" i="0">
                          <a:solidFill>
                            <a:srgbClr val="000000"/>
                          </a:solidFill>
                          <a:latin typeface="微软雅黑" panose="020B0503020204020204" pitchFamily="34" charset="-122"/>
                          <a:ea typeface="微软雅黑" panose="020B0503020204020204" pitchFamily="34" charset="-122"/>
                        </a:rPr>
                        <a:t>万，XH时代零星工程</a:t>
                      </a:r>
                      <a:r>
                        <a:rPr lang="en-US" altLang="zh-CN" sz="800" b="0" i="0">
                          <a:solidFill>
                            <a:srgbClr val="000000"/>
                          </a:solidFill>
                          <a:latin typeface="微软雅黑" panose="020B0503020204020204" pitchFamily="34" charset="-122"/>
                          <a:ea typeface="微软雅黑" panose="020B0503020204020204" pitchFamily="34" charset="-122"/>
                        </a:rPr>
                        <a:t>30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2098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双塔组团</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装配式装修（</a:t>
                      </a:r>
                      <a:r>
                        <a:rPr lang="en-US" altLang="zh-CN" sz="800" b="0" i="0">
                          <a:solidFill>
                            <a:srgbClr val="000000"/>
                          </a:solidFill>
                          <a:latin typeface="微软雅黑" panose="020B0503020204020204" pitchFamily="34" charset="-122"/>
                          <a:ea typeface="微软雅黑" panose="020B0503020204020204" pitchFamily="34" charset="-122"/>
                        </a:rPr>
                        <a:t>8500</a:t>
                      </a:r>
                      <a:r>
                        <a:rPr lang="zh-CN" altLang="en-US"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765</a:t>
                      </a:r>
                      <a:r>
                        <a:rPr lang="zh-CN" altLang="en-US" sz="800" b="0" i="0">
                          <a:solidFill>
                            <a:srgbClr val="000000"/>
                          </a:solidFill>
                          <a:latin typeface="微软雅黑" panose="020B0503020204020204" pitchFamily="34" charset="-122"/>
                          <a:ea typeface="微软雅黑" panose="020B0503020204020204" pitchFamily="34" charset="-122"/>
                        </a:rPr>
                        <a:t>万，零星工程改造费用</a:t>
                      </a:r>
                      <a:r>
                        <a:rPr lang="en-US" altLang="zh-CN" sz="800" b="0" i="0">
                          <a:solidFill>
                            <a:srgbClr val="000000"/>
                          </a:solidFill>
                          <a:latin typeface="微软雅黑" panose="020B0503020204020204" pitchFamily="34" charset="-122"/>
                          <a:ea typeface="微软雅黑" panose="020B0503020204020204" pitchFamily="34" charset="-122"/>
                        </a:rPr>
                        <a:t>326</a:t>
                      </a:r>
                      <a:r>
                        <a:rPr lang="zh-CN" altLang="en-US" sz="800" b="0" i="0">
                          <a:solidFill>
                            <a:srgbClr val="000000"/>
                          </a:solidFill>
                          <a:latin typeface="微软雅黑" panose="020B0503020204020204" pitchFamily="34" charset="-122"/>
                          <a:ea typeface="微软雅黑" panose="020B0503020204020204" pitchFamily="34" charset="-122"/>
                        </a:rPr>
                        <a:t>万，双子塔定制化装修（</a:t>
                      </a:r>
                      <a:r>
                        <a:rPr lang="en-US" altLang="zh-CN" sz="800" b="0" i="0">
                          <a:solidFill>
                            <a:srgbClr val="000000"/>
                          </a:solidFill>
                          <a:latin typeface="微软雅黑" panose="020B0503020204020204" pitchFamily="34" charset="-122"/>
                          <a:ea typeface="微软雅黑" panose="020B0503020204020204" pitchFamily="34" charset="-122"/>
                        </a:rPr>
                        <a:t>5000</a:t>
                      </a:r>
                      <a:r>
                        <a:rPr lang="zh-CN" altLang="en-US"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450</a:t>
                      </a:r>
                      <a:r>
                        <a:rPr lang="zh-CN" altLang="en-US" sz="800" b="0" i="0">
                          <a:solidFill>
                            <a:srgbClr val="000000"/>
                          </a:solidFill>
                          <a:latin typeface="微软雅黑" panose="020B0503020204020204" pitchFamily="34" charset="-122"/>
                          <a:ea typeface="微软雅黑" panose="020B0503020204020204" pitchFamily="34" charset="-122"/>
                        </a:rPr>
                        <a:t>万，地下室部分交楼标准改造</a:t>
                      </a:r>
                      <a:r>
                        <a:rPr lang="en-US" altLang="zh-CN" sz="800" b="0" i="0">
                          <a:solidFill>
                            <a:srgbClr val="000000"/>
                          </a:solidFill>
                          <a:latin typeface="微软雅黑" panose="020B0503020204020204" pitchFamily="34" charset="-122"/>
                          <a:ea typeface="微软雅黑" panose="020B0503020204020204" pitchFamily="34" charset="-122"/>
                        </a:rPr>
                        <a:t>100</a:t>
                      </a:r>
                      <a:r>
                        <a:rPr lang="zh-CN" altLang="en-US" sz="800" b="0" i="0">
                          <a:solidFill>
                            <a:srgbClr val="000000"/>
                          </a:solidFill>
                          <a:latin typeface="微软雅黑" panose="020B0503020204020204" pitchFamily="34" charset="-122"/>
                          <a:ea typeface="微软雅黑" panose="020B0503020204020204" pitchFamily="34" charset="-122"/>
                        </a:rPr>
                        <a:t>万，预备结构加固（</a:t>
                      </a:r>
                      <a:r>
                        <a:rPr lang="en-US" altLang="zh-CN" sz="800" b="0" i="0">
                          <a:solidFill>
                            <a:srgbClr val="000000"/>
                          </a:solidFill>
                          <a:latin typeface="微软雅黑" panose="020B0503020204020204" pitchFamily="34" charset="-122"/>
                          <a:ea typeface="微软雅黑" panose="020B0503020204020204" pitchFamily="34" charset="-122"/>
                        </a:rPr>
                        <a:t>200</a:t>
                      </a:r>
                      <a:r>
                        <a:rPr lang="zh-CN" altLang="en-US"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100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XH</a:t>
                      </a:r>
                      <a:r>
                        <a:rPr lang="zh-CN" altLang="en-US" sz="800" b="0" i="1">
                          <a:solidFill>
                            <a:srgbClr val="000000"/>
                          </a:solidFill>
                          <a:latin typeface="微软雅黑" panose="020B0503020204020204" pitchFamily="34" charset="-122"/>
                          <a:ea typeface="微软雅黑" panose="020B0503020204020204" pitchFamily="34" charset="-122"/>
                        </a:rPr>
                        <a:t>时代大厦</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70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XH</a:t>
                      </a:r>
                      <a:r>
                        <a:rPr lang="zh-CN" altLang="en-US" sz="800" b="0" i="1">
                          <a:solidFill>
                            <a:srgbClr val="000000"/>
                          </a:solidFill>
                          <a:latin typeface="微软雅黑" panose="020B0503020204020204" pitchFamily="34" charset="-122"/>
                          <a:ea typeface="微软雅黑" panose="020B0503020204020204" pitchFamily="34" charset="-122"/>
                        </a:rPr>
                        <a:t>中心</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-38.2%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定制化装修工程（</a:t>
                      </a:r>
                      <a:r>
                        <a:rPr lang="en-US" altLang="zh-CN" sz="800" b="0" i="0">
                          <a:solidFill>
                            <a:srgbClr val="000000"/>
                          </a:solidFill>
                          <a:latin typeface="微软雅黑" panose="020B0503020204020204" pitchFamily="34" charset="-122"/>
                          <a:ea typeface="微软雅黑" panose="020B0503020204020204" pitchFamily="34" charset="-122"/>
                        </a:rPr>
                        <a:t>1000</a:t>
                      </a:r>
                      <a:r>
                        <a:rPr lang="zh-CN" altLang="en-US" sz="800" b="0" i="0">
                          <a:solidFill>
                            <a:srgbClr val="000000"/>
                          </a:solidFill>
                          <a:latin typeface="微软雅黑" panose="020B0503020204020204" pitchFamily="34" charset="-122"/>
                          <a:ea typeface="微软雅黑" panose="020B0503020204020204" pitchFamily="34" charset="-122"/>
                        </a:rPr>
                        <a:t>㎡）预计</a:t>
                      </a:r>
                      <a:r>
                        <a:rPr lang="en-US" altLang="zh-CN" sz="800" b="0" i="0">
                          <a:solidFill>
                            <a:srgbClr val="000000"/>
                          </a:solidFill>
                          <a:latin typeface="微软雅黑" panose="020B0503020204020204" pitchFamily="34" charset="-122"/>
                          <a:ea typeface="微软雅黑" panose="020B0503020204020204" pitchFamily="34" charset="-122"/>
                        </a:rPr>
                        <a:t>60</a:t>
                      </a:r>
                      <a:r>
                        <a:rPr lang="zh-CN" altLang="en-US" sz="800" b="0" i="0">
                          <a:solidFill>
                            <a:srgbClr val="000000"/>
                          </a:solidFill>
                          <a:latin typeface="微软雅黑" panose="020B0503020204020204" pitchFamily="34" charset="-122"/>
                          <a:ea typeface="微软雅黑" panose="020B0503020204020204" pitchFamily="34" charset="-122"/>
                        </a:rPr>
                        <a:t>万，零星改造工程</a:t>
                      </a:r>
                      <a:r>
                        <a:rPr lang="en-US" altLang="zh-CN" sz="800" b="0" i="0">
                          <a:solidFill>
                            <a:srgbClr val="000000"/>
                          </a:solidFill>
                          <a:latin typeface="微软雅黑" panose="020B0503020204020204" pitchFamily="34" charset="-122"/>
                          <a:ea typeface="微软雅黑" panose="020B0503020204020204" pitchFamily="34" charset="-122"/>
                        </a:rPr>
                        <a:t>200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XH</a:t>
                      </a:r>
                      <a:r>
                        <a:rPr lang="zh-CN" altLang="en-US" sz="800" b="0" i="1">
                          <a:solidFill>
                            <a:srgbClr val="000000"/>
                          </a:solidFill>
                          <a:latin typeface="微软雅黑" panose="020B0503020204020204" pitchFamily="34" charset="-122"/>
                          <a:ea typeface="微软雅黑" panose="020B0503020204020204" pitchFamily="34" charset="-122"/>
                        </a:rPr>
                        <a:t>世纪</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5255">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银海项目</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118.4%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零星改造费</a:t>
                      </a:r>
                      <a:r>
                        <a:rPr lang="en-US" altLang="zh-CN" sz="800" b="0" i="0">
                          <a:solidFill>
                            <a:srgbClr val="000000"/>
                          </a:solidFill>
                          <a:latin typeface="微软雅黑" panose="020B0503020204020204" pitchFamily="34" charset="-122"/>
                          <a:ea typeface="微软雅黑" panose="020B0503020204020204" pitchFamily="34" charset="-122"/>
                        </a:rPr>
                        <a:t>233.3</a:t>
                      </a:r>
                      <a:r>
                        <a:rPr lang="zh-CN" altLang="en-US" sz="800" b="0" i="0">
                          <a:solidFill>
                            <a:srgbClr val="000000"/>
                          </a:solidFill>
                          <a:latin typeface="微软雅黑" panose="020B0503020204020204" pitchFamily="34" charset="-122"/>
                          <a:ea typeface="微软雅黑" panose="020B0503020204020204" pitchFamily="34" charset="-122"/>
                        </a:rPr>
                        <a:t>万，</a:t>
                      </a:r>
                      <a:r>
                        <a:rPr lang="en-US" altLang="zh-CN" sz="800" b="0" i="0">
                          <a:solidFill>
                            <a:srgbClr val="000000"/>
                          </a:solidFill>
                          <a:latin typeface="微软雅黑" panose="020B0503020204020204" pitchFamily="34" charset="-122"/>
                          <a:ea typeface="微软雅黑" panose="020B0503020204020204" pitchFamily="34" charset="-122"/>
                        </a:rPr>
                        <a:t>C1C2</a:t>
                      </a:r>
                      <a:r>
                        <a:rPr lang="zh-CN" altLang="en-US" sz="800" b="0" i="0">
                          <a:solidFill>
                            <a:srgbClr val="000000"/>
                          </a:solidFill>
                          <a:latin typeface="微软雅黑" panose="020B0503020204020204" pitchFamily="34" charset="-122"/>
                          <a:ea typeface="微软雅黑" panose="020B0503020204020204" pitchFamily="34" charset="-122"/>
                        </a:rPr>
                        <a:t>宿舍加固</a:t>
                      </a:r>
                      <a:r>
                        <a:rPr lang="en-US" altLang="zh-CN" sz="800" b="0" i="0">
                          <a:solidFill>
                            <a:srgbClr val="000000"/>
                          </a:solidFill>
                          <a:latin typeface="微软雅黑" panose="020B0503020204020204" pitchFamily="34" charset="-122"/>
                          <a:ea typeface="微软雅黑" panose="020B0503020204020204" pitchFamily="34" charset="-122"/>
                        </a:rPr>
                        <a:t>230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7795">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开市客</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79.6%</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定制化装修工程（</a:t>
                      </a:r>
                      <a:r>
                        <a:rPr lang="en-US" altLang="zh-CN" sz="800" b="0" i="0">
                          <a:solidFill>
                            <a:srgbClr val="000000"/>
                          </a:solidFill>
                          <a:latin typeface="微软雅黑" panose="020B0503020204020204" pitchFamily="34" charset="-122"/>
                          <a:ea typeface="微软雅黑" panose="020B0503020204020204" pitchFamily="34" charset="-122"/>
                        </a:rPr>
                        <a:t>1000</a:t>
                      </a:r>
                      <a:r>
                        <a:rPr lang="zh-CN" altLang="en-US" sz="800" b="0" i="0">
                          <a:solidFill>
                            <a:srgbClr val="000000"/>
                          </a:solidFill>
                          <a:latin typeface="微软雅黑" panose="020B0503020204020204" pitchFamily="34" charset="-122"/>
                          <a:ea typeface="微软雅黑" panose="020B0503020204020204" pitchFamily="34" charset="-122"/>
                        </a:rPr>
                        <a:t>㎡）预计</a:t>
                      </a:r>
                      <a:r>
                        <a:rPr lang="en-US" altLang="zh-CN" sz="800" b="0" i="0">
                          <a:solidFill>
                            <a:srgbClr val="000000"/>
                          </a:solidFill>
                          <a:latin typeface="微软雅黑" panose="020B0503020204020204" pitchFamily="34" charset="-122"/>
                          <a:ea typeface="微软雅黑" panose="020B0503020204020204" pitchFamily="34" charset="-122"/>
                        </a:rPr>
                        <a:t>80</a:t>
                      </a:r>
                      <a:r>
                        <a:rPr lang="zh-CN" altLang="en-US" sz="800" b="0" i="0">
                          <a:solidFill>
                            <a:srgbClr val="000000"/>
                          </a:solidFill>
                          <a:latin typeface="微软雅黑" panose="020B0503020204020204" pitchFamily="34" charset="-122"/>
                          <a:ea typeface="微软雅黑" panose="020B0503020204020204" pitchFamily="34" charset="-122"/>
                        </a:rPr>
                        <a:t>万，零星改造工程</a:t>
                      </a:r>
                      <a:r>
                        <a:rPr lang="en-US" altLang="zh-CN" sz="800" b="0" i="0">
                          <a:solidFill>
                            <a:srgbClr val="000000"/>
                          </a:solidFill>
                          <a:latin typeface="微软雅黑" panose="020B0503020204020204" pitchFamily="34" charset="-122"/>
                          <a:ea typeface="微软雅黑" panose="020B0503020204020204" pitchFamily="34" charset="-122"/>
                        </a:rPr>
                        <a:t>70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2446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华南小计</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20675">
                <a:tc>
                  <a:txBody>
                    <a:bodyPr/>
                    <a:p>
                      <a:pPr algn="l" fontAlgn="ctr"/>
                      <a:r>
                        <a:rPr lang="zh-CN" altLang="en-US" sz="800" b="0" i="1">
                          <a:solidFill>
                            <a:srgbClr val="000000"/>
                          </a:solidFill>
                          <a:latin typeface="微软雅黑" panose="020B0503020204020204" pitchFamily="34" charset="-122"/>
                          <a:ea typeface="微软雅黑" panose="020B0503020204020204" pitchFamily="34" charset="-122"/>
                        </a:rPr>
                        <a:t>其中：发展大厦</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180.8%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定制化装修</a:t>
                      </a:r>
                      <a:r>
                        <a:rPr lang="en-US" altLang="zh-CN" sz="800" b="0" i="0">
                          <a:solidFill>
                            <a:srgbClr val="000000"/>
                          </a:solidFill>
                          <a:latin typeface="微软雅黑" panose="020B0503020204020204" pitchFamily="34" charset="-122"/>
                          <a:ea typeface="微软雅黑" panose="020B0503020204020204" pitchFamily="34" charset="-122"/>
                        </a:rPr>
                        <a:t>150</a:t>
                      </a:r>
                      <a:r>
                        <a:rPr lang="zh-CN" altLang="en-US" sz="800" b="0" i="0">
                          <a:solidFill>
                            <a:srgbClr val="000000"/>
                          </a:solidFill>
                          <a:latin typeface="微软雅黑" panose="020B0503020204020204" pitchFamily="34" charset="-122"/>
                          <a:ea typeface="微软雅黑" panose="020B0503020204020204" pitchFamily="34" charset="-122"/>
                        </a:rPr>
                        <a:t>万元：定制化装修单价约</a:t>
                      </a:r>
                      <a:r>
                        <a:rPr lang="en-US" altLang="zh-CN" sz="800" b="0" i="0">
                          <a:solidFill>
                            <a:srgbClr val="000000"/>
                          </a:solidFill>
                          <a:latin typeface="微软雅黑" panose="020B0503020204020204" pitchFamily="34" charset="-122"/>
                          <a:ea typeface="微软雅黑" panose="020B0503020204020204" pitchFamily="34" charset="-122"/>
                        </a:rPr>
                        <a:t>830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㎡，预估改造面积</a:t>
                      </a:r>
                      <a:r>
                        <a:rPr lang="en-US" altLang="zh-CN" sz="800" b="0" i="0">
                          <a:solidFill>
                            <a:srgbClr val="000000"/>
                          </a:solidFill>
                          <a:latin typeface="微软雅黑" panose="020B0503020204020204" pitchFamily="34" charset="-122"/>
                          <a:ea typeface="微软雅黑" panose="020B0503020204020204" pitchFamily="34" charset="-122"/>
                        </a:rPr>
                        <a:t>1800</a:t>
                      </a:r>
                      <a:r>
                        <a:rPr lang="zh-CN" altLang="en-US" sz="800" b="0" i="0">
                          <a:solidFill>
                            <a:srgbClr val="000000"/>
                          </a:solidFill>
                          <a:latin typeface="微软雅黑" panose="020B0503020204020204" pitchFamily="34" charset="-122"/>
                          <a:ea typeface="微软雅黑" panose="020B0503020204020204" pitchFamily="34" charset="-122"/>
                        </a:rPr>
                        <a:t>㎡（市场竞争激烈，增加带装修产品吸引客户）；零星工程</a:t>
                      </a:r>
                      <a:r>
                        <a:rPr lang="en-US" altLang="zh-CN" sz="800" b="0" i="0">
                          <a:solidFill>
                            <a:srgbClr val="000000"/>
                          </a:solidFill>
                          <a:latin typeface="微软雅黑" panose="020B0503020204020204" pitchFamily="34" charset="-122"/>
                          <a:ea typeface="微软雅黑" panose="020B0503020204020204" pitchFamily="34" charset="-122"/>
                        </a:rPr>
                        <a:t>40</a:t>
                      </a:r>
                      <a:r>
                        <a:rPr lang="zh-CN" altLang="en-US" sz="800" b="0" i="0">
                          <a:solidFill>
                            <a:srgbClr val="000000"/>
                          </a:solidFill>
                          <a:latin typeface="微软雅黑" panose="020B0503020204020204" pitchFamily="34" charset="-122"/>
                          <a:ea typeface="微软雅黑" panose="020B0503020204020204" pitchFamily="34" charset="-122"/>
                        </a:rPr>
                        <a:t>万元：根据招商需求的项目分户拆砌墙体、硬件设施的维修保养等；</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20675">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东湾村</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定制化装修</a:t>
                      </a:r>
                      <a:r>
                        <a:rPr lang="en-US" altLang="zh-CN" sz="800" b="0" i="0">
                          <a:solidFill>
                            <a:srgbClr val="000000"/>
                          </a:solidFill>
                          <a:latin typeface="微软雅黑" panose="020B0503020204020204" pitchFamily="34" charset="-122"/>
                          <a:ea typeface="微软雅黑" panose="020B0503020204020204" pitchFamily="34" charset="-122"/>
                        </a:rPr>
                        <a:t>400</a:t>
                      </a:r>
                      <a:r>
                        <a:rPr lang="zh-CN" altLang="en-US" sz="800" b="0" i="0">
                          <a:solidFill>
                            <a:srgbClr val="000000"/>
                          </a:solidFill>
                          <a:latin typeface="微软雅黑" panose="020B0503020204020204" pitchFamily="34" charset="-122"/>
                          <a:ea typeface="微软雅黑" panose="020B0503020204020204" pitchFamily="34" charset="-122"/>
                        </a:rPr>
                        <a:t>万元：定制化装修单价约</a:t>
                      </a:r>
                      <a:r>
                        <a:rPr lang="en-US" altLang="zh-CN" sz="800" b="0" i="0">
                          <a:solidFill>
                            <a:srgbClr val="000000"/>
                          </a:solidFill>
                          <a:latin typeface="微软雅黑" panose="020B0503020204020204" pitchFamily="34" charset="-122"/>
                          <a:ea typeface="微软雅黑" panose="020B0503020204020204" pitchFamily="34" charset="-122"/>
                        </a:rPr>
                        <a:t>830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㎡，预估改造面积</a:t>
                      </a:r>
                      <a:r>
                        <a:rPr lang="en-US" altLang="zh-CN" sz="800" b="0" i="0">
                          <a:solidFill>
                            <a:srgbClr val="000000"/>
                          </a:solidFill>
                          <a:latin typeface="微软雅黑" panose="020B0503020204020204" pitchFamily="34" charset="-122"/>
                          <a:ea typeface="微软雅黑" panose="020B0503020204020204" pitchFamily="34" charset="-122"/>
                        </a:rPr>
                        <a:t>4800</a:t>
                      </a:r>
                      <a:r>
                        <a:rPr lang="zh-CN" altLang="en-US" sz="800" b="0" i="0">
                          <a:solidFill>
                            <a:srgbClr val="000000"/>
                          </a:solidFill>
                          <a:latin typeface="微软雅黑" panose="020B0503020204020204" pitchFamily="34" charset="-122"/>
                          <a:ea typeface="微软雅黑" panose="020B0503020204020204" pitchFamily="34" charset="-122"/>
                        </a:rPr>
                        <a:t>㎡（市场竞争激烈，增加带装修产品吸引客户）；零星工程</a:t>
                      </a:r>
                      <a:r>
                        <a:rPr lang="en-US" altLang="zh-CN" sz="800" b="0" i="0">
                          <a:solidFill>
                            <a:srgbClr val="000000"/>
                          </a:solidFill>
                          <a:latin typeface="微软雅黑" panose="020B0503020204020204" pitchFamily="34" charset="-122"/>
                          <a:ea typeface="微软雅黑" panose="020B0503020204020204" pitchFamily="34" charset="-122"/>
                        </a:rPr>
                        <a:t>70</a:t>
                      </a:r>
                      <a:r>
                        <a:rPr lang="zh-CN" altLang="en-US" sz="800" b="0" i="0">
                          <a:solidFill>
                            <a:srgbClr val="000000"/>
                          </a:solidFill>
                          <a:latin typeface="微软雅黑" panose="020B0503020204020204" pitchFamily="34" charset="-122"/>
                          <a:ea typeface="微软雅黑" panose="020B0503020204020204" pitchFamily="34" charset="-122"/>
                        </a:rPr>
                        <a:t>万元：根据招商需求的项目分户拆砌墙体、硬件设施的维修保养等；</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42545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亚金</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177.7%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定制化装修</a:t>
                      </a:r>
                      <a:r>
                        <a:rPr lang="en-US" altLang="zh-CN" sz="800" b="0" i="0">
                          <a:solidFill>
                            <a:srgbClr val="000000"/>
                          </a:solidFill>
                          <a:latin typeface="微软雅黑" panose="020B0503020204020204" pitchFamily="34" charset="-122"/>
                          <a:ea typeface="微软雅黑" panose="020B0503020204020204" pitchFamily="34" charset="-122"/>
                        </a:rPr>
                        <a:t>170</a:t>
                      </a:r>
                      <a:r>
                        <a:rPr lang="zh-CN" altLang="en-US" sz="800" b="0" i="0">
                          <a:solidFill>
                            <a:srgbClr val="000000"/>
                          </a:solidFill>
                          <a:latin typeface="微软雅黑" panose="020B0503020204020204" pitchFamily="34" charset="-122"/>
                          <a:ea typeface="微软雅黑" panose="020B0503020204020204" pitchFamily="34" charset="-122"/>
                        </a:rPr>
                        <a:t>万元：拟按</a:t>
                      </a:r>
                      <a:r>
                        <a:rPr lang="en-US" altLang="zh-CN" sz="800" b="0" i="0">
                          <a:solidFill>
                            <a:srgbClr val="000000"/>
                          </a:solidFill>
                          <a:latin typeface="微软雅黑" panose="020B0503020204020204" pitchFamily="34" charset="-122"/>
                          <a:ea typeface="微软雅黑" panose="020B0503020204020204" pitchFamily="34" charset="-122"/>
                        </a:rPr>
                        <a:t>500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平方的单价做装修成本预留，预计</a:t>
                      </a:r>
                      <a:r>
                        <a:rPr lang="en-US" altLang="zh-CN" sz="800" b="0" i="0">
                          <a:solidFill>
                            <a:srgbClr val="000000"/>
                          </a:solidFill>
                          <a:latin typeface="微软雅黑" panose="020B0503020204020204" pitchFamily="34" charset="-122"/>
                          <a:ea typeface="微软雅黑" panose="020B0503020204020204" pitchFamily="34" charset="-122"/>
                        </a:rPr>
                        <a:t>3400</a:t>
                      </a:r>
                      <a:r>
                        <a:rPr lang="zh-CN" altLang="en-US" sz="800" b="0" i="0">
                          <a:solidFill>
                            <a:srgbClr val="000000"/>
                          </a:solidFill>
                          <a:latin typeface="微软雅黑" panose="020B0503020204020204" pitchFamily="34" charset="-122"/>
                          <a:ea typeface="微软雅黑" panose="020B0503020204020204" pitchFamily="34" charset="-122"/>
                        </a:rPr>
                        <a:t>方的面积预计</a:t>
                      </a: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整层</a:t>
                      </a: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个半层；零星工程</a:t>
                      </a:r>
                      <a:r>
                        <a:rPr lang="en-US" altLang="zh-CN" sz="800" b="0" i="0">
                          <a:solidFill>
                            <a:srgbClr val="000000"/>
                          </a:solidFill>
                          <a:latin typeface="微软雅黑" panose="020B0503020204020204" pitchFamily="34" charset="-122"/>
                          <a:ea typeface="微软雅黑" panose="020B0503020204020204" pitchFamily="34" charset="-122"/>
                        </a:rPr>
                        <a:t>69</a:t>
                      </a:r>
                      <a:r>
                        <a:rPr lang="zh-CN" altLang="en-US" sz="800" b="0" i="0">
                          <a:solidFill>
                            <a:srgbClr val="000000"/>
                          </a:solidFill>
                          <a:latin typeface="微软雅黑" panose="020B0503020204020204" pitchFamily="34" charset="-122"/>
                          <a:ea typeface="微软雅黑" panose="020B0503020204020204" pitchFamily="34" charset="-122"/>
                        </a:rPr>
                        <a:t>万元：外围广场天花更换、房屋结构修补（如楼层渗漏、外天花、外立面松动、室内地砖修补）、管道阀门维修更换（部分阀体是</a:t>
                      </a:r>
                      <a:r>
                        <a:rPr lang="en-US" altLang="zh-CN" sz="800" b="0" i="0">
                          <a:solidFill>
                            <a:srgbClr val="000000"/>
                          </a:solidFill>
                          <a:latin typeface="微软雅黑" panose="020B0503020204020204" pitchFamily="34" charset="-122"/>
                          <a:ea typeface="微软雅黑" panose="020B0503020204020204" pitchFamily="34" charset="-122"/>
                        </a:rPr>
                        <a:t>2004</a:t>
                      </a:r>
                      <a:r>
                        <a:rPr lang="zh-CN" altLang="en-US" sz="800" b="0" i="0">
                          <a:solidFill>
                            <a:srgbClr val="000000"/>
                          </a:solidFill>
                          <a:latin typeface="微软雅黑" panose="020B0503020204020204" pitchFamily="34" charset="-122"/>
                          <a:ea typeface="微软雅黑" panose="020B0503020204020204" pitchFamily="34" charset="-122"/>
                        </a:rPr>
                        <a:t>年投入使用，已出现安全隐患）；</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7940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云颂府</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22.2%</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定制化装修费用</a:t>
                      </a:r>
                      <a:r>
                        <a:rPr lang="en-US" altLang="zh-CN" sz="800" b="0" i="0">
                          <a:solidFill>
                            <a:srgbClr val="000000"/>
                          </a:solidFill>
                          <a:latin typeface="微软雅黑" panose="020B0503020204020204" pitchFamily="34" charset="-122"/>
                          <a:ea typeface="微软雅黑" panose="020B0503020204020204" pitchFamily="34" charset="-122"/>
                        </a:rPr>
                        <a:t>110</a:t>
                      </a:r>
                      <a:r>
                        <a:rPr lang="zh-CN" altLang="en-US" sz="800" b="0" i="0">
                          <a:solidFill>
                            <a:srgbClr val="000000"/>
                          </a:solidFill>
                          <a:latin typeface="微软雅黑" panose="020B0503020204020204" pitchFamily="34" charset="-122"/>
                          <a:ea typeface="微软雅黑" panose="020B0503020204020204" pitchFamily="34" charset="-122"/>
                        </a:rPr>
                        <a:t>万元：定制化装修单价约</a:t>
                      </a:r>
                      <a:r>
                        <a:rPr lang="en-US" altLang="zh-CN" sz="800" b="0" i="0">
                          <a:solidFill>
                            <a:srgbClr val="000000"/>
                          </a:solidFill>
                          <a:latin typeface="微软雅黑" panose="020B0503020204020204" pitchFamily="34" charset="-122"/>
                          <a:ea typeface="微软雅黑" panose="020B0503020204020204" pitchFamily="34" charset="-122"/>
                        </a:rPr>
                        <a:t>1200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㎡，预估改造面积</a:t>
                      </a:r>
                      <a:r>
                        <a:rPr lang="en-US" altLang="zh-CN" sz="800" b="0" i="0">
                          <a:solidFill>
                            <a:srgbClr val="000000"/>
                          </a:solidFill>
                          <a:latin typeface="微软雅黑" panose="020B0503020204020204" pitchFamily="34" charset="-122"/>
                          <a:ea typeface="微软雅黑" panose="020B0503020204020204" pitchFamily="34" charset="-122"/>
                        </a:rPr>
                        <a:t>916</a:t>
                      </a:r>
                      <a:r>
                        <a:rPr lang="zh-CN" altLang="en-US" sz="800" b="0" i="0">
                          <a:solidFill>
                            <a:srgbClr val="000000"/>
                          </a:solidFill>
                          <a:latin typeface="微软雅黑" panose="020B0503020204020204" pitchFamily="34" charset="-122"/>
                          <a:ea typeface="微软雅黑" panose="020B0503020204020204" pitchFamily="34" charset="-122"/>
                        </a:rPr>
                        <a:t>㎡（市场竞争激烈，增加装修投入）；零星改造</a:t>
                      </a:r>
                      <a:r>
                        <a:rPr lang="en-US" altLang="zh-CN" sz="800" b="0" i="0">
                          <a:solidFill>
                            <a:srgbClr val="000000"/>
                          </a:solidFill>
                          <a:latin typeface="微软雅黑" panose="020B0503020204020204" pitchFamily="34" charset="-122"/>
                          <a:ea typeface="微软雅黑" panose="020B0503020204020204" pitchFamily="34" charset="-122"/>
                        </a:rPr>
                        <a:t>40</a:t>
                      </a:r>
                      <a:r>
                        <a:rPr lang="zh-CN" altLang="en-US" sz="800" b="0" i="0">
                          <a:solidFill>
                            <a:srgbClr val="000000"/>
                          </a:solidFill>
                          <a:latin typeface="微软雅黑" panose="020B0503020204020204" pitchFamily="34" charset="-122"/>
                          <a:ea typeface="微软雅黑" panose="020B0503020204020204" pitchFamily="34" charset="-122"/>
                        </a:rPr>
                        <a:t>万元（设备持续折旧，增加零星投入）</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珠宝小镇</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162.7%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零星工程</a:t>
                      </a:r>
                      <a:r>
                        <a:rPr lang="en-US" altLang="zh-CN" sz="800" b="0" i="0">
                          <a:solidFill>
                            <a:srgbClr val="000000"/>
                          </a:solidFill>
                          <a:latin typeface="微软雅黑" panose="020B0503020204020204" pitchFamily="34" charset="-122"/>
                          <a:ea typeface="微软雅黑" panose="020B0503020204020204" pitchFamily="34" charset="-122"/>
                        </a:rPr>
                        <a:t>10</a:t>
                      </a:r>
                      <a:r>
                        <a:rPr lang="zh-CN" altLang="en-US" sz="800" b="0" i="0">
                          <a:solidFill>
                            <a:srgbClr val="000000"/>
                          </a:solidFill>
                          <a:latin typeface="微软雅黑" panose="020B0503020204020204" pitchFamily="34" charset="-122"/>
                          <a:ea typeface="微软雅黑" panose="020B0503020204020204" pitchFamily="34" charset="-122"/>
                        </a:rPr>
                        <a:t>万元；</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2560">
                <a:tc>
                  <a:txBody>
                    <a:bodyPr/>
                    <a:p>
                      <a:pPr algn="l" fontAlgn="ctr"/>
                      <a:r>
                        <a:rPr lang="en-US" altLang="zh-CN" sz="800" b="0" i="1">
                          <a:solidFill>
                            <a:srgbClr val="000000"/>
                          </a:solidFill>
                          <a:latin typeface="微软雅黑" panose="020B0503020204020204" pitchFamily="34" charset="-122"/>
                          <a:ea typeface="微软雅黑" panose="020B0503020204020204" pitchFamily="34" charset="-122"/>
                        </a:rPr>
                        <a:t>        </a:t>
                      </a:r>
                      <a:r>
                        <a:rPr lang="zh-CN" altLang="en-US" sz="800" b="0" i="1">
                          <a:solidFill>
                            <a:srgbClr val="000000"/>
                          </a:solidFill>
                          <a:latin typeface="微软雅黑" panose="020B0503020204020204" pitchFamily="34" charset="-122"/>
                          <a:ea typeface="微软雅黑" panose="020B0503020204020204" pitchFamily="34" charset="-122"/>
                        </a:rPr>
                        <a:t>东湾旧改</a:t>
                      </a:r>
                      <a:endParaRPr lang="zh-CN" altLang="en-US" sz="8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零星工程</a:t>
                      </a:r>
                      <a:r>
                        <a:rPr lang="en-US" altLang="zh-CN" sz="800" b="0" i="0">
                          <a:solidFill>
                            <a:srgbClr val="000000"/>
                          </a:solidFill>
                          <a:latin typeface="微软雅黑" panose="020B0503020204020204" pitchFamily="34" charset="-122"/>
                          <a:ea typeface="微软雅黑" panose="020B0503020204020204" pitchFamily="34" charset="-122"/>
                        </a:rPr>
                        <a:t>5</a:t>
                      </a:r>
                      <a:r>
                        <a:rPr lang="zh-CN" altLang="en-US" sz="800" b="0" i="0">
                          <a:solidFill>
                            <a:srgbClr val="000000"/>
                          </a:solidFill>
                          <a:latin typeface="微软雅黑" panose="020B0503020204020204" pitchFamily="34" charset="-122"/>
                          <a:ea typeface="微软雅黑" panose="020B0503020204020204" pitchFamily="34" charset="-122"/>
                        </a:rPr>
                        <a:t>万元；样板房</a:t>
                      </a:r>
                      <a:r>
                        <a:rPr lang="en-US" altLang="zh-CN" sz="800" b="0" i="0">
                          <a:solidFill>
                            <a:srgbClr val="000000"/>
                          </a:solidFill>
                          <a:latin typeface="微软雅黑" panose="020B0503020204020204" pitchFamily="34" charset="-122"/>
                          <a:ea typeface="微软雅黑" panose="020B0503020204020204" pitchFamily="34" charset="-122"/>
                        </a:rPr>
                        <a:t>36</a:t>
                      </a:r>
                      <a:r>
                        <a:rPr lang="zh-CN" altLang="en-US" sz="800" b="0" i="0">
                          <a:solidFill>
                            <a:srgbClr val="000000"/>
                          </a:solidFill>
                          <a:latin typeface="微软雅黑" panose="020B0503020204020204" pitchFamily="34" charset="-122"/>
                          <a:ea typeface="微软雅黑" panose="020B0503020204020204" pitchFamily="34" charset="-122"/>
                        </a:rPr>
                        <a:t>万元；</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6860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南京</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596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496.4%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零星工程</a:t>
                      </a:r>
                      <a:r>
                        <a:rPr lang="en-US" altLang="zh-CN" sz="800" b="0" i="0">
                          <a:solidFill>
                            <a:srgbClr val="000000"/>
                          </a:solidFill>
                          <a:latin typeface="微软雅黑" panose="020B0503020204020204" pitchFamily="34" charset="-122"/>
                          <a:ea typeface="微软雅黑" panose="020B0503020204020204" pitchFamily="34" charset="-122"/>
                        </a:rPr>
                        <a:t>21.7</a:t>
                      </a:r>
                      <a:r>
                        <a:rPr lang="zh-CN" altLang="en-US" sz="800" b="0" i="0">
                          <a:solidFill>
                            <a:srgbClr val="000000"/>
                          </a:solidFill>
                          <a:latin typeface="微软雅黑" panose="020B0503020204020204" pitchFamily="34" charset="-122"/>
                          <a:ea typeface="微软雅黑" panose="020B0503020204020204" pitchFamily="34" charset="-122"/>
                        </a:rPr>
                        <a:t>万。招商定制化需求</a:t>
                      </a:r>
                      <a:r>
                        <a:rPr lang="en-US" altLang="zh-CN" sz="800" b="0" i="0">
                          <a:solidFill>
                            <a:srgbClr val="000000"/>
                          </a:solidFill>
                          <a:latin typeface="微软雅黑" panose="020B0503020204020204" pitchFamily="34" charset="-122"/>
                          <a:ea typeface="微软雅黑" panose="020B0503020204020204" pitchFamily="34" charset="-122"/>
                        </a:rPr>
                        <a:t>100</a:t>
                      </a:r>
                      <a:r>
                        <a:rPr lang="zh-CN" altLang="en-US" sz="800" b="0" i="0">
                          <a:solidFill>
                            <a:srgbClr val="000000"/>
                          </a:solidFill>
                          <a:latin typeface="微软雅黑" panose="020B0503020204020204" pitchFamily="34" charset="-122"/>
                          <a:ea typeface="微软雅黑" panose="020B0503020204020204" pitchFamily="34" charset="-122"/>
                        </a:rPr>
                        <a:t>万：拆除、公区复原装修、分户隔墙及水电、户内定制化装修，预估面积</a:t>
                      </a:r>
                      <a:r>
                        <a:rPr lang="en-US" altLang="zh-CN" sz="800" b="0" i="0">
                          <a:solidFill>
                            <a:srgbClr val="000000"/>
                          </a:solidFill>
                          <a:latin typeface="微软雅黑" panose="020B0503020204020204" pitchFamily="34" charset="-122"/>
                          <a:ea typeface="微软雅黑" panose="020B0503020204020204" pitchFamily="34" charset="-122"/>
                        </a:rPr>
                        <a:t>2000</a:t>
                      </a:r>
                      <a:r>
                        <a:rPr lang="zh-CN" altLang="en-US" sz="800" b="0" i="0">
                          <a:solidFill>
                            <a:srgbClr val="000000"/>
                          </a:solidFill>
                          <a:latin typeface="微软雅黑" panose="020B0503020204020204" pitchFamily="34" charset="-122"/>
                          <a:ea typeface="微软雅黑" panose="020B0503020204020204" pitchFamily="34" charset="-122"/>
                        </a:rPr>
                        <a:t>㎡，单方造价</a:t>
                      </a:r>
                      <a:r>
                        <a:rPr lang="en-US" altLang="zh-CN" sz="800" b="0" i="0">
                          <a:solidFill>
                            <a:srgbClr val="000000"/>
                          </a:solidFill>
                          <a:latin typeface="微软雅黑" panose="020B0503020204020204" pitchFamily="34" charset="-122"/>
                          <a:ea typeface="微软雅黑" panose="020B0503020204020204" pitchFamily="34" charset="-122"/>
                        </a:rPr>
                        <a:t>500</a:t>
                      </a:r>
                      <a:r>
                        <a:rPr lang="zh-CN" altLang="en-US" sz="800" b="0" i="0">
                          <a:solidFill>
                            <a:srgbClr val="000000"/>
                          </a:solidFill>
                          <a:latin typeface="微软雅黑" panose="020B0503020204020204" pitchFamily="34" charset="-122"/>
                          <a:ea typeface="微软雅黑" panose="020B0503020204020204" pitchFamily="34" charset="-122"/>
                        </a:rPr>
                        <a:t>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㎡。京东五星退租改造</a:t>
                      </a:r>
                      <a:r>
                        <a:rPr lang="en-US" altLang="zh-CN" sz="800" b="0" i="0">
                          <a:solidFill>
                            <a:srgbClr val="000000"/>
                          </a:solidFill>
                          <a:latin typeface="微软雅黑" panose="020B0503020204020204" pitchFamily="34" charset="-122"/>
                          <a:ea typeface="微软雅黑" panose="020B0503020204020204" pitchFamily="34" charset="-122"/>
                        </a:rPr>
                        <a:t>594</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970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惠州</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-100.0%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621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苏州</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-92.8%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租赁客户工程需求改造及退租客户拆除基础复原费</a:t>
                      </a:r>
                      <a:r>
                        <a:rPr lang="en-US" altLang="zh-CN" sz="800" b="0" i="0">
                          <a:solidFill>
                            <a:srgbClr val="000000"/>
                          </a:solidFill>
                          <a:latin typeface="微软雅黑" panose="020B0503020204020204" pitchFamily="34" charset="-122"/>
                          <a:ea typeface="微软雅黑" panose="020B0503020204020204" pitchFamily="34" charset="-122"/>
                        </a:rPr>
                        <a:t>10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8595">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研究院</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14.0%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每季度内部办公区域划分或工位改造等各类工程装修</a:t>
                      </a:r>
                      <a:r>
                        <a:rPr lang="en-US" altLang="zh-CN" sz="800" b="0" i="0">
                          <a:solidFill>
                            <a:srgbClr val="000000"/>
                          </a:solidFill>
                          <a:latin typeface="微软雅黑" panose="020B0503020204020204" pitchFamily="34" charset="-122"/>
                          <a:ea typeface="微软雅黑" panose="020B0503020204020204" pitchFamily="34" charset="-122"/>
                        </a:rPr>
                        <a:t>20</a:t>
                      </a:r>
                      <a:r>
                        <a:rPr lang="zh-CN" altLang="en-US" sz="800" b="0" i="0">
                          <a:solidFill>
                            <a:srgbClr val="000000"/>
                          </a:solidFill>
                          <a:latin typeface="微软雅黑" panose="020B0503020204020204" pitchFamily="34" charset="-122"/>
                          <a:ea typeface="微软雅黑" panose="020B0503020204020204" pitchFamily="34" charset="-122"/>
                        </a:rPr>
                        <a:t>万，其他为零星工程支出</a:t>
                      </a:r>
                      <a:r>
                        <a:rPr lang="en-US" altLang="zh-CN" sz="800" b="0" i="0">
                          <a:solidFill>
                            <a:srgbClr val="000000"/>
                          </a:solidFill>
                          <a:latin typeface="微软雅黑" panose="020B0503020204020204" pitchFamily="34" charset="-122"/>
                          <a:ea typeface="微软雅黑" panose="020B0503020204020204" pitchFamily="34" charset="-122"/>
                        </a:rPr>
                        <a:t>70</a:t>
                      </a:r>
                      <a:r>
                        <a:rPr lang="zh-CN" altLang="en-US" sz="800" b="0" i="0">
                          <a:solidFill>
                            <a:srgbClr val="000000"/>
                          </a:solidFill>
                          <a:latin typeface="微软雅黑" panose="020B0503020204020204" pitchFamily="34" charset="-122"/>
                          <a:ea typeface="微软雅黑" panose="020B0503020204020204" pitchFamily="34" charset="-122"/>
                        </a:rPr>
                        <a:t>万</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0">
                <a:tc>
                  <a:txBody>
                    <a:bodyPr/>
                    <a:p>
                      <a:pPr algn="l" fontAlgn="ctr"/>
                      <a:r>
                        <a:rPr lang="zh-CN" altLang="en-US" sz="800" b="0" i="0">
                          <a:solidFill>
                            <a:srgbClr val="000000"/>
                          </a:solidFill>
                          <a:latin typeface="微软雅黑" panose="020B0503020204020204" pitchFamily="34" charset="-122"/>
                          <a:ea typeface="微软雅黑" panose="020B0503020204020204" pitchFamily="34" charset="-122"/>
                        </a:rPr>
                        <a:t>租赁</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美餐</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sz="8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0">
                <a:tc>
                  <a:txBody>
                    <a:bodyPr/>
                    <a:p>
                      <a:pPr algn="l" fontAlgn="ctr"/>
                      <a:r>
                        <a:rPr lang="zh-CN" altLang="en-US" sz="800" b="1" i="0">
                          <a:solidFill>
                            <a:srgbClr val="FF0000"/>
                          </a:solidFill>
                          <a:latin typeface="微软雅黑" panose="020B0503020204020204" pitchFamily="34" charset="-122"/>
                          <a:ea typeface="微软雅黑" panose="020B0503020204020204" pitchFamily="34" charset="-122"/>
                        </a:rPr>
                        <a:t>租赁合计</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4,553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4,083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5,086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1,004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24.6%</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l"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139065">
                <a:tc>
                  <a:txBody>
                    <a:bodyPr/>
                    <a:p>
                      <a:pPr algn="l" fontAlgn="ctr">
                        <a:buNone/>
                      </a:pPr>
                      <a:r>
                        <a:rPr lang="zh-CN" altLang="en-US" sz="800" b="1" i="0">
                          <a:solidFill>
                            <a:srgbClr val="FF0000"/>
                          </a:solidFill>
                          <a:latin typeface="微软雅黑" panose="020B0503020204020204" pitchFamily="34" charset="-122"/>
                          <a:ea typeface="微软雅黑" panose="020B0503020204020204" pitchFamily="34" charset="-122"/>
                        </a:rPr>
                        <a:t>产业销售</a:t>
                      </a:r>
                      <a:endParaRPr lang="zh-CN" altLang="en-US" sz="8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380%</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l" fontAlgn="ctr"/>
                      <a:r>
                        <a:rPr lang="zh-CN" altLang="en-US"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惠州</a:t>
                      </a:r>
                      <a:r>
                        <a:rPr lang="en-US" altLang="zh-CN"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106</a:t>
                      </a:r>
                      <a:r>
                        <a:rPr lang="zh-CN" altLang="en-US"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万：经营提升</a:t>
                      </a:r>
                      <a:r>
                        <a:rPr lang="en-US" altLang="zh-CN"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24</a:t>
                      </a:r>
                      <a:r>
                        <a:rPr lang="zh-CN" altLang="en-US"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万，安全保障类</a:t>
                      </a:r>
                      <a:r>
                        <a:rPr lang="en-US" altLang="zh-CN"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51.6</a:t>
                      </a:r>
                      <a:r>
                        <a:rPr lang="zh-CN" altLang="en-US"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万，工程</a:t>
                      </a:r>
                      <a:r>
                        <a:rPr lang="en-US" altLang="zh-CN"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30</a:t>
                      </a:r>
                      <a:r>
                        <a:rPr lang="zh-CN" altLang="en-US" sz="800" b="0" i="0">
                          <a:solidFill>
                            <a:srgbClr val="000000"/>
                          </a:solidFill>
                          <a:highlight>
                            <a:srgbClr val="000000">
                              <a:alpha val="0"/>
                            </a:srgbClr>
                          </a:highlight>
                          <a:latin typeface="微软雅黑" panose="020B0503020204020204" pitchFamily="34" charset="-122"/>
                          <a:ea typeface="微软雅黑" panose="020B0503020204020204" pitchFamily="34" charset="-122"/>
                        </a:rPr>
                        <a:t>万</a:t>
                      </a:r>
                      <a:endParaRPr lang="zh-CN" altLang="en-US" sz="800" b="0" i="0">
                        <a:solidFill>
                          <a:srgbClr val="000000"/>
                        </a:solidFill>
                        <a:highlight>
                          <a:srgbClr val="000000">
                            <a:alpha val="0"/>
                          </a:srgbClr>
                        </a:highlight>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bl>
          </a:graphicData>
        </a:graphic>
      </p:graphicFrame>
      <p:sp>
        <p:nvSpPr>
          <p:cNvPr id="10" name="矩形 9"/>
          <p:cNvSpPr/>
          <p:nvPr/>
        </p:nvSpPr>
        <p:spPr>
          <a:xfrm>
            <a:off x="421005" y="452120"/>
            <a:ext cx="9433560" cy="275590"/>
          </a:xfrm>
          <a:prstGeom prst="rect">
            <a:avLst/>
          </a:prstGeom>
        </p:spPr>
        <p:txBody>
          <a:bodyPr wrap="square">
            <a:spAutoFit/>
          </a:bodyPr>
          <a:p>
            <a:r>
              <a:rPr lang="en-US" altLang="zh-CN" sz="1200" b="1" dirty="0" smtClean="0">
                <a:latin typeface="微软雅黑" panose="020B0503020204020204" pitchFamily="34" charset="-122"/>
                <a:ea typeface="微软雅黑" panose="020B0503020204020204" pitchFamily="34" charset="-122"/>
              </a:rPr>
              <a:t>2026年</a:t>
            </a:r>
            <a:r>
              <a:rPr lang="zh-CN" altLang="en-US" sz="1200" b="1" dirty="0">
                <a:latin typeface="微软雅黑" panose="020B0503020204020204" pitchFamily="34" charset="-122"/>
                <a:ea typeface="微软雅黑" panose="020B0503020204020204" pitchFamily="34" charset="-122"/>
              </a:rPr>
              <a:t>资本性支出合计</a:t>
            </a:r>
            <a:r>
              <a:rPr lang="en-US" altLang="zh-CN" sz="1200" b="1" dirty="0">
                <a:latin typeface="微软雅黑" panose="020B0503020204020204" pitchFamily="34" charset="-122"/>
                <a:ea typeface="微软雅黑" panose="020B0503020204020204" pitchFamily="34" charset="-122"/>
              </a:rPr>
              <a:t>5,732</a:t>
            </a:r>
            <a:r>
              <a:rPr lang="zh-CN" altLang="en-US" sz="1200" b="1" dirty="0" smtClean="0">
                <a:latin typeface="微软雅黑" panose="020B0503020204020204" pitchFamily="34" charset="-122"/>
                <a:ea typeface="微软雅黑" panose="020B0503020204020204" pitchFamily="34" charset="-122"/>
              </a:rPr>
              <a:t>万</a:t>
            </a:r>
            <a:r>
              <a:rPr lang="zh-CN" altLang="en-US" sz="1200" b="1" dirty="0">
                <a:latin typeface="微软雅黑" panose="020B0503020204020204" pitchFamily="34" charset="-122"/>
                <a:ea typeface="微软雅黑" panose="020B0503020204020204" pitchFamily="34" charset="-122"/>
              </a:rPr>
              <a:t>，同比增加</a:t>
            </a:r>
            <a:r>
              <a:rPr lang="en-US" sz="1200" b="1" dirty="0">
                <a:latin typeface="微软雅黑" panose="020B0503020204020204" pitchFamily="34" charset="-122"/>
                <a:ea typeface="微软雅黑" panose="020B0503020204020204" pitchFamily="34" charset="-122"/>
              </a:rPr>
              <a:t>1,414</a:t>
            </a:r>
            <a:r>
              <a:rPr lang="zh-CN" altLang="en-US" sz="1200" b="1" dirty="0" smtClean="0">
                <a:latin typeface="微软雅黑" panose="020B0503020204020204" pitchFamily="34" charset="-122"/>
                <a:ea typeface="微软雅黑" panose="020B0503020204020204" pitchFamily="34" charset="-122"/>
              </a:rPr>
              <a:t>万，其中：租赁增加</a:t>
            </a:r>
            <a:r>
              <a:rPr lang="en-US" altLang="zh-CN" sz="1200" b="1" dirty="0" smtClean="0">
                <a:latin typeface="微软雅黑" panose="020B0503020204020204" pitchFamily="34" charset="-122"/>
                <a:ea typeface="微软雅黑" panose="020B0503020204020204" pitchFamily="34" charset="-122"/>
              </a:rPr>
              <a:t>1,004</a:t>
            </a:r>
            <a:r>
              <a:rPr lang="zh-CN" altLang="en-US" sz="1200" b="1" dirty="0" smtClean="0">
                <a:latin typeface="微软雅黑" panose="020B0503020204020204" pitchFamily="34" charset="-122"/>
                <a:ea typeface="微软雅黑" panose="020B0503020204020204" pitchFamily="34" charset="-122"/>
              </a:rPr>
              <a:t>万，销售增加</a:t>
            </a:r>
            <a:r>
              <a:rPr lang="en-US" altLang="zh-CN" sz="1200" b="1" dirty="0" smtClean="0">
                <a:latin typeface="微软雅黑" panose="020B0503020204020204" pitchFamily="34" charset="-122"/>
                <a:ea typeface="微软雅黑" panose="020B0503020204020204" pitchFamily="34" charset="-122"/>
              </a:rPr>
              <a:t>84</a:t>
            </a:r>
            <a:r>
              <a:rPr lang="zh-CN" altLang="en-US" sz="1200" b="1" dirty="0" smtClean="0">
                <a:latin typeface="微软雅黑" panose="020B0503020204020204" pitchFamily="34" charset="-122"/>
                <a:ea typeface="微软雅黑" panose="020B0503020204020204" pitchFamily="34" charset="-122"/>
              </a:rPr>
              <a:t>万，酒店增加</a:t>
            </a:r>
            <a:r>
              <a:rPr lang="en-US" altLang="zh-CN" sz="1200" b="1" dirty="0" smtClean="0">
                <a:latin typeface="微软雅黑" panose="020B0503020204020204" pitchFamily="34" charset="-122"/>
                <a:ea typeface="微软雅黑" panose="020B0503020204020204" pitchFamily="34" charset="-122"/>
              </a:rPr>
              <a:t>285</a:t>
            </a:r>
            <a:r>
              <a:rPr lang="zh-CN" altLang="en-US" sz="1200" b="1" dirty="0" smtClean="0">
                <a:latin typeface="微软雅黑" panose="020B0503020204020204" pitchFamily="34" charset="-122"/>
                <a:ea typeface="微软雅黑" panose="020B0503020204020204" pitchFamily="34" charset="-122"/>
              </a:rPr>
              <a:t>万，公寓增加</a:t>
            </a:r>
            <a:r>
              <a:rPr lang="en-US" altLang="zh-CN" sz="1200" b="1" dirty="0" smtClean="0">
                <a:latin typeface="微软雅黑" panose="020B0503020204020204" pitchFamily="34" charset="-122"/>
                <a:ea typeface="微软雅黑" panose="020B0503020204020204" pitchFamily="34" charset="-122"/>
              </a:rPr>
              <a:t>42</a:t>
            </a:r>
            <a:r>
              <a:rPr lang="zh-CN" altLang="en-US" sz="1200" b="1" dirty="0" smtClean="0">
                <a:latin typeface="微软雅黑" panose="020B0503020204020204" pitchFamily="34" charset="-122"/>
                <a:ea typeface="微软雅黑" panose="020B0503020204020204" pitchFamily="34" charset="-122"/>
              </a:rPr>
              <a:t>万。</a:t>
            </a:r>
            <a:endParaRPr lang="zh-CN" altLang="en-US" sz="1200" b="1" dirty="0" smtClean="0">
              <a:latin typeface="微软雅黑" panose="020B0503020204020204" pitchFamily="34" charset="-122"/>
              <a:ea typeface="微软雅黑" panose="020B0503020204020204" pitchFamily="34" charset="-122"/>
            </a:endParaRPr>
          </a:p>
        </p:txBody>
      </p:sp>
    </p:spTree>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8615" y="165101"/>
            <a:ext cx="8064961" cy="359346"/>
          </a:xfrm>
        </p:spPr>
        <p:txBody>
          <a:bodyPr/>
          <a:lstStyle/>
          <a:p>
            <a:pPr lvl="0">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第三部分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kumimoji="0" lang="en-US" altLang="zh-CN" sz="1800" b="1" i="0" u="none" strike="noStrike" kern="1200" cap="none" spc="-41" normalizeH="0" baseline="0" noProof="0" dirty="0" smtClean="0">
                <a:ln>
                  <a:noFill/>
                </a:ln>
                <a:solidFill>
                  <a:schemeClr val="tx1">
                    <a:lumMod val="75000"/>
                    <a:lumOff val="25000"/>
                  </a:schemeClr>
                </a:solidFill>
                <a:effectLst/>
                <a:uLnTx/>
                <a:uFillTx/>
              </a:rPr>
              <a:t>2026年预算编制报告</a:t>
            </a:r>
            <a:r>
              <a:rPr lang="en-US" altLang="zh-CN" b="1" noProof="0" dirty="0">
                <a:ln>
                  <a:noFill/>
                </a:ln>
                <a:effectLst/>
                <a:uLnTx/>
                <a:uFillTx/>
                <a:sym typeface="+mn-ea"/>
              </a:rPr>
              <a:t>-</a:t>
            </a:r>
            <a:r>
              <a:rPr lang="zh-CN" altLang="en-US" b="1" dirty="0">
                <a:solidFill>
                  <a:srgbClr val="002060"/>
                </a:solidFill>
              </a:rPr>
              <a:t>专项成本费用分析</a:t>
            </a:r>
            <a:r>
              <a:rPr lang="zh-CN" altLang="en-US" sz="1600" b="1" dirty="0" smtClean="0">
                <a:solidFill>
                  <a:srgbClr val="002060"/>
                </a:solidFill>
                <a:sym typeface="+mn-ea"/>
              </a:rPr>
              <a:t>（酒店公寓资本性支出）</a:t>
            </a:r>
            <a:br>
              <a:rPr kumimoji="0" lang="zh-CN" altLang="en-US" sz="1600" b="1" i="0" u="none" strike="noStrike" kern="1200" cap="none" spc="-41" normalizeH="0" baseline="0" noProof="0" dirty="0">
                <a:ln>
                  <a:noFill/>
                </a:ln>
                <a:solidFill>
                  <a:schemeClr val="tx1">
                    <a:lumMod val="75000"/>
                    <a:lumOff val="25000"/>
                  </a:schemeClr>
                </a:solidFill>
                <a:effectLst/>
                <a:uLnTx/>
                <a:uFillTx/>
              </a:rPr>
            </a:br>
            <a:endParaRPr kumimoji="0" lang="zh-CN" altLang="en-US" sz="1600" b="1" i="0" u="none" strike="noStrike" kern="1200" cap="none" spc="-41" normalizeH="0" baseline="0" noProof="0" dirty="0">
              <a:ln>
                <a:noFill/>
              </a:ln>
              <a:solidFill>
                <a:schemeClr val="tx1">
                  <a:lumMod val="75000"/>
                  <a:lumOff val="25000"/>
                </a:schemeClr>
              </a:solidFill>
              <a:effectLs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7" name="表格 6"/>
          <p:cNvGraphicFramePr/>
          <p:nvPr>
            <p:custDataLst>
              <p:tags r:id="rId1"/>
            </p:custDataLst>
          </p:nvPr>
        </p:nvGraphicFramePr>
        <p:xfrm>
          <a:off x="420370" y="596900"/>
          <a:ext cx="9099550" cy="4934585"/>
        </p:xfrm>
        <a:graphic>
          <a:graphicData uri="http://schemas.openxmlformats.org/drawingml/2006/table">
            <a:tbl>
              <a:tblPr/>
              <a:tblGrid>
                <a:gridCol w="1143000"/>
                <a:gridCol w="605790"/>
                <a:gridCol w="566420"/>
                <a:gridCol w="641985"/>
                <a:gridCol w="488315"/>
                <a:gridCol w="648335"/>
                <a:gridCol w="5005705"/>
              </a:tblGrid>
              <a:tr h="163195">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项目</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3">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长期资产支出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增幅</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备注</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r>
              <a:tr h="28384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B w="6350" cap="flat" cmpd="sng">
                      <a:solidFill>
                        <a:srgbClr val="C5D9F1"/>
                      </a:solidFill>
                      <a:prstDash val="solid"/>
                      <a:headEnd type="none" w="med" len="med"/>
                      <a:tailEnd type="none" w="med" len="med"/>
                    </a:lnB>
                  </a:tcPr>
                </a:tc>
              </a:tr>
              <a:tr h="47625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深圳吉酒店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99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299.1%</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西餐厅改造（天花改造、电路照明改造、吊顶、餐台、海鲜池、电磁炉、西餐厅装饰冰、餐椅皮面更换、火锅炉套装、三头晒灯、抽油烟机、沙拉冰箱、海鲜中岛台及设备柜）</a:t>
                      </a:r>
                      <a:r>
                        <a:rPr lang="en-US" altLang="zh-CN" sz="600" b="0" i="0">
                          <a:solidFill>
                            <a:srgbClr val="000000"/>
                          </a:solidFill>
                          <a:latin typeface="微软雅黑" panose="020B0503020204020204" pitchFamily="34" charset="-122"/>
                          <a:ea typeface="微软雅黑" panose="020B0503020204020204" pitchFamily="34" charset="-122"/>
                        </a:rPr>
                        <a:t>35.88</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客房大理石更换</a:t>
                      </a:r>
                      <a:r>
                        <a:rPr lang="en-US" altLang="zh-CN" sz="600" b="0" i="0">
                          <a:solidFill>
                            <a:srgbClr val="000000"/>
                          </a:solidFill>
                          <a:latin typeface="微软雅黑" panose="020B0503020204020204" pitchFamily="34" charset="-122"/>
                          <a:ea typeface="微软雅黑" panose="020B0503020204020204" pitchFamily="34" charset="-122"/>
                        </a:rPr>
                        <a:t>18</a:t>
                      </a:r>
                      <a:r>
                        <a:rPr lang="zh-CN" altLang="en-US" sz="600" b="0" i="0">
                          <a:solidFill>
                            <a:srgbClr val="000000"/>
                          </a:solidFill>
                          <a:latin typeface="微软雅黑" panose="020B0503020204020204" pitchFamily="34" charset="-122"/>
                          <a:ea typeface="微软雅黑" panose="020B0503020204020204" pitchFamily="34" charset="-122"/>
                        </a:rPr>
                        <a:t>万；酒店客梯更换钢丝绳</a:t>
                      </a:r>
                      <a:r>
                        <a:rPr lang="en-US" altLang="zh-CN" sz="600" b="0" i="0">
                          <a:solidFill>
                            <a:srgbClr val="000000"/>
                          </a:solidFill>
                          <a:latin typeface="微软雅黑" panose="020B0503020204020204" pitchFamily="34" charset="-122"/>
                          <a:ea typeface="微软雅黑" panose="020B0503020204020204" pitchFamily="34" charset="-122"/>
                        </a:rPr>
                        <a:t>2</a:t>
                      </a:r>
                      <a:r>
                        <a:rPr lang="zh-CN" altLang="en-US" sz="600" b="0" i="0">
                          <a:solidFill>
                            <a:srgbClr val="000000"/>
                          </a:solidFill>
                          <a:latin typeface="微软雅黑" panose="020B0503020204020204" pitchFamily="34" charset="-122"/>
                          <a:ea typeface="微软雅黑" panose="020B0503020204020204" pitchFamily="34" charset="-122"/>
                        </a:rPr>
                        <a:t>台</a:t>
                      </a:r>
                      <a:r>
                        <a:rPr lang="en-US" altLang="zh-CN" sz="600" b="0" i="0">
                          <a:solidFill>
                            <a:srgbClr val="000000"/>
                          </a:solidFill>
                          <a:latin typeface="微软雅黑" panose="020B0503020204020204" pitchFamily="34" charset="-122"/>
                          <a:ea typeface="微软雅黑" panose="020B0503020204020204" pitchFamily="34" charset="-122"/>
                        </a:rPr>
                        <a:t>13.4</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公区改造（更换电动马桶盖，卫生间面盆底部加装柜子，更换垃圾桶，改造健身房等）</a:t>
                      </a:r>
                      <a:r>
                        <a:rPr lang="en-US" altLang="zh-CN" sz="600" b="0" i="0">
                          <a:solidFill>
                            <a:srgbClr val="000000"/>
                          </a:solidFill>
                          <a:latin typeface="微软雅黑" panose="020B0503020204020204" pitchFamily="34" charset="-122"/>
                          <a:ea typeface="微软雅黑" panose="020B0503020204020204" pitchFamily="34" charset="-122"/>
                        </a:rPr>
                        <a:t>7</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客房淋浴间门槛改坡度</a:t>
                      </a:r>
                      <a:r>
                        <a:rPr lang="en-US" altLang="zh-CN" sz="600" b="0" i="0">
                          <a:solidFill>
                            <a:srgbClr val="000000"/>
                          </a:solidFill>
                          <a:latin typeface="微软雅黑" panose="020B0503020204020204" pitchFamily="34" charset="-122"/>
                          <a:ea typeface="微软雅黑" panose="020B0503020204020204" pitchFamily="34" charset="-122"/>
                        </a:rPr>
                        <a:t>7.5</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46672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星度假酒店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252.8%</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酒店负二层康体区域天花冷冻水管保温更换改造施工</a:t>
                      </a:r>
                      <a:r>
                        <a:rPr lang="en-US" altLang="zh-CN" sz="600" b="0" i="0">
                          <a:solidFill>
                            <a:srgbClr val="000000"/>
                          </a:solidFill>
                          <a:latin typeface="微软雅黑" panose="020B0503020204020204" pitchFamily="34" charset="-122"/>
                          <a:ea typeface="微软雅黑" panose="020B0503020204020204" pitchFamily="34" charset="-122"/>
                        </a:rPr>
                        <a:t>8</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生活热水泵变频改造、温泉加热机房水泵改变频</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西区</a:t>
                      </a:r>
                      <a:r>
                        <a:rPr lang="en-US" altLang="zh-CN" sz="600" b="0" i="0">
                          <a:solidFill>
                            <a:srgbClr val="000000"/>
                          </a:solidFill>
                          <a:latin typeface="微软雅黑" panose="020B0503020204020204" pitchFamily="34" charset="-122"/>
                          <a:ea typeface="微软雅黑" panose="020B0503020204020204" pitchFamily="34" charset="-122"/>
                        </a:rPr>
                        <a:t>2</a:t>
                      </a:r>
                      <a:r>
                        <a:rPr lang="zh-CN" altLang="en-US" sz="600" b="0" i="0">
                          <a:solidFill>
                            <a:srgbClr val="000000"/>
                          </a:solidFill>
                          <a:latin typeface="微软雅黑" panose="020B0503020204020204" pitchFamily="34" charset="-122"/>
                          <a:ea typeface="微软雅黑" panose="020B0503020204020204" pitchFamily="34" charset="-122"/>
                        </a:rPr>
                        <a:t>楼地毯更换</a:t>
                      </a:r>
                      <a:r>
                        <a:rPr lang="en-US" altLang="zh-CN" sz="600" b="0" i="0">
                          <a:solidFill>
                            <a:srgbClr val="000000"/>
                          </a:solidFill>
                          <a:latin typeface="微软雅黑" panose="020B0503020204020204" pitchFamily="34" charset="-122"/>
                          <a:ea typeface="微软雅黑" panose="020B0503020204020204" pitchFamily="34" charset="-122"/>
                        </a:rPr>
                        <a:t>4</a:t>
                      </a:r>
                      <a:r>
                        <a:rPr lang="zh-CN" altLang="en-US" sz="600" b="0" i="0">
                          <a:solidFill>
                            <a:srgbClr val="000000"/>
                          </a:solidFill>
                          <a:latin typeface="微软雅黑" panose="020B0503020204020204" pitchFamily="34" charset="-122"/>
                          <a:ea typeface="微软雅黑" panose="020B0503020204020204" pitchFamily="34" charset="-122"/>
                        </a:rPr>
                        <a:t>万；改造应急照明控制柜</a:t>
                      </a:r>
                      <a:r>
                        <a:rPr lang="en-US" altLang="zh-CN" sz="600" b="0" i="0">
                          <a:solidFill>
                            <a:srgbClr val="000000"/>
                          </a:solidFill>
                          <a:latin typeface="微软雅黑" panose="020B0503020204020204" pitchFamily="34" charset="-122"/>
                          <a:ea typeface="微软雅黑" panose="020B0503020204020204" pitchFamily="34" charset="-122"/>
                        </a:rPr>
                        <a:t>3.2</a:t>
                      </a:r>
                      <a:r>
                        <a:rPr lang="zh-CN" altLang="en-US" sz="600" b="0" i="0">
                          <a:solidFill>
                            <a:srgbClr val="000000"/>
                          </a:solidFill>
                          <a:latin typeface="微软雅黑" panose="020B0503020204020204" pitchFamily="34" charset="-122"/>
                          <a:ea typeface="微软雅黑" panose="020B0503020204020204" pitchFamily="34" charset="-122"/>
                        </a:rPr>
                        <a:t>万；客房阳台家私老化升级更换改造（分批次）</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万；墙面翻新改造及改造应急照明控制柜、停车场脱漆起皮等零星改造工程</a:t>
                      </a:r>
                      <a:r>
                        <a:rPr lang="en-US" altLang="zh-CN" sz="600" b="0" i="0">
                          <a:solidFill>
                            <a:srgbClr val="000000"/>
                          </a:solidFill>
                          <a:latin typeface="微软雅黑" panose="020B0503020204020204" pitchFamily="34" charset="-122"/>
                          <a:ea typeface="微软雅黑" panose="020B0503020204020204" pitchFamily="34" charset="-122"/>
                        </a:rPr>
                        <a:t>23.4</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1145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东山酒店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-9.4%</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消防系统更换</a:t>
                      </a:r>
                      <a:r>
                        <a:rPr lang="en-US" altLang="zh-CN" sz="600" b="0" i="0">
                          <a:solidFill>
                            <a:srgbClr val="000000"/>
                          </a:solidFill>
                          <a:latin typeface="微软雅黑" panose="020B0503020204020204" pitchFamily="34" charset="-122"/>
                          <a:ea typeface="微软雅黑" panose="020B0503020204020204" pitchFamily="34" charset="-122"/>
                        </a:rPr>
                        <a:t>40</a:t>
                      </a:r>
                      <a:r>
                        <a:rPr lang="zh-CN" altLang="en-US" sz="600" b="0" i="0">
                          <a:solidFill>
                            <a:srgbClr val="000000"/>
                          </a:solidFill>
                          <a:latin typeface="微软雅黑" panose="020B0503020204020204" pitchFamily="34" charset="-122"/>
                          <a:ea typeface="微软雅黑" panose="020B0503020204020204" pitchFamily="34" charset="-122"/>
                        </a:rPr>
                        <a:t>万；沙池网红灯塔</a:t>
                      </a:r>
                      <a:r>
                        <a:rPr lang="en-US" altLang="zh-CN" sz="600" b="0" i="0">
                          <a:solidFill>
                            <a:srgbClr val="000000"/>
                          </a:solidFill>
                          <a:latin typeface="微软雅黑" panose="020B0503020204020204" pitchFamily="34" charset="-122"/>
                          <a:ea typeface="微软雅黑" panose="020B0503020204020204" pitchFamily="34" charset="-122"/>
                        </a:rPr>
                        <a:t>18</a:t>
                      </a:r>
                      <a:r>
                        <a:rPr lang="zh-CN" altLang="en-US" sz="600" b="0" i="0">
                          <a:solidFill>
                            <a:srgbClr val="000000"/>
                          </a:solidFill>
                          <a:latin typeface="微软雅黑" panose="020B0503020204020204" pitchFamily="34" charset="-122"/>
                          <a:ea typeface="微软雅黑" panose="020B0503020204020204" pitchFamily="34" charset="-122"/>
                        </a:rPr>
                        <a:t>万；</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栋宿舍防水</a:t>
                      </a:r>
                      <a:r>
                        <a:rPr lang="en-US" altLang="zh-CN" sz="600" b="0" i="0">
                          <a:solidFill>
                            <a:srgbClr val="000000"/>
                          </a:solidFill>
                          <a:latin typeface="微软雅黑" panose="020B0503020204020204" pitchFamily="34" charset="-122"/>
                          <a:ea typeface="微软雅黑" panose="020B0503020204020204" pitchFamily="34" charset="-122"/>
                        </a:rPr>
                        <a:t>9</a:t>
                      </a:r>
                      <a:r>
                        <a:rPr lang="zh-CN" altLang="en-US" sz="600" b="0" i="0">
                          <a:solidFill>
                            <a:srgbClr val="000000"/>
                          </a:solidFill>
                          <a:latin typeface="微软雅黑" panose="020B0503020204020204" pitchFamily="34" charset="-122"/>
                          <a:ea typeface="微软雅黑" panose="020B0503020204020204" pitchFamily="34" charset="-122"/>
                        </a:rPr>
                        <a:t>万；山上宿舍危楼加固</a:t>
                      </a:r>
                      <a:r>
                        <a:rPr lang="en-US" altLang="zh-CN" sz="600" b="0" i="0">
                          <a:solidFill>
                            <a:srgbClr val="000000"/>
                          </a:solidFill>
                          <a:latin typeface="微软雅黑" panose="020B0503020204020204" pitchFamily="34" charset="-122"/>
                          <a:ea typeface="微软雅黑" panose="020B0503020204020204" pitchFamily="34" charset="-122"/>
                        </a:rPr>
                        <a:t>8</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5400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广州吉酒店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幕墙玻璃破裂更换每年按</a:t>
                      </a:r>
                      <a:r>
                        <a:rPr lang="en-US" altLang="zh-CN" sz="600" b="0" i="0">
                          <a:solidFill>
                            <a:srgbClr val="000000"/>
                          </a:solidFill>
                          <a:latin typeface="微软雅黑" panose="020B0503020204020204" pitchFamily="34" charset="-122"/>
                          <a:ea typeface="微软雅黑" panose="020B0503020204020204" pitchFamily="34" charset="-122"/>
                        </a:rPr>
                        <a:t>20</a:t>
                      </a:r>
                      <a:r>
                        <a:rPr lang="zh-CN" altLang="en-US" sz="600" b="0" i="0">
                          <a:solidFill>
                            <a:srgbClr val="000000"/>
                          </a:solidFill>
                          <a:latin typeface="微软雅黑" panose="020B0503020204020204" pitchFamily="34" charset="-122"/>
                          <a:ea typeface="微软雅黑" panose="020B0503020204020204" pitchFamily="34" charset="-122"/>
                        </a:rPr>
                        <a:t>块来算</a:t>
                      </a:r>
                      <a:r>
                        <a:rPr lang="en-US" altLang="zh-CN" sz="600" b="0" i="0">
                          <a:solidFill>
                            <a:srgbClr val="000000"/>
                          </a:solidFill>
                          <a:latin typeface="微软雅黑" panose="020B0503020204020204" pitchFamily="34" charset="-122"/>
                          <a:ea typeface="微软雅黑" panose="020B0503020204020204" pitchFamily="34" charset="-122"/>
                        </a:rPr>
                        <a:t>4</a:t>
                      </a:r>
                      <a:r>
                        <a:rPr lang="zh-CN" altLang="en-US" sz="600" b="0" i="0">
                          <a:solidFill>
                            <a:srgbClr val="000000"/>
                          </a:solidFill>
                          <a:latin typeface="微软雅黑" panose="020B0503020204020204" pitchFamily="34" charset="-122"/>
                          <a:ea typeface="微软雅黑" panose="020B0503020204020204" pitchFamily="34" charset="-122"/>
                        </a:rPr>
                        <a:t>万；客房淋浴间门玻璃破裂更换</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块</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1653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上海吉酒店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671.2%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XH里项目园区地面石材破损</a:t>
                      </a:r>
                      <a:r>
                        <a:rPr lang="en-US" altLang="zh-CN" sz="600" b="0" i="0">
                          <a:solidFill>
                            <a:srgbClr val="000000"/>
                          </a:solidFill>
                          <a:latin typeface="微软雅黑" panose="020B0503020204020204" pitchFamily="34" charset="-122"/>
                          <a:ea typeface="微软雅黑" panose="020B0503020204020204" pitchFamily="34" charset="-122"/>
                        </a:rPr>
                        <a:t>25.98</a:t>
                      </a:r>
                      <a:r>
                        <a:rPr lang="zh-CN" altLang="en-US" sz="600" b="0" i="0">
                          <a:solidFill>
                            <a:srgbClr val="000000"/>
                          </a:solidFill>
                          <a:latin typeface="微软雅黑" panose="020B0503020204020204" pitchFamily="34" charset="-122"/>
                          <a:ea typeface="微软雅黑" panose="020B0503020204020204" pitchFamily="34" charset="-122"/>
                        </a:rPr>
                        <a:t>万；酒店旋转门</a:t>
                      </a:r>
                      <a:r>
                        <a:rPr lang="en-US" altLang="zh-CN" sz="600" b="0" i="0">
                          <a:solidFill>
                            <a:srgbClr val="000000"/>
                          </a:solidFill>
                          <a:latin typeface="微软雅黑" panose="020B0503020204020204" pitchFamily="34" charset="-122"/>
                          <a:ea typeface="微软雅黑" panose="020B0503020204020204" pitchFamily="34" charset="-122"/>
                        </a:rPr>
                        <a:t>20</a:t>
                      </a:r>
                      <a:r>
                        <a:rPr lang="zh-CN" altLang="en-US" sz="600" b="0" i="0">
                          <a:solidFill>
                            <a:srgbClr val="000000"/>
                          </a:solidFill>
                          <a:latin typeface="微软雅黑" panose="020B0503020204020204" pitchFamily="34" charset="-122"/>
                          <a:ea typeface="微软雅黑" panose="020B0503020204020204" pitchFamily="34" charset="-122"/>
                        </a:rPr>
                        <a:t>万；空调增加除湿系统模块</a:t>
                      </a:r>
                      <a:r>
                        <a:rPr lang="en-US" altLang="zh-CN" sz="600" b="0" i="0">
                          <a:solidFill>
                            <a:srgbClr val="000000"/>
                          </a:solidFill>
                          <a:latin typeface="微软雅黑" panose="020B0503020204020204" pitchFamily="34" charset="-122"/>
                          <a:ea typeface="微软雅黑" panose="020B0503020204020204" pitchFamily="34" charset="-122"/>
                        </a:rPr>
                        <a:t>18</a:t>
                      </a:r>
                      <a:r>
                        <a:rPr lang="zh-CN" altLang="en-US" sz="600" b="0" i="0">
                          <a:solidFill>
                            <a:srgbClr val="000000"/>
                          </a:solidFill>
                          <a:latin typeface="微软雅黑" panose="020B0503020204020204" pitchFamily="34" charset="-122"/>
                          <a:ea typeface="微软雅黑" panose="020B0503020204020204" pitchFamily="34" charset="-122"/>
                        </a:rPr>
                        <a:t>万；公共区域增加摄像头</a:t>
                      </a:r>
                      <a:r>
                        <a:rPr lang="en-US" altLang="zh-CN" sz="600" b="0" i="0">
                          <a:solidFill>
                            <a:srgbClr val="000000"/>
                          </a:solidFill>
                          <a:latin typeface="微软雅黑" panose="020B0503020204020204" pitchFamily="34" charset="-122"/>
                          <a:ea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rPr>
                        <a:t>万；其他客房零星工程改造</a:t>
                      </a:r>
                      <a:r>
                        <a:rPr lang="en-US" altLang="zh-CN" sz="600" b="0" i="0">
                          <a:solidFill>
                            <a:srgbClr val="000000"/>
                          </a:solidFill>
                          <a:latin typeface="微软雅黑" panose="020B0503020204020204" pitchFamily="34" charset="-122"/>
                          <a:ea typeface="微软雅黑" panose="020B0503020204020204" pitchFamily="34" charset="-122"/>
                        </a:rPr>
                        <a:t>1.29</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61404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万丽酒店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52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158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238.2%</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28F</a:t>
                      </a:r>
                      <a:r>
                        <a:rPr lang="zh-CN" altLang="en-US" sz="600" b="0" i="0">
                          <a:solidFill>
                            <a:srgbClr val="000000"/>
                          </a:solidFill>
                          <a:latin typeface="微软雅黑" panose="020B0503020204020204" pitchFamily="34" charset="-122"/>
                          <a:ea typeface="微软雅黑" panose="020B0503020204020204" pitchFamily="34" charset="-122"/>
                        </a:rPr>
                        <a:t>层换热机房</a:t>
                      </a:r>
                      <a:r>
                        <a:rPr lang="en-US" altLang="zh-CN" sz="600" b="0" i="0">
                          <a:solidFill>
                            <a:srgbClr val="000000"/>
                          </a:solidFill>
                          <a:latin typeface="微软雅黑" panose="020B0503020204020204" pitchFamily="34" charset="-122"/>
                          <a:ea typeface="微软雅黑" panose="020B0503020204020204" pitchFamily="34" charset="-122"/>
                        </a:rPr>
                        <a:t>/B1F</a:t>
                      </a:r>
                      <a:r>
                        <a:rPr lang="zh-CN" altLang="en-US" sz="600" b="0" i="0">
                          <a:solidFill>
                            <a:srgbClr val="000000"/>
                          </a:solidFill>
                          <a:latin typeface="微软雅黑" panose="020B0503020204020204" pitchFamily="34" charset="-122"/>
                          <a:ea typeface="微软雅黑" panose="020B0503020204020204" pitchFamily="34" charset="-122"/>
                        </a:rPr>
                        <a:t>换热机房</a:t>
                      </a:r>
                      <a:r>
                        <a:rPr lang="en-US" altLang="zh-CN" sz="600" b="0" i="0">
                          <a:solidFill>
                            <a:srgbClr val="000000"/>
                          </a:solidFill>
                          <a:latin typeface="微软雅黑" panose="020B0503020204020204" pitchFamily="34" charset="-122"/>
                          <a:ea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rPr>
                        <a:t>承压式储水罐更换</a:t>
                      </a:r>
                      <a:r>
                        <a:rPr lang="en-US" altLang="zh-CN" sz="600" b="0" i="0">
                          <a:solidFill>
                            <a:srgbClr val="000000"/>
                          </a:solidFill>
                          <a:latin typeface="微软雅黑" panose="020B0503020204020204" pitchFamily="34" charset="-122"/>
                          <a:ea typeface="微软雅黑" panose="020B0503020204020204" pitchFamily="34" charset="-122"/>
                        </a:rPr>
                        <a:t>65</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电梯运行钢丝绳更换（两部货梯的主钢丝绳）</a:t>
                      </a:r>
                      <a:r>
                        <a:rPr lang="en-US" altLang="zh-CN" sz="600" b="0" i="0">
                          <a:solidFill>
                            <a:srgbClr val="000000"/>
                          </a:solidFill>
                          <a:latin typeface="微软雅黑" panose="020B0503020204020204" pitchFamily="34" charset="-122"/>
                          <a:ea typeface="微软雅黑" panose="020B0503020204020204" pitchFamily="34" charset="-122"/>
                        </a:rPr>
                        <a:t>26</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泳池池底改造</a:t>
                      </a:r>
                      <a:r>
                        <a:rPr lang="en-US" altLang="zh-CN" sz="600" b="0" i="0">
                          <a:solidFill>
                            <a:srgbClr val="000000"/>
                          </a:solidFill>
                          <a:latin typeface="微软雅黑" panose="020B0503020204020204" pitchFamily="34" charset="-122"/>
                          <a:ea typeface="微软雅黑" panose="020B0503020204020204" pitchFamily="34" charset="-122"/>
                        </a:rPr>
                        <a:t>10.64</a:t>
                      </a:r>
                      <a:r>
                        <a:rPr lang="zh-CN" altLang="en-US" sz="600" b="0" i="0">
                          <a:solidFill>
                            <a:srgbClr val="000000"/>
                          </a:solidFill>
                          <a:latin typeface="微软雅黑" panose="020B0503020204020204" pitchFamily="34" charset="-122"/>
                          <a:ea typeface="微软雅黑" panose="020B0503020204020204" pitchFamily="34" charset="-122"/>
                        </a:rPr>
                        <a:t>万；泳池溢水沟改造</a:t>
                      </a:r>
                      <a:r>
                        <a:rPr lang="en-US" altLang="zh-CN" sz="600" b="0" i="0">
                          <a:solidFill>
                            <a:srgbClr val="000000"/>
                          </a:solidFill>
                          <a:latin typeface="微软雅黑" panose="020B0503020204020204" pitchFamily="34" charset="-122"/>
                          <a:ea typeface="微软雅黑" panose="020B0503020204020204" pitchFamily="34" charset="-122"/>
                        </a:rPr>
                        <a:t>8.75</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酒店套房翻新地板（</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间）</a:t>
                      </a:r>
                      <a:r>
                        <a:rPr lang="en-US" altLang="zh-CN" sz="600" b="0" i="0">
                          <a:solidFill>
                            <a:srgbClr val="000000"/>
                          </a:solidFill>
                          <a:latin typeface="微软雅黑" panose="020B0503020204020204" pitchFamily="34" charset="-122"/>
                          <a:ea typeface="微软雅黑" panose="020B0503020204020204" pitchFamily="34" charset="-122"/>
                        </a:rPr>
                        <a:t>7.2</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更换厨房及锅炉房可燃气体探测器探头（整体更换）</a:t>
                      </a:r>
                      <a:r>
                        <a:rPr lang="en-US" altLang="zh-CN" sz="600" b="0" i="0">
                          <a:solidFill>
                            <a:srgbClr val="000000"/>
                          </a:solidFill>
                          <a:latin typeface="微软雅黑" panose="020B0503020204020204" pitchFamily="34" charset="-122"/>
                          <a:ea typeface="微软雅黑" panose="020B0503020204020204" pitchFamily="34" charset="-122"/>
                        </a:rPr>
                        <a:t>6.9</a:t>
                      </a:r>
                      <a:r>
                        <a:rPr lang="zh-CN" altLang="en-US" sz="600" b="0" i="0">
                          <a:solidFill>
                            <a:srgbClr val="000000"/>
                          </a:solidFill>
                          <a:latin typeface="微软雅黑" panose="020B0503020204020204" pitchFamily="34" charset="-122"/>
                          <a:ea typeface="微软雅黑" panose="020B0503020204020204" pitchFamily="34" charset="-122"/>
                        </a:rPr>
                        <a:t>万；大堂漏水维修及刷漆</a:t>
                      </a:r>
                      <a:r>
                        <a:rPr lang="en-US" altLang="zh-CN" sz="600" b="0" i="0">
                          <a:solidFill>
                            <a:srgbClr val="000000"/>
                          </a:solidFill>
                          <a:latin typeface="微软雅黑" panose="020B0503020204020204" pitchFamily="34" charset="-122"/>
                          <a:ea typeface="微软雅黑" panose="020B0503020204020204" pitchFamily="34" charset="-122"/>
                        </a:rPr>
                        <a:t>8.5</a:t>
                      </a:r>
                      <a:r>
                        <a:rPr lang="zh-CN" altLang="en-US" sz="600" b="0" i="0">
                          <a:solidFill>
                            <a:srgbClr val="000000"/>
                          </a:solidFill>
                          <a:latin typeface="微软雅黑" panose="020B0503020204020204" pitchFamily="34" charset="-122"/>
                          <a:ea typeface="微软雅黑" panose="020B0503020204020204" pitchFamily="34" charset="-122"/>
                        </a:rPr>
                        <a:t>万；电梯限速器钢丝绳更换及澜月厅加装筒灯</a:t>
                      </a:r>
                      <a:r>
                        <a:rPr lang="en-US" altLang="zh-CN" sz="600" b="0" i="0">
                          <a:solidFill>
                            <a:srgbClr val="000000"/>
                          </a:solidFill>
                          <a:latin typeface="微软雅黑" panose="020B0503020204020204" pitchFamily="34" charset="-122"/>
                          <a:ea typeface="微软雅黑" panose="020B0503020204020204" pitchFamily="34" charset="-122"/>
                        </a:rPr>
                        <a:t>5.5</a:t>
                      </a:r>
                      <a:r>
                        <a:rPr lang="zh-CN" altLang="en-US" sz="600" b="0" i="0">
                          <a:solidFill>
                            <a:srgbClr val="000000"/>
                          </a:solidFill>
                          <a:latin typeface="微软雅黑" panose="020B0503020204020204" pitchFamily="34" charset="-122"/>
                          <a:ea typeface="微软雅黑" panose="020B0503020204020204" pitchFamily="34" charset="-122"/>
                        </a:rPr>
                        <a:t>万；                                                                                    客房</a:t>
                      </a:r>
                      <a:r>
                        <a:rPr lang="en-US" altLang="zh-CN" sz="600" b="0" i="0">
                          <a:solidFill>
                            <a:srgbClr val="000000"/>
                          </a:solidFill>
                          <a:latin typeface="微软雅黑" panose="020B0503020204020204" pitchFamily="34" charset="-122"/>
                          <a:ea typeface="微软雅黑" panose="020B0503020204020204" pitchFamily="34" charset="-122"/>
                        </a:rPr>
                        <a:t>06</a:t>
                      </a:r>
                      <a:r>
                        <a:rPr lang="zh-CN" altLang="en-US" sz="600" b="0" i="0">
                          <a:solidFill>
                            <a:srgbClr val="000000"/>
                          </a:solidFill>
                          <a:latin typeface="微软雅黑" panose="020B0503020204020204" pitchFamily="34" charset="-122"/>
                          <a:ea typeface="微软雅黑" panose="020B0503020204020204" pitchFamily="34" charset="-122"/>
                        </a:rPr>
                        <a:t>号空调改造及</a:t>
                      </a:r>
                      <a:r>
                        <a:rPr lang="en-US" altLang="zh-CN" sz="600" b="0" i="0">
                          <a:solidFill>
                            <a:srgbClr val="000000"/>
                          </a:solidFill>
                          <a:latin typeface="微软雅黑" panose="020B0503020204020204" pitchFamily="34" charset="-122"/>
                          <a:ea typeface="微软雅黑" panose="020B0503020204020204" pitchFamily="34" charset="-122"/>
                        </a:rPr>
                        <a:t>2</a:t>
                      </a:r>
                      <a:r>
                        <a:rPr lang="zh-CN" altLang="en-US" sz="600" b="0" i="0">
                          <a:solidFill>
                            <a:srgbClr val="000000"/>
                          </a:solidFill>
                          <a:latin typeface="微软雅黑" panose="020B0503020204020204" pitchFamily="34" charset="-122"/>
                          <a:ea typeface="微软雅黑" panose="020B0503020204020204" pitchFamily="34" charset="-122"/>
                        </a:rPr>
                        <a:t>楼公区改造增加隔断门、车道维修等工程改造</a:t>
                      </a:r>
                      <a:r>
                        <a:rPr lang="en-US" altLang="zh-CN" sz="600" b="0" i="0">
                          <a:solidFill>
                            <a:srgbClr val="000000"/>
                          </a:solidFill>
                          <a:latin typeface="微软雅黑" panose="020B0503020204020204" pitchFamily="34" charset="-122"/>
                          <a:ea typeface="微软雅黑" panose="020B0503020204020204" pitchFamily="34" charset="-122"/>
                        </a:rPr>
                        <a:t>12.82</a:t>
                      </a:r>
                      <a:r>
                        <a:rPr lang="zh-CN" altLang="en-US" sz="600" b="0" i="0">
                          <a:solidFill>
                            <a:srgbClr val="000000"/>
                          </a:solidFill>
                          <a:latin typeface="微软雅黑" panose="020B0503020204020204" pitchFamily="34" charset="-122"/>
                          <a:ea typeface="微软雅黑" panose="020B0503020204020204" pitchFamily="34" charset="-122"/>
                        </a:rPr>
                        <a:t>万；酒店健身房及西餐厅大理石更换改造</a:t>
                      </a:r>
                      <a:r>
                        <a:rPr lang="en-US" altLang="zh-CN" sz="600" b="0" i="0">
                          <a:solidFill>
                            <a:srgbClr val="000000"/>
                          </a:solidFill>
                          <a:latin typeface="微软雅黑" panose="020B0503020204020204" pitchFamily="34" charset="-122"/>
                          <a:ea typeface="微软雅黑" panose="020B0503020204020204" pitchFamily="34" charset="-122"/>
                        </a:rPr>
                        <a:t>3.5</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900" b="1" i="0">
                          <a:solidFill>
                            <a:srgbClr val="FF0000"/>
                          </a:solidFill>
                          <a:latin typeface="微软雅黑" panose="020B0503020204020204" pitchFamily="34" charset="-122"/>
                          <a:ea typeface="微软雅黑" panose="020B0503020204020204" pitchFamily="34" charset="-122"/>
                        </a:rPr>
                        <a:t>酒店合计</a:t>
                      </a:r>
                      <a:endParaRPr lang="zh-CN" altLang="en-US" sz="9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270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179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464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285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159.6%</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53340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雅宝郡寓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35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-11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-31.7%</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05</a:t>
                      </a:r>
                      <a:r>
                        <a:rPr lang="zh-CN" altLang="en-US" sz="600" b="0" i="0">
                          <a:solidFill>
                            <a:srgbClr val="000000"/>
                          </a:solidFill>
                          <a:latin typeface="微软雅黑" panose="020B0503020204020204" pitchFamily="34" charset="-122"/>
                          <a:ea typeface="微软雅黑" panose="020B0503020204020204" pitchFamily="34" charset="-122"/>
                        </a:rPr>
                        <a:t>号房阳台玻璃更换为双层隔音玻璃</a:t>
                      </a:r>
                      <a:r>
                        <a:rPr lang="en-US" altLang="zh-CN" sz="600" b="0" i="0">
                          <a:solidFill>
                            <a:srgbClr val="000000"/>
                          </a:solidFill>
                          <a:latin typeface="微软雅黑" panose="020B0503020204020204" pitchFamily="34" charset="-122"/>
                          <a:ea typeface="微软雅黑" panose="020B0503020204020204" pitchFamily="34" charset="-122"/>
                        </a:rPr>
                        <a:t>12.6</a:t>
                      </a:r>
                      <a:r>
                        <a:rPr lang="zh-CN" altLang="en-US" sz="600" b="0" i="0">
                          <a:solidFill>
                            <a:srgbClr val="000000"/>
                          </a:solidFill>
                          <a:latin typeface="微软雅黑" panose="020B0503020204020204" pitchFamily="34" charset="-122"/>
                          <a:ea typeface="微软雅黑" panose="020B0503020204020204" pitchFamily="34" charset="-122"/>
                        </a:rPr>
                        <a:t>万元；</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市政给水管网改造（与酒店分户，直接入公寓）</a:t>
                      </a:r>
                      <a:r>
                        <a:rPr lang="en-US" altLang="zh-CN" sz="600" b="0" i="0">
                          <a:solidFill>
                            <a:srgbClr val="000000"/>
                          </a:solidFill>
                          <a:latin typeface="微软雅黑" panose="020B0503020204020204" pitchFamily="34" charset="-122"/>
                          <a:ea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en-US" altLang="zh-CN" sz="600" b="0" i="0">
                          <a:solidFill>
                            <a:srgbClr val="000000"/>
                          </a:solidFill>
                          <a:latin typeface="微软雅黑" panose="020B0503020204020204" pitchFamily="34" charset="-122"/>
                          <a:ea typeface="微软雅黑" panose="020B0503020204020204" pitchFamily="34" charset="-122"/>
                        </a:rPr>
                        <a:t>26</a:t>
                      </a:r>
                      <a:r>
                        <a:rPr lang="zh-CN" altLang="en-US" sz="600" b="0" i="0">
                          <a:solidFill>
                            <a:srgbClr val="000000"/>
                          </a:solidFill>
                          <a:latin typeface="微软雅黑" panose="020B0503020204020204" pitchFamily="34" charset="-122"/>
                          <a:ea typeface="微软雅黑" panose="020B0503020204020204" pitchFamily="34" charset="-122"/>
                        </a:rPr>
                        <a:t>楼加防火门</a:t>
                      </a:r>
                      <a:r>
                        <a:rPr lang="en-US" altLang="zh-CN" sz="600" b="0" i="0">
                          <a:solidFill>
                            <a:srgbClr val="000000"/>
                          </a:solidFill>
                          <a:latin typeface="微软雅黑" panose="020B0503020204020204" pitchFamily="34" charset="-122"/>
                          <a:ea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rPr>
                        <a:t>增改仓库</a:t>
                      </a:r>
                      <a:r>
                        <a:rPr lang="en-US" altLang="zh-CN" sz="600" b="0" i="0">
                          <a:solidFill>
                            <a:srgbClr val="000000"/>
                          </a:solidFill>
                          <a:latin typeface="微软雅黑" panose="020B0503020204020204" pitchFamily="34" charset="-122"/>
                          <a:ea typeface="微软雅黑" panose="020B0503020204020204" pitchFamily="34" charset="-122"/>
                        </a:rPr>
                        <a:t>)  0.6</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机房通道门禁系统延期（设备机房、通道用） </a:t>
                      </a:r>
                      <a:r>
                        <a:rPr lang="en-US" altLang="zh-CN" sz="600" b="0" i="0">
                          <a:solidFill>
                            <a:srgbClr val="000000"/>
                          </a:solidFill>
                          <a:latin typeface="微软雅黑" panose="020B0503020204020204" pitchFamily="34" charset="-122"/>
                          <a:ea typeface="微软雅黑" panose="020B0503020204020204" pitchFamily="34" charset="-122"/>
                        </a:rPr>
                        <a:t>0.45</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1018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沙井荣御</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96215">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锦居</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快递外卖区改造</a:t>
                      </a:r>
                      <a:r>
                        <a:rPr lang="en-US" altLang="zh-CN" sz="600" b="0" i="0">
                          <a:solidFill>
                            <a:srgbClr val="000000"/>
                          </a:solidFill>
                          <a:latin typeface="微软雅黑" panose="020B0503020204020204" pitchFamily="34" charset="-122"/>
                          <a:ea typeface="微软雅黑" panose="020B0503020204020204" pitchFamily="34" charset="-122"/>
                        </a:rPr>
                        <a:t>3.5</a:t>
                      </a:r>
                      <a:r>
                        <a:rPr lang="zh-CN" altLang="en-US" sz="600" b="0" i="0">
                          <a:solidFill>
                            <a:srgbClr val="000000"/>
                          </a:solidFill>
                          <a:latin typeface="微软雅黑" panose="020B0503020204020204" pitchFamily="34" charset="-122"/>
                          <a:ea typeface="微软雅黑" panose="020B0503020204020204" pitchFamily="34" charset="-122"/>
                        </a:rPr>
                        <a:t>万；外围道闸及停车场设备更换</a:t>
                      </a:r>
                      <a:r>
                        <a:rPr lang="en-US" altLang="zh-CN" sz="600" b="0" i="0">
                          <a:solidFill>
                            <a:srgbClr val="000000"/>
                          </a:solidFill>
                          <a:latin typeface="微软雅黑" panose="020B0503020204020204" pitchFamily="34" charset="-122"/>
                          <a:ea typeface="微软雅黑" panose="020B0503020204020204" pitchFamily="34" charset="-122"/>
                        </a:rPr>
                        <a:t>2.5</a:t>
                      </a:r>
                      <a:r>
                        <a:rPr lang="zh-CN" altLang="en-US" sz="600" b="0" i="0">
                          <a:solidFill>
                            <a:srgbClr val="000000"/>
                          </a:solidFill>
                          <a:latin typeface="微软雅黑" panose="020B0503020204020204" pitchFamily="34" charset="-122"/>
                          <a:ea typeface="微软雅黑" panose="020B0503020204020204" pitchFamily="34" charset="-122"/>
                        </a:rPr>
                        <a:t>万；</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楼外窗改造</a:t>
                      </a:r>
                      <a:r>
                        <a:rPr lang="en-US" altLang="zh-CN" sz="600" b="0" i="0">
                          <a:solidFill>
                            <a:srgbClr val="000000"/>
                          </a:solidFill>
                          <a:latin typeface="微软雅黑" panose="020B0503020204020204" pitchFamily="34" charset="-122"/>
                          <a:ea typeface="微软雅黑" panose="020B0503020204020204" pitchFamily="34" charset="-122"/>
                        </a:rPr>
                        <a:t>4.2</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47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国都高尔夫</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2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更换自动门及门禁系统</a:t>
                      </a:r>
                      <a:r>
                        <a:rPr lang="en-US" altLang="zh-CN" sz="600" b="0" i="0">
                          <a:solidFill>
                            <a:srgbClr val="000000"/>
                          </a:solidFill>
                          <a:latin typeface="微软雅黑" panose="020B0503020204020204" pitchFamily="34" charset="-122"/>
                          <a:ea typeface="微软雅黑" panose="020B0503020204020204" pitchFamily="34" charset="-122"/>
                        </a:rPr>
                        <a:t>2</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47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龙华龙岗</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10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钢筋裸露共</a:t>
                      </a:r>
                      <a:r>
                        <a:rPr lang="en-US" altLang="zh-CN" sz="600" b="0" i="0">
                          <a:solidFill>
                            <a:srgbClr val="000000"/>
                          </a:solidFill>
                          <a:latin typeface="微软雅黑" panose="020B0503020204020204" pitchFamily="34" charset="-122"/>
                          <a:ea typeface="微软雅黑" panose="020B0503020204020204" pitchFamily="34" charset="-122"/>
                        </a:rPr>
                        <a:t>48</a:t>
                      </a:r>
                      <a:r>
                        <a:rPr lang="zh-CN" altLang="en-US" sz="600" b="0" i="0">
                          <a:solidFill>
                            <a:srgbClr val="000000"/>
                          </a:solidFill>
                          <a:latin typeface="微软雅黑" panose="020B0503020204020204" pitchFamily="34" charset="-122"/>
                          <a:ea typeface="微软雅黑" panose="020B0503020204020204" pitchFamily="34" charset="-122"/>
                        </a:rPr>
                        <a:t>处，预估修复需</a:t>
                      </a:r>
                      <a:r>
                        <a:rPr lang="en-US" altLang="zh-CN" sz="600" b="0" i="0">
                          <a:solidFill>
                            <a:srgbClr val="000000"/>
                          </a:solidFill>
                          <a:latin typeface="微软雅黑" panose="020B0503020204020204" pitchFamily="34" charset="-122"/>
                          <a:ea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rPr>
                        <a:t>万元；重做天花防水</a:t>
                      </a:r>
                      <a:r>
                        <a:rPr lang="en-US" altLang="zh-CN" sz="600" b="0" i="0">
                          <a:solidFill>
                            <a:srgbClr val="000000"/>
                          </a:solidFill>
                          <a:latin typeface="微软雅黑" panose="020B0503020204020204" pitchFamily="34" charset="-122"/>
                          <a:ea typeface="微软雅黑" panose="020B0503020204020204" pitchFamily="34" charset="-122"/>
                        </a:rPr>
                        <a:t>2</a:t>
                      </a:r>
                      <a:r>
                        <a:rPr lang="zh-CN" altLang="en-US" sz="600" b="0" i="0">
                          <a:solidFill>
                            <a:srgbClr val="000000"/>
                          </a:solidFill>
                          <a:latin typeface="微软雅黑" panose="020B0503020204020204" pitchFamily="34" charset="-122"/>
                          <a:ea typeface="微软雅黑" panose="020B0503020204020204" pitchFamily="34" charset="-122"/>
                        </a:rPr>
                        <a:t>栋</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万</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47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福田罗湖</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47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亚金公寓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7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47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常州郡寓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4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6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幕墙清洗及维修，约</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万元；空调机房散热问题改造</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4780">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上海郡寓</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19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空调水泵宕机</a:t>
                      </a:r>
                      <a:r>
                        <a:rPr lang="en-US" altLang="zh-CN" sz="600" b="0" i="0">
                          <a:solidFill>
                            <a:srgbClr val="000000"/>
                          </a:solidFill>
                          <a:latin typeface="微软雅黑" panose="020B0503020204020204" pitchFamily="34" charset="-122"/>
                          <a:ea typeface="微软雅黑" panose="020B0503020204020204" pitchFamily="34" charset="-122"/>
                        </a:rPr>
                        <a:t>8</a:t>
                      </a:r>
                      <a:r>
                        <a:rPr lang="zh-CN" altLang="en-US" sz="600" b="0" i="0">
                          <a:solidFill>
                            <a:srgbClr val="000000"/>
                          </a:solidFill>
                          <a:latin typeface="微软雅黑" panose="020B0503020204020204" pitchFamily="34" charset="-122"/>
                          <a:ea typeface="微软雅黑" panose="020B0503020204020204" pitchFamily="34" charset="-122"/>
                        </a:rPr>
                        <a:t>万；热水器批量升级</a:t>
                      </a:r>
                      <a:r>
                        <a:rPr lang="en-US" altLang="zh-CN" sz="600" b="0" i="0">
                          <a:solidFill>
                            <a:srgbClr val="000000"/>
                          </a:solidFill>
                          <a:latin typeface="微软雅黑" panose="020B0503020204020204" pitchFamily="34" charset="-122"/>
                          <a:ea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rPr>
                        <a:t>镁棒（预估</a:t>
                      </a:r>
                      <a:r>
                        <a:rPr lang="en-US" altLang="zh-CN" sz="600" b="0" i="0">
                          <a:solidFill>
                            <a:srgbClr val="000000"/>
                          </a:solidFill>
                          <a:latin typeface="微软雅黑" panose="020B0503020204020204" pitchFamily="34" charset="-122"/>
                          <a:ea typeface="微软雅黑" panose="020B0503020204020204" pitchFamily="34" charset="-122"/>
                        </a:rPr>
                        <a:t>150</a:t>
                      </a:r>
                      <a:r>
                        <a:rPr lang="zh-CN" altLang="en-US" sz="600" b="0" i="0">
                          <a:solidFill>
                            <a:srgbClr val="000000"/>
                          </a:solidFill>
                          <a:latin typeface="微软雅黑" panose="020B0503020204020204" pitchFamily="34" charset="-122"/>
                          <a:ea typeface="微软雅黑" panose="020B0503020204020204" pitchFamily="34" charset="-122"/>
                        </a:rPr>
                        <a:t>个，</a:t>
                      </a:r>
                      <a:r>
                        <a:rPr lang="en-US" altLang="zh-CN" sz="600" b="0" i="0">
                          <a:solidFill>
                            <a:srgbClr val="000000"/>
                          </a:solidFill>
                          <a:latin typeface="微软雅黑" panose="020B0503020204020204" pitchFamily="34" charset="-122"/>
                          <a:ea typeface="微软雅黑" panose="020B0503020204020204" pitchFamily="34" charset="-122"/>
                        </a:rPr>
                        <a:t>500</a:t>
                      </a:r>
                      <a:r>
                        <a:rPr lang="zh-CN" altLang="en-US" sz="600" b="0" i="0">
                          <a:solidFill>
                            <a:srgbClr val="000000"/>
                          </a:solidFill>
                          <a:latin typeface="微软雅黑" panose="020B0503020204020204" pitchFamily="34" charset="-122"/>
                          <a:ea typeface="微软雅黑" panose="020B0503020204020204" pitchFamily="34" charset="-122"/>
                        </a:rPr>
                        <a:t>元</a:t>
                      </a:r>
                      <a:r>
                        <a:rPr lang="en-US" altLang="zh-CN" sz="600" b="0" i="0">
                          <a:solidFill>
                            <a:srgbClr val="000000"/>
                          </a:solidFill>
                          <a:latin typeface="微软雅黑" panose="020B0503020204020204" pitchFamily="34" charset="-122"/>
                          <a:ea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rPr>
                        <a:t>个）</a:t>
                      </a:r>
                      <a:r>
                        <a:rPr lang="en-US" altLang="zh-CN" sz="600" b="0" i="0">
                          <a:solidFill>
                            <a:srgbClr val="000000"/>
                          </a:solidFill>
                          <a:latin typeface="微软雅黑" panose="020B0503020204020204" pitchFamily="34" charset="-122"/>
                          <a:ea typeface="微软雅黑" panose="020B0503020204020204" pitchFamily="34" charset="-122"/>
                        </a:rPr>
                        <a:t>7.5</a:t>
                      </a:r>
                      <a:r>
                        <a:rPr lang="zh-CN" altLang="en-US" sz="600" b="0" i="0">
                          <a:solidFill>
                            <a:srgbClr val="000000"/>
                          </a:solidFill>
                          <a:latin typeface="微软雅黑" panose="020B0503020204020204" pitchFamily="34" charset="-122"/>
                          <a:ea typeface="微软雅黑" panose="020B0503020204020204" pitchFamily="34" charset="-122"/>
                        </a:rPr>
                        <a:t>万；门禁设备升级（感应器等）</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6685">
                <a:tc>
                  <a:txBody>
                    <a:bodyPr/>
                    <a:p>
                      <a:pPr algn="l" fontAlgn="ctr"/>
                      <a:r>
                        <a:rPr lang="zh-CN" altLang="en-US" sz="900" b="1" i="0">
                          <a:solidFill>
                            <a:srgbClr val="FF0000"/>
                          </a:solidFill>
                          <a:latin typeface="微软雅黑" panose="020B0503020204020204" pitchFamily="34" charset="-122"/>
                          <a:ea typeface="微软雅黑" panose="020B0503020204020204" pitchFamily="34" charset="-122"/>
                        </a:rPr>
                        <a:t>公寓合计</a:t>
                      </a:r>
                      <a:endParaRPr lang="zh-CN" altLang="en-US" sz="9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89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35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76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42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120.4%</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l"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146685">
                <a:tc>
                  <a:txBody>
                    <a:bodyPr/>
                    <a:p>
                      <a:pPr algn="l" fontAlgn="ctr">
                        <a:buNone/>
                      </a:pPr>
                      <a:r>
                        <a:rPr lang="zh-CN" altLang="en-US" sz="900" b="1" i="0">
                          <a:solidFill>
                            <a:srgbClr val="FF0000"/>
                          </a:solidFill>
                          <a:latin typeface="微软雅黑" panose="020B0503020204020204" pitchFamily="34" charset="-122"/>
                          <a:ea typeface="微软雅黑" panose="020B0503020204020204" pitchFamily="34" charset="-122"/>
                        </a:rPr>
                        <a:t>产业大合并不含丽思</a:t>
                      </a:r>
                      <a:endParaRPr lang="zh-CN" altLang="en-US" sz="9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4,934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4,318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5,732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1,414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32.8%</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bl>
          </a:graphicData>
        </a:graphic>
      </p:graphicFrame>
    </p:spTree>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txBox="1">
            <a:spLocks noGrp="1"/>
          </p:cNvSpPr>
          <p:nvPr>
            <p:ph type="sldNum" sz="quarter" idx="4"/>
          </p:nvPr>
        </p:nvSpPr>
        <p:spPr>
          <a:noFill/>
        </p:spPr>
        <p:txBody>
          <a:bodyPr lIns="91440" tIns="45720" rIns="91440" bIns="45720" rtlCol="0" anchor="ctr"/>
          <a:lstStyle/>
          <a:p>
            <a:pPr marL="0" marR="0" lvl="0" indent="0" algn="r" defTabSz="914400" rtl="0" eaLnBrk="0" fontAlgn="base" latinLnBrk="0" hangingPunct="0">
              <a:lnSpc>
                <a:spcPct val="100000"/>
              </a:lnSpc>
              <a:spcBef>
                <a:spcPct val="0"/>
              </a:spcBef>
              <a:spcAft>
                <a:spcPct val="0"/>
              </a:spcAft>
              <a:buClrTx/>
              <a:buSzTx/>
              <a:buFontTx/>
              <a:buNone/>
              <a:defRPr/>
            </a:pPr>
            <a:fld id="{1FAC6F9E-76B3-4FC1-8097-B0418E81B28A}" type="slidenum">
              <a:rPr kumimoji="0" lang="zh-CN" altLang="en-US" sz="1000" b="0" i="0" u="none" strike="noStrike" kern="1200" cap="none" spc="0" normalizeH="0" baseline="0" noProof="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rPr>
            </a:fld>
            <a:endParaRPr kumimoji="0" lang="zh-CN" altLang="en-US" sz="1000" b="0" i="0" u="none" strike="noStrike" kern="1200" cap="none" spc="0" normalizeH="0" baseline="0" noProof="0" dirty="0">
              <a:ln>
                <a:noFill/>
              </a:ln>
              <a:solidFill>
                <a:prstClr val="black">
                  <a:lumMod val="65000"/>
                  <a:lumOff val="35000"/>
                </a:prstClr>
              </a:solidFill>
              <a:effectLst/>
              <a:uLnTx/>
              <a:uFillTx/>
              <a:latin typeface="微软雅黑" panose="020B0503020204020204" pitchFamily="34" charset="-122"/>
              <a:ea typeface="微软雅黑" panose="020B0503020204020204" pitchFamily="34" charset="-122"/>
              <a:cs typeface="+mn-cs"/>
            </a:endParaRPr>
          </a:p>
        </p:txBody>
      </p:sp>
      <p:sp>
        <p:nvSpPr>
          <p:cNvPr id="7" name="标题 6"/>
          <p:cNvSpPr>
            <a:spLocks noGrp="1"/>
          </p:cNvSpPr>
          <p:nvPr>
            <p:ph type="title"/>
            <p:custDataLst>
              <p:tags r:id="rId1"/>
            </p:custDataLst>
          </p:nvPr>
        </p:nvSpPr>
        <p:spPr>
          <a:xfrm>
            <a:off x="348615" y="165100"/>
            <a:ext cx="8353425" cy="359410"/>
          </a:xfrm>
        </p:spPr>
        <p:txBody>
          <a:bodyPr/>
          <a:lstStyle/>
          <a:p>
            <a:pPr lvl="0">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第三部分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kumimoji="0" lang="en-US" altLang="zh-CN" sz="1800" b="1" i="0" u="none" strike="noStrike" kern="1200" cap="none" spc="-41" normalizeH="0" baseline="0" noProof="0" dirty="0" smtClean="0">
                <a:ln>
                  <a:noFill/>
                </a:ln>
                <a:solidFill>
                  <a:schemeClr val="tx1">
                    <a:lumMod val="75000"/>
                    <a:lumOff val="25000"/>
                  </a:schemeClr>
                </a:solidFill>
                <a:effectLst/>
                <a:uLnTx/>
                <a:uFillTx/>
              </a:rPr>
              <a:t>2026</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年</a:t>
            </a:r>
            <a:r>
              <a:rPr kumimoji="0" lang="zh-CN" altLang="en-US" sz="1800" b="1" i="0" u="none" strike="noStrike" kern="1200" cap="none" spc="-41" normalizeH="0" baseline="0" noProof="0" dirty="0">
                <a:ln>
                  <a:noFill/>
                </a:ln>
                <a:solidFill>
                  <a:schemeClr val="tx1">
                    <a:lumMod val="75000"/>
                    <a:lumOff val="25000"/>
                  </a:schemeClr>
                </a:solidFill>
                <a:effectLst/>
                <a:uLnTx/>
                <a:uFillTx/>
              </a:rPr>
              <a:t>预算编制报告</a:t>
            </a:r>
            <a:r>
              <a:rPr lang="en-US" altLang="zh-CN" b="1" noProof="0" dirty="0">
                <a:ln>
                  <a:noFill/>
                </a:ln>
                <a:effectLst/>
                <a:uLnTx/>
                <a:uFillTx/>
                <a:sym typeface="+mn-ea"/>
              </a:rPr>
              <a:t>-</a:t>
            </a:r>
            <a:r>
              <a:rPr lang="zh-CN" altLang="en-US" b="1" dirty="0">
                <a:solidFill>
                  <a:srgbClr val="002060"/>
                </a:solidFill>
              </a:rPr>
              <a:t>专项成本费用分析</a:t>
            </a:r>
            <a:r>
              <a:rPr lang="zh-CN" altLang="en-US" b="1" dirty="0" smtClean="0">
                <a:solidFill>
                  <a:srgbClr val="002060"/>
                </a:solidFill>
                <a:sym typeface="+mn-ea"/>
              </a:rPr>
              <a:t>（物业费用）</a:t>
            </a:r>
            <a:br>
              <a:rPr kumimoji="0" lang="zh-CN" altLang="en-US" b="1" i="0" u="none" strike="noStrike" kern="1200" cap="none" spc="-41" normalizeH="0" baseline="0" noProof="0" dirty="0">
                <a:ln>
                  <a:noFill/>
                </a:ln>
                <a:solidFill>
                  <a:schemeClr val="tx1">
                    <a:lumMod val="75000"/>
                    <a:lumOff val="25000"/>
                  </a:schemeClr>
                </a:solidFill>
                <a:effectLst/>
                <a:uLnTx/>
                <a:uFillTx/>
              </a:rPr>
            </a:br>
            <a:endParaRPr kumimoji="0" lang="zh-CN" altLang="en-US" sz="1800" b="1" i="0" u="none" strike="noStrike" kern="1200" cap="none" spc="-41" normalizeH="0" baseline="0" noProof="0" dirty="0">
              <a:ln>
                <a:noFill/>
              </a:ln>
              <a:solidFill>
                <a:schemeClr val="tx1">
                  <a:lumMod val="75000"/>
                  <a:lumOff val="25000"/>
                </a:schemeClr>
              </a:solidFill>
              <a:effectLst/>
              <a:uLnTx/>
              <a:uFillTx/>
            </a:endParaRPr>
          </a:p>
        </p:txBody>
      </p:sp>
      <p:graphicFrame>
        <p:nvGraphicFramePr>
          <p:cNvPr id="2" name="表格 1"/>
          <p:cNvGraphicFramePr/>
          <p:nvPr>
            <p:custDataLst>
              <p:tags r:id="rId2"/>
            </p:custDataLst>
          </p:nvPr>
        </p:nvGraphicFramePr>
        <p:xfrm>
          <a:off x="466725" y="525780"/>
          <a:ext cx="6435725" cy="5057140"/>
        </p:xfrm>
        <a:graphic>
          <a:graphicData uri="http://schemas.openxmlformats.org/drawingml/2006/table">
            <a:tbl>
              <a:tblPr/>
              <a:tblGrid>
                <a:gridCol w="1689100"/>
                <a:gridCol w="991870"/>
                <a:gridCol w="1001395"/>
                <a:gridCol w="1038225"/>
                <a:gridCol w="803275"/>
                <a:gridCol w="911860"/>
              </a:tblGrid>
              <a:tr h="228600">
                <a:tc rowSpan="2">
                  <a:txBody>
                    <a:bodyPr/>
                    <a:p>
                      <a:pPr algn="ctr" fontAlgn="ctr"/>
                      <a:r>
                        <a:rPr lang="zh-CN" altLang="en-US" sz="1000" b="1" i="0">
                          <a:solidFill>
                            <a:srgbClr val="FFFFFF"/>
                          </a:solidFill>
                          <a:latin typeface="微软雅黑" panose="020B0503020204020204" pitchFamily="34" charset="-122"/>
                          <a:ea typeface="微软雅黑" panose="020B0503020204020204" pitchFamily="34" charset="-122"/>
                        </a:rPr>
                        <a:t>项目</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gridSpan="3">
                  <a:txBody>
                    <a:bodyPr/>
                    <a:p>
                      <a:pPr algn="ctr" fontAlgn="ctr"/>
                      <a:r>
                        <a:rPr lang="zh-CN" altLang="en-US" sz="1000" b="1" i="0">
                          <a:solidFill>
                            <a:srgbClr val="FFFFFF"/>
                          </a:solidFill>
                          <a:latin typeface="微软雅黑" panose="020B0503020204020204" pitchFamily="34" charset="-122"/>
                          <a:ea typeface="微软雅黑" panose="020B0503020204020204" pitchFamily="34" charset="-122"/>
                        </a:rPr>
                        <a:t>物业费用</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rowSpan="2">
                  <a:txBody>
                    <a:bodyPr/>
                    <a:p>
                      <a:pPr algn="ctr" fontAlgn="ctr"/>
                      <a:r>
                        <a:rPr lang="zh-CN" altLang="en-US" sz="1000" b="1" i="0">
                          <a:solidFill>
                            <a:srgbClr val="FFFFFF"/>
                          </a:solidFill>
                          <a:latin typeface="微软雅黑" panose="020B0503020204020204" pitchFamily="34" charset="-122"/>
                          <a:ea typeface="微软雅黑" panose="020B0503020204020204" pitchFamily="34" charset="-122"/>
                        </a:rPr>
                        <a:t>差异</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rowSpan="2">
                  <a:txBody>
                    <a:bodyPr/>
                    <a:p>
                      <a:pPr algn="ctr" fontAlgn="ctr"/>
                      <a:r>
                        <a:rPr lang="zh-CN" altLang="en-US" sz="1000" b="1" i="0">
                          <a:solidFill>
                            <a:srgbClr val="FFFFFF"/>
                          </a:solidFill>
                          <a:latin typeface="微软雅黑" panose="020B0503020204020204" pitchFamily="34" charset="-122"/>
                          <a:ea typeface="微软雅黑" panose="020B0503020204020204" pitchFamily="34" charset="-122"/>
                        </a:rPr>
                        <a:t>增幅</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r>
              <a:tr h="34290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ctr" fontAlgn="ctr"/>
                      <a:r>
                        <a:rPr lang="en-US" altLang="zh-CN" sz="1000" b="1" i="0">
                          <a:solidFill>
                            <a:srgbClr val="FFFFFF"/>
                          </a:solidFill>
                          <a:latin typeface="微软雅黑" panose="020B0503020204020204" pitchFamily="34" charset="-122"/>
                          <a:ea typeface="微软雅黑" panose="020B0503020204020204" pitchFamily="34" charset="-122"/>
                        </a:rPr>
                        <a:t>2025</a:t>
                      </a:r>
                      <a:r>
                        <a:rPr lang="zh-CN" altLang="en-US" sz="1000" b="1" i="0">
                          <a:solidFill>
                            <a:srgbClr val="FFFFFF"/>
                          </a:solidFill>
                          <a:latin typeface="微软雅黑" panose="020B0503020204020204" pitchFamily="34" charset="-122"/>
                          <a:ea typeface="微软雅黑" panose="020B0503020204020204" pitchFamily="34" charset="-122"/>
                        </a:rPr>
                        <a:t>年</a:t>
                      </a:r>
                      <a:endParaRPr lang="zh-CN" altLang="en-US" sz="10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1000" b="1" i="0">
                          <a:solidFill>
                            <a:srgbClr val="FFFFFF"/>
                          </a:solidFill>
                          <a:latin typeface="微软雅黑" panose="020B0503020204020204" pitchFamily="34" charset="-122"/>
                          <a:ea typeface="微软雅黑" panose="020B0503020204020204" pitchFamily="34" charset="-122"/>
                        </a:rPr>
                        <a:t>预算</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1000" b="1" i="0">
                          <a:solidFill>
                            <a:srgbClr val="FFFFFF"/>
                          </a:solidFill>
                          <a:latin typeface="微软雅黑" panose="020B0503020204020204" pitchFamily="34" charset="-122"/>
                          <a:ea typeface="微软雅黑" panose="020B0503020204020204" pitchFamily="34" charset="-122"/>
                        </a:rPr>
                        <a:t>2025</a:t>
                      </a:r>
                      <a:r>
                        <a:rPr lang="zh-CN" altLang="en-US" sz="1000" b="1" i="0">
                          <a:solidFill>
                            <a:srgbClr val="FFFFFF"/>
                          </a:solidFill>
                          <a:latin typeface="微软雅黑" panose="020B0503020204020204" pitchFamily="34" charset="-122"/>
                          <a:ea typeface="微软雅黑" panose="020B0503020204020204" pitchFamily="34" charset="-122"/>
                        </a:rPr>
                        <a:t>年</a:t>
                      </a:r>
                      <a:endParaRPr lang="zh-CN" altLang="en-US" sz="10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1000" b="1" i="0">
                          <a:solidFill>
                            <a:srgbClr val="FFFFFF"/>
                          </a:solidFill>
                          <a:latin typeface="微软雅黑" panose="020B0503020204020204" pitchFamily="34" charset="-122"/>
                          <a:ea typeface="微软雅黑" panose="020B0503020204020204" pitchFamily="34" charset="-122"/>
                        </a:rPr>
                        <a:t>预计</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1000" b="1" i="0">
                          <a:solidFill>
                            <a:srgbClr val="FFFFFF"/>
                          </a:solidFill>
                          <a:latin typeface="微软雅黑" panose="020B0503020204020204" pitchFamily="34" charset="-122"/>
                          <a:ea typeface="微软雅黑" panose="020B0503020204020204" pitchFamily="34" charset="-122"/>
                        </a:rPr>
                        <a:t>2026</a:t>
                      </a:r>
                      <a:r>
                        <a:rPr lang="zh-CN" altLang="en-US" sz="1000" b="1" i="0">
                          <a:solidFill>
                            <a:srgbClr val="FFFFFF"/>
                          </a:solidFill>
                          <a:latin typeface="微软雅黑" panose="020B0503020204020204" pitchFamily="34" charset="-122"/>
                          <a:ea typeface="微软雅黑" panose="020B0503020204020204" pitchFamily="34" charset="-122"/>
                        </a:rPr>
                        <a:t>年</a:t>
                      </a:r>
                      <a:endParaRPr lang="zh-CN" altLang="en-US" sz="10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1000" b="1" i="0">
                          <a:solidFill>
                            <a:srgbClr val="FFFFFF"/>
                          </a:solidFill>
                          <a:latin typeface="微软雅黑" panose="020B0503020204020204" pitchFamily="34" charset="-122"/>
                          <a:ea typeface="微软雅黑" panose="020B0503020204020204" pitchFamily="34" charset="-122"/>
                        </a:rPr>
                        <a:t>预算</a:t>
                      </a:r>
                      <a:endParaRPr lang="zh-CN" altLang="en-US" sz="10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r>
              <a:tr h="160020">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深圳公司小计</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1,727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1,609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1,436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-10.8%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zh-CN" altLang="en-US" sz="1000" b="0" i="1">
                          <a:solidFill>
                            <a:srgbClr val="000000"/>
                          </a:solidFill>
                          <a:latin typeface="微软雅黑" panose="020B0503020204020204" pitchFamily="34" charset="-122"/>
                          <a:ea typeface="微软雅黑" panose="020B0503020204020204" pitchFamily="34" charset="-122"/>
                        </a:rPr>
                        <a:t>其中：</a:t>
                      </a:r>
                      <a:r>
                        <a:rPr lang="en-US" altLang="zh-CN" sz="1000" b="0" i="1">
                          <a:solidFill>
                            <a:srgbClr val="000000"/>
                          </a:solidFill>
                          <a:latin typeface="微软雅黑" panose="020B0503020204020204" pitchFamily="34" charset="-122"/>
                          <a:ea typeface="微软雅黑" panose="020B0503020204020204" pitchFamily="34" charset="-122"/>
                        </a:rPr>
                        <a:t>WORLD123</a:t>
                      </a:r>
                      <a:r>
                        <a:rPr lang="zh-CN" altLang="en-US" sz="1000" b="0" i="1">
                          <a:solidFill>
                            <a:srgbClr val="000000"/>
                          </a:solidFill>
                          <a:latin typeface="微软雅黑" panose="020B0503020204020204" pitchFamily="34" charset="-122"/>
                          <a:ea typeface="微软雅黑" panose="020B0503020204020204" pitchFamily="34" charset="-122"/>
                        </a:rPr>
                        <a:t>期</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526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526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521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-0.9%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双塔组团</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1,485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1,710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435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FF0000"/>
                          </a:solidFill>
                          <a:latin typeface="微软雅黑" panose="020B0503020204020204" pitchFamily="34" charset="-122"/>
                          <a:ea typeface="微软雅黑" panose="020B0503020204020204" pitchFamily="34" charset="-122"/>
                        </a:rPr>
                        <a:t> </a:t>
                      </a:r>
                      <a:r>
                        <a:rPr lang="en-US" altLang="zh-CN" sz="1000" b="0" i="0">
                          <a:solidFill>
                            <a:srgbClr val="FF0000"/>
                          </a:solidFill>
                          <a:latin typeface="微软雅黑" panose="020B0503020204020204" pitchFamily="34" charset="-122"/>
                          <a:ea typeface="微软雅黑" panose="020B0503020204020204" pitchFamily="34" charset="-122"/>
                        </a:rPr>
                        <a:t>-1,274</a:t>
                      </a:r>
                      <a:r>
                        <a:rPr lang="en-US" altLang="zh-CN" sz="1000" b="0" i="0">
                          <a:solidFill>
                            <a:srgbClr val="FF0000"/>
                          </a:solidFill>
                          <a:latin typeface="微软雅黑" panose="020B0503020204020204" pitchFamily="34" charset="-122"/>
                          <a:ea typeface="微软雅黑" panose="020B0503020204020204" pitchFamily="34" charset="-122"/>
                        </a:rPr>
                        <a:t> </a:t>
                      </a:r>
                      <a:endParaRPr lang="en-US" altLang="zh-CN" sz="10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-74.6%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XH</a:t>
                      </a:r>
                      <a:r>
                        <a:rPr lang="zh-CN" altLang="en-US" sz="1000" b="0" i="1">
                          <a:solidFill>
                            <a:srgbClr val="000000"/>
                          </a:solidFill>
                          <a:latin typeface="微软雅黑" panose="020B0503020204020204" pitchFamily="34" charset="-122"/>
                          <a:ea typeface="微软雅黑" panose="020B0503020204020204" pitchFamily="34" charset="-122"/>
                        </a:rPr>
                        <a:t>中心</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-33.3%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XH</a:t>
                      </a:r>
                      <a:r>
                        <a:rPr lang="zh-CN" altLang="en-US" sz="1000" b="0" i="1">
                          <a:solidFill>
                            <a:srgbClr val="000000"/>
                          </a:solidFill>
                          <a:latin typeface="微软雅黑" panose="020B0503020204020204" pitchFamily="34" charset="-122"/>
                          <a:ea typeface="微软雅黑" panose="020B0503020204020204" pitchFamily="34" charset="-122"/>
                        </a:rPr>
                        <a:t>世纪</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100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-0.1%</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银海项目</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-1.2%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开市客</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en-US" altLang="zh-CN" sz="1000" b="0" i="1">
                          <a:solidFill>
                            <a:srgbClr val="000000"/>
                          </a:solidFill>
                          <a:latin typeface="微软雅黑" panose="020B0503020204020204" pitchFamily="34" charset="-122"/>
                          <a:ea typeface="微软雅黑" panose="020B0503020204020204" pitchFamily="34" charset="-122"/>
                        </a:rPr>
                        <a:t>123</a:t>
                      </a:r>
                      <a:r>
                        <a:rPr lang="zh-CN" altLang="en-US" sz="1000" b="0" i="1">
                          <a:solidFill>
                            <a:srgbClr val="000000"/>
                          </a:solidFill>
                          <a:latin typeface="微软雅黑" panose="020B0503020204020204" pitchFamily="34" charset="-122"/>
                          <a:ea typeface="微软雅黑" panose="020B0503020204020204" pitchFamily="34" charset="-122"/>
                        </a:rPr>
                        <a:t>期物业盈余抵消</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-897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-1,236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-150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FF0000"/>
                          </a:solidFill>
                          <a:latin typeface="微软雅黑" panose="020B0503020204020204" pitchFamily="34" charset="-122"/>
                          <a:ea typeface="微软雅黑" panose="020B0503020204020204" pitchFamily="34" charset="-122"/>
                        </a:rPr>
                        <a:t> </a:t>
                      </a:r>
                      <a:r>
                        <a:rPr lang="en-US" altLang="zh-CN" sz="1000" b="0" i="0">
                          <a:solidFill>
                            <a:srgbClr val="FF0000"/>
                          </a:solidFill>
                          <a:latin typeface="微软雅黑" panose="020B0503020204020204" pitchFamily="34" charset="-122"/>
                          <a:ea typeface="微软雅黑" panose="020B0503020204020204" pitchFamily="34" charset="-122"/>
                        </a:rPr>
                        <a:t>1,086</a:t>
                      </a:r>
                      <a:r>
                        <a:rPr lang="en-US" altLang="zh-CN" sz="1000" b="0" i="0">
                          <a:solidFill>
                            <a:srgbClr val="FF0000"/>
                          </a:solidFill>
                          <a:latin typeface="微软雅黑" panose="020B0503020204020204" pitchFamily="34" charset="-122"/>
                          <a:ea typeface="微软雅黑" panose="020B0503020204020204" pitchFamily="34" charset="-122"/>
                        </a:rPr>
                        <a:t> </a:t>
                      </a:r>
                      <a:endParaRPr lang="en-US" altLang="zh-CN" sz="10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87.9%</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335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华南小计</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592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1,142</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1,190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4.2%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zh-CN" altLang="en-US" sz="1000" b="0" i="1">
                          <a:solidFill>
                            <a:srgbClr val="000000"/>
                          </a:solidFill>
                          <a:latin typeface="微软雅黑" panose="020B0503020204020204" pitchFamily="34" charset="-122"/>
                          <a:ea typeface="微软雅黑" panose="020B0503020204020204" pitchFamily="34" charset="-122"/>
                        </a:rPr>
                        <a:t>其中：发展大厦</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117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283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373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FF0000"/>
                          </a:solidFill>
                          <a:latin typeface="微软雅黑" panose="020B0503020204020204" pitchFamily="34" charset="-122"/>
                          <a:ea typeface="微软雅黑" panose="020B0503020204020204" pitchFamily="34" charset="-122"/>
                        </a:rPr>
                        <a:t> </a:t>
                      </a:r>
                      <a:r>
                        <a:rPr lang="en-US" altLang="zh-CN" sz="1000" b="0" i="0">
                          <a:solidFill>
                            <a:srgbClr val="FF0000"/>
                          </a:solidFill>
                          <a:latin typeface="微软雅黑" panose="020B0503020204020204" pitchFamily="34" charset="-122"/>
                          <a:ea typeface="微软雅黑" panose="020B0503020204020204" pitchFamily="34" charset="-122"/>
                        </a:rPr>
                        <a:t>90</a:t>
                      </a:r>
                      <a:r>
                        <a:rPr lang="en-US" altLang="zh-CN" sz="1000" b="0" i="0">
                          <a:solidFill>
                            <a:srgbClr val="FF0000"/>
                          </a:solidFill>
                          <a:latin typeface="微软雅黑" panose="020B0503020204020204" pitchFamily="34" charset="-122"/>
                          <a:ea typeface="微软雅黑" panose="020B0503020204020204" pitchFamily="34" charset="-122"/>
                        </a:rPr>
                        <a:t> </a:t>
                      </a:r>
                      <a:endParaRPr lang="en-US" altLang="zh-CN" sz="10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31.7%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3355">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东湾村</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444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FF0000"/>
                          </a:solidFill>
                          <a:latin typeface="微软雅黑" panose="020B0503020204020204" pitchFamily="34" charset="-122"/>
                          <a:ea typeface="微软雅黑" panose="020B0503020204020204" pitchFamily="34" charset="-122"/>
                        </a:rPr>
                        <a:t> </a:t>
                      </a:r>
                      <a:r>
                        <a:rPr lang="en-US" altLang="zh-CN" sz="1000" b="0" i="0">
                          <a:solidFill>
                            <a:srgbClr val="FF0000"/>
                          </a:solidFill>
                          <a:latin typeface="微软雅黑" panose="020B0503020204020204" pitchFamily="34" charset="-122"/>
                          <a:ea typeface="微软雅黑" panose="020B0503020204020204" pitchFamily="34" charset="-122"/>
                        </a:rPr>
                        <a:t>-63</a:t>
                      </a:r>
                      <a:r>
                        <a:rPr lang="en-US" altLang="zh-CN" sz="1000" b="0" i="0">
                          <a:solidFill>
                            <a:srgbClr val="FF0000"/>
                          </a:solidFill>
                          <a:latin typeface="微软雅黑" panose="020B0503020204020204" pitchFamily="34" charset="-122"/>
                          <a:ea typeface="微软雅黑" panose="020B0503020204020204" pitchFamily="34" charset="-122"/>
                        </a:rPr>
                        <a:t> </a:t>
                      </a:r>
                      <a:endParaRPr lang="en-US" altLang="zh-CN" sz="10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-14.2%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399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亚金</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-1.6%</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399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云颂府</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44.4%</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272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珠宝小镇</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2880">
                <a:tc>
                  <a:txBody>
                    <a:bodyPr/>
                    <a:p>
                      <a:pPr algn="l" fontAlgn="ctr"/>
                      <a:r>
                        <a:rPr lang="en-US" altLang="zh-CN" sz="1000" b="0" i="1">
                          <a:solidFill>
                            <a:srgbClr val="000000"/>
                          </a:solidFill>
                          <a:latin typeface="微软雅黑" panose="020B0503020204020204" pitchFamily="34" charset="-122"/>
                          <a:ea typeface="微软雅黑" panose="020B0503020204020204" pitchFamily="34" charset="-122"/>
                        </a:rPr>
                        <a:t>        </a:t>
                      </a:r>
                      <a:r>
                        <a:rPr lang="zh-CN" altLang="en-US" sz="1000" b="0" i="1">
                          <a:solidFill>
                            <a:srgbClr val="000000"/>
                          </a:solidFill>
                          <a:latin typeface="微软雅黑" panose="020B0503020204020204" pitchFamily="34" charset="-122"/>
                          <a:ea typeface="微软雅黑" panose="020B0503020204020204" pitchFamily="34" charset="-122"/>
                        </a:rPr>
                        <a:t>东湾旧改</a:t>
                      </a:r>
                      <a:endParaRPr lang="zh-CN" altLang="en-US" sz="1000" b="0" i="1">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endParaRPr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81610">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南京</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587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578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601</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4.0%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335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惠州</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759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706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739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FF0000"/>
                          </a:solidFill>
                          <a:latin typeface="微软雅黑" panose="020B0503020204020204" pitchFamily="34" charset="-122"/>
                          <a:ea typeface="微软雅黑" panose="020B0503020204020204" pitchFamily="34" charset="-122"/>
                        </a:rPr>
                        <a:t> </a:t>
                      </a:r>
                      <a:r>
                        <a:rPr lang="en-US" altLang="zh-CN" sz="1000" b="0" i="0">
                          <a:solidFill>
                            <a:srgbClr val="FF0000"/>
                          </a:solidFill>
                          <a:latin typeface="微软雅黑" panose="020B0503020204020204" pitchFamily="34" charset="-122"/>
                          <a:ea typeface="微软雅黑" panose="020B0503020204020204" pitchFamily="34" charset="-122"/>
                        </a:rPr>
                        <a:t>33</a:t>
                      </a:r>
                      <a:r>
                        <a:rPr lang="en-US" altLang="zh-CN" sz="1000" b="0" i="0">
                          <a:solidFill>
                            <a:srgbClr val="FF0000"/>
                          </a:solidFill>
                          <a:latin typeface="微软雅黑" panose="020B0503020204020204" pitchFamily="34" charset="-122"/>
                          <a:ea typeface="微软雅黑" panose="020B0503020204020204" pitchFamily="34" charset="-122"/>
                        </a:rPr>
                        <a:t> </a:t>
                      </a:r>
                      <a:endParaRPr lang="en-US" altLang="zh-CN" sz="10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4.7%</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462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苏州</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-23</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-60.3%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7208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成都</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FF0000"/>
                          </a:solidFill>
                          <a:latin typeface="微软雅黑" panose="020B0503020204020204" pitchFamily="34" charset="-122"/>
                          <a:ea typeface="微软雅黑" panose="020B0503020204020204" pitchFamily="34" charset="-122"/>
                        </a:rPr>
                        <a:t> </a:t>
                      </a:r>
                      <a:r>
                        <a:rPr lang="en-US" altLang="zh-CN" sz="1000" b="0" i="0">
                          <a:solidFill>
                            <a:srgbClr val="FF0000"/>
                          </a:solidFill>
                          <a:latin typeface="微软雅黑" panose="020B0503020204020204" pitchFamily="34" charset="-122"/>
                          <a:ea typeface="微软雅黑" panose="020B0503020204020204" pitchFamily="34" charset="-122"/>
                        </a:rPr>
                        <a:t>-21</a:t>
                      </a:r>
                      <a:r>
                        <a:rPr lang="en-US" altLang="zh-CN" sz="1000" b="0" i="0">
                          <a:solidFill>
                            <a:srgbClr val="FF0000"/>
                          </a:solidFill>
                          <a:latin typeface="微软雅黑" panose="020B0503020204020204" pitchFamily="34" charset="-122"/>
                          <a:ea typeface="微软雅黑" panose="020B0503020204020204" pitchFamily="34" charset="-122"/>
                        </a:rPr>
                        <a:t> </a:t>
                      </a:r>
                      <a:endParaRPr lang="en-US" altLang="zh-CN" sz="10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-46.8%</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0020">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租赁</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研究院</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407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398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415</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17</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4.3%</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1925">
                <a:tc>
                  <a:txBody>
                    <a:bodyPr/>
                    <a:p>
                      <a:pPr algn="l" fontAlgn="ctr"/>
                      <a:r>
                        <a:rPr lang="zh-CN" altLang="en-US" sz="1000" b="1" i="0">
                          <a:solidFill>
                            <a:srgbClr val="FF0000"/>
                          </a:solidFill>
                          <a:latin typeface="微软雅黑" panose="020B0503020204020204" pitchFamily="34" charset="-122"/>
                          <a:ea typeface="微软雅黑" panose="020B0503020204020204" pitchFamily="34" charset="-122"/>
                        </a:rPr>
                        <a:t>租赁合计</a:t>
                      </a:r>
                      <a:endParaRPr lang="zh-CN" altLang="en-US" sz="10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4,230</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4,517</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4,421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-96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-2.1%</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192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广州吉酒店</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-0.2%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1925">
                <a:tc>
                  <a:txBody>
                    <a:bodyPr/>
                    <a:p>
                      <a:pPr algn="l" fontAlgn="ctr"/>
                      <a:r>
                        <a:rPr lang="zh-CN" altLang="en-US" sz="1000" b="1" i="0">
                          <a:solidFill>
                            <a:srgbClr val="FF0000"/>
                          </a:solidFill>
                          <a:latin typeface="微软雅黑" panose="020B0503020204020204" pitchFamily="34" charset="-122"/>
                          <a:ea typeface="微软雅黑" panose="020B0503020204020204" pitchFamily="34" charset="-122"/>
                        </a:rPr>
                        <a:t>酒店合计</a:t>
                      </a:r>
                      <a:endParaRPr lang="zh-CN" altLang="en-US" sz="10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29</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29</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29</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-0</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-0.2%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192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销售</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惠州</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94</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76</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-18</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-19.2%</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1925">
                <a:tc>
                  <a:txBody>
                    <a:bodyPr/>
                    <a:p>
                      <a:pPr algn="l" fontAlgn="ctr"/>
                      <a:r>
                        <a:rPr lang="zh-CN" altLang="en-US" sz="1000" b="0" i="0">
                          <a:solidFill>
                            <a:srgbClr val="000000"/>
                          </a:solidFill>
                          <a:latin typeface="微软雅黑" panose="020B0503020204020204" pitchFamily="34" charset="-122"/>
                          <a:ea typeface="微软雅黑" panose="020B0503020204020204" pitchFamily="34" charset="-122"/>
                        </a:rPr>
                        <a:t>销售</a:t>
                      </a:r>
                      <a:r>
                        <a:rPr lang="en-US" altLang="zh-CN" sz="1000" b="0" i="0">
                          <a:solidFill>
                            <a:srgbClr val="000000"/>
                          </a:solidFill>
                          <a:latin typeface="微软雅黑" panose="020B0503020204020204" pitchFamily="34" charset="-122"/>
                          <a:ea typeface="微软雅黑" panose="020B0503020204020204" pitchFamily="34" charset="-122"/>
                        </a:rPr>
                        <a:t>-</a:t>
                      </a:r>
                      <a:r>
                        <a:rPr lang="zh-CN" altLang="en-US" sz="1000" b="0" i="0">
                          <a:solidFill>
                            <a:srgbClr val="000000"/>
                          </a:solidFill>
                          <a:latin typeface="微软雅黑" panose="020B0503020204020204" pitchFamily="34" charset="-122"/>
                          <a:ea typeface="微软雅黑" panose="020B0503020204020204" pitchFamily="34" charset="-122"/>
                        </a:rPr>
                        <a:t>苏州</a:t>
                      </a:r>
                      <a:endParaRPr lang="zh-CN" altLang="en-US" sz="10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19</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 </a:t>
                      </a:r>
                      <a:r>
                        <a:rPr lang="en-US" altLang="zh-CN" sz="1000" b="0" i="0">
                          <a:solidFill>
                            <a:srgbClr val="000000"/>
                          </a:solidFill>
                          <a:latin typeface="微软雅黑" panose="020B0503020204020204" pitchFamily="34" charset="-122"/>
                          <a:ea typeface="微软雅黑" panose="020B0503020204020204" pitchFamily="34" charset="-122"/>
                        </a:rPr>
                        <a:t>-20</a:t>
                      </a:r>
                      <a:r>
                        <a:rPr lang="en-US" altLang="zh-CN" sz="1000" b="0" i="0">
                          <a:solidFill>
                            <a:srgbClr val="000000"/>
                          </a:solidFill>
                          <a:latin typeface="微软雅黑" panose="020B0503020204020204" pitchFamily="34" charset="-122"/>
                          <a:ea typeface="微软雅黑" panose="020B0503020204020204" pitchFamily="34" charset="-122"/>
                        </a:rPr>
                        <a:t> </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FFFF"/>
                    </a:solidFill>
                  </a:tcPr>
                </a:tc>
                <a:tc>
                  <a:txBody>
                    <a:bodyPr/>
                    <a:p>
                      <a:pPr algn="r" fontAlgn="ctr"/>
                      <a:r>
                        <a:rPr lang="en-US" altLang="zh-CN" sz="1000" b="0" i="0">
                          <a:solidFill>
                            <a:srgbClr val="000000"/>
                          </a:solidFill>
                          <a:latin typeface="微软雅黑" panose="020B0503020204020204" pitchFamily="34" charset="-122"/>
                          <a:ea typeface="微软雅黑" panose="020B0503020204020204" pitchFamily="34" charset="-122"/>
                        </a:rPr>
                        <a:t>-100.0%</a:t>
                      </a:r>
                      <a:endParaRPr lang="en-US" altLang="zh-CN" sz="10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61925">
                <a:tc>
                  <a:txBody>
                    <a:bodyPr/>
                    <a:p>
                      <a:pPr algn="l" fontAlgn="ctr"/>
                      <a:r>
                        <a:rPr lang="zh-CN" altLang="en-US" sz="1000" b="1" i="0">
                          <a:solidFill>
                            <a:srgbClr val="FF0000"/>
                          </a:solidFill>
                          <a:latin typeface="微软雅黑" panose="020B0503020204020204" pitchFamily="34" charset="-122"/>
                          <a:ea typeface="微软雅黑" panose="020B0503020204020204" pitchFamily="34" charset="-122"/>
                        </a:rPr>
                        <a:t>销售合计</a:t>
                      </a:r>
                      <a:endParaRPr lang="zh-CN" altLang="en-US" sz="10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116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114</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76</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-38</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-33.2%</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61925">
                <a:tc>
                  <a:txBody>
                    <a:bodyPr/>
                    <a:p>
                      <a:pPr algn="l" fontAlgn="ctr"/>
                      <a:r>
                        <a:rPr lang="zh-CN" altLang="en-US" sz="1000" b="1" i="0">
                          <a:solidFill>
                            <a:srgbClr val="FF0000"/>
                          </a:solidFill>
                          <a:latin typeface="微软雅黑" panose="020B0503020204020204" pitchFamily="34" charset="-122"/>
                          <a:ea typeface="微软雅黑" panose="020B0503020204020204" pitchFamily="34" charset="-122"/>
                        </a:rPr>
                        <a:t>产业集团大合并</a:t>
                      </a:r>
                      <a:endParaRPr lang="zh-CN" altLang="en-US" sz="1000" b="1" i="0">
                        <a:solidFill>
                          <a:srgbClr val="FF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4,374</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4,661</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4,527</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 </a:t>
                      </a:r>
                      <a:r>
                        <a:rPr lang="en-US" altLang="zh-CN" sz="1000" b="1" i="0">
                          <a:solidFill>
                            <a:srgbClr val="000000"/>
                          </a:solidFill>
                          <a:latin typeface="微软雅黑" panose="020B0503020204020204" pitchFamily="34" charset="-122"/>
                          <a:ea typeface="微软雅黑" panose="020B0503020204020204" pitchFamily="34" charset="-122"/>
                        </a:rPr>
                        <a:t>-134</a:t>
                      </a:r>
                      <a:r>
                        <a:rPr lang="en-US" altLang="zh-CN" sz="1000" b="1" i="0">
                          <a:solidFill>
                            <a:srgbClr val="000000"/>
                          </a:solidFill>
                          <a:latin typeface="微软雅黑" panose="020B0503020204020204" pitchFamily="34" charset="-122"/>
                          <a:ea typeface="微软雅黑" panose="020B0503020204020204" pitchFamily="34" charset="-122"/>
                        </a:rPr>
                        <a:t> </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1000" b="1" i="0">
                          <a:solidFill>
                            <a:srgbClr val="000000"/>
                          </a:solidFill>
                          <a:latin typeface="微软雅黑" panose="020B0503020204020204" pitchFamily="34" charset="-122"/>
                          <a:ea typeface="微软雅黑" panose="020B0503020204020204" pitchFamily="34" charset="-122"/>
                        </a:rPr>
                        <a:t>-2.9%</a:t>
                      </a:r>
                      <a:endParaRPr lang="en-US" altLang="zh-CN" sz="10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bl>
          </a:graphicData>
        </a:graphic>
      </p:graphicFrame>
      <p:grpSp>
        <p:nvGrpSpPr>
          <p:cNvPr id="12" name="组合 11"/>
          <p:cNvGrpSpPr/>
          <p:nvPr>
            <p:custDataLst>
              <p:tags r:id="rId3"/>
            </p:custDataLst>
          </p:nvPr>
        </p:nvGrpSpPr>
        <p:grpSpPr>
          <a:xfrm>
            <a:off x="6928485" y="477520"/>
            <a:ext cx="2973070" cy="4898508"/>
            <a:chOff x="8773284" y="1825182"/>
            <a:chExt cx="3241929" cy="3938892"/>
          </a:xfrm>
        </p:grpSpPr>
        <p:grpSp>
          <p:nvGrpSpPr>
            <p:cNvPr id="13" name="组合 12"/>
            <p:cNvGrpSpPr/>
            <p:nvPr/>
          </p:nvGrpSpPr>
          <p:grpSpPr>
            <a:xfrm>
              <a:off x="8784864" y="1825182"/>
              <a:ext cx="3104027" cy="1787531"/>
              <a:chOff x="9582474" y="1290234"/>
              <a:chExt cx="3288844" cy="2020432"/>
            </a:xfrm>
          </p:grpSpPr>
          <p:sp>
            <p:nvSpPr>
              <p:cNvPr id="14" name="矩形: 圆顶角 9"/>
              <p:cNvSpPr/>
              <p:nvPr>
                <p:custDataLst>
                  <p:tags r:id="rId4"/>
                </p:custDataLst>
              </p:nvPr>
            </p:nvSpPr>
            <p:spPr>
              <a:xfrm>
                <a:off x="9582474" y="1491642"/>
                <a:ext cx="3288844" cy="1819024"/>
              </a:xfrm>
              <a:prstGeom prst="round2SameRect">
                <a:avLst>
                  <a:gd name="adj1" fmla="val 9110"/>
                  <a:gd name="adj2" fmla="val 8331"/>
                </a:avLst>
              </a:prstGeom>
              <a:noFill/>
              <a:ln w="19050" cap="flat" cmpd="sng" algn="ctr">
                <a:solidFill>
                  <a:schemeClr val="tx2">
                    <a:alpha val="50000"/>
                  </a:schemeClr>
                </a:solidFill>
                <a:prstDash val="solid"/>
                <a:miter lim="800000"/>
              </a:ln>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p>
                <a:pPr>
                  <a:lnSpc>
                    <a:spcPct val="100000"/>
                  </a:lnSpc>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发展大厦增加</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90</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主要因一口价出租，租金收入包含物业管理，</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26</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年出租率提升。</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00000"/>
                  </a:lnSpc>
                </a:pPr>
                <a:r>
                  <a:rPr kumimoji="1" lang="zh-CN" altLang="en-US"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租赁惠州增加</a:t>
                </a:r>
                <a:r>
                  <a:rPr kumimoji="1" lang="en-US" altLang="zh-CN"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33</a:t>
                </a:r>
                <a:r>
                  <a:rPr kumimoji="1" lang="zh-CN" altLang="en-US"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万，</a:t>
                </a:r>
                <a:r>
                  <a:rPr kumimoji="1" lang="zh-CN" altLang="en-US" sz="900"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主要因</a:t>
                </a:r>
                <a:r>
                  <a:rPr lang="zh-CN" altLang="en-US" sz="900" dirty="0" smtClean="0">
                    <a:latin typeface="微软雅黑" panose="020B0503020204020204" pitchFamily="34" charset="-122"/>
                    <a:ea typeface="微软雅黑" panose="020B0503020204020204" pitchFamily="34" charset="-122"/>
                    <a:sym typeface="+mn-ea"/>
                  </a:rPr>
                  <a:t>电梯合同维保合同到期，增加维保费</a:t>
                </a:r>
                <a:r>
                  <a:rPr lang="en-US" altLang="zh-CN" sz="900" dirty="0" smtClean="0">
                    <a:latin typeface="微软雅黑" panose="020B0503020204020204" pitchFamily="34" charset="-122"/>
                    <a:ea typeface="微软雅黑" panose="020B0503020204020204" pitchFamily="34" charset="-122"/>
                    <a:sym typeface="+mn-ea"/>
                  </a:rPr>
                  <a:t>14</a:t>
                </a:r>
                <a:r>
                  <a:rPr lang="zh-CN" altLang="en-US" sz="900" dirty="0" smtClean="0">
                    <a:latin typeface="微软雅黑" panose="020B0503020204020204" pitchFamily="34" charset="-122"/>
                    <a:ea typeface="微软雅黑" panose="020B0503020204020204" pitchFamily="34" charset="-122"/>
                    <a:sym typeface="+mn-ea"/>
                  </a:rPr>
                  <a:t>万；为园区安全，增加电力设备检测费</a:t>
                </a:r>
                <a:r>
                  <a:rPr lang="en-US" altLang="zh-CN" sz="900" dirty="0" smtClean="0">
                    <a:latin typeface="微软雅黑" panose="020B0503020204020204" pitchFamily="34" charset="-122"/>
                    <a:ea typeface="微软雅黑" panose="020B0503020204020204" pitchFamily="34" charset="-122"/>
                    <a:sym typeface="+mn-ea"/>
                  </a:rPr>
                  <a:t>15</a:t>
                </a:r>
                <a:r>
                  <a:rPr lang="zh-CN" altLang="en-US" sz="900" dirty="0" smtClean="0">
                    <a:latin typeface="微软雅黑" panose="020B0503020204020204" pitchFamily="34" charset="-122"/>
                    <a:ea typeface="微软雅黑" panose="020B0503020204020204" pitchFamily="34" charset="-122"/>
                    <a:sym typeface="+mn-ea"/>
                  </a:rPr>
                  <a:t>万。</a:t>
                </a:r>
                <a:endParaRPr lang="zh-CN" altLang="en-US" sz="900" dirty="0" smtClean="0">
                  <a:latin typeface="微软雅黑" panose="020B0503020204020204" pitchFamily="34" charset="-122"/>
                  <a:ea typeface="微软雅黑" panose="020B0503020204020204" pitchFamily="34" charset="-122"/>
                  <a:sym typeface="+mn-ea"/>
                </a:endParaRPr>
              </a:p>
              <a:p>
                <a:pPr>
                  <a:lnSpc>
                    <a:spcPct val="100000"/>
                  </a:lnSpc>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租赁南京</a:t>
                </a:r>
                <a:r>
                  <a:rPr kumimoji="1" 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23</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主要因维修费增加。</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00000"/>
                  </a:lnSpc>
                </a:pPr>
                <a:r>
                  <a:rPr kumimoji="1" lang="zh-CN" altLang="en-US"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东湾旧改增加</a:t>
                </a:r>
                <a:r>
                  <a:rPr kumimoji="1" lang="en-US" altLang="zh-CN"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20</a:t>
                </a:r>
                <a:r>
                  <a:rPr kumimoji="1" lang="zh-CN" altLang="en-US"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万，</a:t>
                </a:r>
                <a:r>
                  <a:rPr kumimoji="1" lang="zh-CN" altLang="en-US" sz="900"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为物业补亏额。</a:t>
                </a:r>
                <a:endParaRPr kumimoji="1" lang="zh-CN" altLang="en-US" sz="900"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endParaRPr>
              </a:p>
              <a:p>
                <a:pPr>
                  <a:lnSpc>
                    <a:spcPct val="100000"/>
                  </a:lnSpc>
                </a:pPr>
                <a:r>
                  <a:rPr kumimoji="1" lang="zh-CN" altLang="en-US"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研究院增加</a:t>
                </a:r>
                <a:r>
                  <a:rPr kumimoji="1" lang="en-US" altLang="zh-CN"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17</a:t>
                </a:r>
                <a:r>
                  <a:rPr kumimoji="1" lang="zh-CN" altLang="en-US" sz="900" b="1"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万，</a:t>
                </a:r>
                <a:r>
                  <a:rPr kumimoji="1" lang="zh-CN" altLang="en-US" sz="900"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rPr>
                  <a:t>主要因领创物业费用分摊。</a:t>
                </a:r>
                <a:endParaRPr kumimoji="1" lang="zh-CN" altLang="en-US" sz="900"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endParaRPr>
              </a:p>
              <a:p>
                <a:pPr>
                  <a:lnSpc>
                    <a:spcPct val="100000"/>
                  </a:lnSpc>
                </a:pPr>
                <a:endParaRPr kumimoji="1" lang="zh-CN" altLang="en-US" sz="900" dirty="0" smtClean="0">
                  <a:solidFill>
                    <a:schemeClr val="tx1"/>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5" name="矩形: 圆角 10"/>
              <p:cNvSpPr>
                <a:spLocks noChangeAspect="1"/>
              </p:cNvSpPr>
              <p:nvPr>
                <p:custDataLst>
                  <p:tags r:id="rId5"/>
                </p:custDataLst>
              </p:nvPr>
            </p:nvSpPr>
            <p:spPr>
              <a:xfrm>
                <a:off x="10229198" y="1290234"/>
                <a:ext cx="1785393" cy="339485"/>
              </a:xfrm>
              <a:prstGeom prst="roundRect">
                <a:avLst>
                  <a:gd name="adj" fmla="val 16000"/>
                </a:avLst>
              </a:prstGeom>
              <a:solidFill>
                <a:srgbClr val="A61706"/>
              </a:solidFill>
              <a:ln>
                <a:noFill/>
              </a:ln>
            </p:spPr>
            <p:style>
              <a:lnRef idx="0">
                <a:scrgbClr r="0" g="0" b="0"/>
              </a:lnRef>
              <a:fillRef idx="0">
                <a:scrgbClr r="0" g="0" b="0"/>
              </a:fillRef>
              <a:effectRef idx="0">
                <a:scrgbClr r="0" g="0" b="0"/>
              </a:effectRef>
              <a:fontRef idx="minor">
                <a:schemeClr val="lt1"/>
              </a:fontRef>
            </p:style>
            <p:txBody>
              <a:bodyPr wrap="square" lIns="91440" tIns="45720" rIns="91440" bIns="45720" rtlCol="0" anchor="ctr" anchorCtr="0">
                <a:noAutofit/>
              </a:bodyPr>
              <a:p>
                <a:pPr algn="ctr"/>
                <a:r>
                  <a:rPr kumimoji="1" lang="zh-CN" altLang="en-US" sz="14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rPr>
                  <a:t>增加原因</a:t>
                </a:r>
                <a:endParaRPr kumimoji="1" lang="zh-CN" altLang="en-US" sz="1400" b="1" dirty="0">
                  <a:solidFill>
                    <a:schemeClr val="bg1"/>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nvGrpSpPr>
            <p:cNvPr id="16" name="组合 15"/>
            <p:cNvGrpSpPr/>
            <p:nvPr/>
          </p:nvGrpSpPr>
          <p:grpSpPr>
            <a:xfrm>
              <a:off x="8773284" y="3947856"/>
              <a:ext cx="3241929" cy="1816218"/>
              <a:chOff x="8295937" y="3689476"/>
              <a:chExt cx="3434956" cy="2052859"/>
            </a:xfrm>
          </p:grpSpPr>
          <p:sp>
            <p:nvSpPr>
              <p:cNvPr id="17" name="矩形: 圆顶角 6"/>
              <p:cNvSpPr/>
              <p:nvPr>
                <p:custDataLst>
                  <p:tags r:id="rId6"/>
                </p:custDataLst>
              </p:nvPr>
            </p:nvSpPr>
            <p:spPr>
              <a:xfrm>
                <a:off x="8295937" y="3820485"/>
                <a:ext cx="3434956" cy="1921850"/>
              </a:xfrm>
              <a:prstGeom prst="round2SameRect">
                <a:avLst>
                  <a:gd name="adj1" fmla="val 9110"/>
                  <a:gd name="adj2" fmla="val 0"/>
                </a:avLst>
              </a:prstGeom>
              <a:noFill/>
              <a:ln w="19050" cap="flat" cmpd="sng" algn="ctr">
                <a:solidFill>
                  <a:schemeClr val="tx2">
                    <a:alpha val="50000"/>
                  </a:schemeClr>
                </a:solidFill>
                <a:prstDash val="solid"/>
                <a:miter lim="800000"/>
              </a:ln>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p>
                <a:pPr indent="0">
                  <a:lnSpc>
                    <a:spcPct val="100000"/>
                  </a:lnSpc>
                  <a:buNone/>
                  <a:defRPr/>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双塔减少</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1,274</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物业补亏额减少</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1,218</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万，维修费期其他物业费减少</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57</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0">
                  <a:lnSpc>
                    <a:spcPct val="100000"/>
                  </a:lnSpc>
                  <a:buNone/>
                  <a:defRPr/>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东湾村物业费减少</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63</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26</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年出租率提升。</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0">
                  <a:lnSpc>
                    <a:spcPct val="100000"/>
                  </a:lnSpc>
                  <a:buNone/>
                  <a:defRPr/>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XH中心减少</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30</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25</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年已完成</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30%</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的空调维修，</a:t>
                </a:r>
                <a:r>
                  <a:rPr kumimoji="1" lang="en-US" altLang="zh-CN"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26</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年下降。</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0">
                  <a:lnSpc>
                    <a:spcPct val="100000"/>
                  </a:lnSpc>
                  <a:buNone/>
                  <a:defRPr/>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租赁苏州减少</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23</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因出租率上升，空置费减少。</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0">
                  <a:lnSpc>
                    <a:spcPct val="100000"/>
                  </a:lnSpc>
                  <a:buNone/>
                  <a:defRPr/>
                </a:pP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销售业务减少</a:t>
                </a:r>
                <a:r>
                  <a:rPr kumimoji="1" lang="en-US" altLang="zh-CN"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38</a:t>
                </a:r>
                <a:r>
                  <a:rPr kumimoji="1" lang="zh-CN" altLang="en-US" sz="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销售面积减少，物业费用减少。</a:t>
                </a:r>
                <a:endParaRPr kumimoji="1" lang="zh-CN" altLang="en-US" sz="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8" name="矩形: 圆角 8"/>
              <p:cNvSpPr>
                <a:spLocks noChangeAspect="1"/>
              </p:cNvSpPr>
              <p:nvPr>
                <p:custDataLst>
                  <p:tags r:id="rId7"/>
                </p:custDataLst>
              </p:nvPr>
            </p:nvSpPr>
            <p:spPr>
              <a:xfrm>
                <a:off x="9089445" y="3689476"/>
                <a:ext cx="1785393" cy="263915"/>
              </a:xfrm>
              <a:prstGeom prst="roundRect">
                <a:avLst>
                  <a:gd name="adj" fmla="val 16000"/>
                </a:avLst>
              </a:prstGeom>
              <a:solidFill>
                <a:srgbClr val="5D0D0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p>
                <a:pPr algn="ctr"/>
                <a:r>
                  <a:rPr kumimoji="1" lang="zh-CN" altLang="en-US" sz="1400" b="1" dirty="0" smtClean="0">
                    <a:solidFill>
                      <a:srgbClr val="FFFFFF"/>
                    </a:solidFill>
                    <a:latin typeface="微软雅黑" panose="020B0503020204020204" pitchFamily="34" charset="-122"/>
                    <a:ea typeface="微软雅黑" panose="020B0503020204020204" pitchFamily="34" charset="-122"/>
                    <a:sym typeface="Arial" panose="020B0604020202020204" pitchFamily="34" charset="0"/>
                  </a:rPr>
                  <a:t>减少原因</a:t>
                </a:r>
                <a:endParaRPr kumimoji="1" lang="zh-CN" altLang="en-US" sz="1400" b="1" dirty="0" smtClean="0">
                  <a:solidFill>
                    <a:srgbClr val="FFFFFF"/>
                  </a:solidFill>
                  <a:latin typeface="微软雅黑" panose="020B0503020204020204" pitchFamily="34" charset="-122"/>
                  <a:ea typeface="微软雅黑" panose="020B0503020204020204" pitchFamily="34" charset="-122"/>
                  <a:sym typeface="Arial" panose="020B0604020202020204" pitchFamily="34" charset="0"/>
                </a:endParaRPr>
              </a:p>
            </p:txBody>
          </p:sp>
        </p:gr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灯片编号占位符 1"/>
          <p:cNvSpPr>
            <a:spLocks noGrp="1"/>
          </p:cNvSpPr>
          <p:nvPr>
            <p:ph type="sldNum" sz="quarter" idx="10"/>
          </p:nvPr>
        </p:nvSpPr>
        <p:spPr/>
        <p:txBody>
          <a:bodyPr/>
          <a:lstStyle/>
          <a:p>
            <a:fld id="{99173E90-95F0-E34D-B0FF-F9193FBE2D36}" type="slidenum">
              <a:rPr kumimoji="1" lang="zh-CN" altLang="en-US" sz="100" smtClean="0"/>
            </a:fld>
            <a:endParaRPr kumimoji="1" lang="zh-CN" altLang="en-US" sz="100" dirty="0"/>
          </a:p>
        </p:txBody>
      </p:sp>
      <p:sp>
        <p:nvSpPr>
          <p:cNvPr id="8" name="矩形 7"/>
          <p:cNvSpPr/>
          <p:nvPr/>
        </p:nvSpPr>
        <p:spPr>
          <a:xfrm>
            <a:off x="520208" y="613231"/>
            <a:ext cx="9458563" cy="775970"/>
          </a:xfrm>
          <a:prstGeom prst="rect">
            <a:avLst/>
          </a:prstGeom>
        </p:spPr>
        <p:txBody>
          <a:bodyPr wrap="square">
            <a:spAutoFit/>
          </a:bodyPr>
          <a:lstStyle/>
          <a:p>
            <a:pPr>
              <a:lnSpc>
                <a:spcPct val="150000"/>
              </a:lnSpc>
              <a:spcBef>
                <a:spcPts val="0"/>
              </a:spcBef>
              <a:spcAft>
                <a:spcPts val="0"/>
              </a:spcAft>
            </a:pPr>
            <a:r>
              <a:rPr lang="zh-CN" altLang="en-US" sz="99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领创整体</a:t>
            </a:r>
            <a:r>
              <a:rPr lang="zh-CN" altLang="en-US" sz="990" b="1"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预算</a:t>
            </a:r>
            <a:r>
              <a:rPr lang="en-US" altLang="zh-CN" sz="990" b="1"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808.71</a:t>
            </a:r>
            <a:r>
              <a:rPr lang="zh-CN" altLang="en-US" sz="990" b="1"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9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元</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，较</a:t>
            </a:r>
            <a:r>
              <a:rPr lang="en-US" altLang="zh-CN"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2025</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年实际费用</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增加</a:t>
            </a:r>
            <a:r>
              <a:rPr lang="en-US" altLang="zh-CN" sz="990" b="1"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48.21</a:t>
            </a:r>
            <a:r>
              <a:rPr lang="zh-CN" altLang="en-US" sz="990" b="1"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9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元</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增幅</a:t>
            </a:r>
            <a:r>
              <a:rPr lang="en-US" altLang="zh-CN"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6.3%</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，主要费用增减如下：</a:t>
            </a:r>
            <a:endPar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spcBef>
                <a:spcPts val="0"/>
              </a:spcBef>
              <a:spcAft>
                <a:spcPts val="0"/>
              </a:spcAft>
            </a:pP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下降：绿化环境费</a:t>
            </a:r>
            <a:r>
              <a:rPr lang="en-US" altLang="zh-CN"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1.3</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元；</a:t>
            </a:r>
            <a:endPar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spcBef>
                <a:spcPts val="0"/>
              </a:spcBef>
              <a:spcAft>
                <a:spcPts val="0"/>
              </a:spcAft>
            </a:pP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增加：人工</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费用</a:t>
            </a:r>
            <a:r>
              <a:rPr lang="en-US" altLang="zh-CN"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15.44</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元、外包</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费用</a:t>
            </a:r>
            <a:r>
              <a:rPr lang="en-US" altLang="zh-CN"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21.75</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元、设备运转</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维护费用</a:t>
            </a:r>
            <a:r>
              <a:rPr lang="en-US" altLang="zh-CN"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10.53</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a:t>
            </a:r>
            <a:r>
              <a:rPr lang="zh-CN" altLang="en-US" sz="99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元、物料消耗</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费用</a:t>
            </a:r>
            <a:r>
              <a:rPr lang="en-US" altLang="zh-CN"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1.8</a:t>
            </a:r>
            <a:r>
              <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万元。</a:t>
            </a:r>
            <a:endParaRPr lang="zh-CN" altLang="en-US" sz="990" b="1"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aphicFrame>
        <p:nvGraphicFramePr>
          <p:cNvPr id="9" name="表格 8"/>
          <p:cNvGraphicFramePr/>
          <p:nvPr>
            <p:custDataLst>
              <p:tags r:id="rId1"/>
            </p:custDataLst>
          </p:nvPr>
        </p:nvGraphicFramePr>
        <p:xfrm>
          <a:off x="276860" y="1389380"/>
          <a:ext cx="9646285" cy="4121785"/>
        </p:xfrm>
        <a:graphic>
          <a:graphicData uri="http://schemas.openxmlformats.org/drawingml/2006/table">
            <a:tbl>
              <a:tblPr/>
              <a:tblGrid>
                <a:gridCol w="648970"/>
                <a:gridCol w="721995"/>
                <a:gridCol w="668655"/>
                <a:gridCol w="672465"/>
                <a:gridCol w="688340"/>
                <a:gridCol w="574040"/>
                <a:gridCol w="784860"/>
                <a:gridCol w="4886960"/>
              </a:tblGrid>
              <a:tr h="424180">
                <a:tc>
                  <a:txBody>
                    <a:bodyPr/>
                    <a:lstStyle/>
                    <a:p>
                      <a:pPr algn="ctr">
                        <a:buClrTx/>
                        <a:buSzTx/>
                        <a:buFontTx/>
                        <a:buNone/>
                      </a:pPr>
                      <a:r>
                        <a:rPr lang="zh-CN" sz="825"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预算科目</a:t>
                      </a:r>
                      <a:endParaRPr lang="zh-CN" sz="825"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实际</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algn="ctr">
                        <a:buClrTx/>
                        <a:buSzTx/>
                        <a:buFontTx/>
                        <a:buNone/>
                      </a:pP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（1</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9</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月份</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预估</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10</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12月份）</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总计</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p>
                      <a:pPr algn="ctr">
                        <a:buClrTx/>
                        <a:buSzTx/>
                        <a:buFontTx/>
                        <a:buNone/>
                      </a:pP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（实际+预估）</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预算</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6</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VS</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5</a:t>
                      </a:r>
                      <a:r>
                        <a:rPr lang="zh-CN" sz="800" b="1" dirty="0" smtClean="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年</a:t>
                      </a: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实际差额（万元）</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c>
                  <a:txBody>
                    <a:bodyPr/>
                    <a:lstStyle/>
                    <a:p>
                      <a:pPr algn="ctr">
                        <a:buClrTx/>
                        <a:buSzTx/>
                        <a:buFontTx/>
                        <a:buNone/>
                      </a:pPr>
                      <a:r>
                        <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说明</a:t>
                      </a:r>
                      <a:endParaRPr lang="zh-CN" sz="800" b="1"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C00000"/>
                    </a:solidFill>
                  </a:tcPr>
                </a:tc>
              </a:tr>
              <a:tr h="211455">
                <a:tc>
                  <a:txBody>
                    <a:bodyPr/>
                    <a:lstStyle/>
                    <a:p>
                      <a:pPr indent="0" algn="ctr">
                        <a:buNone/>
                      </a:pPr>
                      <a:r>
                        <a:rPr lang="zh-CN" sz="825" b="1">
                          <a:solidFill>
                            <a:srgbClr val="000000"/>
                          </a:solidFill>
                          <a:latin typeface="微软雅黑" panose="020B0503020204020204" pitchFamily="34" charset="-122"/>
                          <a:ea typeface="微软雅黑" panose="020B0503020204020204" pitchFamily="34" charset="-122"/>
                        </a:rPr>
                        <a:t>成本合计</a:t>
                      </a:r>
                      <a:endParaRPr lang="zh-CN" altLang="en-US" sz="825" b="1">
                        <a:solidFill>
                          <a:srgbClr val="000000"/>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dirty="0" smtClean="0">
                          <a:solidFill>
                            <a:srgbClr val="000000"/>
                          </a:solidFill>
                          <a:latin typeface="微软雅黑" panose="020B0503020204020204" pitchFamily="34" charset="-122"/>
                          <a:ea typeface="微软雅黑" panose="020B0503020204020204" pitchFamily="34" charset="-122"/>
                        </a:rPr>
                        <a:t>794.85</a:t>
                      </a:r>
                      <a:endParaRPr lang="en-US" altLang="zh-CN" sz="900" b="1" i="0" dirty="0" smtClean="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480.94</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279.54</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760.5</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808.71</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solidFill>
                      <a:srgbClr val="FFC000"/>
                    </a:solid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48.21</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endParaRPr lang="en-US" altLang="en-US" sz="1000" b="0" dirty="0">
                        <a:solidFill>
                          <a:srgbClr val="000000"/>
                        </a:solidFill>
                        <a:latin typeface="微软雅黑" panose="020B0503020204020204" pitchFamily="34" charset="-122"/>
                        <a:ea typeface="微软雅黑" panose="020B0503020204020204" pitchFamily="34" charset="-122"/>
                      </a:endParaRPr>
                    </a:p>
                  </a:txBody>
                  <a:tcPr marL="12700" marR="12700" marT="12700" anchor="b">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332740">
                <a:tc>
                  <a:txBody>
                    <a:bodyPr/>
                    <a:lstStyle/>
                    <a:p>
                      <a:pPr indent="0" algn="ctr">
                        <a:buNone/>
                      </a:pPr>
                      <a:r>
                        <a:rPr lang="zh-CN" sz="825" b="1">
                          <a:solidFill>
                            <a:srgbClr val="000000"/>
                          </a:solidFill>
                          <a:latin typeface="微软雅黑" panose="020B0503020204020204" pitchFamily="34" charset="-122"/>
                          <a:ea typeface="微软雅黑" panose="020B0503020204020204" pitchFamily="34" charset="-122"/>
                        </a:rPr>
                        <a:t>人工费用</a:t>
                      </a:r>
                      <a:endParaRPr lang="zh-CN" altLang="en-US" sz="825" b="1">
                        <a:solidFill>
                          <a:srgbClr val="000000"/>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dirty="0">
                          <a:solidFill>
                            <a:srgbClr val="000000"/>
                          </a:solidFill>
                          <a:latin typeface="微软雅黑" panose="020B0503020204020204" pitchFamily="34" charset="-122"/>
                          <a:ea typeface="微软雅黑" panose="020B0503020204020204" pitchFamily="34" charset="-122"/>
                        </a:rPr>
                        <a:t>396.36</a:t>
                      </a:r>
                      <a:endParaRPr lang="en-US" altLang="zh-CN" sz="9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260.74</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132.85</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393.6</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409.04</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15.44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、增加</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0.5</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人共享分摊人员成本，年度增加约</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15.11</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b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、社保公积金增加</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0.33</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396875">
                <a:tc>
                  <a:txBody>
                    <a:bodyPr/>
                    <a:lstStyle/>
                    <a:p>
                      <a:pPr indent="0" algn="ctr">
                        <a:buNone/>
                      </a:pPr>
                      <a:r>
                        <a:rPr lang="zh-CN" sz="825" b="1">
                          <a:solidFill>
                            <a:srgbClr val="000000"/>
                          </a:solidFill>
                          <a:latin typeface="微软雅黑" panose="020B0503020204020204" pitchFamily="34" charset="-122"/>
                          <a:ea typeface="微软雅黑" panose="020B0503020204020204" pitchFamily="34" charset="-122"/>
                        </a:rPr>
                        <a:t>外包费用</a:t>
                      </a:r>
                      <a:endParaRPr lang="zh-CN" altLang="en-US" sz="825" b="1">
                        <a:solidFill>
                          <a:srgbClr val="000000"/>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dirty="0">
                          <a:solidFill>
                            <a:srgbClr val="000000"/>
                          </a:solidFill>
                          <a:latin typeface="微软雅黑" panose="020B0503020204020204" pitchFamily="34" charset="-122"/>
                          <a:ea typeface="微软雅黑" panose="020B0503020204020204" pitchFamily="34" charset="-122"/>
                        </a:rPr>
                        <a:t>108.6</a:t>
                      </a:r>
                      <a:endParaRPr lang="en-US" altLang="zh-CN" sz="9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55.53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50.63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106.16</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127.91</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21.75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marL="0" indent="0" algn="l" defTabSz="914400" rtl="0" eaLnBrk="1" latinLnBrk="0" hangingPunct="1">
                        <a:buNone/>
                      </a:pP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年对比</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年实际支付费用与合同单价费用差额</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22.39</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年按合同总价做预算；</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、因</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年合同付款存在服务质量、高空作业未服务等扣款，合计扣款</a:t>
                      </a:r>
                      <a:r>
                        <a:rPr lang="en-US" altLang="zh-CN"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24.75</a:t>
                      </a:r>
                      <a:r>
                        <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900" b="0" kern="12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1076325">
                <a:tc>
                  <a:txBody>
                    <a:bodyPr/>
                    <a:lstStyle/>
                    <a:p>
                      <a:pPr indent="0" algn="ctr">
                        <a:buNone/>
                      </a:pPr>
                      <a:r>
                        <a:rPr lang="zh-CN" sz="825" b="1">
                          <a:solidFill>
                            <a:srgbClr val="000000"/>
                          </a:solidFill>
                          <a:latin typeface="微软雅黑" panose="020B0503020204020204" pitchFamily="34" charset="-122"/>
                          <a:ea typeface="微软雅黑" panose="020B0503020204020204" pitchFamily="34" charset="-122"/>
                        </a:rPr>
                        <a:t>设备运转维护费</a:t>
                      </a:r>
                      <a:endParaRPr lang="zh-CN" altLang="en-US" sz="825" b="1">
                        <a:solidFill>
                          <a:srgbClr val="000000"/>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dirty="0">
                          <a:solidFill>
                            <a:schemeClr val="tx1"/>
                          </a:solidFill>
                          <a:latin typeface="微软雅黑" panose="020B0503020204020204" pitchFamily="34" charset="-122"/>
                          <a:ea typeface="微软雅黑" panose="020B0503020204020204" pitchFamily="34" charset="-122"/>
                        </a:rPr>
                        <a:t>59.69</a:t>
                      </a:r>
                      <a:endParaRPr lang="en-US" altLang="zh-CN" sz="900" b="1" i="0" dirty="0">
                        <a:solidFill>
                          <a:schemeClr val="tx1"/>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27.08</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19.56</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46.64</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57.17</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lgn="ctr">
                      <a:solidFill>
                        <a:srgbClr val="000000"/>
                      </a:solidFill>
                      <a:prstDash val="solid"/>
                      <a:roun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10.53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设备运作维护费用</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57.17</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万元，对比</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年实际</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47.53</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万元，同比增加</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10.53</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 </a:t>
                      </a:r>
                      <a:endPar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indent="0">
                        <a:buNone/>
                      </a:pP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、空调维保费下降</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0.37</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万元（原</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120648</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a:t>
                      </a:r>
                      <a:b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b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、消防维保费维持不变（</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52204.59</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元）、智能化维保维持不变（</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87600</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元）、电梯维保维持不变（</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9900</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元）、幕墙维保维持不变（</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92000</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元）、生活水箱清洗维持不变（</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5000</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元）、化粪池清理维持不变（</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20000</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元）；</a:t>
                      </a:r>
                      <a:b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b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、增加高压绝缘工具检测（</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0.18</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万元）、电气防火检测（</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0.8</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万元）、防雷接地检测（</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0.8</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万元）、消防气瓶检测（</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8</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万元），电梯换钢丝（</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a:t>
                      </a:r>
                      <a:b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b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以上合计增加</a:t>
                      </a:r>
                      <a:r>
                        <a:rPr lang="en-US" altLang="zh-CN"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10.53</a:t>
                      </a:r>
                      <a:r>
                        <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900" b="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226060">
                <a:tc>
                  <a:txBody>
                    <a:bodyPr/>
                    <a:lstStyle/>
                    <a:p>
                      <a:pPr algn="ctr">
                        <a:buClrTx/>
                        <a:buSzTx/>
                        <a:buFontTx/>
                        <a:buNone/>
                      </a:pPr>
                      <a:r>
                        <a:rPr lang="zh-CN" sz="825" b="1"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绿化环境费</a:t>
                      </a:r>
                      <a:endParaRPr lang="zh-CN" sz="825" b="1"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8.57</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2.73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6.3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9.03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7.73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-1.30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r>
                        <a:rPr lang="zh-CN" altLang="en-US" sz="900" b="0" dirty="0" smtClean="0">
                          <a:solidFill>
                            <a:schemeClr val="tx1"/>
                          </a:solidFill>
                          <a:latin typeface="微软雅黑" panose="020B0503020204020204" pitchFamily="34" charset="-122"/>
                          <a:ea typeface="微软雅黑" panose="020B0503020204020204" pitchFamily="34" charset="-122"/>
                        </a:rPr>
                        <a:t>园区四害消杀、外墙清洗合同单价总体下降。</a:t>
                      </a:r>
                      <a:endParaRPr lang="zh-CN" altLang="en-US" sz="900" b="0" dirty="0" smtClean="0">
                        <a:solidFill>
                          <a:schemeClr val="tx1"/>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191770">
                <a:tc>
                  <a:txBody>
                    <a:bodyPr/>
                    <a:lstStyle/>
                    <a:p>
                      <a:pPr indent="0" algn="ctr">
                        <a:buNone/>
                      </a:pPr>
                      <a:r>
                        <a:rPr lang="zh-CN" sz="825" b="1" dirty="0">
                          <a:solidFill>
                            <a:srgbClr val="000000"/>
                          </a:solidFill>
                          <a:latin typeface="微软雅黑" panose="020B0503020204020204" pitchFamily="34" charset="-122"/>
                          <a:ea typeface="微软雅黑" panose="020B0503020204020204" pitchFamily="34" charset="-122"/>
                        </a:rPr>
                        <a:t>能耗费用</a:t>
                      </a:r>
                      <a:endParaRPr lang="zh-CN" altLang="en-US" sz="825" b="1" dirty="0">
                        <a:solidFill>
                          <a:srgbClr val="000000"/>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156.4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97.21</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50.3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147.51</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147.51</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0.00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endParaRPr lang="en-US" altLang="en-US" sz="900" b="0" dirty="0">
                        <a:solidFill>
                          <a:srgbClr val="000000"/>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469900">
                <a:tc>
                  <a:txBody>
                    <a:bodyPr/>
                    <a:lstStyle/>
                    <a:p>
                      <a:pPr indent="0" algn="ctr">
                        <a:buNone/>
                      </a:pPr>
                      <a:r>
                        <a:rPr lang="zh-CN" sz="825" b="1" dirty="0">
                          <a:solidFill>
                            <a:srgbClr val="000000"/>
                          </a:solidFill>
                          <a:latin typeface="微软雅黑" panose="020B0503020204020204" pitchFamily="34" charset="-122"/>
                          <a:ea typeface="微软雅黑" panose="020B0503020204020204" pitchFamily="34" charset="-122"/>
                        </a:rPr>
                        <a:t>物料消耗费</a:t>
                      </a:r>
                      <a:endParaRPr lang="zh-CN" sz="825" b="1" dirty="0">
                        <a:solidFill>
                          <a:srgbClr val="000000"/>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31.14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algn="ctr" fontAlgn="ctr"/>
                      <a:r>
                        <a:rPr lang="en-US" altLang="zh-CN" sz="1000" b="1" i="0" u="none" strike="noStrike" dirty="0">
                          <a:solidFill>
                            <a:schemeClr val="tx1"/>
                          </a:solidFill>
                          <a:effectLst/>
                          <a:latin typeface="微软雅黑" panose="020B0503020204020204" pitchFamily="34" charset="-122"/>
                          <a:ea typeface="微软雅黑" panose="020B0503020204020204" pitchFamily="34" charset="-122"/>
                        </a:rPr>
                        <a:t>15.82</a:t>
                      </a:r>
                      <a:endParaRPr lang="en-US" altLang="zh-CN"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dirty="0" smtClean="0">
                          <a:solidFill>
                            <a:schemeClr val="tx1"/>
                          </a:solidFill>
                          <a:effectLst/>
                          <a:latin typeface="微软雅黑" panose="020B0503020204020204" pitchFamily="34" charset="-122"/>
                          <a:ea typeface="微软雅黑" panose="020B0503020204020204" pitchFamily="34" charset="-122"/>
                        </a:rPr>
                        <a:t>7.64</a:t>
                      </a:r>
                      <a:endParaRPr lang="en-US" altLang="zh-CN" sz="1000" b="1" i="0" u="none" strike="noStrike" dirty="0" smtClean="0">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dirty="0" smtClean="0">
                          <a:solidFill>
                            <a:schemeClr val="tx1"/>
                          </a:solidFill>
                          <a:effectLst/>
                          <a:latin typeface="微软雅黑" panose="020B0503020204020204" pitchFamily="34" charset="-122"/>
                          <a:ea typeface="微软雅黑" panose="020B0503020204020204" pitchFamily="34" charset="-122"/>
                        </a:rPr>
                        <a:t>23.46</a:t>
                      </a:r>
                      <a:endParaRPr lang="en-US" altLang="zh-CN" sz="1000" b="1" i="0" u="none" strike="noStrike" dirty="0" smtClean="0">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25.26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dirty="0" smtClean="0">
                          <a:solidFill>
                            <a:schemeClr val="tx1"/>
                          </a:solidFill>
                          <a:effectLst/>
                          <a:latin typeface="微软雅黑" panose="020B0503020204020204" pitchFamily="34" charset="-122"/>
                          <a:ea typeface="微软雅黑" panose="020B0503020204020204" pitchFamily="34" charset="-122"/>
                        </a:rPr>
                        <a:t>1.8 </a:t>
                      </a:r>
                      <a:endParaRPr lang="en-US" altLang="zh-CN" sz="1000" b="1" i="0" u="none" strike="noStrike" dirty="0" smtClean="0">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整体增加</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1.8</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p>
                      <a:pPr indent="0">
                        <a:buNone/>
                      </a:pP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领创项目灭火器</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月过期</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100</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瓶，防毒面具</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6</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月过期</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200</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个，到期需要更换，对比</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年预算增加采购成本</a:t>
                      </a:r>
                      <a:r>
                        <a:rPr lang="en-US" altLang="zh-CN"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1.79</a:t>
                      </a:r>
                      <a:r>
                        <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900" b="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226695">
                <a:tc>
                  <a:txBody>
                    <a:bodyPr/>
                    <a:lstStyle/>
                    <a:p>
                      <a:pPr indent="0" algn="ctr">
                        <a:buNone/>
                      </a:pPr>
                      <a:r>
                        <a:rPr lang="zh-CN" sz="825" b="1">
                          <a:solidFill>
                            <a:schemeClr val="tx1"/>
                          </a:solidFill>
                          <a:latin typeface="微软雅黑" panose="020B0503020204020204" pitchFamily="34" charset="-122"/>
                          <a:ea typeface="微软雅黑" panose="020B0503020204020204" pitchFamily="34" charset="-122"/>
                        </a:rPr>
                        <a:t>行政办公费</a:t>
                      </a:r>
                      <a:endParaRPr lang="zh-CN" altLang="en-US" sz="825" b="1">
                        <a:solidFill>
                          <a:schemeClr val="tx1"/>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dirty="0" smtClean="0">
                          <a:solidFill>
                            <a:srgbClr val="000000"/>
                          </a:solidFill>
                          <a:latin typeface="微软雅黑" panose="020B0503020204020204" pitchFamily="34" charset="-122"/>
                          <a:ea typeface="微软雅黑" panose="020B0503020204020204" pitchFamily="34" charset="-122"/>
                        </a:rPr>
                        <a:t>2.69</a:t>
                      </a:r>
                      <a:endParaRPr lang="en-US" altLang="zh-CN" sz="900" b="1" i="0" dirty="0" smtClean="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0.23</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2.46</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2.69</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2.69</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0.00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endParaRPr lang="zh-CN" altLang="en-US" sz="900" b="1" dirty="0" smtClean="0">
                        <a:solidFill>
                          <a:srgbClr val="000000"/>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231775">
                <a:tc>
                  <a:txBody>
                    <a:bodyPr/>
                    <a:lstStyle/>
                    <a:p>
                      <a:pPr indent="0" algn="ctr">
                        <a:buNone/>
                      </a:pPr>
                      <a:r>
                        <a:rPr lang="zh-CN" sz="825" b="1">
                          <a:solidFill>
                            <a:schemeClr val="tx1"/>
                          </a:solidFill>
                          <a:latin typeface="微软雅黑" panose="020B0503020204020204" pitchFamily="34" charset="-122"/>
                          <a:ea typeface="微软雅黑" panose="020B0503020204020204" pitchFamily="34" charset="-122"/>
                        </a:rPr>
                        <a:t>业务活动费</a:t>
                      </a:r>
                      <a:endParaRPr lang="zh-CN" altLang="en-US" sz="825" b="1">
                        <a:solidFill>
                          <a:schemeClr val="tx1"/>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a:solidFill>
                            <a:srgbClr val="000000"/>
                          </a:solidFill>
                          <a:latin typeface="微软雅黑" panose="020B0503020204020204" pitchFamily="34" charset="-122"/>
                          <a:ea typeface="微软雅黑" panose="020B0503020204020204" pitchFamily="34" charset="-122"/>
                        </a:rPr>
                        <a:t>2.60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0.00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2.60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2.60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2.60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0.00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endParaRPr lang="en-US" altLang="en-US" sz="900" b="1" dirty="0">
                        <a:solidFill>
                          <a:srgbClr val="000000"/>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r h="250825">
                <a:tc>
                  <a:txBody>
                    <a:bodyPr/>
                    <a:lstStyle/>
                    <a:p>
                      <a:pPr indent="0" algn="ctr">
                        <a:buNone/>
                      </a:pPr>
                      <a:r>
                        <a:rPr lang="zh-CN" sz="825" b="1">
                          <a:solidFill>
                            <a:schemeClr val="tx1"/>
                          </a:solidFill>
                          <a:latin typeface="微软雅黑" panose="020B0503020204020204" pitchFamily="34" charset="-122"/>
                          <a:ea typeface="微软雅黑" panose="020B0503020204020204" pitchFamily="34" charset="-122"/>
                        </a:rPr>
                        <a:t>酬金</a:t>
                      </a:r>
                      <a:endParaRPr lang="zh-CN" altLang="en-US" sz="825" b="1">
                        <a:solidFill>
                          <a:schemeClr val="tx1"/>
                        </a:solidFill>
                        <a:latin typeface="微软雅黑" panose="020B0503020204020204" pitchFamily="34" charset="-122"/>
                        <a:ea typeface="微软雅黑" panose="020B0503020204020204" pitchFamily="34" charset="-122"/>
                      </a:endParaRPr>
                    </a:p>
                  </a:txBody>
                  <a:tcPr marL="10477" marR="10477" marT="10477" marB="37718" anchor="ctr">
                    <a:lnL w="6350" cap="flat" cmpd="sng">
                      <a:solidFill>
                        <a:srgbClr val="000000"/>
                      </a:solidFill>
                      <a:prstDash val="solid"/>
                      <a:headEnd type="none" w="med" len="med"/>
                      <a:tailEnd type="none" w="med" len="med"/>
                    </a:lnL>
                    <a:lnR w="6350" cap="flat" cmpd="sng" algn="ctr">
                      <a:solidFill>
                        <a:srgbClr val="000000"/>
                      </a:solidFill>
                      <a:prstDash val="solid"/>
                      <a:roun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900" b="1" i="0" dirty="0">
                          <a:solidFill>
                            <a:srgbClr val="000000"/>
                          </a:solidFill>
                          <a:latin typeface="微软雅黑" panose="020B0503020204020204" pitchFamily="34" charset="-122"/>
                          <a:ea typeface="微软雅黑" panose="020B0503020204020204" pitchFamily="34" charset="-122"/>
                        </a:rPr>
                        <a:t>28.80 </a:t>
                      </a:r>
                      <a:endParaRPr lang="en-US" altLang="zh-CN" sz="900" b="1" i="0" dirty="0">
                        <a:solidFill>
                          <a:srgbClr val="000000"/>
                        </a:solidFill>
                        <a:latin typeface="微软雅黑" panose="020B0503020204020204" pitchFamily="34" charset="-122"/>
                        <a:ea typeface="微软雅黑" panose="020B0503020204020204" pitchFamily="34" charset="-122"/>
                      </a:endParaRPr>
                    </a:p>
                  </a:txBody>
                  <a:tcPr marL="9842" marR="9842" marT="9842"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21.60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7.20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28.80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a:solidFill>
                            <a:schemeClr val="tx1"/>
                          </a:solidFill>
                          <a:effectLst/>
                          <a:latin typeface="微软雅黑" panose="020B0503020204020204" pitchFamily="34" charset="-122"/>
                          <a:ea typeface="微软雅黑" panose="020B0503020204020204" pitchFamily="34" charset="-122"/>
                        </a:rPr>
                        <a:t>28.80 </a:t>
                      </a:r>
                      <a:endParaRPr lang="en-US" altLang="zh-CN" sz="1000" b="1" i="0" u="none" strike="noStrike">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algn="ctr" fontAlgn="ctr"/>
                      <a:r>
                        <a:rPr lang="en-US" altLang="zh-CN" sz="1000" b="1" i="0" u="none" strike="noStrike" dirty="0">
                          <a:solidFill>
                            <a:schemeClr val="tx1"/>
                          </a:solidFill>
                          <a:effectLst/>
                          <a:latin typeface="微软雅黑" panose="020B0503020204020204" pitchFamily="34" charset="-122"/>
                          <a:ea typeface="微软雅黑" panose="020B0503020204020204" pitchFamily="34" charset="-122"/>
                        </a:rPr>
                        <a:t>0.00 </a:t>
                      </a:r>
                      <a:endParaRPr lang="en-US" altLang="zh-CN" sz="1000" b="1" i="0" u="none" strike="noStrike" dirty="0">
                        <a:solidFill>
                          <a:schemeClr val="tx1"/>
                        </a:solidFill>
                        <a:effectLst/>
                        <a:latin typeface="微软雅黑" panose="020B0503020204020204" pitchFamily="34" charset="-122"/>
                        <a:ea typeface="微软雅黑" panose="020B0503020204020204" pitchFamily="34" charset="-122"/>
                      </a:endParaRPr>
                    </a:p>
                  </a:txBody>
                  <a:tcPr marL="9525" marR="9525" marT="9525" marB="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c>
                  <a:txBody>
                    <a:bodyPr/>
                    <a:lstStyle/>
                    <a:p>
                      <a:pPr indent="0">
                        <a:buNone/>
                      </a:pPr>
                      <a:endParaRPr lang="en-US" altLang="en-US" sz="900" b="1" dirty="0">
                        <a:solidFill>
                          <a:srgbClr val="000000"/>
                        </a:solidFill>
                        <a:latin typeface="微软雅黑" panose="020B0503020204020204" pitchFamily="34" charset="-122"/>
                        <a:ea typeface="微软雅黑" panose="020B0503020204020204" pitchFamily="34" charset="-122"/>
                      </a:endParaRPr>
                    </a:p>
                  </a:txBody>
                  <a:tcPr marL="12700" marR="12700" marT="12700" anchor="ct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lnTlToBr>
                      <a:noFill/>
                    </a:lnTlToBr>
                    <a:lnBlToTr>
                      <a:noFill/>
                    </a:lnBlToTr>
                    <a:noFill/>
                  </a:tcPr>
                </a:tc>
              </a:tr>
            </a:tbl>
          </a:graphicData>
        </a:graphic>
      </p:graphicFrame>
      <p:sp>
        <p:nvSpPr>
          <p:cNvPr id="7" name="矩形 6"/>
          <p:cNvSpPr/>
          <p:nvPr/>
        </p:nvSpPr>
        <p:spPr>
          <a:xfrm>
            <a:off x="204664" y="357183"/>
            <a:ext cx="7128792" cy="369332"/>
          </a:xfrm>
          <a:prstGeom prst="rect">
            <a:avLst/>
          </a:prstGeom>
        </p:spPr>
        <p:txBody>
          <a:bodyPr/>
          <a:p>
            <a:pPr defTabSz="754380"/>
            <a:r>
              <a:rPr lang="zh-CN" altLang="en-US" sz="1800" b="1" spc="-41" dirty="0">
                <a:solidFill>
                  <a:schemeClr val="tx1">
                    <a:lumMod val="75000"/>
                    <a:lumOff val="25000"/>
                  </a:schemeClr>
                </a:solidFill>
                <a:highlight>
                  <a:srgbClr val="000000">
                    <a:alpha val="0"/>
                  </a:srgbClr>
                </a:highlight>
                <a:latin typeface="微软雅黑" panose="020B0503020204020204" pitchFamily="34" charset="-122"/>
                <a:ea typeface="微软雅黑" panose="020B0503020204020204" pitchFamily="34" charset="-122"/>
                <a:cs typeface="+mj-cs"/>
                <a:sym typeface="+mn-ea"/>
              </a:rPr>
              <a:t>第三部分：2026年预算编制报告-</a:t>
            </a:r>
            <a:r>
              <a:rPr lang="zh-CN" altLang="en-US" b="1" spc="-41" dirty="0">
                <a:solidFill>
                  <a:srgbClr val="002060"/>
                </a:solidFill>
                <a:highlight>
                  <a:srgbClr val="000000">
                    <a:alpha val="0"/>
                  </a:srgbClr>
                </a:highlight>
                <a:latin typeface="微软雅黑" panose="020B0503020204020204" pitchFamily="34" charset="-122"/>
                <a:ea typeface="微软雅黑" panose="020B0503020204020204" pitchFamily="34" charset="-122"/>
                <a:cs typeface="+mj-cs"/>
                <a:sym typeface="+mn-ea"/>
              </a:rPr>
              <a:t>领创费用分析</a:t>
            </a:r>
            <a:endParaRPr lang="zh-CN" altLang="en-US" b="1" spc="-41" dirty="0">
              <a:solidFill>
                <a:srgbClr val="002060"/>
              </a:solidFill>
              <a:highlight>
                <a:srgbClr val="000000">
                  <a:alpha val="0"/>
                </a:srgbClr>
              </a:highlight>
              <a:latin typeface="微软雅黑" panose="020B0503020204020204" pitchFamily="34" charset="-122"/>
              <a:ea typeface="微软雅黑" panose="020B0503020204020204" pitchFamily="34" charset="-122"/>
              <a:cs typeface="+mj-cs"/>
              <a:sym typeface="+mn-ea"/>
            </a:endParaRPr>
          </a:p>
        </p:txBody>
      </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灯片编号占位符 1"/>
          <p:cNvSpPr>
            <a:spLocks noGrp="1"/>
          </p:cNvSpPr>
          <p:nvPr>
            <p:ph type="sldNum" sz="quarter" idx="10"/>
          </p:nvPr>
        </p:nvSpPr>
        <p:spPr/>
        <p:txBody>
          <a:bodyPr/>
          <a:lstStyle/>
          <a:p>
            <a:fld id="{99173E90-95F0-E34D-B0FF-F9193FBE2D36}" type="slidenum">
              <a:rPr kumimoji="1" lang="zh-CN" altLang="en-US" sz="100" smtClean="0"/>
            </a:fld>
            <a:endParaRPr kumimoji="1" lang="zh-CN" altLang="en-US" sz="100" dirty="0"/>
          </a:p>
        </p:txBody>
      </p:sp>
      <p:sp>
        <p:nvSpPr>
          <p:cNvPr id="7" name="矩形 6"/>
          <p:cNvSpPr/>
          <p:nvPr/>
        </p:nvSpPr>
        <p:spPr>
          <a:xfrm>
            <a:off x="204664" y="357183"/>
            <a:ext cx="7128792" cy="369332"/>
          </a:xfrm>
          <a:prstGeom prst="rect">
            <a:avLst/>
          </a:prstGeom>
        </p:spPr>
        <p:txBody>
          <a:bodyPr/>
          <a:p>
            <a:pPr defTabSz="754380"/>
            <a:r>
              <a:rPr lang="zh-CN" altLang="en-US" sz="1800" b="1" spc="-41" dirty="0">
                <a:solidFill>
                  <a:schemeClr val="tx1">
                    <a:lumMod val="75000"/>
                    <a:lumOff val="25000"/>
                  </a:schemeClr>
                </a:solidFill>
                <a:highlight>
                  <a:srgbClr val="000000">
                    <a:alpha val="0"/>
                  </a:srgbClr>
                </a:highlight>
                <a:latin typeface="微软雅黑" panose="020B0503020204020204" pitchFamily="34" charset="-122"/>
                <a:ea typeface="微软雅黑" panose="020B0503020204020204" pitchFamily="34" charset="-122"/>
                <a:cs typeface="+mj-cs"/>
                <a:sym typeface="+mn-ea"/>
              </a:rPr>
              <a:t>第三部分：2026年预算编制报告-</a:t>
            </a:r>
            <a:r>
              <a:rPr lang="zh-CN" altLang="en-US" b="1" spc="-41" dirty="0">
                <a:solidFill>
                  <a:srgbClr val="002060"/>
                </a:solidFill>
                <a:highlight>
                  <a:srgbClr val="000000">
                    <a:alpha val="0"/>
                  </a:srgbClr>
                </a:highlight>
                <a:latin typeface="微软雅黑" panose="020B0503020204020204" pitchFamily="34" charset="-122"/>
                <a:ea typeface="微软雅黑" panose="020B0503020204020204" pitchFamily="34" charset="-122"/>
                <a:cs typeface="+mj-cs"/>
                <a:sym typeface="+mn-ea"/>
              </a:rPr>
              <a:t>领创费用分析</a:t>
            </a:r>
            <a:endParaRPr lang="zh-CN" altLang="en-US" b="1" spc="-41" dirty="0">
              <a:solidFill>
                <a:srgbClr val="002060"/>
              </a:solidFill>
              <a:highlight>
                <a:srgbClr val="000000">
                  <a:alpha val="0"/>
                </a:srgbClr>
              </a:highlight>
              <a:latin typeface="微软雅黑" panose="020B0503020204020204" pitchFamily="34" charset="-122"/>
              <a:ea typeface="微软雅黑" panose="020B0503020204020204" pitchFamily="34" charset="-122"/>
              <a:cs typeface="+mj-cs"/>
              <a:sym typeface="+mn-ea"/>
            </a:endParaRPr>
          </a:p>
        </p:txBody>
      </p:sp>
      <p:sp>
        <p:nvSpPr>
          <p:cNvPr id="10" name="矩形 9"/>
          <p:cNvSpPr/>
          <p:nvPr/>
        </p:nvSpPr>
        <p:spPr>
          <a:xfrm>
            <a:off x="420627" y="726465"/>
            <a:ext cx="8858697" cy="1122045"/>
          </a:xfrm>
          <a:prstGeom prst="rect">
            <a:avLst/>
          </a:prstGeom>
        </p:spPr>
        <p:txBody>
          <a:bodyPr wrap="square">
            <a:spAutoFit/>
          </a:bodyPr>
          <a:p>
            <a:pPr>
              <a:lnSpc>
                <a:spcPct val="150000"/>
              </a:lnSpc>
            </a:pP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sym typeface="+mn-ea"/>
              </a:rPr>
              <a:t>年</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sym typeface="+mn-ea"/>
              </a:rPr>
              <a:t>控股承担的接待、配套等专项服务</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sym typeface="+mn-ea"/>
              </a:rPr>
              <a:t>成本</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sym typeface="+mn-ea"/>
              </a:rPr>
              <a:t>157.16</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sym typeface="+mn-ea"/>
              </a:rPr>
              <a:t>万元，</a:t>
            </a:r>
            <a:r>
              <a:rPr lang="en-US" altLang="zh-CN" sz="1485"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808.71-</a:t>
            </a:r>
            <a:r>
              <a:rPr lang="en-US" altLang="zh-CN" sz="1485"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157.16-11.45=640.1</a:t>
            </a:r>
            <a:r>
              <a:rPr lang="zh-CN" altLang="en-US" sz="1485" b="1"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万元</a:t>
            </a:r>
            <a:r>
              <a:rPr lang="zh-CN" altLang="en-US" sz="1485"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为</a:t>
            </a:r>
            <a:r>
              <a:rPr lang="zh-CN" altLang="en-US" sz="1485" b="1" dirty="0">
                <a:solidFill>
                  <a:srgbClr val="CB1D23"/>
                </a:solidFill>
                <a:latin typeface="微软雅黑" panose="020B0503020204020204" pitchFamily="34" charset="-122"/>
                <a:ea typeface="微软雅黑" panose="020B0503020204020204" pitchFamily="34" charset="-122"/>
                <a:cs typeface="微软雅黑" panose="020B0503020204020204" pitchFamily="34" charset="-122"/>
                <a:sym typeface="+mn-ea"/>
              </a:rPr>
              <a:t>物业管理综合服务费</a:t>
            </a:r>
            <a:r>
              <a:rPr lang="zh-CN" altLang="en-US" sz="1485"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，由控股及产业集团按各自使用的套内面积分摊。</a:t>
            </a:r>
            <a:endParaRPr lang="zh-CN" altLang="en-US" sz="1485"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50000"/>
              </a:lnSpc>
            </a:pPr>
            <a:endParaRPr lang="zh-CN" altLang="en-US" sz="1485" b="1"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11" name="表格 10"/>
          <p:cNvGraphicFramePr/>
          <p:nvPr>
            <p:custDataLst>
              <p:tags r:id="rId1"/>
            </p:custDataLst>
          </p:nvPr>
        </p:nvGraphicFramePr>
        <p:xfrm>
          <a:off x="348874" y="1605164"/>
          <a:ext cx="8858250" cy="2568575"/>
        </p:xfrm>
        <a:graphic>
          <a:graphicData uri="http://schemas.openxmlformats.org/drawingml/2006/table">
            <a:tbl>
              <a:tblPr firstRow="1" bandRow="1">
                <a:tableStyleId>{69012ECD-51FC-41F1-AA8D-1B2483CD663E}</a:tableStyleId>
              </a:tblPr>
              <a:tblGrid>
                <a:gridCol w="913765"/>
                <a:gridCol w="1053465"/>
                <a:gridCol w="918210"/>
                <a:gridCol w="1158240"/>
                <a:gridCol w="971550"/>
                <a:gridCol w="1352550"/>
                <a:gridCol w="1285875"/>
                <a:gridCol w="1204595"/>
              </a:tblGrid>
              <a:tr h="723900">
                <a:tc>
                  <a:txBody>
                    <a:bodyPr/>
                    <a:p>
                      <a:pPr algn="ctr">
                        <a:buNone/>
                      </a:pPr>
                      <a:endParaRPr lang="zh-CN" altLang="en-US" sz="132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marL="0" algn="ctr" defTabSz="914400" rtl="0" eaLnBrk="1" latinLnBrk="0" hangingPunct="1">
                        <a:buNone/>
                      </a:pPr>
                      <a:r>
                        <a:rPr lang="zh-CN" sz="1320" b="1" kern="1200" dirty="0">
                          <a:solidFill>
                            <a:schemeClr val="bg1"/>
                          </a:solidFill>
                          <a:latin typeface="微软雅黑" panose="020B0503020204020204" pitchFamily="34" charset="-122"/>
                          <a:ea typeface="微软雅黑" panose="020B0503020204020204" pitchFamily="34" charset="-122"/>
                          <a:cs typeface="+mn-cs"/>
                          <a:sym typeface="+mn-ea"/>
                        </a:rPr>
                        <a:t>面积（㎡）</a:t>
                      </a:r>
                      <a:endParaRPr lang="zh-CN" altLang="en-US" sz="1320" b="1" kern="1200" dirty="0">
                        <a:solidFill>
                          <a:schemeClr val="bg1"/>
                        </a:solidFill>
                        <a:latin typeface="微软雅黑" panose="020B0503020204020204" pitchFamily="34" charset="-122"/>
                        <a:ea typeface="微软雅黑" panose="020B0503020204020204" pitchFamily="34" charset="-122"/>
                        <a:cs typeface="+mn-cs"/>
                        <a:sym typeface="+mn-ea"/>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mn-cs"/>
                        </a:rPr>
                        <a:t>面积占比</a:t>
                      </a:r>
                      <a:endParaRPr lang="zh-CN" altLang="en-US" sz="1320" b="1" kern="1200" dirty="0">
                        <a:solidFill>
                          <a:schemeClr val="bg1"/>
                        </a:solidFill>
                        <a:latin typeface="微软雅黑" panose="020B0503020204020204" pitchFamily="34" charset="-122"/>
                        <a:ea typeface="微软雅黑" panose="020B0503020204020204" pitchFamily="34" charset="-122"/>
                        <a:cs typeface="+mn-cs"/>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c>
                  <a:txBody>
                    <a:bodyPr/>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mn-cs"/>
                        </a:rPr>
                        <a:t>基础物业费分摊（万元）</a:t>
                      </a:r>
                      <a:endParaRPr lang="zh-CN" altLang="en-US" sz="1320" b="1" kern="1200" dirty="0">
                        <a:solidFill>
                          <a:schemeClr val="bg1"/>
                        </a:solidFill>
                        <a:latin typeface="微软雅黑" panose="020B0503020204020204" pitchFamily="34" charset="-122"/>
                        <a:ea typeface="微软雅黑" panose="020B0503020204020204" pitchFamily="34" charset="-122"/>
                        <a:cs typeface="+mn-cs"/>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c>
                  <a:txBody>
                    <a:bodyPr/>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mn-cs"/>
                        </a:rPr>
                        <a:t>专属费用</a:t>
                      </a:r>
                      <a:endParaRPr lang="en-US" altLang="zh-CN" sz="1320" b="1" kern="1200" dirty="0">
                        <a:solidFill>
                          <a:schemeClr val="bg1"/>
                        </a:solidFill>
                        <a:latin typeface="微软雅黑" panose="020B0503020204020204" pitchFamily="34" charset="-122"/>
                        <a:ea typeface="微软雅黑" panose="020B0503020204020204" pitchFamily="34" charset="-122"/>
                        <a:cs typeface="+mn-cs"/>
                      </a:endParaRPr>
                    </a:p>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mn-cs"/>
                        </a:rPr>
                        <a:t>（万元）</a:t>
                      </a:r>
                      <a:endParaRPr lang="zh-CN" altLang="en-US" sz="1320" b="1" kern="1200" dirty="0">
                        <a:solidFill>
                          <a:schemeClr val="bg1"/>
                        </a:solidFill>
                        <a:latin typeface="微软雅黑" panose="020B0503020204020204" pitchFamily="34" charset="-122"/>
                        <a:ea typeface="微软雅黑" panose="020B0503020204020204" pitchFamily="34" charset="-122"/>
                        <a:cs typeface="+mn-cs"/>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c>
                  <a:txBody>
                    <a:bodyPr/>
                    <a:p>
                      <a:pPr marL="0" algn="ctr" defTabSz="914400" rtl="0" eaLnBrk="1" latinLnBrk="0" hangingPunct="1">
                        <a:buNone/>
                      </a:pPr>
                      <a:r>
                        <a:rPr lang="en-US" altLang="zh-CN" sz="1320" b="1" kern="1200"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1320" b="1" kern="1200"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年总</a:t>
                      </a:r>
                      <a:r>
                        <a:rPr lang="zh-CN" altLang="en-US"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承担费用</a:t>
                      </a:r>
                      <a:endParaRPr lang="en-US" altLang="zh-CN"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c>
                  <a:txBody>
                    <a:bodyPr/>
                    <a:p>
                      <a:pPr marL="0" algn="ctr" defTabSz="914400" rtl="0" eaLnBrk="1" latinLnBrk="0" hangingPunct="1">
                        <a:buNone/>
                      </a:pPr>
                      <a:r>
                        <a:rPr lang="en-US" altLang="zh-CN" sz="1320" b="1" kern="1200"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1320" b="1" kern="1200"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年预算</a:t>
                      </a:r>
                      <a:endParaRPr lang="zh-CN" altLang="en-US" sz="1320" b="1" kern="1200"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0" algn="ctr" defTabSz="914400" rtl="0" eaLnBrk="1" latinLnBrk="0" hangingPunct="1">
                        <a:buNone/>
                      </a:pPr>
                      <a:r>
                        <a:rPr lang="zh-CN" altLang="en-US" sz="1320" b="1" kern="1200" dirty="0" smtClean="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费用</a:t>
                      </a:r>
                      <a:endParaRPr lang="en-US" altLang="zh-CN"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1320" b="1" kern="12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c>
                  <a:txBody>
                    <a:bodyPr/>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mn-cs"/>
                        </a:rPr>
                        <a:t>年度差额</a:t>
                      </a:r>
                      <a:endParaRPr lang="en-US" altLang="zh-CN" sz="1320" b="1" kern="1200" dirty="0">
                        <a:solidFill>
                          <a:schemeClr val="bg1"/>
                        </a:solidFill>
                        <a:latin typeface="微软雅黑" panose="020B0503020204020204" pitchFamily="34" charset="-122"/>
                        <a:ea typeface="微软雅黑" panose="020B0503020204020204" pitchFamily="34" charset="-122"/>
                        <a:cs typeface="+mn-cs"/>
                      </a:endParaRPr>
                    </a:p>
                    <a:p>
                      <a:pPr marL="0" algn="ctr" defTabSz="914400" rtl="0" eaLnBrk="1" latinLnBrk="0" hangingPunct="1">
                        <a:buNone/>
                      </a:pPr>
                      <a:r>
                        <a:rPr lang="zh-CN" altLang="en-US" sz="1320" b="1" kern="1200" dirty="0">
                          <a:solidFill>
                            <a:schemeClr val="bg1"/>
                          </a:solidFill>
                          <a:latin typeface="微软雅黑" panose="020B0503020204020204" pitchFamily="34" charset="-122"/>
                          <a:ea typeface="微软雅黑" panose="020B0503020204020204" pitchFamily="34" charset="-122"/>
                          <a:cs typeface="+mn-cs"/>
                        </a:rPr>
                        <a:t>（万元）</a:t>
                      </a:r>
                      <a:endParaRPr lang="zh-CN" altLang="en-US" sz="1320" b="1" kern="1200" dirty="0">
                        <a:solidFill>
                          <a:schemeClr val="bg1"/>
                        </a:solidFill>
                        <a:latin typeface="微软雅黑" panose="020B0503020204020204" pitchFamily="34" charset="-122"/>
                        <a:ea typeface="微软雅黑" panose="020B0503020204020204" pitchFamily="34" charset="-122"/>
                        <a:cs typeface="+mn-cs"/>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r>
              <a:tr h="627380">
                <a:tc>
                  <a:txBody>
                    <a:bodyPr/>
                    <a:p>
                      <a:pPr marL="0" indent="0" algn="ctr" defTabSz="914400" rtl="0" eaLnBrk="1" fontAlgn="b" latinLnBrk="0" hangingPunct="1">
                        <a:buNone/>
                      </a:pPr>
                      <a:r>
                        <a:rPr lang="zh-CN" altLang="en-US" sz="1320" b="1" kern="1200" dirty="0">
                          <a:solidFill>
                            <a:srgbClr val="000000"/>
                          </a:solidFill>
                          <a:latin typeface="微软雅黑" panose="020B0503020204020204" pitchFamily="34" charset="-122"/>
                          <a:ea typeface="微软雅黑" panose="020B0503020204020204" pitchFamily="34" charset="-122"/>
                          <a:cs typeface="+mn-cs"/>
                        </a:rPr>
                        <a:t>控股</a:t>
                      </a:r>
                      <a:endParaRPr lang="zh-CN" altLang="en-US" sz="1320" b="1" kern="1200" dirty="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6F3F2"/>
                    </a:solidFill>
                  </a:tcPr>
                </a:tc>
                <a:tc>
                  <a:txBody>
                    <a:bodyPr/>
                    <a:p>
                      <a:pPr marL="0" indent="0" algn="r" defTabSz="914400" rtl="0" eaLnBrk="1" fontAlgn="b" latinLnBrk="0" hangingPunct="1">
                        <a:buNone/>
                      </a:pP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2,204.25 </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1300" b="1" kern="1200" dirty="0">
                          <a:solidFill>
                            <a:srgbClr val="000000"/>
                          </a:solidFill>
                          <a:latin typeface="微软雅黑" panose="020B0503020204020204" pitchFamily="34" charset="-122"/>
                          <a:ea typeface="微软雅黑" panose="020B0503020204020204" pitchFamily="34" charset="-122"/>
                          <a:cs typeface="+mn-cs"/>
                        </a:rPr>
                        <a:t>9%</a:t>
                      </a:r>
                      <a:endParaRPr lang="en-US" altLang="zh-CN" sz="1300" b="1" kern="1200" dirty="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algn="r" rtl="0"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57.61</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algn="r" rtl="0"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157.16</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algn="r" rtl="0" fontAlgn="ctr"/>
                      <a:r>
                        <a:rPr lang="en-US" altLang="zh-CN" sz="1300" b="1" kern="120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214.77</a:t>
                      </a:r>
                      <a:endParaRPr lang="en-US" altLang="zh-CN" sz="1300" b="1" kern="120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miter lim="800000"/>
                      <a:headEnd type="none" w="med" len="med"/>
                      <a:tailEnd type="none" w="med" len="med"/>
                    </a:lnB>
                    <a:noFill/>
                  </a:tcPr>
                </a:tc>
                <a:tc>
                  <a:txBody>
                    <a:bodyPr/>
                    <a:p>
                      <a:pPr algn="r" fontAlgn="b"/>
                      <a:r>
                        <a:rPr lang="en-US" altLang="zh-CN" sz="1300" b="1" kern="1200" dirty="0" smtClean="0">
                          <a:solidFill>
                            <a:srgbClr val="FF0000"/>
                          </a:solidFill>
                          <a:latin typeface="微软雅黑" panose="020B0503020204020204" pitchFamily="34" charset="-122"/>
                          <a:ea typeface="微软雅黑" panose="020B0503020204020204" pitchFamily="34" charset="-122"/>
                          <a:cs typeface="+mn-cs"/>
                        </a:rPr>
                        <a:t>213.53</a:t>
                      </a:r>
                      <a:endParaRPr lang="en-US" altLang="zh-CN" sz="1300" b="1" kern="1200" dirty="0" smtClean="0">
                        <a:solidFill>
                          <a:srgbClr val="FF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b"/>
                      <a:r>
                        <a:rPr lang="en-US" altLang="zh-CN" sz="1300" b="1" kern="1200" dirty="0" smtClean="0">
                          <a:solidFill>
                            <a:srgbClr val="FF0000"/>
                          </a:solidFill>
                          <a:latin typeface="微软雅黑" panose="020B0503020204020204" pitchFamily="34" charset="-122"/>
                          <a:ea typeface="微软雅黑" panose="020B0503020204020204" pitchFamily="34" charset="-122"/>
                          <a:cs typeface="+mn-cs"/>
                        </a:rPr>
                        <a:t>1.24</a:t>
                      </a:r>
                      <a:endParaRPr lang="en-US" altLang="zh-CN" sz="1300" b="1" kern="1200" dirty="0" smtClean="0">
                        <a:solidFill>
                          <a:srgbClr val="FF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627380">
                <a:tc>
                  <a:txBody>
                    <a:bodyPr/>
                    <a:p>
                      <a:pPr marL="0" indent="0" algn="ctr" defTabSz="914400" rtl="0" eaLnBrk="1" fontAlgn="b" latinLnBrk="0" hangingPunct="1">
                        <a:buNone/>
                      </a:pPr>
                      <a:r>
                        <a:rPr lang="zh-CN" altLang="en-US" sz="1320" b="1" kern="1200" dirty="0">
                          <a:solidFill>
                            <a:srgbClr val="000000"/>
                          </a:solidFill>
                          <a:latin typeface="微软雅黑" panose="020B0503020204020204" pitchFamily="34" charset="-122"/>
                          <a:ea typeface="微软雅黑" panose="020B0503020204020204" pitchFamily="34" charset="-122"/>
                          <a:cs typeface="+mn-cs"/>
                        </a:rPr>
                        <a:t>产业集团</a:t>
                      </a:r>
                      <a:endParaRPr lang="zh-CN" altLang="en-US" sz="1320" b="1" kern="1200" dirty="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6F3F2"/>
                    </a:solidFill>
                  </a:tcPr>
                </a:tc>
                <a:tc>
                  <a:txBody>
                    <a:bodyPr/>
                    <a:p>
                      <a:pPr algn="r"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23,979.35 </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ctr"/>
                      <a:r>
                        <a:rPr lang="en-US" altLang="zh-CN" sz="1300" b="1" kern="1200" dirty="0">
                          <a:solidFill>
                            <a:srgbClr val="000000"/>
                          </a:solidFill>
                          <a:latin typeface="微软雅黑" panose="020B0503020204020204" pitchFamily="34" charset="-122"/>
                          <a:ea typeface="微软雅黑" panose="020B0503020204020204" pitchFamily="34" charset="-122"/>
                          <a:cs typeface="+mn-cs"/>
                        </a:rPr>
                        <a:t>91%</a:t>
                      </a:r>
                      <a:endParaRPr lang="en-US" altLang="zh-CN" sz="1300" b="1" kern="1200" dirty="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algn="r" rtl="0"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582.49</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algn="r" rtl="0"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11.45</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p>
                      <a:pPr algn="r" rtl="0" fontAlgn="ctr"/>
                      <a:r>
                        <a:rPr lang="en-US" altLang="zh-CN" sz="1300" b="1" kern="120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593.94</a:t>
                      </a:r>
                      <a:endParaRPr lang="en-US" altLang="zh-CN" sz="1300" b="1" kern="120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noFill/>
                  </a:tcPr>
                </a:tc>
                <a:tc>
                  <a:txBody>
                    <a:bodyPr/>
                    <a:p>
                      <a:pPr algn="r" fontAlgn="b"/>
                      <a:r>
                        <a:rPr lang="en-US" altLang="zh-CN" sz="1300" b="1" kern="1200" dirty="0" smtClean="0">
                          <a:solidFill>
                            <a:srgbClr val="FF0000"/>
                          </a:solidFill>
                          <a:latin typeface="微软雅黑" panose="020B0503020204020204" pitchFamily="34" charset="-122"/>
                          <a:ea typeface="微软雅黑" panose="020B0503020204020204" pitchFamily="34" charset="-122"/>
                          <a:cs typeface="+mn-cs"/>
                        </a:rPr>
                        <a:t>581.32</a:t>
                      </a:r>
                      <a:endParaRPr lang="en-US" altLang="zh-CN" sz="1300" b="1" kern="1200" dirty="0" smtClean="0">
                        <a:solidFill>
                          <a:srgbClr val="FF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p>
                      <a:pPr algn="r" fontAlgn="b"/>
                      <a:r>
                        <a:rPr lang="en-US" altLang="zh-CN" sz="1300" b="1" kern="1200" dirty="0" smtClean="0">
                          <a:solidFill>
                            <a:srgbClr val="FF0000"/>
                          </a:solidFill>
                          <a:latin typeface="微软雅黑" panose="020B0503020204020204" pitchFamily="34" charset="-122"/>
                          <a:ea typeface="微软雅黑" panose="020B0503020204020204" pitchFamily="34" charset="-122"/>
                          <a:cs typeface="+mn-cs"/>
                        </a:rPr>
                        <a:t>12.62</a:t>
                      </a:r>
                      <a:endParaRPr lang="en-US" altLang="zh-CN" sz="1300" b="1" kern="1200" dirty="0" smtClean="0">
                        <a:solidFill>
                          <a:srgbClr val="FF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589915">
                <a:tc>
                  <a:txBody>
                    <a:bodyPr/>
                    <a:p>
                      <a:pPr marL="0" indent="0" algn="ctr" defTabSz="914400" rtl="0" eaLnBrk="1" fontAlgn="b" latinLnBrk="0" hangingPunct="1">
                        <a:buNone/>
                      </a:pPr>
                      <a:r>
                        <a:rPr lang="zh-CN" altLang="en-US" sz="1320" b="1" kern="1200" dirty="0">
                          <a:solidFill>
                            <a:srgbClr val="000000"/>
                          </a:solidFill>
                          <a:latin typeface="微软雅黑" panose="020B0503020204020204" pitchFamily="34" charset="-122"/>
                          <a:ea typeface="微软雅黑" panose="020B0503020204020204" pitchFamily="34" charset="-122"/>
                          <a:cs typeface="+mn-cs"/>
                        </a:rPr>
                        <a:t>合计</a:t>
                      </a:r>
                      <a:endParaRPr lang="zh-CN" altLang="en-US" sz="1320" b="1" kern="1200" dirty="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26,183.60 </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ctr"/>
                      <a:r>
                        <a:rPr lang="en-US" altLang="zh-CN" sz="1300" b="1" kern="1200" dirty="0">
                          <a:solidFill>
                            <a:srgbClr val="000000"/>
                          </a:solidFill>
                          <a:latin typeface="微软雅黑" panose="020B0503020204020204" pitchFamily="34" charset="-122"/>
                          <a:ea typeface="微软雅黑" panose="020B0503020204020204" pitchFamily="34" charset="-122"/>
                          <a:cs typeface="+mn-cs"/>
                        </a:rPr>
                        <a:t>100%</a:t>
                      </a:r>
                      <a:endParaRPr lang="en-US" altLang="zh-CN" sz="1300" b="1" kern="1200" dirty="0">
                        <a:solidFill>
                          <a:srgbClr val="000000"/>
                        </a:solidFill>
                        <a:latin typeface="微软雅黑" panose="020B0503020204020204" pitchFamily="34" charset="-122"/>
                        <a:ea typeface="微软雅黑" panose="020B0503020204020204" pitchFamily="34" charset="-122"/>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rtl="0"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640.1</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rtl="0" fontAlgn="ctr"/>
                      <a:r>
                        <a:rPr lang="en-US" altLang="zh-CN" sz="1300" b="1" kern="1200" dirty="0" smtClean="0">
                          <a:solidFill>
                            <a:srgbClr val="000000"/>
                          </a:solidFill>
                          <a:latin typeface="微软雅黑" panose="020B0503020204020204" pitchFamily="34" charset="-122"/>
                          <a:ea typeface="微软雅黑" panose="020B0503020204020204" pitchFamily="34" charset="-122"/>
                          <a:cs typeface="+mn-cs"/>
                        </a:rPr>
                        <a:t>168.61</a:t>
                      </a:r>
                      <a:endParaRPr lang="en-US" altLang="zh-CN" sz="1300" b="1" kern="1200" dirty="0" smtClean="0">
                        <a:solidFill>
                          <a:srgbClr val="00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rtl="0" fontAlgn="ctr"/>
                      <a:r>
                        <a:rPr lang="en-US" altLang="zh-CN" sz="1300" b="1" kern="120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808.71</a:t>
                      </a:r>
                      <a:endParaRPr lang="en-US" altLang="zh-CN" sz="1300" b="1" kern="1200" dirty="0" smtClean="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b"/>
                      <a:r>
                        <a:rPr lang="en-US" altLang="zh-CN" sz="1300" b="1" kern="1200" dirty="0" smtClean="0">
                          <a:solidFill>
                            <a:srgbClr val="FF0000"/>
                          </a:solidFill>
                          <a:latin typeface="微软雅黑" panose="020B0503020204020204" pitchFamily="34" charset="-122"/>
                          <a:ea typeface="微软雅黑" panose="020B0503020204020204" pitchFamily="34" charset="-122"/>
                          <a:cs typeface="+mn-cs"/>
                        </a:rPr>
                        <a:t>794.85</a:t>
                      </a:r>
                      <a:endParaRPr lang="en-US" altLang="zh-CN" sz="1300" b="1" kern="1200" dirty="0" smtClean="0">
                        <a:solidFill>
                          <a:srgbClr val="FF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c>
                  <a:txBody>
                    <a:bodyPr/>
                    <a:p>
                      <a:pPr algn="r" fontAlgn="b"/>
                      <a:r>
                        <a:rPr lang="en-US" altLang="zh-CN" sz="1300" b="1" kern="1200" dirty="0" smtClean="0">
                          <a:solidFill>
                            <a:srgbClr val="FF0000"/>
                          </a:solidFill>
                          <a:latin typeface="微软雅黑" panose="020B0503020204020204" pitchFamily="34" charset="-122"/>
                          <a:ea typeface="微软雅黑" panose="020B0503020204020204" pitchFamily="34" charset="-122"/>
                          <a:cs typeface="+mn-cs"/>
                        </a:rPr>
                        <a:t>13.86</a:t>
                      </a:r>
                      <a:endParaRPr lang="en-US" altLang="zh-CN" sz="1300" b="1" kern="1200" dirty="0" smtClean="0">
                        <a:solidFill>
                          <a:srgbClr val="FF0000"/>
                        </a:solidFill>
                        <a:latin typeface="微软雅黑" panose="020B0503020204020204" pitchFamily="34" charset="-122"/>
                        <a:ea typeface="微软雅黑" panose="020B0503020204020204" pitchFamily="34" charset="-122"/>
                        <a:cs typeface="+mn-cs"/>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DE9D9"/>
                    </a:solidFill>
                  </a:tcPr>
                </a:tc>
              </a:tr>
            </a:tbl>
          </a:graphicData>
        </a:graphic>
      </p:graphicFrame>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0" y="79129"/>
            <a:ext cx="5991774" cy="700405"/>
            <a:chOff x="0" y="142769"/>
            <a:chExt cx="7262756" cy="848976"/>
          </a:xfrm>
        </p:grpSpPr>
        <p:sp>
          <p:nvSpPr>
            <p:cNvPr id="4" name="文本框 3"/>
            <p:cNvSpPr txBox="1"/>
            <p:nvPr/>
          </p:nvSpPr>
          <p:spPr>
            <a:xfrm>
              <a:off x="0" y="381610"/>
              <a:ext cx="597285" cy="479521"/>
            </a:xfrm>
            <a:prstGeom prst="rect">
              <a:avLst/>
            </a:prstGeom>
            <a:solidFill>
              <a:srgbClr val="CB1D23"/>
            </a:solidFill>
            <a:ln>
              <a:solidFill>
                <a:srgbClr val="CB1D23"/>
              </a:solidFill>
            </a:ln>
          </p:spPr>
          <p:txBody>
            <a:bodyPr wrap="none" rtlCol="0">
              <a:spAutoFit/>
            </a:bodyPr>
            <a:lstStyle/>
            <a:p>
              <a:r>
                <a:rPr kumimoji="1" lang="en-US" altLang="zh-CN" sz="1980" b="1" dirty="0" smtClean="0">
                  <a:solidFill>
                    <a:schemeClr val="bg1"/>
                  </a:solidFill>
                  <a:latin typeface="+mj-lt"/>
                </a:rPr>
                <a:t>02</a:t>
              </a:r>
              <a:endParaRPr kumimoji="1" lang="zh-CN" altLang="en-US" sz="1980" b="1" dirty="0">
                <a:solidFill>
                  <a:schemeClr val="bg1"/>
                </a:solidFill>
                <a:latin typeface="+mj-lt"/>
              </a:endParaRPr>
            </a:p>
          </p:txBody>
        </p:sp>
        <p:cxnSp>
          <p:nvCxnSpPr>
            <p:cNvPr id="5" name="直接连接符 4"/>
            <p:cNvCxnSpPr/>
            <p:nvPr/>
          </p:nvCxnSpPr>
          <p:spPr>
            <a:xfrm>
              <a:off x="688423" y="391135"/>
              <a:ext cx="0" cy="452140"/>
            </a:xfrm>
            <a:prstGeom prst="line">
              <a:avLst/>
            </a:prstGeom>
            <a:ln w="38100">
              <a:solidFill>
                <a:srgbClr val="CB1D23"/>
              </a:solidFill>
            </a:ln>
          </p:spPr>
          <p:style>
            <a:lnRef idx="1">
              <a:schemeClr val="accent1"/>
            </a:lnRef>
            <a:fillRef idx="0">
              <a:schemeClr val="accent1"/>
            </a:fillRef>
            <a:effectRef idx="0">
              <a:schemeClr val="accent1"/>
            </a:effectRef>
            <a:fontRef idx="minor">
              <a:schemeClr val="tx1"/>
            </a:fontRef>
          </p:style>
        </p:cxnSp>
        <p:sp>
          <p:nvSpPr>
            <p:cNvPr id="6" name="矩形 5"/>
            <p:cNvSpPr/>
            <p:nvPr/>
          </p:nvSpPr>
          <p:spPr>
            <a:xfrm>
              <a:off x="803459" y="142769"/>
              <a:ext cx="6459297" cy="848976"/>
            </a:xfrm>
            <a:prstGeom prst="rect">
              <a:avLst/>
            </a:prstGeom>
          </p:spPr>
          <p:txBody>
            <a:bodyPr wrap="none">
              <a:spAutoFit/>
            </a:bodyPr>
            <a:lstStyle/>
            <a:p>
              <a:pPr algn="l">
                <a:lnSpc>
                  <a:spcPct val="200000"/>
                </a:lnSpc>
              </a:pPr>
              <a:r>
                <a:rPr lang="en-US" altLang="zh-CN" sz="1980" b="1" dirty="0" smtClean="0">
                  <a:solidFill>
                    <a:srgbClr val="CB1D23"/>
                  </a:solidFill>
                  <a:latin typeface="+mj-ea"/>
                  <a:ea typeface="+mj-ea"/>
                  <a:sym typeface="+mn-ea"/>
                </a:rPr>
                <a:t>2026</a:t>
              </a:r>
              <a:r>
                <a:rPr lang="zh-CN" altLang="en-US" sz="1980" b="1" dirty="0" smtClean="0">
                  <a:solidFill>
                    <a:srgbClr val="CB1D23"/>
                  </a:solidFill>
                  <a:latin typeface="+mj-ea"/>
                  <a:ea typeface="+mj-ea"/>
                  <a:sym typeface="+mn-ea"/>
                </a:rPr>
                <a:t>年物业预算分摊：一、控股专属配套</a:t>
              </a:r>
              <a:r>
                <a:rPr lang="zh-CN" altLang="en-US" sz="1980" b="1" dirty="0">
                  <a:solidFill>
                    <a:srgbClr val="CB1D23"/>
                  </a:solidFill>
                  <a:latin typeface="+mj-ea"/>
                  <a:ea typeface="+mj-ea"/>
                  <a:sym typeface="+mn-ea"/>
                </a:rPr>
                <a:t>费用</a:t>
              </a:r>
              <a:endParaRPr lang="zh-CN" altLang="en-US" sz="1980" b="1" dirty="0">
                <a:solidFill>
                  <a:srgbClr val="CB1D23"/>
                </a:solidFill>
                <a:latin typeface="+mj-ea"/>
                <a:ea typeface="+mj-ea"/>
                <a:sym typeface="+mn-ea"/>
              </a:endParaRPr>
            </a:p>
          </p:txBody>
        </p:sp>
      </p:grpSp>
      <p:sp>
        <p:nvSpPr>
          <p:cNvPr id="2" name="灯片编号占位符 1"/>
          <p:cNvSpPr>
            <a:spLocks noGrp="1"/>
          </p:cNvSpPr>
          <p:nvPr>
            <p:ph type="sldNum" sz="quarter" idx="10"/>
          </p:nvPr>
        </p:nvSpPr>
        <p:spPr/>
        <p:txBody>
          <a:bodyPr/>
          <a:lstStyle/>
          <a:p>
            <a:fld id="{99173E90-95F0-E34D-B0FF-F9193FBE2D36}" type="slidenum">
              <a:rPr kumimoji="1" lang="zh-CN" altLang="en-US" sz="955" smtClean="0"/>
            </a:fld>
            <a:endParaRPr kumimoji="1" lang="zh-CN" altLang="en-US" sz="955" dirty="0"/>
          </a:p>
        </p:txBody>
      </p:sp>
      <p:sp>
        <p:nvSpPr>
          <p:cNvPr id="9" name="矩形 8"/>
          <p:cNvSpPr/>
          <p:nvPr/>
        </p:nvSpPr>
        <p:spPr>
          <a:xfrm>
            <a:off x="567949" y="818731"/>
            <a:ext cx="8498030" cy="434975"/>
          </a:xfrm>
          <a:prstGeom prst="rect">
            <a:avLst/>
          </a:prstGeom>
        </p:spPr>
        <p:txBody>
          <a:bodyPr wrap="square">
            <a:spAutoFit/>
          </a:bodyPr>
          <a:lstStyle/>
          <a:p>
            <a:pPr>
              <a:lnSpc>
                <a:spcPct val="150000"/>
              </a:lnSpc>
            </a:pPr>
            <a:r>
              <a:rPr lang="zh-CN" altLang="en-US" sz="1485"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以</a:t>
            </a:r>
            <a:r>
              <a:rPr lang="en-US" altLang="zh-CN" sz="1485"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2026</a:t>
            </a:r>
            <a:r>
              <a:rPr lang="zh-CN" altLang="en-US" sz="1485"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年领创物业预算总</a:t>
            </a:r>
            <a:r>
              <a:rPr lang="zh-CN" altLang="en-US" sz="1485" b="1" dirty="0">
                <a:latin typeface="微软雅黑" panose="020B0503020204020204" pitchFamily="34" charset="-122"/>
                <a:ea typeface="微软雅黑" panose="020B0503020204020204" pitchFamily="34" charset="-122"/>
                <a:cs typeface="微软雅黑" panose="020B0503020204020204" pitchFamily="34" charset="-122"/>
                <a:sym typeface="+mn-ea"/>
              </a:rPr>
              <a:t>成本为基础，梳理出其中属于控股配套服务专属成本。</a:t>
            </a:r>
            <a:endParaRPr lang="zh-CN" altLang="en-US" sz="1485" b="1" dirty="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0" name="矩形 9"/>
          <p:cNvSpPr/>
          <p:nvPr/>
        </p:nvSpPr>
        <p:spPr>
          <a:xfrm>
            <a:off x="673215" y="1237691"/>
            <a:ext cx="8582120" cy="3871595"/>
          </a:xfrm>
          <a:prstGeom prst="rect">
            <a:avLst/>
          </a:prstGeom>
        </p:spPr>
        <p:txBody>
          <a:bodyPr wrap="square">
            <a:spAutoFit/>
          </a:bodyPr>
          <a:lstStyle/>
          <a:p>
            <a:pPr indent="0">
              <a:lnSpc>
                <a:spcPct val="150000"/>
              </a:lnSpc>
              <a:buFont typeface="+mj-lt"/>
              <a:buNone/>
            </a:pPr>
            <a:r>
              <a:rPr lang="zh-CN" altLang="en-US" sz="1485" b="1" dirty="0">
                <a:latin typeface="微软雅黑" panose="020B0503020204020204" pitchFamily="34" charset="-122"/>
                <a:ea typeface="微软雅黑" panose="020B0503020204020204" pitchFamily="34" charset="-122"/>
                <a:cs typeface="微软雅黑" panose="020B0503020204020204" pitchFamily="34" charset="-122"/>
              </a:rPr>
              <a:t>一、</a:t>
            </a:r>
            <a:r>
              <a:rPr lang="zh-CN" altLang="en-US" sz="1485" b="1" dirty="0">
                <a:latin typeface="微软雅黑" panose="020B0503020204020204" pitchFamily="34" charset="-122"/>
                <a:ea typeface="微软雅黑" panose="020B0503020204020204" pitchFamily="34" charset="-122"/>
                <a:cs typeface="微软雅黑" panose="020B0503020204020204" pitchFamily="34" charset="-122"/>
                <a:sym typeface="+mn-ea"/>
              </a:rPr>
              <a:t>接待费用小计</a:t>
            </a:r>
            <a:r>
              <a:rPr lang="zh-CN" altLang="en-US" sz="1485"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1485" b="1" u="sng"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116.76万元</a:t>
            </a:r>
            <a:endParaRPr lang="en-US" altLang="zh-CN" sz="1485" b="1" u="sng"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endParaRPr>
          </a:p>
          <a:p>
            <a:pPr marL="342900" indent="-342900">
              <a:lnSpc>
                <a:spcPct val="150000"/>
              </a:lnSpc>
              <a:buFont typeface="+mj-lt"/>
              <a:buAutoNum type="arabicPeriod"/>
            </a:pP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涉及接待动线，人员配合费用年度成本约为</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63.34</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320" dirty="0">
                <a:latin typeface="微软雅黑" panose="020B0503020204020204" pitchFamily="34" charset="-122"/>
                <a:ea typeface="微软雅黑" panose="020B0503020204020204" pitchFamily="34" charset="-122"/>
                <a:cs typeface="微软雅黑" panose="020B0503020204020204" pitchFamily="34" charset="-122"/>
              </a:rPr>
              <a:t>。</a:t>
            </a:r>
            <a:endParaRPr lang="en-US" altLang="zh-CN" sz="1320" dirty="0">
              <a:latin typeface="微软雅黑" panose="020B0503020204020204" pitchFamily="34" charset="-122"/>
              <a:ea typeface="微软雅黑" panose="020B0503020204020204" pitchFamily="34" charset="-122"/>
              <a:cs typeface="微软雅黑" panose="020B0503020204020204" pitchFamily="34" charset="-122"/>
            </a:endParaRPr>
          </a:p>
          <a:p>
            <a:pPr marL="342900" indent="-342900">
              <a:lnSpc>
                <a:spcPct val="150000"/>
              </a:lnSpc>
              <a:buFont typeface="+mj-lt"/>
              <a:buAutoNum type="arabicPeriod"/>
            </a:pP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涉及接待动线能耗年度成本费用合计约为：</a:t>
            </a:r>
            <a:r>
              <a:rPr lang="en-US" altLang="zh-CN" sz="1485" dirty="0">
                <a:latin typeface="微软雅黑" panose="020B0503020204020204" pitchFamily="34" charset="-122"/>
                <a:ea typeface="微软雅黑" panose="020B0503020204020204" pitchFamily="34" charset="-122"/>
                <a:cs typeface="微软雅黑" panose="020B0503020204020204" pitchFamily="34" charset="-122"/>
              </a:rPr>
              <a:t>53.42</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1485" dirty="0">
              <a:latin typeface="微软雅黑" panose="020B0503020204020204" pitchFamily="34" charset="-122"/>
              <a:ea typeface="微软雅黑" panose="020B0503020204020204" pitchFamily="34" charset="-122"/>
              <a:cs typeface="微软雅黑" panose="020B0503020204020204" pitchFamily="34" charset="-122"/>
            </a:endParaRPr>
          </a:p>
          <a:p>
            <a:pPr indent="0">
              <a:lnSpc>
                <a:spcPct val="150000"/>
              </a:lnSpc>
              <a:buFont typeface="+mj-lt"/>
              <a:buNone/>
            </a:pPr>
            <a:r>
              <a:rPr lang="zh-CN" altLang="en-US" sz="1485" b="1" dirty="0">
                <a:latin typeface="微软雅黑" panose="020B0503020204020204" pitchFamily="34" charset="-122"/>
                <a:ea typeface="微软雅黑" panose="020B0503020204020204" pitchFamily="34" charset="-122"/>
                <a:cs typeface="微软雅黑" panose="020B0503020204020204" pitchFamily="34" charset="-122"/>
              </a:rPr>
              <a:t>二、</a:t>
            </a:r>
            <a:r>
              <a:rPr lang="zh-CN" altLang="en-US" sz="1485" b="1" dirty="0">
                <a:latin typeface="微软雅黑" panose="020B0503020204020204" pitchFamily="34" charset="-122"/>
                <a:ea typeface="微软雅黑" panose="020B0503020204020204" pitchFamily="34" charset="-122"/>
                <a:cs typeface="微软雅黑" panose="020B0503020204020204" pitchFamily="34" charset="-122"/>
                <a:sym typeface="+mn-ea"/>
              </a:rPr>
              <a:t>专属配套费用小计</a:t>
            </a:r>
            <a:r>
              <a:rPr lang="zh-CN" altLang="en-US" sz="1485" b="1" dirty="0" smtClean="0">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1485" b="1" u="sng"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40.4万元</a:t>
            </a:r>
            <a:endParaRPr lang="en-US" altLang="zh-CN" sz="1485" b="1" dirty="0">
              <a:latin typeface="微软雅黑" panose="020B0503020204020204" pitchFamily="34" charset="-122"/>
              <a:ea typeface="微软雅黑" panose="020B0503020204020204" pitchFamily="34" charset="-122"/>
              <a:cs typeface="微软雅黑" panose="020B0503020204020204" pitchFamily="34" charset="-122"/>
            </a:endParaRPr>
          </a:p>
          <a:p>
            <a:pPr marL="342900" indent="-342900">
              <a:lnSpc>
                <a:spcPct val="150000"/>
              </a:lnSpc>
              <a:buFont typeface="+mj-lt"/>
              <a:buAutoNum type="arabicPeriod"/>
            </a:pP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202</a:t>
            </a:r>
            <a:r>
              <a:rPr lang="en-US" altLang="zh-CN" sz="1485" dirty="0">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年</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深圳雅宝水库成本预算</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合计</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25.44</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endParaRPr lang="zh-CN" altLang="en-US" sz="1485" dirty="0">
              <a:latin typeface="微软雅黑" panose="020B0503020204020204" pitchFamily="34" charset="-122"/>
              <a:ea typeface="微软雅黑" panose="020B0503020204020204" pitchFamily="34" charset="-122"/>
              <a:cs typeface="微软雅黑" panose="020B0503020204020204" pitchFamily="34" charset="-122"/>
            </a:endParaRPr>
          </a:p>
          <a:p>
            <a:pPr marL="342900" indent="-342900">
              <a:lnSpc>
                <a:spcPct val="150000"/>
              </a:lnSpc>
              <a:buFont typeface="+mj-lt"/>
              <a:buAutoNum type="arabicPeriod"/>
            </a:pP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山体公园、天面绿化养护费用合计</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约</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14.96</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（天面绿化养护费用为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8.83</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（控股跟产业各承担</a:t>
            </a:r>
            <a:r>
              <a:rPr lang="en-US" altLang="zh-CN" sz="1485" dirty="0">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，即控股跟产业分别承担费用</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4.42</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专</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属部分绿化养护费用</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17.57</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（控股承担</a:t>
            </a:r>
            <a:r>
              <a:rPr lang="en-US" altLang="zh-CN" sz="1485" dirty="0">
                <a:latin typeface="微软雅黑" panose="020B0503020204020204" pitchFamily="34" charset="-122"/>
                <a:ea typeface="微软雅黑" panose="020B0503020204020204" pitchFamily="34" charset="-122"/>
                <a:cs typeface="微软雅黑" panose="020B0503020204020204" pitchFamily="34" charset="-122"/>
              </a:rPr>
              <a:t>60%</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，即控股承担费用</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10.54</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，产业集团承担</a:t>
            </a:r>
            <a:r>
              <a:rPr lang="en-US" altLang="zh-CN" sz="1485" dirty="0">
                <a:latin typeface="微软雅黑" panose="020B0503020204020204" pitchFamily="34" charset="-122"/>
                <a:ea typeface="微软雅黑" panose="020B0503020204020204" pitchFamily="34" charset="-122"/>
                <a:cs typeface="微软雅黑" panose="020B0503020204020204" pitchFamily="34" charset="-122"/>
              </a:rPr>
              <a:t>40%</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，产业集团承担费用</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7.03</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综上所述</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，控股承担绿化养护费用</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14.96</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，产业承担绿化养护费用</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为</a:t>
            </a:r>
            <a:r>
              <a:rPr lang="en-US" altLang="zh-CN" sz="1485" dirty="0" smtClean="0">
                <a:latin typeface="微软雅黑" panose="020B0503020204020204" pitchFamily="34" charset="-122"/>
                <a:ea typeface="微软雅黑" panose="020B0503020204020204" pitchFamily="34" charset="-122"/>
                <a:cs typeface="微软雅黑" panose="020B0503020204020204" pitchFamily="34" charset="-122"/>
              </a:rPr>
              <a:t>11.45</a:t>
            </a:r>
            <a:r>
              <a:rPr lang="zh-CN" altLang="en-US" sz="1485" dirty="0" smtClean="0">
                <a:latin typeface="微软雅黑" panose="020B0503020204020204" pitchFamily="34" charset="-122"/>
                <a:ea typeface="微软雅黑" panose="020B0503020204020204" pitchFamily="34" charset="-122"/>
                <a:cs typeface="微软雅黑" panose="020B0503020204020204" pitchFamily="34" charset="-122"/>
              </a:rPr>
              <a:t>万元</a:t>
            </a: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1485" dirty="0">
              <a:latin typeface="微软雅黑" panose="020B0503020204020204" pitchFamily="34" charset="-122"/>
              <a:ea typeface="微软雅黑" panose="020B0503020204020204" pitchFamily="34" charset="-122"/>
              <a:cs typeface="微软雅黑" panose="020B0503020204020204" pitchFamily="34" charset="-122"/>
            </a:endParaRPr>
          </a:p>
          <a:p>
            <a:pPr algn="l">
              <a:lnSpc>
                <a:spcPct val="150000"/>
              </a:lnSpc>
              <a:buClrTx/>
              <a:buSzTx/>
              <a:buFont typeface="+mj-lt"/>
            </a:pPr>
            <a:r>
              <a:rPr lang="zh-CN" altLang="en-US" sz="1485" dirty="0">
                <a:latin typeface="微软雅黑" panose="020B0503020204020204" pitchFamily="34" charset="-122"/>
                <a:ea typeface="微软雅黑" panose="020B0503020204020204" pitchFamily="34" charset="-122"/>
                <a:cs typeface="微软雅黑" panose="020B0503020204020204" pitchFamily="34" charset="-122"/>
              </a:rPr>
              <a:t>三、</a:t>
            </a:r>
            <a:r>
              <a:rPr lang="zh-CN" altLang="en-US" sz="1485" b="1" dirty="0">
                <a:solidFill>
                  <a:schemeClr val="bg2">
                    <a:lumMod val="10000"/>
                  </a:schemeClr>
                </a:solidFill>
                <a:latin typeface="微软雅黑" panose="020B0503020204020204" pitchFamily="34" charset="-122"/>
                <a:ea typeface="微软雅黑" panose="020B0503020204020204" pitchFamily="34" charset="-122"/>
                <a:sym typeface="+mn-ea"/>
              </a:rPr>
              <a:t>基础物业费分摊：</a:t>
            </a:r>
            <a:r>
              <a:rPr lang="en-US" altLang="zh-CN" sz="1485" b="1" u="sng"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sym typeface="+mn-ea"/>
              </a:rPr>
              <a:t>57万元</a:t>
            </a:r>
            <a:endParaRPr lang="en-US" altLang="zh-CN" sz="1485" b="1" u="sng"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50000"/>
              </a:lnSpc>
            </a:pPr>
            <a:r>
              <a:rPr lang="zh-CN" altLang="en-US" sz="1485" b="1" u="sng" dirty="0">
                <a:solidFill>
                  <a:srgbClr val="C00000"/>
                </a:solidFill>
                <a:latin typeface="微软雅黑" panose="020B0503020204020204" pitchFamily="34" charset="-122"/>
                <a:ea typeface="微软雅黑" panose="020B0503020204020204" pitchFamily="34" charset="-122"/>
                <a:cs typeface="微软雅黑" panose="020B0503020204020204" pitchFamily="34" charset="-122"/>
              </a:rPr>
              <a:t>共计</a:t>
            </a:r>
            <a:r>
              <a:rPr lang="en-US" altLang="zh-CN" sz="1485" b="1" u="sng"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rPr>
              <a:t>：214万元</a:t>
            </a:r>
            <a:endParaRPr lang="en-US" altLang="zh-CN" sz="1485" b="1" u="sng" dirty="0" smtClean="0">
              <a:solidFill>
                <a:srgbClr val="C00000"/>
              </a:solidFill>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11" name="对象 10">
            <a:hlinkClick r:id="" action="ppaction://ole?verb="/>
          </p:cNvPr>
          <p:cNvGraphicFramePr>
            <a:graphicFrameLocks noChangeAspect="1"/>
          </p:cNvGraphicFramePr>
          <p:nvPr/>
        </p:nvGraphicFramePr>
        <p:xfrm>
          <a:off x="8341360" y="813435"/>
          <a:ext cx="971550" cy="666750"/>
        </p:xfrm>
        <a:graphic>
          <a:graphicData uri="http://schemas.openxmlformats.org/presentationml/2006/ole">
            <mc:AlternateContent xmlns:mc="http://schemas.openxmlformats.org/markup-compatibility/2006">
              <mc:Choice xmlns:v="urn:schemas-microsoft-com:vml" Requires="v">
                <p:oleObj spid="_x0000_s1026" name="" showAsIcon="1" r:id="rId1" imgW="971550" imgH="666750" progId="Excel.Sheet.12">
                  <p:link updateAutomatic="1"/>
                </p:oleObj>
              </mc:Choice>
              <mc:Fallback>
                <p:oleObj name="" showAsIcon="1" r:id="rId1" imgW="971550" imgH="666750" progId="Excel.Sheet.12">
                  <p:link updateAutomatic="1"/>
                  <p:pic>
                    <p:nvPicPr>
                      <p:cNvPr id="0" name="图片 1025"/>
                      <p:cNvPicPr/>
                      <p:nvPr/>
                    </p:nvPicPr>
                    <p:blipFill>
                      <a:blip r:embed="rId2"/>
                      <a:stretch>
                        <a:fillRect/>
                      </a:stretch>
                    </p:blipFill>
                    <p:spPr>
                      <a:xfrm>
                        <a:off x="8341360" y="813435"/>
                        <a:ext cx="971550" cy="666750"/>
                      </a:xfrm>
                      <a:prstGeom prst="rect">
                        <a:avLst/>
                      </a:prstGeom>
                    </p:spPr>
                  </p:pic>
                </p:oleObj>
              </mc:Fallback>
            </mc:AlternateContent>
          </a:graphicData>
        </a:graphic>
      </p:graphicFrame>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8680" y="0"/>
            <a:ext cx="7559675" cy="359346"/>
          </a:xfrm>
        </p:spPr>
        <p:txBody>
          <a:bodyPr/>
          <a:lstStyle/>
          <a:p>
            <a:pPr marL="0" marR="0" lvl="0" indent="0" algn="l" defTabSz="754380" rtl="0" eaLnBrk="0" fontAlgn="base" latinLnBrk="0" hangingPunct="0">
              <a:lnSpc>
                <a:spcPct val="100000"/>
              </a:lnSpc>
              <a:spcBef>
                <a:spcPct val="0"/>
              </a:spcBef>
              <a:spcAft>
                <a:spcPct val="0"/>
              </a:spcAft>
              <a:buClrTx/>
              <a:buSzTx/>
              <a:buFontTx/>
              <a:buNone/>
              <a:defRPr/>
            </a:pPr>
            <a:r>
              <a:rPr lang="zh-CN" altLang="en-US" b="1" dirty="0">
                <a:sym typeface="+mn-ea"/>
              </a:rPr>
              <a:t>第三部分</a:t>
            </a:r>
            <a:r>
              <a:rPr lang="zh-CN" altLang="en-US" b="1" dirty="0" smtClean="0">
                <a:sym typeface="+mn-ea"/>
              </a:rPr>
              <a:t>：</a:t>
            </a:r>
            <a:r>
              <a:rPr lang="en-US" altLang="zh-CN" b="1" noProof="0" dirty="0" smtClean="0">
                <a:ln>
                  <a:noFill/>
                </a:ln>
                <a:solidFill>
                  <a:prstClr val="black">
                    <a:lumMod val="75000"/>
                    <a:lumOff val="25000"/>
                  </a:prstClr>
                </a:solidFill>
                <a:effectLst/>
                <a:uLnTx/>
                <a:uFillTx/>
                <a:sym typeface="+mn-ea"/>
              </a:rPr>
              <a:t>2026年</a:t>
            </a:r>
            <a:r>
              <a:rPr lang="zh-CN" altLang="en-US" b="1" noProof="0" dirty="0">
                <a:ln>
                  <a:noFill/>
                </a:ln>
                <a:solidFill>
                  <a:prstClr val="black">
                    <a:lumMod val="75000"/>
                    <a:lumOff val="25000"/>
                  </a:prstClr>
                </a:solidFill>
                <a:effectLst/>
                <a:uLnTx/>
                <a:uFillTx/>
                <a:sym typeface="+mn-ea"/>
              </a:rPr>
              <a:t>经营目标 </a:t>
            </a:r>
            <a:r>
              <a:rPr lang="en-US" altLang="zh-CN" b="1" noProof="0" dirty="0">
                <a:ln>
                  <a:noFill/>
                </a:ln>
                <a:solidFill>
                  <a:srgbClr val="002060"/>
                </a:solidFill>
                <a:effectLst/>
                <a:uLnTx/>
                <a:uFillTx/>
                <a:sym typeface="+mn-ea"/>
              </a:rPr>
              <a:t>–</a:t>
            </a:r>
            <a:r>
              <a:rPr lang="zh-CN" altLang="en-US" b="1" noProof="0" dirty="0">
                <a:ln>
                  <a:noFill/>
                </a:ln>
                <a:solidFill>
                  <a:srgbClr val="002060"/>
                </a:solidFill>
                <a:effectLst/>
                <a:uLnTx/>
                <a:uFillTx/>
                <a:sym typeface="+mn-ea"/>
              </a:rPr>
              <a:t>政府考核专项预算情况</a:t>
            </a:r>
            <a:endParaRPr kumimoji="0" lang="zh-CN" altLang="en-US" sz="1800" b="1" i="0" u="none" strike="noStrike" kern="1200" cap="none" spc="-41" normalizeH="0" baseline="0" noProof="0" dirty="0">
              <a:ln>
                <a:noFill/>
              </a:ln>
              <a:solidFill>
                <a:srgbClr val="002060"/>
              </a:solidFill>
              <a:effectLs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9" name="矩形 8"/>
          <p:cNvSpPr/>
          <p:nvPr/>
        </p:nvSpPr>
        <p:spPr>
          <a:xfrm>
            <a:off x="132715" y="4989195"/>
            <a:ext cx="9523730" cy="669925"/>
          </a:xfrm>
          <a:prstGeom prst="rect">
            <a:avLst/>
          </a:prstGeom>
        </p:spPr>
        <p:txBody>
          <a:bodyPr wrap="square">
            <a:noAutofit/>
          </a:bodyPr>
          <a:lstStyle/>
          <a:p>
            <a:pPr marL="171450" indent="-171450">
              <a:buClr>
                <a:srgbClr val="C00000"/>
              </a:buClr>
              <a:buFont typeface="Wingdings" panose="05000000000000000000" pitchFamily="2" charset="2"/>
              <a:buChar char="u"/>
              <a:defRPr/>
            </a:pPr>
            <a:r>
              <a:rPr kumimoji="0" lang="en-US" altLang="zh-CN"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2026年</a:t>
            </a:r>
            <a:r>
              <a:rPr kumimoji="0" lang="zh-CN" altLang="en-US" sz="8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预算保证金退还</a:t>
            </a:r>
            <a:r>
              <a:rPr kumimoji="0" lang="en-US" altLang="zh-CN" sz="8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13,500</a:t>
            </a:r>
            <a:r>
              <a:rPr kumimoji="0" lang="zh-CN" altLang="en-US" sz="8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万，其中：</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南京保证金</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10,000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万（产业</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6000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万，商业</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4000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万）；</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13,500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万保证金对应现金流流入</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5,300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万，其中南京按照</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30%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确认现金流为</a:t>
            </a:r>
            <a:r>
              <a:rPr lang="en-US" altLang="zh-CN" sz="800" b="1" dirty="0" smtClean="0">
                <a:solidFill>
                  <a:srgbClr val="C00000"/>
                </a:solidFill>
                <a:latin typeface="微软雅黑" panose="020B0503020204020204" pitchFamily="34" charset="-122"/>
                <a:ea typeface="微软雅黑" panose="020B0503020204020204" pitchFamily="34" charset="-122"/>
                <a:sym typeface="+mn-ea"/>
              </a:rPr>
              <a:t>1800</a:t>
            </a:r>
            <a:r>
              <a:rPr lang="zh-CN" altLang="en-US" sz="800" b="1" dirty="0" smtClean="0">
                <a:solidFill>
                  <a:srgbClr val="C00000"/>
                </a:solidFill>
                <a:latin typeface="微软雅黑" panose="020B0503020204020204" pitchFamily="34" charset="-122"/>
                <a:ea typeface="微软雅黑" panose="020B0503020204020204" pitchFamily="34" charset="-122"/>
                <a:sym typeface="+mn-ea"/>
              </a:rPr>
              <a:t>万；</a:t>
            </a:r>
            <a:endParaRPr lang="zh-CN" altLang="en-US" sz="800" b="1" dirty="0" smtClean="0">
              <a:solidFill>
                <a:srgbClr val="C00000"/>
              </a:solidFill>
              <a:latin typeface="微软雅黑" panose="020B0503020204020204" pitchFamily="34" charset="-122"/>
              <a:ea typeface="微软雅黑" panose="020B0503020204020204" pitchFamily="34" charset="-122"/>
              <a:sym typeface="+mn-ea"/>
            </a:endParaRPr>
          </a:p>
          <a:p>
            <a:pPr marL="171450" indent="-171450">
              <a:buClr>
                <a:srgbClr val="C00000"/>
              </a:buClr>
              <a:buFont typeface="Wingdings" panose="05000000000000000000" pitchFamily="2" charset="2"/>
              <a:buChar char="u"/>
              <a:defRPr/>
            </a:pPr>
            <a:r>
              <a:rPr kumimoji="0" lang="zh-CN" altLang="en-US" sz="8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政府专项</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支出</a:t>
            </a:r>
            <a:r>
              <a:rPr kumimoji="0" lang="en-US" altLang="zh-CN"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1,589</a:t>
            </a:r>
            <a:r>
              <a:rPr kumimoji="0" lang="zh-CN" altLang="en-US" sz="800" b="1" i="0" u="none" strike="noStrike" kern="1200" cap="none" spc="0" normalizeH="0" baseline="0" noProof="0" dirty="0" smtClean="0">
                <a:ln>
                  <a:noFill/>
                </a:ln>
                <a:solidFill>
                  <a:srgbClr val="C00000"/>
                </a:solidFill>
                <a:effectLst/>
                <a:uLnTx/>
                <a:uFillTx/>
                <a:latin typeface="微软雅黑" panose="020B0503020204020204" pitchFamily="34" charset="-122"/>
                <a:ea typeface="微软雅黑" panose="020B0503020204020204" pitchFamily="34" charset="-122"/>
              </a:rPr>
              <a:t>万</a:t>
            </a:r>
            <a:r>
              <a:rPr kumimoji="0" lang="zh-CN" altLang="en-US" sz="800" b="1" i="0" u="none" strike="noStrike" kern="1200" cap="none" spc="0" normalizeH="0" baseline="0" noProof="0" dirty="0">
                <a:ln>
                  <a:noFill/>
                </a:ln>
                <a:solidFill>
                  <a:srgbClr val="C00000"/>
                </a:solidFill>
                <a:effectLst/>
                <a:uLnTx/>
                <a:uFillTx/>
                <a:latin typeface="微软雅黑" panose="020B0503020204020204" pitchFamily="34" charset="-122"/>
                <a:ea typeface="微软雅黑" panose="020B0503020204020204" pitchFamily="34" charset="-122"/>
              </a:rPr>
              <a:t>，</a:t>
            </a:r>
            <a:r>
              <a:rPr kumimoji="0" lang="zh-CN" altLang="en-US" sz="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其中</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成都产业</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300</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zh-CN" altLang="en-US" sz="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a:t>
            </a:r>
            <a:r>
              <a:rPr lang="zh-CN" altLang="en-US"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高能级企业兑现</a:t>
            </a:r>
            <a:r>
              <a:rPr lang="en-US" altLang="zh-CN"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200</a:t>
            </a:r>
            <a:r>
              <a:rPr lang="zh-CN" altLang="en-US" sz="800" noProof="0" dirty="0" smtClean="0">
                <a:ln>
                  <a:noFill/>
                </a:ln>
                <a:solidFill>
                  <a:prstClr val="black"/>
                </a:solidFill>
                <a:effectLst/>
                <a:uLnTx/>
                <a:uFillTx/>
                <a:latin typeface="微软雅黑" panose="020B0503020204020204" pitchFamily="34" charset="-122"/>
                <a:ea typeface="微软雅黑" panose="020B0503020204020204" pitchFamily="34" charset="-122"/>
                <a:sym typeface="+mn-ea"/>
              </a:rPr>
              <a:t>万，</a:t>
            </a:r>
            <a:r>
              <a:rPr kumimoji="0" lang="zh-CN" altLang="en-US" sz="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国家级众创</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空间</a:t>
            </a:r>
            <a:r>
              <a:rPr kumimoji="0" lang="en-US" altLang="zh-CN"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50</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lang="en-US" altLang="zh-CN" sz="800">
                <a:solidFill>
                  <a:srgbClr val="000000"/>
                </a:solidFill>
                <a:latin typeface="微软雅黑" panose="020B0503020204020204" pitchFamily="34" charset="-122"/>
                <a:ea typeface="微软雅黑" panose="020B0503020204020204" pitchFamily="34" charset="-122"/>
                <a:sym typeface="+mn-ea"/>
              </a:rPr>
              <a:t>3</a:t>
            </a:r>
            <a:r>
              <a:rPr lang="zh-CN" altLang="en-US" sz="800">
                <a:solidFill>
                  <a:srgbClr val="000000"/>
                </a:solidFill>
                <a:latin typeface="微软雅黑" panose="020B0503020204020204" pitchFamily="34" charset="-122"/>
                <a:ea typeface="微软雅黑" panose="020B0503020204020204" pitchFamily="34" charset="-122"/>
                <a:sym typeface="+mn-ea"/>
              </a:rPr>
              <a:t>家三医</a:t>
            </a:r>
            <a:r>
              <a:rPr lang="en-US" altLang="zh-CN" sz="800">
                <a:solidFill>
                  <a:srgbClr val="000000"/>
                </a:solidFill>
                <a:latin typeface="微软雅黑" panose="020B0503020204020204" pitchFamily="34" charset="-122"/>
                <a:ea typeface="微软雅黑" panose="020B0503020204020204" pitchFamily="34" charset="-122"/>
                <a:sym typeface="+mn-ea"/>
              </a:rPr>
              <a:t>+AI</a:t>
            </a:r>
            <a:r>
              <a:rPr lang="zh-CN" altLang="en-US" sz="800">
                <a:solidFill>
                  <a:srgbClr val="000000"/>
                </a:solidFill>
                <a:latin typeface="微软雅黑" panose="020B0503020204020204" pitchFamily="34" charset="-122"/>
                <a:ea typeface="微软雅黑" panose="020B0503020204020204" pitchFamily="34" charset="-122"/>
                <a:sym typeface="+mn-ea"/>
              </a:rPr>
              <a:t>大数据，生产性服务机构或平台</a:t>
            </a:r>
            <a:r>
              <a:rPr kumimoji="0" lang="en-US" altLang="zh-CN"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50</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惠州产业</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200</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zh-CN" altLang="en-US" sz="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孵化器建设及运维</a:t>
            </a:r>
            <a:r>
              <a:rPr kumimoji="0" lang="en-US" altLang="zh-CN"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200</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lang="zh-CN" altLang="en-US" sz="800" dirty="0" smtClean="0">
                <a:solidFill>
                  <a:prstClr val="black"/>
                </a:solidFill>
                <a:latin typeface="微软雅黑" panose="020B0503020204020204" pitchFamily="34" charset="-122"/>
                <a:ea typeface="微软雅黑" panose="020B0503020204020204" pitchFamily="34" charset="-122"/>
              </a:rPr>
              <a:t>；</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苏州产业</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739</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a:t>
            </a:r>
            <a:r>
              <a:rPr lang="zh-CN" altLang="en-US" sz="800" noProof="0" dirty="0" smtClean="0">
                <a:solidFill>
                  <a:prstClr val="black"/>
                </a:solidFill>
                <a:latin typeface="微软雅黑" panose="020B0503020204020204" pitchFamily="34" charset="-122"/>
                <a:ea typeface="微软雅黑" panose="020B0503020204020204" pitchFamily="34" charset="-122"/>
                <a:sym typeface="+mn-ea"/>
              </a:rPr>
              <a:t>租金及其他补贴</a:t>
            </a:r>
            <a:r>
              <a:rPr lang="en-US" altLang="zh-CN" sz="800" noProof="0" dirty="0" smtClean="0">
                <a:solidFill>
                  <a:prstClr val="black"/>
                </a:solidFill>
                <a:latin typeface="微软雅黑" panose="020B0503020204020204" pitchFamily="34" charset="-122"/>
                <a:ea typeface="微软雅黑" panose="020B0503020204020204" pitchFamily="34" charset="-122"/>
                <a:sym typeface="+mn-ea"/>
              </a:rPr>
              <a:t>10</a:t>
            </a:r>
            <a:r>
              <a:rPr lang="zh-CN" altLang="en-US" sz="800" noProof="0" dirty="0" smtClean="0">
                <a:solidFill>
                  <a:prstClr val="black"/>
                </a:solidFill>
                <a:latin typeface="微软雅黑" panose="020B0503020204020204" pitchFamily="34" charset="-122"/>
                <a:ea typeface="微软雅黑" panose="020B0503020204020204" pitchFamily="34" charset="-122"/>
                <a:sym typeface="+mn-ea"/>
              </a:rPr>
              <a:t>万，</a:t>
            </a:r>
            <a:r>
              <a:rPr kumimoji="0" lang="zh-CN" altLang="en-US"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装修补贴</a:t>
            </a:r>
            <a:r>
              <a:rPr kumimoji="0" lang="en-US" altLang="zh-CN" sz="800" b="0"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100</a:t>
            </a:r>
            <a:r>
              <a:rPr lang="zh-CN" altLang="en-US" sz="800" noProof="0" dirty="0" smtClean="0">
                <a:solidFill>
                  <a:prstClr val="black"/>
                </a:solidFill>
                <a:latin typeface="微软雅黑" panose="020B0503020204020204" pitchFamily="34" charset="-122"/>
                <a:ea typeface="微软雅黑" panose="020B0503020204020204" pitchFamily="34" charset="-122"/>
              </a:rPr>
              <a:t>万</a:t>
            </a:r>
            <a:r>
              <a:rPr lang="zh-CN" altLang="en-US" sz="800" dirty="0" smtClean="0">
                <a:solidFill>
                  <a:prstClr val="black"/>
                </a:solidFill>
                <a:latin typeface="微软雅黑" panose="020B0503020204020204" pitchFamily="34" charset="-122"/>
                <a:ea typeface="微软雅黑" panose="020B0503020204020204" pitchFamily="34" charset="-122"/>
                <a:sym typeface="+mn-ea"/>
              </a:rPr>
              <a:t>，省级众创空间运营费用</a:t>
            </a:r>
            <a:r>
              <a:rPr lang="en-US" altLang="zh-CN" sz="800" dirty="0" smtClean="0">
                <a:solidFill>
                  <a:prstClr val="black"/>
                </a:solidFill>
                <a:latin typeface="微软雅黑" panose="020B0503020204020204" pitchFamily="34" charset="-122"/>
                <a:ea typeface="微软雅黑" panose="020B0503020204020204" pitchFamily="34" charset="-122"/>
                <a:sym typeface="+mn-ea"/>
              </a:rPr>
              <a:t>100</a:t>
            </a:r>
            <a:r>
              <a:rPr lang="zh-CN" altLang="en-US" sz="800" dirty="0" smtClean="0">
                <a:solidFill>
                  <a:prstClr val="black"/>
                </a:solidFill>
                <a:latin typeface="微软雅黑" panose="020B0503020204020204" pitchFamily="34" charset="-122"/>
                <a:ea typeface="微软雅黑" panose="020B0503020204020204" pitchFamily="34" charset="-122"/>
                <a:sym typeface="+mn-ea"/>
              </a:rPr>
              <a:t>万，引入人工智能、科技创新企业</a:t>
            </a:r>
            <a:r>
              <a:rPr lang="en-US" altLang="zh-CN" sz="800" dirty="0" smtClean="0">
                <a:solidFill>
                  <a:prstClr val="black"/>
                </a:solidFill>
                <a:latin typeface="微软雅黑" panose="020B0503020204020204" pitchFamily="34" charset="-122"/>
                <a:ea typeface="微软雅黑" panose="020B0503020204020204" pitchFamily="34" charset="-122"/>
                <a:sym typeface="+mn-ea"/>
              </a:rPr>
              <a:t>400</a:t>
            </a:r>
            <a:r>
              <a:rPr lang="zh-CN" altLang="en-US" sz="800" dirty="0" smtClean="0">
                <a:solidFill>
                  <a:prstClr val="black"/>
                </a:solidFill>
                <a:latin typeface="微软雅黑" panose="020B0503020204020204" pitchFamily="34" charset="-122"/>
                <a:ea typeface="微软雅黑" panose="020B0503020204020204" pitchFamily="34" charset="-122"/>
                <a:sym typeface="+mn-ea"/>
              </a:rPr>
              <a:t>万，其他补贴</a:t>
            </a:r>
            <a:r>
              <a:rPr lang="en-US" altLang="zh-CN" sz="800" dirty="0" smtClean="0">
                <a:solidFill>
                  <a:prstClr val="black"/>
                </a:solidFill>
                <a:latin typeface="微软雅黑" panose="020B0503020204020204" pitchFamily="34" charset="-122"/>
                <a:ea typeface="微软雅黑" panose="020B0503020204020204" pitchFamily="34" charset="-122"/>
                <a:sym typeface="+mn-ea"/>
              </a:rPr>
              <a:t>129</a:t>
            </a:r>
            <a:r>
              <a:rPr lang="zh-CN" altLang="en-US" sz="800" dirty="0" smtClean="0">
                <a:solidFill>
                  <a:prstClr val="black"/>
                </a:solidFill>
                <a:latin typeface="微软雅黑" panose="020B0503020204020204" pitchFamily="34" charset="-122"/>
                <a:ea typeface="微软雅黑" panose="020B0503020204020204" pitchFamily="34" charset="-122"/>
                <a:sym typeface="+mn-ea"/>
              </a:rPr>
              <a:t>万</a:t>
            </a:r>
            <a:r>
              <a:rPr lang="zh-CN" altLang="en-US" sz="800" noProof="0" dirty="0" smtClean="0">
                <a:solidFill>
                  <a:prstClr val="black"/>
                </a:solidFill>
                <a:latin typeface="微软雅黑" panose="020B0503020204020204" pitchFamily="34" charset="-122"/>
                <a:ea typeface="微软雅黑" panose="020B0503020204020204" pitchFamily="34" charset="-122"/>
              </a:rPr>
              <a:t>；</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南京</a:t>
            </a:r>
            <a:r>
              <a:rPr kumimoji="0" lang="zh-CN" altLang="en-US" sz="800" b="1"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rPr>
              <a:t>产业</a:t>
            </a:r>
            <a:r>
              <a:rPr kumimoji="0" lang="en-US" altLang="zh-CN"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350</a:t>
            </a:r>
            <a:r>
              <a:rPr kumimoji="0" lang="zh-CN" altLang="en-US" sz="800" b="1" i="0" u="none" strike="noStrike" kern="1200" cap="none" spc="0" normalizeH="0" baseline="0" noProof="0" dirty="0" smtClean="0">
                <a:ln>
                  <a:noFill/>
                </a:ln>
                <a:solidFill>
                  <a:prstClr val="black"/>
                </a:solidFill>
                <a:effectLst/>
                <a:uLnTx/>
                <a:uFillTx/>
                <a:latin typeface="微软雅黑" panose="020B0503020204020204" pitchFamily="34" charset="-122"/>
                <a:ea typeface="微软雅黑" panose="020B0503020204020204" pitchFamily="34" charset="-122"/>
              </a:rPr>
              <a:t>万</a:t>
            </a:r>
            <a:r>
              <a:rPr lang="zh-CN" altLang="en-US" sz="800" dirty="0" smtClean="0">
                <a:solidFill>
                  <a:prstClr val="black"/>
                </a:solidFill>
                <a:latin typeface="微软雅黑" panose="020B0503020204020204" pitchFamily="34" charset="-122"/>
                <a:ea typeface="微软雅黑" panose="020B0503020204020204" pitchFamily="34" charset="-122"/>
              </a:rPr>
              <a:t>：</a:t>
            </a:r>
            <a:r>
              <a:rPr lang="zh-CN" altLang="en-US" sz="800" dirty="0">
                <a:solidFill>
                  <a:prstClr val="black"/>
                </a:solidFill>
                <a:highlight>
                  <a:srgbClr val="000000">
                    <a:alpha val="0"/>
                  </a:srgbClr>
                </a:highlight>
                <a:latin typeface="微软雅黑" panose="020B0503020204020204" pitchFamily="34" charset="-122"/>
                <a:ea typeface="微软雅黑" panose="020B0503020204020204" pitchFamily="34" charset="-122"/>
              </a:rPr>
              <a:t>其他补贴</a:t>
            </a:r>
            <a:r>
              <a:rPr lang="en-US" altLang="zh-CN" sz="800" dirty="0">
                <a:solidFill>
                  <a:prstClr val="black"/>
                </a:solidFill>
                <a:highlight>
                  <a:srgbClr val="000000">
                    <a:alpha val="0"/>
                  </a:srgbClr>
                </a:highlight>
                <a:latin typeface="微软雅黑" panose="020B0503020204020204" pitchFamily="34" charset="-122"/>
                <a:ea typeface="微软雅黑" panose="020B0503020204020204" pitchFamily="34" charset="-122"/>
              </a:rPr>
              <a:t>350</a:t>
            </a:r>
            <a:r>
              <a:rPr lang="zh-CN" altLang="en-US" sz="800" dirty="0">
                <a:solidFill>
                  <a:prstClr val="black"/>
                </a:solidFill>
                <a:highlight>
                  <a:srgbClr val="000000">
                    <a:alpha val="0"/>
                  </a:srgbClr>
                </a:highlight>
                <a:latin typeface="微软雅黑" panose="020B0503020204020204" pitchFamily="34" charset="-122"/>
                <a:ea typeface="微软雅黑" panose="020B0503020204020204" pitchFamily="34" charset="-122"/>
              </a:rPr>
              <a:t>万</a:t>
            </a:r>
            <a:r>
              <a:rPr lang="zh-CN" altLang="en-US" sz="800" dirty="0">
                <a:solidFill>
                  <a:schemeClr val="tx1"/>
                </a:solidFill>
                <a:highlight>
                  <a:srgbClr val="000000">
                    <a:alpha val="0"/>
                  </a:srgbClr>
                </a:highlight>
                <a:latin typeface="微软雅黑" panose="020B0503020204020204" pitchFamily="34" charset="-122"/>
                <a:ea typeface="微软雅黑" panose="020B0503020204020204" pitchFamily="34" charset="-122"/>
              </a:rPr>
              <a:t>（满足基金及税务要求</a:t>
            </a:r>
            <a:r>
              <a:rPr lang="zh-CN" altLang="en-US" sz="800" noProof="0" dirty="0" smtClean="0">
                <a:ln>
                  <a:noFill/>
                </a:ln>
                <a:solidFill>
                  <a:schemeClr val="tx1"/>
                </a:solidFill>
                <a:effectLst/>
                <a:highlight>
                  <a:srgbClr val="000000">
                    <a:alpha val="0"/>
                  </a:srgbClr>
                </a:highlight>
                <a:uLnTx/>
                <a:uFillTx/>
                <a:latin typeface="微软雅黑" panose="020B0503020204020204" pitchFamily="34" charset="-122"/>
                <a:ea typeface="微软雅黑" panose="020B0503020204020204" pitchFamily="34" charset="-122"/>
                <a:cs typeface="微软雅黑" panose="020B0503020204020204" pitchFamily="34" charset="-122"/>
                <a:sym typeface="+mn-ea"/>
              </a:rPr>
              <a:t>3</a:t>
            </a:r>
            <a:r>
              <a:rPr lang="en-US" altLang="zh-CN" sz="800" noProof="0" dirty="0" smtClean="0">
                <a:ln>
                  <a:noFill/>
                </a:ln>
                <a:solidFill>
                  <a:schemeClr val="tx1"/>
                </a:solidFill>
                <a:effectLst/>
                <a:highlight>
                  <a:srgbClr val="000000">
                    <a:alpha val="0"/>
                  </a:srgbClr>
                </a:highlight>
                <a:uLnTx/>
                <a:uFillTx/>
                <a:latin typeface="微软雅黑" panose="020B0503020204020204" pitchFamily="34" charset="-122"/>
                <a:ea typeface="微软雅黑" panose="020B0503020204020204" pitchFamily="34" charset="-122"/>
                <a:cs typeface="微软雅黑" panose="020B0503020204020204" pitchFamily="34" charset="-122"/>
                <a:sym typeface="+mn-ea"/>
              </a:rPr>
              <a:t>5</a:t>
            </a:r>
            <a:r>
              <a:rPr lang="zh-CN" altLang="en-US" sz="800" noProof="0" dirty="0" smtClean="0">
                <a:ln>
                  <a:noFill/>
                </a:ln>
                <a:solidFill>
                  <a:schemeClr val="tx1"/>
                </a:solidFill>
                <a:effectLst/>
                <a:highlight>
                  <a:srgbClr val="000000">
                    <a:alpha val="0"/>
                  </a:srgbClr>
                </a:highlight>
                <a:uLnTx/>
                <a:uFillTx/>
                <a:latin typeface="微软雅黑" panose="020B0503020204020204" pitchFamily="34" charset="-122"/>
                <a:ea typeface="微软雅黑" panose="020B0503020204020204" pitchFamily="34" charset="-122"/>
                <a:cs typeface="微软雅黑" panose="020B0503020204020204" pitchFamily="34" charset="-122"/>
                <a:sym typeface="+mn-ea"/>
              </a:rPr>
              <a:t>0万</a:t>
            </a:r>
            <a:r>
              <a:rPr lang="zh-CN" altLang="en-US" sz="800" dirty="0">
                <a:solidFill>
                  <a:schemeClr val="tx1"/>
                </a:solidFill>
                <a:highlight>
                  <a:srgbClr val="000000">
                    <a:alpha val="0"/>
                  </a:srgbClr>
                </a:highlight>
                <a:latin typeface="微软雅黑" panose="020B0503020204020204" pitchFamily="34" charset="-122"/>
                <a:ea typeface="微软雅黑" panose="020B0503020204020204" pitchFamily="34" charset="-122"/>
              </a:rPr>
              <a:t>）。</a:t>
            </a:r>
            <a:endParaRPr kumimoji="0" lang="zh-CN" altLang="en-US" sz="800" b="0" i="0" u="none" strike="noStrike" kern="1200" cap="none" spc="0" normalizeH="0" baseline="0" noProof="0" dirty="0" smtClean="0">
              <a:ln>
                <a:noFill/>
              </a:ln>
              <a:solidFill>
                <a:schemeClr val="tx1"/>
              </a:solidFill>
              <a:effectLst/>
              <a:highlight>
                <a:srgbClr val="000000">
                  <a:alpha val="0"/>
                </a:srgbClr>
              </a:highlight>
              <a:uLnTx/>
              <a:uFillTx/>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6" name="表格 5"/>
          <p:cNvGraphicFramePr/>
          <p:nvPr>
            <p:custDataLst>
              <p:tags r:id="rId1"/>
            </p:custDataLst>
          </p:nvPr>
        </p:nvGraphicFramePr>
        <p:xfrm>
          <a:off x="421005" y="359410"/>
          <a:ext cx="9006840" cy="4577715"/>
        </p:xfrm>
        <a:graphic>
          <a:graphicData uri="http://schemas.openxmlformats.org/drawingml/2006/table">
            <a:tbl>
              <a:tblPr/>
              <a:tblGrid>
                <a:gridCol w="463550"/>
                <a:gridCol w="1242060"/>
                <a:gridCol w="805815"/>
                <a:gridCol w="804545"/>
                <a:gridCol w="803275"/>
                <a:gridCol w="635000"/>
                <a:gridCol w="635000"/>
                <a:gridCol w="635000"/>
                <a:gridCol w="595630"/>
                <a:gridCol w="597535"/>
                <a:gridCol w="596265"/>
                <a:gridCol w="596900"/>
                <a:gridCol w="596265"/>
              </a:tblGrid>
              <a:tr h="304165">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序号</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费用项目　（万元</a:t>
                      </a:r>
                      <a:r>
                        <a:rPr lang="en-US" altLang="zh-CN" sz="800" b="1" i="0">
                          <a:solidFill>
                            <a:srgbClr val="FFFFFF"/>
                          </a:solidFill>
                          <a:latin typeface="微软雅黑" panose="020B0503020204020204" pitchFamily="34" charset="-122"/>
                          <a:ea typeface="微软雅黑" panose="020B0503020204020204" pitchFamily="34" charset="-122"/>
                        </a:rPr>
                        <a:t>)</a:t>
                      </a:r>
                      <a:endParaRPr lang="en-US" altLang="zh-CN"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已交保证金</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保函合计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截止</a:t>
                      </a: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年已退保证金</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保函合计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年预计退还保证金</a:t>
                      </a:r>
                      <a:r>
                        <a:rPr lang="en-US" altLang="zh-CN" sz="800" b="1" i="0">
                          <a:solidFill>
                            <a:srgbClr val="FFFFFF"/>
                          </a:solidFill>
                          <a:latin typeface="微软雅黑" panose="020B0503020204020204" pitchFamily="34" charset="-122"/>
                          <a:ea typeface="微软雅黑" panose="020B0503020204020204" pitchFamily="34" charset="-122"/>
                        </a:rPr>
                        <a:t>/</a:t>
                      </a:r>
                      <a:r>
                        <a:rPr lang="zh-CN" altLang="en-US" sz="800" b="1" i="0">
                          <a:solidFill>
                            <a:srgbClr val="FFFFFF"/>
                          </a:solidFill>
                          <a:latin typeface="微软雅黑" panose="020B0503020204020204" pitchFamily="34" charset="-122"/>
                          <a:ea typeface="微软雅黑" panose="020B0503020204020204" pitchFamily="34" charset="-122"/>
                        </a:rPr>
                        <a:t>保函</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2021</a:t>
                      </a:r>
                      <a:r>
                        <a:rPr lang="zh-CN" altLang="en-US" sz="800" b="1" i="0">
                          <a:solidFill>
                            <a:srgbClr val="FFFFFF"/>
                          </a:solidFill>
                          <a:latin typeface="微软雅黑" panose="020B0503020204020204" pitchFamily="34" charset="-122"/>
                          <a:ea typeface="微软雅黑" panose="020B0503020204020204" pitchFamily="34" charset="-122"/>
                        </a:rPr>
                        <a:t>年实际</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2022</a:t>
                      </a:r>
                      <a:r>
                        <a:rPr lang="zh-CN" altLang="en-US" sz="800" b="1" i="0">
                          <a:solidFill>
                            <a:srgbClr val="FFFFFF"/>
                          </a:solidFill>
                          <a:latin typeface="微软雅黑" panose="020B0503020204020204" pitchFamily="34" charset="-122"/>
                          <a:ea typeface="微软雅黑" panose="020B0503020204020204" pitchFamily="34" charset="-122"/>
                        </a:rPr>
                        <a:t>年实际</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2023</a:t>
                      </a:r>
                      <a:r>
                        <a:rPr lang="zh-CN" altLang="en-US" sz="800" b="1" i="0">
                          <a:solidFill>
                            <a:srgbClr val="FFFFFF"/>
                          </a:solidFill>
                          <a:latin typeface="微软雅黑" panose="020B0503020204020204" pitchFamily="34" charset="-122"/>
                          <a:ea typeface="微软雅黑" panose="020B0503020204020204" pitchFamily="34" charset="-122"/>
                        </a:rPr>
                        <a:t>年实际</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2024</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buNone/>
                      </a:pPr>
                      <a:r>
                        <a:rPr lang="en-US" altLang="zh-CN" sz="800" b="1" i="0">
                          <a:solidFill>
                            <a:srgbClr val="FFFFFF"/>
                          </a:solidFill>
                          <a:latin typeface="微软雅黑" panose="020B0503020204020204" pitchFamily="34" charset="-122"/>
                          <a:ea typeface="微软雅黑" panose="020B0503020204020204" pitchFamily="34" charset="-122"/>
                        </a:rPr>
                        <a:t>2025</a:t>
                      </a:r>
                      <a:r>
                        <a:rPr lang="zh-CN" altLang="en-US" sz="800" b="1" i="0">
                          <a:solidFill>
                            <a:srgbClr val="FFFFFF"/>
                          </a:solidFill>
                          <a:latin typeface="微软雅黑" panose="020B0503020204020204" pitchFamily="34" charset="-122"/>
                          <a:ea typeface="微软雅黑" panose="020B0503020204020204" pitchFamily="34" charset="-122"/>
                        </a:rPr>
                        <a:t>年预计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2026</a:t>
                      </a:r>
                      <a:r>
                        <a:rPr lang="zh-CN" altLang="en-US" sz="800" b="1" i="0">
                          <a:solidFill>
                            <a:srgbClr val="FFFFFF"/>
                          </a:solidFill>
                          <a:latin typeface="微软雅黑" panose="020B0503020204020204" pitchFamily="34" charset="-122"/>
                          <a:ea typeface="微软雅黑" panose="020B0503020204020204" pitchFamily="34" charset="-122"/>
                        </a:rPr>
                        <a:t>年预算</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en-US" altLang="zh-CN" sz="800" b="1" i="0">
                          <a:solidFill>
                            <a:srgbClr val="FFFFFF"/>
                          </a:solidFill>
                          <a:latin typeface="微软雅黑" panose="020B0503020204020204" pitchFamily="34" charset="-122"/>
                          <a:ea typeface="微软雅黑" panose="020B0503020204020204" pitchFamily="34" charset="-122"/>
                        </a:rPr>
                        <a:t>2027-</a:t>
                      </a:r>
                      <a:r>
                        <a:rPr lang="zh-CN" altLang="en-US" sz="800" b="1" i="0">
                          <a:solidFill>
                            <a:srgbClr val="FFFFFF"/>
                          </a:solidFill>
                          <a:latin typeface="微软雅黑" panose="020B0503020204020204" pitchFamily="34" charset="-122"/>
                          <a:ea typeface="微软雅黑" panose="020B0503020204020204" pitchFamily="34" charset="-122"/>
                        </a:rPr>
                        <a:t>以后小计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c>
                  <a:txBody>
                    <a:bodyPr/>
                    <a:p>
                      <a:pPr algn="ctr" fontAlgn="ctr"/>
                      <a:r>
                        <a:rPr lang="zh-CN" altLang="en-US" sz="800" b="1" i="0">
                          <a:solidFill>
                            <a:srgbClr val="FFFFFF"/>
                          </a:solidFill>
                          <a:latin typeface="微软雅黑" panose="020B0503020204020204" pitchFamily="34" charset="-122"/>
                          <a:ea typeface="微软雅黑" panose="020B0503020204020204" pitchFamily="34" charset="-122"/>
                        </a:rPr>
                        <a:t>合计</a:t>
                      </a:r>
                      <a:endParaRPr lang="zh-CN" altLang="en-US" sz="8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chemeClr val="accent1">
                        <a:lumMod val="50000"/>
                      </a:schemeClr>
                    </a:solidFill>
                  </a:tcPr>
                </a:tc>
              </a:tr>
              <a:tr h="139700">
                <a:tc rowSpan="6">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成都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国家级众创空间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6">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6">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6">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高能级企业兑现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其他补贴费用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6860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城市会客厅</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企业服务中心</a:t>
                      </a:r>
                      <a:r>
                        <a:rPr lang="en-US" altLang="zh-CN" sz="800" b="0" i="0">
                          <a:solidFill>
                            <a:srgbClr val="000000"/>
                          </a:solidFill>
                          <a:latin typeface="微软雅黑" panose="020B0503020204020204" pitchFamily="34" charset="-122"/>
                          <a:ea typeface="微软雅黑" panose="020B0503020204020204" pitchFamily="34" charset="-122"/>
                        </a:rPr>
                        <a:t>+</a:t>
                      </a:r>
                      <a:r>
                        <a:rPr lang="zh-CN" altLang="en-US" sz="800" b="0" i="0">
                          <a:solidFill>
                            <a:srgbClr val="000000"/>
                          </a:solidFill>
                          <a:latin typeface="微软雅黑" panose="020B0503020204020204" pitchFamily="34" charset="-122"/>
                          <a:ea typeface="微软雅黑" panose="020B0503020204020204" pitchFamily="34" charset="-122"/>
                        </a:rPr>
                        <a:t>路演大厅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440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440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26924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3</a:t>
                      </a:r>
                      <a:r>
                        <a:rPr lang="zh-CN" altLang="en-US" sz="800" b="0" i="0">
                          <a:solidFill>
                            <a:srgbClr val="000000"/>
                          </a:solidFill>
                          <a:latin typeface="微软雅黑" panose="020B0503020204020204" pitchFamily="34" charset="-122"/>
                          <a:ea typeface="微软雅黑" panose="020B0503020204020204" pitchFamily="34" charset="-122"/>
                        </a:rPr>
                        <a:t>家三医</a:t>
                      </a:r>
                      <a:r>
                        <a:rPr lang="en-US" altLang="zh-CN" sz="800" b="0" i="0">
                          <a:solidFill>
                            <a:srgbClr val="000000"/>
                          </a:solidFill>
                          <a:latin typeface="微软雅黑" panose="020B0503020204020204" pitchFamily="34" charset="-122"/>
                          <a:ea typeface="微软雅黑" panose="020B0503020204020204" pitchFamily="34" charset="-122"/>
                        </a:rPr>
                        <a:t>+AI</a:t>
                      </a:r>
                      <a:r>
                        <a:rPr lang="zh-CN" altLang="en-US" sz="800" b="0" i="0">
                          <a:solidFill>
                            <a:srgbClr val="000000"/>
                          </a:solidFill>
                          <a:latin typeface="微软雅黑" panose="020B0503020204020204" pitchFamily="34" charset="-122"/>
                          <a:ea typeface="微软雅黑" panose="020B0503020204020204" pitchFamily="34" charset="-122"/>
                        </a:rPr>
                        <a:t>大数据，生产性服务机构或平台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税源企业招引补贴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gridSpan="2">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 </a:t>
                      </a:r>
                      <a:r>
                        <a:rPr lang="zh-CN" altLang="en-US" sz="800" b="1" i="0">
                          <a:solidFill>
                            <a:srgbClr val="000000"/>
                          </a:solidFill>
                          <a:latin typeface="微软雅黑" panose="020B0503020204020204" pitchFamily="34" charset="-122"/>
                          <a:ea typeface="微软雅黑" panose="020B0503020204020204" pitchFamily="34" charset="-122"/>
                        </a:rPr>
                        <a:t>考核总成本 </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39700">
                <a:tc rowSpan="3">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惠州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孵化器建设及运维</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3">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3">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3">
                  <a:txBody>
                    <a:bodyPr/>
                    <a:p>
                      <a:pPr algn="ctr" fontAlgn="ctr"/>
                      <a:endParaRPr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70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产业展厅及政务服务大厅</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税收要求</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endParaRPr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55575">
                <a:tc gridSpan="2">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 </a:t>
                      </a:r>
                      <a:r>
                        <a:rPr lang="zh-CN" altLang="en-US" sz="800" b="1" i="0">
                          <a:solidFill>
                            <a:srgbClr val="000000"/>
                          </a:solidFill>
                          <a:latin typeface="微软雅黑" panose="020B0503020204020204" pitchFamily="34" charset="-122"/>
                          <a:ea typeface="微软雅黑" panose="020B0503020204020204" pitchFamily="34" charset="-122"/>
                        </a:rPr>
                        <a:t>考核总成本 </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ctr" fontAlgn="ctr"/>
                      <a:r>
                        <a:rPr lang="en-US" altLang="zh-CN" sz="900" b="1" i="0">
                          <a:solidFill>
                            <a:srgbClr val="000000"/>
                          </a:solidFill>
                          <a:latin typeface="微软雅黑" panose="020B0503020204020204" pitchFamily="34" charset="-122"/>
                          <a:ea typeface="微软雅黑" panose="020B0503020204020204" pitchFamily="34" charset="-122"/>
                        </a:rPr>
                        <a:t> -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endParaRPr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1,652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39065">
                <a:tc rowSpan="7">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苏州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租金补贴费用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7">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7">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4,500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7">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2,500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装修补贴费用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70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业务订单费用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700">
                <a:tc vMerge="1">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其他补贴费用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1</a:t>
                      </a:r>
                      <a:r>
                        <a:rPr lang="en-US" altLang="zh-CN" sz="800" b="0" i="0">
                          <a:solidFill>
                            <a:srgbClr val="000000"/>
                          </a:solidFill>
                          <a:latin typeface="微软雅黑" panose="020B0503020204020204" pitchFamily="34" charset="-122"/>
                          <a:ea typeface="微软雅黑" panose="020B0503020204020204" pitchFamily="34" charset="-122"/>
                        </a:rPr>
                        <a:t>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347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707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9751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引入</a:t>
                      </a: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家人工智能视觉创新技术领域的独角兽企业的全资子公司。</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1,622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293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3</a:t>
                      </a:r>
                      <a:r>
                        <a:rPr lang="en-US" altLang="zh-CN" sz="800" b="0" i="0">
                          <a:solidFill>
                            <a:srgbClr val="000000"/>
                          </a:solidFill>
                          <a:latin typeface="微软雅黑" panose="020B0503020204020204" pitchFamily="34" charset="-122"/>
                          <a:ea typeface="微软雅黑" panose="020B0503020204020204" pitchFamily="34" charset="-122"/>
                        </a:rPr>
                        <a:t>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2,145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395605">
                <a:tc vMerge="1">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引入不少于</a:t>
                      </a:r>
                      <a:r>
                        <a:rPr lang="en-US" altLang="zh-CN" sz="800" b="0" i="0">
                          <a:solidFill>
                            <a:srgbClr val="000000"/>
                          </a:solidFill>
                          <a:latin typeface="微软雅黑" panose="020B0503020204020204" pitchFamily="34" charset="-122"/>
                          <a:ea typeface="微软雅黑" panose="020B0503020204020204" pitchFamily="34" charset="-122"/>
                        </a:rPr>
                        <a:t>1</a:t>
                      </a:r>
                      <a:r>
                        <a:rPr lang="zh-CN" altLang="en-US" sz="800" b="0" i="0">
                          <a:solidFill>
                            <a:srgbClr val="000000"/>
                          </a:solidFill>
                          <a:latin typeface="微软雅黑" panose="020B0503020204020204" pitchFamily="34" charset="-122"/>
                          <a:ea typeface="微软雅黑" panose="020B0503020204020204" pitchFamily="34" charset="-122"/>
                        </a:rPr>
                        <a:t>家“科技创新类、数字创意类”领军企业的区域总部或功能中心。</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省级众创空间运营费用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0335">
                <a:tc gridSpan="2">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 </a:t>
                      </a:r>
                      <a:r>
                        <a:rPr lang="zh-CN" altLang="en-US" sz="800" b="1" i="0">
                          <a:solidFill>
                            <a:srgbClr val="000000"/>
                          </a:solidFill>
                          <a:latin typeface="微软雅黑" panose="020B0503020204020204" pitchFamily="34" charset="-122"/>
                          <a:ea typeface="微软雅黑" panose="020B0503020204020204" pitchFamily="34" charset="-122"/>
                        </a:rPr>
                        <a:t>考核总成本 </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4,500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739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413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4,013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39065">
                <a:tc rowSpan="4">
                  <a:txBody>
                    <a:bodyPr/>
                    <a:p>
                      <a:pPr algn="ctr"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南京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人才申报补贴费用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rowSpan="4">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40,000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3175" cmpd="sng">
                      <a:solidFill>
                        <a:srgbClr val="B8CCE4"/>
                      </a:solidFill>
                      <a:prstDash val="solid"/>
                    </a:lnB>
                    <a:noFill/>
                  </a:tcPr>
                </a:tc>
                <a:tc rowSpan="4">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3175" cmpd="sng">
                      <a:solidFill>
                        <a:srgbClr val="B8CCE4"/>
                      </a:solidFill>
                      <a:prstDash val="solid"/>
                    </a:lnB>
                    <a:noFill/>
                  </a:tcPr>
                </a:tc>
                <a:tc rowSpan="4">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3175" cmpd="sng">
                      <a:solidFill>
                        <a:srgbClr val="B8CCE4"/>
                      </a:solidFill>
                      <a:prstDash val="soli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租金补贴费用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404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装修补贴费用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033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en-US" altLang="zh-CN" sz="800" b="0" i="0">
                          <a:solidFill>
                            <a:srgbClr val="000000"/>
                          </a:solidFill>
                          <a:latin typeface="微软雅黑" panose="020B0503020204020204" pitchFamily="34" charset="-122"/>
                          <a:ea typeface="微软雅黑" panose="020B0503020204020204" pitchFamily="34" charset="-122"/>
                        </a:rPr>
                        <a:t> </a:t>
                      </a:r>
                      <a:r>
                        <a:rPr lang="zh-CN" altLang="en-US" sz="800" b="0" i="0">
                          <a:solidFill>
                            <a:srgbClr val="000000"/>
                          </a:solidFill>
                          <a:latin typeface="微软雅黑" panose="020B0503020204020204" pitchFamily="34" charset="-122"/>
                          <a:ea typeface="微软雅黑" panose="020B0503020204020204" pitchFamily="34" charset="-122"/>
                        </a:rPr>
                        <a:t>其他补贴费用</a:t>
                      </a:r>
                      <a:r>
                        <a:rPr lang="zh-CN" altLang="en-US" sz="800" b="0" i="0">
                          <a:solidFill>
                            <a:srgbClr val="000000"/>
                          </a:solidFill>
                          <a:latin typeface="微软雅黑" panose="020B0503020204020204" pitchFamily="34" charset="-122"/>
                          <a:ea typeface="微软雅黑" panose="020B0503020204020204" pitchFamily="34" charset="-122"/>
                        </a:rPr>
                        <a:t> </a:t>
                      </a:r>
                      <a:endParaRPr lang="zh-CN" altLang="en-US"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3175" cmpd="sng">
                      <a:solidFill>
                        <a:srgbClr val="B8CCE4"/>
                      </a:solidFill>
                      <a:prstDash val="soli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3175" cmpd="sng">
                      <a:solidFill>
                        <a:srgbClr val="B8CCE4"/>
                      </a:solidFill>
                      <a:prstDash val="solid"/>
                    </a:lnB>
                  </a:tcPr>
                </a:tc>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3175" cmpd="sng">
                      <a:solidFill>
                        <a:srgbClr val="B8CCE4"/>
                      </a:solidFill>
                      <a:prstDash val="solid"/>
                    </a:lnB>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807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39065">
                <a:tc gridSpan="2">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 </a:t>
                      </a:r>
                      <a:r>
                        <a:rPr lang="zh-CN" altLang="en-US" sz="800" b="1" i="0">
                          <a:solidFill>
                            <a:srgbClr val="000000"/>
                          </a:solidFill>
                          <a:latin typeface="微软雅黑" panose="020B0503020204020204" pitchFamily="34" charset="-122"/>
                          <a:ea typeface="微软雅黑" panose="020B0503020204020204" pitchFamily="34" charset="-122"/>
                        </a:rPr>
                        <a:t>考核总成本 </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40,000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3175" cap="flat" cmpd="sng">
                      <a:solidFill>
                        <a:srgbClr val="B8CCE4"/>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3175" cap="flat" cmpd="sng">
                      <a:solidFill>
                        <a:srgbClr val="B8CCE4"/>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3175" cap="flat" cmpd="sng">
                      <a:solidFill>
                        <a:srgbClr val="B8CCE4"/>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273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1,569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39065">
                <a:tc gridSpan="2">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 </a:t>
                      </a:r>
                      <a:r>
                        <a:rPr lang="zh-CN" altLang="en-US" sz="800" b="1" i="0">
                          <a:solidFill>
                            <a:srgbClr val="000000"/>
                          </a:solidFill>
                          <a:latin typeface="微软雅黑" panose="020B0503020204020204" pitchFamily="34" charset="-122"/>
                          <a:ea typeface="微软雅黑" panose="020B0503020204020204" pitchFamily="34" charset="-122"/>
                        </a:rPr>
                        <a:t>产业集团总成本 </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53,000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35,500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13,500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2,886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657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1,589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3,063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9,388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bl>
          </a:graphicData>
        </a:graphic>
      </p:graphicFrame>
    </p:spTree>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204664" y="0"/>
            <a:ext cx="7933055" cy="359410"/>
          </a:xfrm>
        </p:spPr>
        <p:txBody>
          <a:bodyPr/>
          <a:lstStyle/>
          <a:p>
            <a:pPr lvl="0">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第三部分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kumimoji="0" lang="en-US" altLang="zh-CN" sz="1800" b="1" i="0" u="none" strike="noStrike" kern="1200" cap="none" spc="-41" normalizeH="0" baseline="0" noProof="0" dirty="0" smtClean="0">
                <a:ln>
                  <a:noFill/>
                </a:ln>
                <a:solidFill>
                  <a:schemeClr val="tx1">
                    <a:lumMod val="75000"/>
                    <a:lumOff val="25000"/>
                  </a:schemeClr>
                </a:solidFill>
                <a:effectLst/>
                <a:uLnTx/>
                <a:uFillTx/>
              </a:rPr>
              <a:t>2026年预算编制报告</a:t>
            </a:r>
            <a:r>
              <a:rPr kumimoji="0" lang="en-US" altLang="zh-CN" sz="1800" b="1" i="0" u="none" strike="noStrike" kern="1200" cap="none" spc="-41" normalizeH="0" baseline="0" noProof="0" dirty="0" smtClean="0">
                <a:ln>
                  <a:noFill/>
                </a:ln>
                <a:solidFill>
                  <a:schemeClr val="tx1">
                    <a:lumMod val="75000"/>
                    <a:lumOff val="25000"/>
                  </a:schemeClr>
                </a:solidFill>
                <a:effectLst/>
                <a:uLnTx/>
                <a:uFillTx/>
              </a:rPr>
              <a:t>-</a:t>
            </a:r>
            <a:r>
              <a:rPr lang="zh-CN" altLang="en-US" b="1" dirty="0">
                <a:solidFill>
                  <a:srgbClr val="002060"/>
                </a:solidFill>
                <a:sym typeface="+mn-ea"/>
              </a:rPr>
              <a:t>政府考核专项预算情况</a:t>
            </a:r>
            <a:r>
              <a:rPr kumimoji="0" lang="zh-CN" altLang="en-US" sz="1800" b="1" i="0" u="none" strike="noStrike" kern="1200" cap="none" spc="-41" normalizeH="0" baseline="0" noProof="0" dirty="0">
                <a:ln>
                  <a:noFill/>
                </a:ln>
                <a:solidFill>
                  <a:srgbClr val="002060"/>
                </a:solidFill>
                <a:effectLst/>
                <a:uLnTx/>
                <a:uFillTx/>
              </a:rPr>
              <a:t>（南京公司</a:t>
            </a:r>
            <a:r>
              <a:rPr kumimoji="0" lang="en-US" altLang="zh-CN" sz="1800" b="1" i="0" u="none" strike="noStrike" kern="1200" cap="none" spc="-41" normalizeH="0" baseline="0" noProof="0" dirty="0">
                <a:ln>
                  <a:noFill/>
                </a:ln>
                <a:solidFill>
                  <a:srgbClr val="002060"/>
                </a:solidFill>
                <a:effectLst/>
                <a:uLnTx/>
                <a:uFillTx/>
              </a:rPr>
              <a:t>1</a:t>
            </a:r>
            <a:r>
              <a:rPr kumimoji="0" lang="zh-CN" altLang="en-US" sz="1800" b="1" i="0" u="none" strike="noStrike" kern="1200" cap="none" spc="-41" normalizeH="0" baseline="0" noProof="0" dirty="0">
                <a:ln>
                  <a:noFill/>
                </a:ln>
                <a:solidFill>
                  <a:srgbClr val="002060"/>
                </a:solidFill>
                <a:effectLst/>
                <a:uLnTx/>
                <a:uFillTx/>
              </a:rPr>
              <a:t>）</a:t>
            </a:r>
            <a:endParaRPr kumimoji="0" lang="zh-CN" altLang="en-US" sz="1800" b="1" i="0" u="none" strike="noStrike" kern="1200" cap="none" spc="-41" normalizeH="0" baseline="0" noProof="0" dirty="0">
              <a:ln>
                <a:noFill/>
              </a:ln>
              <a:solidFill>
                <a:srgbClr val="002060"/>
              </a:solidFill>
              <a:effectLs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4" name="表格 3"/>
          <p:cNvGraphicFramePr/>
          <p:nvPr>
            <p:custDataLst>
              <p:tags r:id="rId1"/>
            </p:custDataLst>
          </p:nvPr>
        </p:nvGraphicFramePr>
        <p:xfrm>
          <a:off x="154305" y="629920"/>
          <a:ext cx="9549130" cy="5460365"/>
        </p:xfrm>
        <a:graphic>
          <a:graphicData uri="http://schemas.openxmlformats.org/drawingml/2006/table">
            <a:tbl>
              <a:tblPr/>
              <a:tblGrid>
                <a:gridCol w="509270"/>
                <a:gridCol w="941705"/>
                <a:gridCol w="563245"/>
                <a:gridCol w="505460"/>
                <a:gridCol w="299720"/>
                <a:gridCol w="504190"/>
                <a:gridCol w="452755"/>
                <a:gridCol w="486410"/>
                <a:gridCol w="533400"/>
                <a:gridCol w="485775"/>
                <a:gridCol w="473710"/>
                <a:gridCol w="441960"/>
                <a:gridCol w="474345"/>
                <a:gridCol w="2070735"/>
                <a:gridCol w="806450"/>
              </a:tblGrid>
              <a:tr h="283845">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类型</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考核内容</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实缴保证金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实缴时间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截止</a:t>
                      </a:r>
                      <a:r>
                        <a:rPr lang="en-US" altLang="zh-CN" sz="600" b="1" i="0">
                          <a:solidFill>
                            <a:srgbClr val="000000"/>
                          </a:solidFill>
                          <a:latin typeface="微软雅黑" panose="020B0503020204020204" pitchFamily="34" charset="-122"/>
                          <a:ea typeface="微软雅黑" panose="020B0503020204020204" pitchFamily="34" charset="-122"/>
                        </a:rPr>
                        <a:t>2024</a:t>
                      </a:r>
                      <a:r>
                        <a:rPr lang="zh-CN" altLang="en-US" sz="600" b="1" i="0">
                          <a:solidFill>
                            <a:srgbClr val="000000"/>
                          </a:solidFill>
                          <a:latin typeface="微软雅黑" panose="020B0503020204020204" pitchFamily="34" charset="-122"/>
                          <a:ea typeface="微软雅黑" panose="020B0503020204020204" pitchFamily="34" charset="-122"/>
                        </a:rPr>
                        <a:t>年末已退保证金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未来预计退还保证金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其中：预计</a:t>
                      </a:r>
                      <a:r>
                        <a:rPr lang="en-US" altLang="zh-CN" sz="600" b="1" i="0">
                          <a:solidFill>
                            <a:srgbClr val="000000"/>
                          </a:solidFill>
                          <a:latin typeface="微软雅黑" panose="020B0503020204020204" pitchFamily="34" charset="-122"/>
                          <a:ea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rPr>
                        <a:t>年退还保证金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预计退还时间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为满足考核已付专项资金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未来预计支付专项资金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其中：预计</a:t>
                      </a:r>
                      <a:r>
                        <a:rPr lang="en-US" altLang="zh-CN" sz="600" b="1" i="0">
                          <a:solidFill>
                            <a:srgbClr val="000000"/>
                          </a:solidFill>
                          <a:latin typeface="微软雅黑" panose="020B0503020204020204" pitchFamily="34" charset="-122"/>
                          <a:ea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rPr>
                        <a:t>年支付专项资金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未来支付时间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目前进度</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rPr>
                        <a:t>年工作计划</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r>
              <a:tr h="193040">
                <a:tc rowSpan="3">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招商要求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产业准入综合评审</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2018</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10">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2018</a:t>
                      </a:r>
                      <a:r>
                        <a:rPr lang="zh-CN" altLang="en-US" sz="700" b="0" i="0">
                          <a:solidFill>
                            <a:srgbClr val="000000"/>
                          </a:solidFill>
                          <a:latin typeface="微软雅黑" panose="020B0503020204020204" pitchFamily="34" charset="-122"/>
                          <a:ea typeface="微软雅黑" panose="020B0503020204020204" pitchFamily="34" charset="-122"/>
                        </a:rPr>
                        <a:t>年</a:t>
                      </a:r>
                      <a:r>
                        <a:rPr lang="en-US" altLang="zh-CN" sz="700" b="0" i="0">
                          <a:solidFill>
                            <a:srgbClr val="000000"/>
                          </a:solidFill>
                          <a:latin typeface="微软雅黑" panose="020B0503020204020204" pitchFamily="34" charset="-122"/>
                          <a:ea typeface="微软雅黑" panose="020B0503020204020204" pitchFamily="34" charset="-122"/>
                        </a:rPr>
                        <a:t>6</a:t>
                      </a:r>
                      <a:r>
                        <a:rPr lang="zh-CN" altLang="en-US" sz="700" b="0" i="0">
                          <a:solidFill>
                            <a:srgbClr val="000000"/>
                          </a:solidFill>
                          <a:latin typeface="微软雅黑" panose="020B0503020204020204" pitchFamily="34" charset="-122"/>
                          <a:ea typeface="微软雅黑" panose="020B0503020204020204" pitchFamily="34" charset="-122"/>
                        </a:rPr>
                        <a:t>月</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2,000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已退还</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19240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引进至少</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家新型研发机构并实质性运行</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2022</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1,000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1,000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已退还</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638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46672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实际入驻园区企业面积达到总建筑面积</a:t>
                      </a:r>
                      <a:r>
                        <a:rPr lang="en-US" altLang="zh-CN" sz="700" b="0" i="0">
                          <a:solidFill>
                            <a:srgbClr val="000000"/>
                          </a:solidFill>
                          <a:latin typeface="微软雅黑" panose="020B0503020204020204" pitchFamily="34" charset="-122"/>
                          <a:ea typeface="微软雅黑" panose="020B0503020204020204" pitchFamily="34" charset="-122"/>
                        </a:rPr>
                        <a:t>75%</a:t>
                      </a:r>
                      <a:r>
                        <a:rPr lang="zh-CN" altLang="en-US" sz="700" b="0" i="0">
                          <a:solidFill>
                            <a:srgbClr val="000000"/>
                          </a:solidFill>
                          <a:latin typeface="微软雅黑" panose="020B0503020204020204" pitchFamily="34" charset="-122"/>
                          <a:ea typeface="微软雅黑" panose="020B0503020204020204" pitchFamily="34" charset="-122"/>
                        </a:rPr>
                        <a:t>以上，且销售额</a:t>
                      </a:r>
                      <a:r>
                        <a:rPr lang="en-US" altLang="zh-CN" sz="700" b="0" i="0">
                          <a:solidFill>
                            <a:srgbClr val="000000"/>
                          </a:solidFill>
                          <a:latin typeface="微软雅黑" panose="020B0503020204020204" pitchFamily="34" charset="-122"/>
                          <a:ea typeface="微软雅黑" panose="020B0503020204020204" pitchFamily="34" charset="-122"/>
                        </a:rPr>
                        <a:t>10</a:t>
                      </a:r>
                      <a:r>
                        <a:rPr lang="zh-CN" altLang="en-US" sz="700" b="0" i="0">
                          <a:solidFill>
                            <a:srgbClr val="000000"/>
                          </a:solidFill>
                          <a:latin typeface="微软雅黑" panose="020B0503020204020204" pitchFamily="34" charset="-122"/>
                          <a:ea typeface="微软雅黑" panose="020B0503020204020204" pitchFamily="34" charset="-122"/>
                        </a:rPr>
                        <a:t>亿元以上高新技术企业达到</a:t>
                      </a:r>
                      <a:r>
                        <a:rPr lang="en-US" altLang="zh-CN" sz="700" b="0" i="0">
                          <a:solidFill>
                            <a:srgbClr val="000000"/>
                          </a:solidFill>
                          <a:latin typeface="微软雅黑" panose="020B0503020204020204" pitchFamily="34" charset="-122"/>
                          <a:ea typeface="微软雅黑" panose="020B0503020204020204" pitchFamily="34" charset="-122"/>
                        </a:rPr>
                        <a:t>5</a:t>
                      </a:r>
                      <a:r>
                        <a:rPr lang="zh-CN" altLang="en-US" sz="700" b="0" i="0">
                          <a:solidFill>
                            <a:srgbClr val="000000"/>
                          </a:solidFill>
                          <a:latin typeface="微软雅黑" panose="020B0503020204020204" pitchFamily="34" charset="-122"/>
                          <a:ea typeface="微软雅黑" panose="020B0503020204020204" pitchFamily="34" charset="-122"/>
                        </a:rPr>
                        <a:t>家（其中上市公司不少于两家）</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无明确要求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已退还</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47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1373505">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基金要求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700" b="1" i="0">
                          <a:solidFill>
                            <a:srgbClr val="FF0000"/>
                          </a:solidFill>
                          <a:latin typeface="微软雅黑" panose="020B0503020204020204" pitchFamily="34" charset="-122"/>
                          <a:ea typeface="微软雅黑" panose="020B0503020204020204" pitchFamily="34" charset="-122"/>
                        </a:rPr>
                        <a:t>不少于</a:t>
                      </a:r>
                      <a:r>
                        <a:rPr lang="en-US" altLang="zh-CN" sz="700" b="1" i="0">
                          <a:solidFill>
                            <a:srgbClr val="FF0000"/>
                          </a:solidFill>
                          <a:latin typeface="微软雅黑" panose="020B0503020204020204" pitchFamily="34" charset="-122"/>
                          <a:ea typeface="微软雅黑" panose="020B0503020204020204" pitchFamily="34" charset="-122"/>
                        </a:rPr>
                        <a:t>10</a:t>
                      </a:r>
                      <a:r>
                        <a:rPr lang="zh-CN" altLang="en-US" sz="700" b="1" i="0">
                          <a:solidFill>
                            <a:srgbClr val="FF0000"/>
                          </a:solidFill>
                          <a:latin typeface="微软雅黑" panose="020B0503020204020204" pitchFamily="34" charset="-122"/>
                          <a:ea typeface="微软雅黑" panose="020B0503020204020204" pitchFamily="34" charset="-122"/>
                        </a:rPr>
                        <a:t>亿元人民币的创新投资基金</a:t>
                      </a:r>
                      <a:endParaRPr lang="zh-CN" altLang="en-US" sz="7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2018</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月</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44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125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50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r>
                        <a:rPr lang="en-US" altLang="zh-CN" sz="700" b="0" i="0">
                          <a:solidFill>
                            <a:srgbClr val="000000"/>
                          </a:solidFill>
                          <a:latin typeface="微软雅黑" panose="020B0503020204020204" pitchFamily="34" charset="-122"/>
                          <a:ea typeface="微软雅黑" panose="020B0503020204020204" pitchFamily="34" charset="-122"/>
                        </a:rPr>
                        <a:t>3.5</a:t>
                      </a:r>
                      <a:r>
                        <a:rPr lang="zh-CN" altLang="en-US" sz="700" b="0" i="0">
                          <a:solidFill>
                            <a:srgbClr val="000000"/>
                          </a:solidFill>
                          <a:latin typeface="微软雅黑" panose="020B0503020204020204" pitchFamily="34" charset="-122"/>
                          <a:ea typeface="微软雅黑" panose="020B0503020204020204" pitchFamily="34" charset="-122"/>
                        </a:rPr>
                        <a:t>亿元</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期基金组建，剩余</a:t>
                      </a:r>
                      <a:r>
                        <a:rPr lang="en-US" altLang="zh-CN" sz="700" b="0" i="0">
                          <a:solidFill>
                            <a:srgbClr val="000000"/>
                          </a:solidFill>
                          <a:latin typeface="微软雅黑" panose="020B0503020204020204" pitchFamily="34" charset="-122"/>
                          <a:ea typeface="微软雅黑" panose="020B0503020204020204" pitchFamily="34" charset="-122"/>
                        </a:rPr>
                        <a:t>6.5</a:t>
                      </a:r>
                      <a:r>
                        <a:rPr lang="zh-CN" altLang="en-US" sz="700" b="0" i="0">
                          <a:solidFill>
                            <a:srgbClr val="000000"/>
                          </a:solidFill>
                          <a:latin typeface="微软雅黑" panose="020B0503020204020204" pitchFamily="34" charset="-122"/>
                          <a:ea typeface="微软雅黑" panose="020B0503020204020204" pitchFamily="34" charset="-122"/>
                        </a:rPr>
                        <a:t>亿元计划与华如科技联合组建，完成基金协议签约并推进认定。</a:t>
                      </a:r>
                      <a:br>
                        <a:rPr lang="zh-CN" altLang="en-US" sz="700" b="0" i="0">
                          <a:solidFill>
                            <a:srgbClr val="000000"/>
                          </a:solidFill>
                          <a:latin typeface="微软雅黑" panose="020B0503020204020204" pitchFamily="34" charset="-122"/>
                          <a:ea typeface="微软雅黑" panose="020B0503020204020204" pitchFamily="34" charset="-122"/>
                        </a:rPr>
                      </a:br>
                      <a:r>
                        <a:rPr lang="en-US" altLang="zh-CN" sz="700" b="0" i="0">
                          <a:solidFill>
                            <a:srgbClr val="000000"/>
                          </a:solidFill>
                          <a:latin typeface="微软雅黑" panose="020B0503020204020204" pitchFamily="34" charset="-122"/>
                          <a:ea typeface="微软雅黑" panose="020B0503020204020204" pitchFamily="34" charset="-122"/>
                        </a:rPr>
                        <a:t>9.18</a:t>
                      </a:r>
                      <a:r>
                        <a:rPr lang="zh-CN" altLang="en-US" sz="700" b="0" i="0">
                          <a:solidFill>
                            <a:srgbClr val="000000"/>
                          </a:solidFill>
                          <a:latin typeface="微软雅黑" panose="020B0503020204020204" pitchFamily="34" charset="-122"/>
                          <a:ea typeface="微软雅黑" panose="020B0503020204020204" pitchFamily="34" charset="-122"/>
                        </a:rPr>
                        <a:t>已通过控股专项会议，同意按此方案继续推进；下阶段：</a:t>
                      </a:r>
                      <a:br>
                        <a:rPr lang="zh-CN" altLang="en-US" sz="700" b="0" i="0">
                          <a:solidFill>
                            <a:srgbClr val="000000"/>
                          </a:solidFill>
                          <a:latin typeface="微软雅黑" panose="020B0503020204020204" pitchFamily="34" charset="-122"/>
                          <a:ea typeface="微软雅黑" panose="020B0503020204020204" pitchFamily="34" charset="-122"/>
                        </a:rPr>
                      </a:br>
                      <a:r>
                        <a:rPr lang="en-US" altLang="zh-CN" sz="700" b="0" i="0">
                          <a:solidFill>
                            <a:srgbClr val="000000"/>
                          </a:solidFill>
                          <a:latin typeface="微软雅黑" panose="020B0503020204020204" pitchFamily="34" charset="-122"/>
                          <a:ea typeface="微软雅黑" panose="020B0503020204020204" pitchFamily="34" charset="-122"/>
                        </a:rPr>
                        <a:t>①</a:t>
                      </a:r>
                      <a:r>
                        <a:rPr lang="zh-CN" altLang="en-US" sz="700" b="0" i="0">
                          <a:solidFill>
                            <a:srgbClr val="000000"/>
                          </a:solidFill>
                          <a:latin typeface="微软雅黑" panose="020B0503020204020204" pitchFamily="34" charset="-122"/>
                          <a:ea typeface="微软雅黑" panose="020B0503020204020204" pitchFamily="34" charset="-122"/>
                        </a:rPr>
                        <a:t>完成</a:t>
                      </a:r>
                      <a:r>
                        <a:rPr lang="en-US" altLang="zh-CN" sz="700" b="0" i="0">
                          <a:solidFill>
                            <a:srgbClr val="000000"/>
                          </a:solidFill>
                          <a:latin typeface="微软雅黑" panose="020B0503020204020204" pitchFamily="34" charset="-122"/>
                          <a:ea typeface="微软雅黑" panose="020B0503020204020204" pitchFamily="34" charset="-122"/>
                        </a:rPr>
                        <a:t>6.5</a:t>
                      </a:r>
                      <a:r>
                        <a:rPr lang="zh-CN" altLang="en-US" sz="700" b="0" i="0">
                          <a:solidFill>
                            <a:srgbClr val="000000"/>
                          </a:solidFill>
                          <a:latin typeface="微软雅黑" panose="020B0503020204020204" pitchFamily="34" charset="-122"/>
                          <a:ea typeface="微软雅黑" panose="020B0503020204020204" pitchFamily="34" charset="-122"/>
                        </a:rPr>
                        <a:t>亿元首期基金合伙协议的定稿和签订；</a:t>
                      </a:r>
                      <a:br>
                        <a:rPr lang="zh-CN" altLang="en-US" sz="700" b="0" i="0">
                          <a:solidFill>
                            <a:srgbClr val="000000"/>
                          </a:solidFill>
                          <a:latin typeface="微软雅黑" panose="020B0503020204020204" pitchFamily="34" charset="-122"/>
                          <a:ea typeface="微软雅黑" panose="020B0503020204020204" pitchFamily="34" charset="-122"/>
                        </a:rPr>
                      </a:br>
                      <a:r>
                        <a:rPr lang="en-US" altLang="zh-CN" sz="700" b="0" i="0">
                          <a:solidFill>
                            <a:srgbClr val="000000"/>
                          </a:solidFill>
                          <a:latin typeface="微软雅黑" panose="020B0503020204020204" pitchFamily="34" charset="-122"/>
                          <a:ea typeface="微软雅黑" panose="020B0503020204020204" pitchFamily="34" charset="-122"/>
                        </a:rPr>
                        <a:t>②</a:t>
                      </a:r>
                      <a:r>
                        <a:rPr lang="zh-CN" altLang="en-US" sz="700" b="0" i="0">
                          <a:solidFill>
                            <a:srgbClr val="000000"/>
                          </a:solidFill>
                          <a:latin typeface="微软雅黑" panose="020B0503020204020204" pitchFamily="34" charset="-122"/>
                          <a:ea typeface="微软雅黑" panose="020B0503020204020204" pitchFamily="34" charset="-122"/>
                        </a:rPr>
                        <a:t>实地考察科实资本核心团队；</a:t>
                      </a:r>
                      <a:br>
                        <a:rPr lang="zh-CN" altLang="en-US" sz="700" b="0" i="0">
                          <a:solidFill>
                            <a:srgbClr val="000000"/>
                          </a:solidFill>
                          <a:latin typeface="微软雅黑" panose="020B0503020204020204" pitchFamily="34" charset="-122"/>
                          <a:ea typeface="微软雅黑" panose="020B0503020204020204" pitchFamily="34" charset="-122"/>
                        </a:rPr>
                      </a:br>
                      <a:r>
                        <a:rPr lang="en-US" altLang="zh-CN" sz="700" b="0" i="0">
                          <a:solidFill>
                            <a:srgbClr val="000000"/>
                          </a:solidFill>
                          <a:latin typeface="微软雅黑" panose="020B0503020204020204" pitchFamily="34" charset="-122"/>
                          <a:ea typeface="微软雅黑" panose="020B0503020204020204" pitchFamily="34" charset="-122"/>
                        </a:rPr>
                        <a:t>③</a:t>
                      </a:r>
                      <a:r>
                        <a:rPr lang="zh-CN" altLang="en-US" sz="700" b="0" i="0">
                          <a:solidFill>
                            <a:srgbClr val="000000"/>
                          </a:solidFill>
                          <a:latin typeface="微软雅黑" panose="020B0503020204020204" pitchFamily="34" charset="-122"/>
                          <a:ea typeface="微软雅黑" panose="020B0503020204020204" pitchFamily="34" charset="-122"/>
                        </a:rPr>
                        <a:t>与华如科技及科实资本推动首期</a:t>
                      </a:r>
                      <a:r>
                        <a:rPr lang="en-US" altLang="zh-CN" sz="700" b="0" i="0">
                          <a:solidFill>
                            <a:srgbClr val="000000"/>
                          </a:solidFill>
                          <a:latin typeface="微软雅黑" panose="020B0503020204020204" pitchFamily="34" charset="-122"/>
                          <a:ea typeface="微软雅黑" panose="020B0503020204020204" pitchFamily="34" charset="-122"/>
                        </a:rPr>
                        <a:t>5000</a:t>
                      </a:r>
                      <a:r>
                        <a:rPr lang="zh-CN" altLang="en-US" sz="700" b="0" i="0">
                          <a:solidFill>
                            <a:srgbClr val="000000"/>
                          </a:solidFill>
                          <a:latin typeface="微软雅黑" panose="020B0503020204020204" pitchFamily="34" charset="-122"/>
                          <a:ea typeface="微软雅黑" panose="020B0503020204020204" pitchFamily="34" charset="-122"/>
                        </a:rPr>
                        <a:t>万元基金组建并提报中基协备案受理。目前与政府铁管委、街道、金融局等部门沟通，</a:t>
                      </a:r>
                      <a:r>
                        <a:rPr lang="en-US" altLang="zh-CN" sz="700" b="0" i="0">
                          <a:solidFill>
                            <a:srgbClr val="000000"/>
                          </a:solidFill>
                          <a:latin typeface="微软雅黑" panose="020B0503020204020204" pitchFamily="34" charset="-122"/>
                          <a:ea typeface="微软雅黑" panose="020B0503020204020204" pitchFamily="34" charset="-122"/>
                        </a:rPr>
                        <a:t>5000</a:t>
                      </a:r>
                      <a:r>
                        <a:rPr lang="zh-CN" altLang="en-US" sz="700" b="0" i="0">
                          <a:solidFill>
                            <a:srgbClr val="000000"/>
                          </a:solidFill>
                          <a:latin typeface="微软雅黑" panose="020B0503020204020204" pitchFamily="34" charset="-122"/>
                          <a:ea typeface="微软雅黑" panose="020B0503020204020204" pitchFamily="34" charset="-122"/>
                        </a:rPr>
                        <a:t>万元基金实际成立并备案受理后，即可申请保函解除；相应保函解除后，后续二期、三期基金（共</a:t>
                      </a:r>
                      <a:r>
                        <a:rPr lang="en-US" altLang="zh-CN" sz="700" b="0" i="0">
                          <a:solidFill>
                            <a:srgbClr val="000000"/>
                          </a:solidFill>
                          <a:latin typeface="微软雅黑" panose="020B0503020204020204" pitchFamily="34" charset="-122"/>
                          <a:ea typeface="微软雅黑" panose="020B0503020204020204" pitchFamily="34" charset="-122"/>
                        </a:rPr>
                        <a:t>6</a:t>
                      </a:r>
                      <a:r>
                        <a:rPr lang="zh-CN" altLang="en-US" sz="700" b="0" i="0">
                          <a:solidFill>
                            <a:srgbClr val="000000"/>
                          </a:solidFill>
                          <a:latin typeface="微软雅黑" panose="020B0503020204020204" pitchFamily="34" charset="-122"/>
                          <a:ea typeface="微软雅黑" panose="020B0503020204020204" pitchFamily="34" charset="-122"/>
                        </a:rPr>
                        <a:t>亿元）运作，无实际出资及履约要求。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预计于</a:t>
                      </a:r>
                      <a:r>
                        <a:rPr lang="en-US" altLang="zh-CN" sz="700" b="0" i="0">
                          <a:solidFill>
                            <a:srgbClr val="000000"/>
                          </a:solidFill>
                          <a:latin typeface="微软雅黑" panose="020B0503020204020204" pitchFamily="34" charset="-122"/>
                          <a:ea typeface="微软雅黑" panose="020B0503020204020204" pitchFamily="34" charset="-122"/>
                        </a:rPr>
                        <a:t>26</a:t>
                      </a:r>
                      <a:r>
                        <a:rPr lang="zh-CN" altLang="en-US" sz="700" b="0" i="0">
                          <a:solidFill>
                            <a:srgbClr val="000000"/>
                          </a:solidFill>
                          <a:latin typeface="微软雅黑" panose="020B0503020204020204" pitchFamily="34" charset="-122"/>
                          <a:ea typeface="微软雅黑" panose="020B0503020204020204" pitchFamily="34" charset="-122"/>
                        </a:rPr>
                        <a:t>年</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月完成基金保函退还</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46380">
                <a:tc rowSpan="3">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人才项目</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每年推荐</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名人才申报国家级海外高层次人才引进计划</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2022</a:t>
                      </a:r>
                      <a:r>
                        <a:rPr lang="zh-CN" altLang="en-US" sz="700" b="0" i="0">
                          <a:solidFill>
                            <a:srgbClr val="000000"/>
                          </a:solidFill>
                          <a:latin typeface="微软雅黑" panose="020B0503020204020204" pitchFamily="34" charset="-122"/>
                          <a:ea typeface="微软雅黑" panose="020B0503020204020204" pitchFamily="34" charset="-122"/>
                        </a:rPr>
                        <a:t>年</a:t>
                      </a:r>
                      <a:br>
                        <a:rPr lang="zh-CN" altLang="en-US" sz="700" b="0" i="0">
                          <a:solidFill>
                            <a:srgbClr val="000000"/>
                          </a:solidFill>
                          <a:latin typeface="微软雅黑" panose="020B0503020204020204" pitchFamily="34" charset="-122"/>
                          <a:ea typeface="微软雅黑" panose="020B0503020204020204" pitchFamily="34" charset="-122"/>
                        </a:rPr>
                      </a:br>
                      <a:r>
                        <a:rPr lang="en-US" altLang="zh-CN" sz="700" b="0" i="0">
                          <a:solidFill>
                            <a:srgbClr val="000000"/>
                          </a:solidFill>
                          <a:latin typeface="微软雅黑" panose="020B0503020204020204" pitchFamily="34" charset="-122"/>
                          <a:ea typeface="微软雅黑" panose="020B0503020204020204" pitchFamily="34" charset="-122"/>
                        </a:rPr>
                        <a:t>2023</a:t>
                      </a:r>
                      <a:r>
                        <a:rPr lang="zh-CN" altLang="en-US" sz="700" b="0" i="0">
                          <a:solidFill>
                            <a:srgbClr val="000000"/>
                          </a:solidFill>
                          <a:latin typeface="微软雅黑" panose="020B0503020204020204" pitchFamily="34" charset="-122"/>
                          <a:ea typeface="微软雅黑" panose="020B0503020204020204" pitchFamily="34" charset="-122"/>
                        </a:rPr>
                        <a:t>年</a:t>
                      </a:r>
                      <a:br>
                        <a:rPr lang="zh-CN" altLang="en-US" sz="700" b="0" i="0">
                          <a:solidFill>
                            <a:srgbClr val="000000"/>
                          </a:solidFill>
                          <a:latin typeface="微软雅黑" panose="020B0503020204020204" pitchFamily="34" charset="-122"/>
                          <a:ea typeface="微软雅黑" panose="020B0503020204020204" pitchFamily="34" charset="-122"/>
                        </a:rPr>
                      </a:br>
                      <a:r>
                        <a:rPr lang="en-US" altLang="zh-CN" sz="700" b="0" i="0">
                          <a:solidFill>
                            <a:srgbClr val="000000"/>
                          </a:solidFill>
                          <a:latin typeface="微软雅黑" panose="020B0503020204020204" pitchFamily="34" charset="-122"/>
                          <a:ea typeface="微软雅黑" panose="020B0503020204020204" pitchFamily="34" charset="-122"/>
                        </a:rPr>
                        <a:t>2024</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3,000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3,000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已退还</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381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752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每年至少推荐</a:t>
                      </a:r>
                      <a:r>
                        <a:rPr lang="en-US" altLang="zh-CN" sz="700" b="0" i="0">
                          <a:solidFill>
                            <a:srgbClr val="000000"/>
                          </a:solidFill>
                          <a:latin typeface="微软雅黑" panose="020B0503020204020204" pitchFamily="34" charset="-122"/>
                          <a:ea typeface="微软雅黑" panose="020B0503020204020204" pitchFamily="34" charset="-122"/>
                        </a:rPr>
                        <a:t>2</a:t>
                      </a:r>
                      <a:r>
                        <a:rPr lang="zh-CN" altLang="en-US" sz="700" b="0" i="0">
                          <a:solidFill>
                            <a:srgbClr val="000000"/>
                          </a:solidFill>
                          <a:latin typeface="微软雅黑" panose="020B0503020204020204" pitchFamily="34" charset="-122"/>
                          <a:ea typeface="微软雅黑" panose="020B0503020204020204" pitchFamily="34" charset="-122"/>
                        </a:rPr>
                        <a:t>名人才、</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个团队和</a:t>
                      </a:r>
                      <a:r>
                        <a:rPr lang="en-US" altLang="zh-CN" sz="700" b="0" i="0">
                          <a:solidFill>
                            <a:srgbClr val="000000"/>
                          </a:solidFill>
                          <a:latin typeface="微软雅黑" panose="020B0503020204020204" pitchFamily="34" charset="-122"/>
                          <a:ea typeface="微软雅黑" panose="020B0503020204020204" pitchFamily="34" charset="-122"/>
                        </a:rPr>
                        <a:t>3</a:t>
                      </a:r>
                      <a:r>
                        <a:rPr lang="zh-CN" altLang="en-US" sz="700" b="0" i="0">
                          <a:solidFill>
                            <a:srgbClr val="000000"/>
                          </a:solidFill>
                          <a:latin typeface="微软雅黑" panose="020B0503020204020204" pitchFamily="34" charset="-122"/>
                          <a:ea typeface="微软雅黑" panose="020B0503020204020204" pitchFamily="34" charset="-122"/>
                        </a:rPr>
                        <a:t>名人才分别申报江苏省高层次创新创业人才引进计划</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tcPr>
                </a:tc>
                <a:tc vMerge="1">
                  <a:tcPr>
                    <a:lnL w="6350" cap="flat" cmpd="sng">
                      <a:solidFill>
                        <a:srgbClr val="000000"/>
                      </a:solidFill>
                      <a:prstDash val="solid"/>
                      <a:headEnd type="none" w="med" len="med"/>
                      <a:tailEnd type="none" w="med" len="med"/>
                    </a:lnL>
                  </a:tcPr>
                </a:tc>
              </a:tr>
              <a:tr h="43624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每年至少推荐</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名人才申报南京市“科技顶尖专家集聚计划”</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B w="6350" cap="flat" cmpd="sng">
                      <a:solidFill>
                        <a:srgbClr val="000000"/>
                      </a:solidFill>
                      <a:prstDash val="solid"/>
                      <a:headEnd type="none" w="med" len="med"/>
                      <a:tailEnd type="none" w="med" len="med"/>
                    </a:lnB>
                  </a:tcPr>
                </a:tc>
              </a:tr>
              <a:tr h="288925">
                <a:tc rowSpan="2">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税收要求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产业地块：在玄武区缴纳税收不低于</a:t>
                      </a:r>
                      <a:r>
                        <a:rPr lang="en-US" altLang="zh-CN" sz="700" b="0" i="0">
                          <a:solidFill>
                            <a:srgbClr val="000000"/>
                          </a:solidFill>
                          <a:latin typeface="微软雅黑" panose="020B0503020204020204" pitchFamily="34" charset="-122"/>
                          <a:ea typeface="微软雅黑" panose="020B0503020204020204" pitchFamily="34" charset="-122"/>
                        </a:rPr>
                        <a:t>1</a:t>
                      </a:r>
                      <a:r>
                        <a:rPr lang="zh-CN" altLang="en-US" sz="700" b="0" i="0">
                          <a:solidFill>
                            <a:srgbClr val="000000"/>
                          </a:solidFill>
                          <a:latin typeface="微软雅黑" panose="020B0503020204020204" pitchFamily="34" charset="-122"/>
                          <a:ea typeface="微软雅黑" panose="020B0503020204020204" pitchFamily="34" charset="-122"/>
                        </a:rPr>
                        <a:t>亿</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2023</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2,000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2,000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a:t>
                      </a:r>
                      <a:r>
                        <a:rPr lang="en-US" altLang="zh-CN" sz="700" b="0" i="0">
                          <a:solidFill>
                            <a:srgbClr val="000000"/>
                          </a:solidFill>
                          <a:latin typeface="微软雅黑" panose="020B0503020204020204" pitchFamily="34" charset="-122"/>
                          <a:ea typeface="微软雅黑" panose="020B0503020204020204" pitchFamily="34" charset="-122"/>
                        </a:rPr>
                        <a:t>9</a:t>
                      </a:r>
                      <a:r>
                        <a:rPr lang="zh-CN" altLang="en-US" sz="700" b="0" i="0">
                          <a:solidFill>
                            <a:srgbClr val="000000"/>
                          </a:solidFill>
                          <a:latin typeface="微软雅黑" panose="020B0503020204020204" pitchFamily="34" charset="-122"/>
                          <a:ea typeface="微软雅黑" panose="020B0503020204020204" pitchFamily="34" charset="-122"/>
                        </a:rPr>
                        <a:t>月</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19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315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300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无</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l" fontAlgn="ctr"/>
                      <a:r>
                        <a:rPr lang="en-US" altLang="zh-CN" sz="700" b="0" i="0">
                          <a:solidFill>
                            <a:srgbClr val="000000"/>
                          </a:solidFill>
                          <a:latin typeface="微软雅黑" panose="020B0503020204020204" pitchFamily="34" charset="-122"/>
                          <a:ea typeface="微软雅黑" panose="020B0503020204020204" pitchFamily="34" charset="-122"/>
                        </a:rPr>
                        <a:t>3</a:t>
                      </a:r>
                      <a:r>
                        <a:rPr lang="zh-CN" altLang="en-US" sz="700" b="0" i="0">
                          <a:solidFill>
                            <a:srgbClr val="000000"/>
                          </a:solidFill>
                          <a:latin typeface="微软雅黑" panose="020B0503020204020204" pitchFamily="34" charset="-122"/>
                          <a:ea typeface="微软雅黑" panose="020B0503020204020204" pitchFamily="34" charset="-122"/>
                        </a:rPr>
                        <a:t>年税收要求已经达成，已向管委会提交书面税收认定申请函。剩余部分榜单企业正在整合平台资源推进中以及其他项目建设、基金等，待完成后结合税收要求一并提交认定并解除。</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与街道认定榜单企业，待商置开业后，与政府沟通，取回保函</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8829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产业地块：在玄武区缴纳全口径税收不低于</a:t>
                      </a:r>
                      <a:r>
                        <a:rPr lang="en-US" altLang="zh-CN" sz="700" b="0" i="0">
                          <a:solidFill>
                            <a:srgbClr val="000000"/>
                          </a:solidFill>
                          <a:latin typeface="微软雅黑" panose="020B0503020204020204" pitchFamily="34" charset="-122"/>
                          <a:ea typeface="微软雅黑" panose="020B0503020204020204" pitchFamily="34" charset="-122"/>
                        </a:rPr>
                        <a:t>3</a:t>
                      </a:r>
                      <a:r>
                        <a:rPr lang="zh-CN" altLang="en-US" sz="700" b="0" i="0">
                          <a:solidFill>
                            <a:srgbClr val="000000"/>
                          </a:solidFill>
                          <a:latin typeface="微软雅黑" panose="020B0503020204020204" pitchFamily="34" charset="-122"/>
                          <a:ea typeface="微软雅黑" panose="020B0503020204020204" pitchFamily="34" charset="-122"/>
                        </a:rPr>
                        <a:t>亿</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2025</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a:t>
                      </a:r>
                      <a:r>
                        <a:rPr lang="en-US" altLang="zh-CN" sz="700" b="0" i="0">
                          <a:solidFill>
                            <a:srgbClr val="000000"/>
                          </a:solidFill>
                          <a:latin typeface="微软雅黑" panose="020B0503020204020204" pitchFamily="34" charset="-122"/>
                          <a:ea typeface="微软雅黑" panose="020B0503020204020204" pitchFamily="34" charset="-122"/>
                        </a:rPr>
                        <a:t>300</a:t>
                      </a:r>
                      <a:r>
                        <a:rPr lang="zh-CN" altLang="en-US" sz="700" b="0" i="0">
                          <a:solidFill>
                            <a:srgbClr val="000000"/>
                          </a:solidFill>
                          <a:latin typeface="微软雅黑" panose="020B0503020204020204" pitchFamily="34" charset="-122"/>
                          <a:ea typeface="微软雅黑" panose="020B0503020204020204" pitchFamily="34" charset="-122"/>
                        </a:rPr>
                        <a:t>万</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tcPr>
                </a:tc>
              </a:tr>
              <a:tr h="192405">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其他要求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700" b="0" i="0">
                          <a:solidFill>
                            <a:srgbClr val="000000"/>
                          </a:solidFill>
                          <a:latin typeface="微软雅黑" panose="020B0503020204020204" pitchFamily="34" charset="-122"/>
                          <a:ea typeface="微软雅黑" panose="020B0503020204020204" pitchFamily="34" charset="-122"/>
                        </a:rPr>
                        <a:t>综合性验收</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B w="6350" cap="flat" cmpd="sng">
                      <a:solidFill>
                        <a:srgbClr val="000000"/>
                      </a:solidFill>
                      <a:prstDash val="solid"/>
                      <a:headEnd type="none" w="med" len="med"/>
                      <a:tailEnd type="none" w="med" len="med"/>
                    </a:lnB>
                  </a:tcPr>
                </a:tc>
              </a:tr>
              <a:tr h="198120">
                <a:tc gridSpan="3">
                  <a:txBody>
                    <a:bodyPr/>
                    <a:p>
                      <a:pPr algn="ctr" fontAlgn="ctr"/>
                      <a:r>
                        <a:rPr lang="zh-CN" altLang="en-US" sz="700" b="1" i="0">
                          <a:solidFill>
                            <a:srgbClr val="000000"/>
                          </a:solidFill>
                          <a:latin typeface="微软雅黑" panose="020B0503020204020204" pitchFamily="34" charset="-122"/>
                          <a:ea typeface="微软雅黑" panose="020B0503020204020204" pitchFamily="34" charset="-122"/>
                        </a:rPr>
                        <a:t>产业小计</a:t>
                      </a:r>
                      <a:endParaRPr lang="zh-CN" altLang="en-US"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hMerge="1">
                  <a:tcP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16,000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10,000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6,000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6,000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1,129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440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350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bl>
          </a:graphicData>
        </a:graphic>
      </p:graphicFrame>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9250" y="238125"/>
            <a:ext cx="7933055" cy="359410"/>
          </a:xfrm>
        </p:spPr>
        <p:txBody>
          <a:bodyPr/>
          <a:lstStyle/>
          <a:p>
            <a:pPr lvl="0">
              <a:defRPr/>
            </a:pPr>
            <a:r>
              <a:rPr kumimoji="0" lang="zh-CN" altLang="en-US" sz="1800" b="1" i="0" u="none" strike="noStrike" kern="1200" cap="none" spc="-41" normalizeH="0" baseline="0" noProof="0" dirty="0">
                <a:ln>
                  <a:noFill/>
                </a:ln>
                <a:solidFill>
                  <a:schemeClr val="tx1">
                    <a:lumMod val="75000"/>
                    <a:lumOff val="25000"/>
                  </a:schemeClr>
                </a:solidFill>
                <a:effectLst/>
                <a:highlight>
                  <a:srgbClr val="000000">
                    <a:alpha val="0"/>
                  </a:srgbClr>
                </a:highlight>
                <a:uLnTx/>
                <a:uFillTx/>
              </a:rPr>
              <a:t>第三部分</a:t>
            </a:r>
            <a:r>
              <a:rPr kumimoji="0" lang="zh-CN" altLang="en-US" sz="1800" b="1" i="0" u="none" strike="noStrike" kern="1200" cap="none" spc="-41" normalizeH="0" baseline="0" noProof="0" dirty="0" smtClean="0">
                <a:ln>
                  <a:noFill/>
                </a:ln>
                <a:solidFill>
                  <a:schemeClr val="tx1">
                    <a:lumMod val="75000"/>
                    <a:lumOff val="25000"/>
                  </a:schemeClr>
                </a:solidFill>
                <a:effectLst/>
                <a:highlight>
                  <a:srgbClr val="000000">
                    <a:alpha val="0"/>
                  </a:srgbClr>
                </a:highlight>
                <a:uLnTx/>
                <a:uFillTx/>
              </a:rPr>
              <a:t>：</a:t>
            </a:r>
            <a:r>
              <a:rPr kumimoji="0" lang="en-US" altLang="zh-CN" sz="1800" b="1" i="0" u="none" strike="noStrike" kern="1200" cap="none" spc="-41" normalizeH="0" baseline="0" noProof="0" dirty="0" smtClean="0">
                <a:ln>
                  <a:noFill/>
                </a:ln>
                <a:solidFill>
                  <a:schemeClr val="tx1">
                    <a:lumMod val="75000"/>
                    <a:lumOff val="25000"/>
                  </a:schemeClr>
                </a:solidFill>
                <a:effectLst/>
                <a:highlight>
                  <a:srgbClr val="000000">
                    <a:alpha val="0"/>
                  </a:srgbClr>
                </a:highlight>
                <a:uLnTx/>
                <a:uFillTx/>
              </a:rPr>
              <a:t>2026年预算编制报告</a:t>
            </a:r>
            <a:r>
              <a:rPr kumimoji="0" lang="en-US" altLang="zh-CN" sz="1800" b="1" i="0" u="none" strike="noStrike" kern="1200" cap="none" spc="-41" normalizeH="0" baseline="0" noProof="0" dirty="0" smtClean="0">
                <a:ln>
                  <a:noFill/>
                </a:ln>
                <a:solidFill>
                  <a:schemeClr val="tx1">
                    <a:lumMod val="75000"/>
                    <a:lumOff val="25000"/>
                  </a:schemeClr>
                </a:solidFill>
                <a:effectLst/>
                <a:highlight>
                  <a:srgbClr val="000000">
                    <a:alpha val="0"/>
                  </a:srgbClr>
                </a:highlight>
                <a:uLnTx/>
                <a:uFillTx/>
              </a:rPr>
              <a:t>-</a:t>
            </a:r>
            <a:r>
              <a:rPr lang="zh-CN" altLang="en-US" b="1" dirty="0">
                <a:solidFill>
                  <a:srgbClr val="002060"/>
                </a:solidFill>
                <a:highlight>
                  <a:srgbClr val="000000">
                    <a:alpha val="0"/>
                  </a:srgbClr>
                </a:highlight>
                <a:sym typeface="+mn-ea"/>
              </a:rPr>
              <a:t>政府考核专项预算情况</a:t>
            </a:r>
            <a:r>
              <a:rPr kumimoji="0" lang="zh-CN" altLang="en-US" sz="1800" b="1" i="0" u="none" strike="noStrike" kern="1200" cap="none" spc="-41" normalizeH="0" baseline="0" noProof="0" dirty="0">
                <a:ln>
                  <a:noFill/>
                </a:ln>
                <a:solidFill>
                  <a:srgbClr val="002060"/>
                </a:solidFill>
                <a:effectLst/>
                <a:highlight>
                  <a:srgbClr val="000000">
                    <a:alpha val="0"/>
                  </a:srgbClr>
                </a:highlight>
                <a:uLnTx/>
                <a:uFillTx/>
              </a:rPr>
              <a:t>（南京公司</a:t>
            </a:r>
            <a:r>
              <a:rPr kumimoji="0" lang="en-US" altLang="zh-CN" sz="1800" b="1" i="0" u="none" strike="noStrike" kern="1200" cap="none" spc="-41" normalizeH="0" baseline="0" noProof="0" dirty="0">
                <a:ln>
                  <a:noFill/>
                </a:ln>
                <a:solidFill>
                  <a:srgbClr val="002060"/>
                </a:solidFill>
                <a:effectLst/>
                <a:highlight>
                  <a:srgbClr val="000000">
                    <a:alpha val="0"/>
                  </a:srgbClr>
                </a:highlight>
                <a:uLnTx/>
                <a:uFillTx/>
              </a:rPr>
              <a:t>2</a:t>
            </a:r>
            <a:r>
              <a:rPr kumimoji="0" lang="zh-CN" altLang="en-US" sz="1800" b="1" i="0" u="none" strike="noStrike" kern="1200" cap="none" spc="-41" normalizeH="0" baseline="0" noProof="0" dirty="0">
                <a:ln>
                  <a:noFill/>
                </a:ln>
                <a:solidFill>
                  <a:srgbClr val="002060"/>
                </a:solidFill>
                <a:effectLst/>
                <a:highlight>
                  <a:srgbClr val="000000">
                    <a:alpha val="0"/>
                  </a:srgbClr>
                </a:highlight>
                <a:uLnTx/>
                <a:uFillTx/>
              </a:rPr>
              <a:t>）</a:t>
            </a:r>
            <a:endParaRPr kumimoji="0" lang="zh-CN" altLang="en-US" sz="1800" b="1" i="0" u="none" strike="noStrike" kern="1200" cap="none" spc="-41" normalizeH="0" baseline="0" noProof="0" dirty="0">
              <a:ln>
                <a:noFill/>
              </a:ln>
              <a:solidFill>
                <a:srgbClr val="002060"/>
              </a:solidFill>
              <a:effectLst/>
              <a:highlight>
                <a:srgbClr val="000000">
                  <a:alpha val="0"/>
                </a:srgbClr>
              </a:highligh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2" name="表格 1"/>
          <p:cNvGraphicFramePr/>
          <p:nvPr>
            <p:custDataLst>
              <p:tags r:id="rId1"/>
            </p:custDataLst>
          </p:nvPr>
        </p:nvGraphicFramePr>
        <p:xfrm>
          <a:off x="349250" y="741680"/>
          <a:ext cx="9139555" cy="4585970"/>
        </p:xfrm>
        <a:graphic>
          <a:graphicData uri="http://schemas.openxmlformats.org/drawingml/2006/table">
            <a:tbl>
              <a:tblPr/>
              <a:tblGrid>
                <a:gridCol w="532130"/>
                <a:gridCol w="1159510"/>
                <a:gridCol w="549910"/>
                <a:gridCol w="665480"/>
                <a:gridCol w="603250"/>
                <a:gridCol w="549275"/>
                <a:gridCol w="549275"/>
                <a:gridCol w="549275"/>
                <a:gridCol w="549910"/>
                <a:gridCol w="616585"/>
                <a:gridCol w="616585"/>
                <a:gridCol w="549910"/>
                <a:gridCol w="469265"/>
                <a:gridCol w="732155"/>
                <a:gridCol w="447040"/>
              </a:tblGrid>
              <a:tr h="803910">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类型</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考核内容</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时间</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实缴保证金</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保函</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实缴时间</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截止</a:t>
                      </a:r>
                      <a:r>
                        <a:rPr lang="en-US" altLang="zh-CN" sz="800" b="1" i="0">
                          <a:solidFill>
                            <a:srgbClr val="000000"/>
                          </a:solidFill>
                          <a:latin typeface="微软雅黑" panose="020B0503020204020204" pitchFamily="34" charset="-122"/>
                          <a:ea typeface="微软雅黑" panose="020B0503020204020204" pitchFamily="34" charset="-122"/>
                        </a:rPr>
                        <a:t>2025</a:t>
                      </a:r>
                      <a:r>
                        <a:rPr lang="zh-CN" altLang="en-US" sz="800" b="1" i="0">
                          <a:solidFill>
                            <a:srgbClr val="000000"/>
                          </a:solidFill>
                          <a:latin typeface="微软雅黑" panose="020B0503020204020204" pitchFamily="34" charset="-122"/>
                          <a:ea typeface="微软雅黑" panose="020B0503020204020204" pitchFamily="34" charset="-122"/>
                        </a:rPr>
                        <a:t>年末已退保证金</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保函</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未来预计退还保证金</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保函</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其中：预计</a:t>
                      </a:r>
                      <a:r>
                        <a:rPr lang="en-US" altLang="zh-CN" sz="800" b="1" i="0">
                          <a:solidFill>
                            <a:srgbClr val="000000"/>
                          </a:solidFill>
                          <a:latin typeface="微软雅黑" panose="020B0503020204020204" pitchFamily="34" charset="-122"/>
                          <a:ea typeface="微软雅黑" panose="020B0503020204020204" pitchFamily="34" charset="-122"/>
                        </a:rPr>
                        <a:t>2026</a:t>
                      </a:r>
                      <a:r>
                        <a:rPr lang="zh-CN" altLang="en-US" sz="800" b="1" i="0">
                          <a:solidFill>
                            <a:srgbClr val="000000"/>
                          </a:solidFill>
                          <a:latin typeface="微软雅黑" panose="020B0503020204020204" pitchFamily="34" charset="-122"/>
                          <a:ea typeface="微软雅黑" panose="020B0503020204020204" pitchFamily="34" charset="-122"/>
                        </a:rPr>
                        <a:t>年退还保证金</a:t>
                      </a:r>
                      <a:r>
                        <a:rPr lang="en-US" altLang="zh-CN" sz="800" b="1" i="0">
                          <a:solidFill>
                            <a:srgbClr val="000000"/>
                          </a:solidFill>
                          <a:latin typeface="微软雅黑" panose="020B0503020204020204" pitchFamily="34" charset="-122"/>
                          <a:ea typeface="微软雅黑" panose="020B0503020204020204" pitchFamily="34" charset="-122"/>
                        </a:rPr>
                        <a:t>/</a:t>
                      </a:r>
                      <a:r>
                        <a:rPr lang="zh-CN" altLang="en-US" sz="800" b="1" i="0">
                          <a:solidFill>
                            <a:srgbClr val="000000"/>
                          </a:solidFill>
                          <a:latin typeface="微软雅黑" panose="020B0503020204020204" pitchFamily="34" charset="-122"/>
                          <a:ea typeface="微软雅黑" panose="020B0503020204020204" pitchFamily="34" charset="-122"/>
                        </a:rPr>
                        <a:t>保函</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预计退还时间</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为满足考核已付专项资金</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未来预计支付专项资金</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其中：预计</a:t>
                      </a:r>
                      <a:r>
                        <a:rPr lang="en-US" altLang="zh-CN" sz="800" b="1" i="0">
                          <a:solidFill>
                            <a:srgbClr val="000000"/>
                          </a:solidFill>
                          <a:latin typeface="微软雅黑" panose="020B0503020204020204" pitchFamily="34" charset="-122"/>
                          <a:ea typeface="微软雅黑" panose="020B0503020204020204" pitchFamily="34" charset="-122"/>
                        </a:rPr>
                        <a:t>2026</a:t>
                      </a:r>
                      <a:r>
                        <a:rPr lang="zh-CN" altLang="en-US" sz="800" b="1" i="0">
                          <a:solidFill>
                            <a:srgbClr val="000000"/>
                          </a:solidFill>
                          <a:latin typeface="微软雅黑" panose="020B0503020204020204" pitchFamily="34" charset="-122"/>
                          <a:ea typeface="微软雅黑" panose="020B0503020204020204" pitchFamily="34" charset="-122"/>
                        </a:rPr>
                        <a:t>年支付专项资金</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未来支付时间</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800" b="1" i="0">
                          <a:solidFill>
                            <a:srgbClr val="000000"/>
                          </a:solidFill>
                          <a:latin typeface="微软雅黑" panose="020B0503020204020204" pitchFamily="34" charset="-122"/>
                          <a:ea typeface="微软雅黑" panose="020B0503020204020204" pitchFamily="34" charset="-122"/>
                        </a:rPr>
                        <a:t>目前进度</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c>
                  <a:txBody>
                    <a:bodyPr/>
                    <a:p>
                      <a:pPr algn="ctr" fontAlgn="ctr"/>
                      <a:r>
                        <a:rPr lang="en-US" altLang="zh-CN" sz="800" b="1" i="0">
                          <a:solidFill>
                            <a:srgbClr val="000000"/>
                          </a:solidFill>
                          <a:latin typeface="微软雅黑" panose="020B0503020204020204" pitchFamily="34" charset="-122"/>
                          <a:ea typeface="微软雅黑" panose="020B0503020204020204" pitchFamily="34" charset="-122"/>
                        </a:rPr>
                        <a:t>2026</a:t>
                      </a:r>
                      <a:r>
                        <a:rPr lang="zh-CN" altLang="en-US" sz="800" b="1" i="0">
                          <a:solidFill>
                            <a:srgbClr val="000000"/>
                          </a:solidFill>
                          <a:latin typeface="微软雅黑" panose="020B0503020204020204" pitchFamily="34" charset="-122"/>
                          <a:ea typeface="微软雅黑" panose="020B0503020204020204" pitchFamily="34" charset="-122"/>
                        </a:rPr>
                        <a:t>年工作计划</a:t>
                      </a:r>
                      <a:endParaRPr lang="zh-CN" altLang="en-US" sz="8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r>
              <a:tr h="551180">
                <a:tc rowSpan="5">
                  <a:txBody>
                    <a:bodyPr/>
                    <a:p>
                      <a:pPr algn="ctr" fontAlgn="ctr"/>
                      <a:r>
                        <a:rPr lang="zh-CN" altLang="en-US" sz="700" b="0" i="0">
                          <a:solidFill>
                            <a:schemeClr val="tx1"/>
                          </a:solidFill>
                          <a:latin typeface="微软雅黑" panose="020B0503020204020204" pitchFamily="34" charset="-122"/>
                          <a:ea typeface="微软雅黑" panose="020B0503020204020204" pitchFamily="34" charset="-122"/>
                        </a:rPr>
                        <a:t>进度要求</a:t>
                      </a:r>
                      <a:endParaRPr lang="zh-CN" altLang="en-US" sz="7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1" i="0">
                          <a:solidFill>
                            <a:srgbClr val="FF0000"/>
                          </a:solidFill>
                          <a:latin typeface="微软雅黑" panose="020B0503020204020204" pitchFamily="34" charset="-122"/>
                          <a:ea typeface="微软雅黑" panose="020B0503020204020204" pitchFamily="34" charset="-122"/>
                        </a:rPr>
                        <a:t>A</a:t>
                      </a:r>
                      <a:r>
                        <a:rPr lang="zh-CN" altLang="en-US" sz="600" b="1" i="0">
                          <a:solidFill>
                            <a:srgbClr val="FF0000"/>
                          </a:solidFill>
                          <a:latin typeface="微软雅黑" panose="020B0503020204020204" pitchFamily="34" charset="-122"/>
                          <a:ea typeface="微软雅黑" panose="020B0503020204020204" pitchFamily="34" charset="-122"/>
                        </a:rPr>
                        <a:t>地块为商住商办混合用地，需整体自持至少</a:t>
                      </a:r>
                      <a:r>
                        <a:rPr lang="en-US" altLang="zh-CN" sz="600" b="1" i="0">
                          <a:solidFill>
                            <a:srgbClr val="FF0000"/>
                          </a:solidFill>
                          <a:latin typeface="微软雅黑" panose="020B0503020204020204" pitchFamily="34" charset="-122"/>
                          <a:ea typeface="微软雅黑" panose="020B0503020204020204" pitchFamily="34" charset="-122"/>
                        </a:rPr>
                        <a:t>10</a:t>
                      </a:r>
                      <a:r>
                        <a:rPr lang="zh-CN" altLang="en-US" sz="600" b="1" i="0">
                          <a:solidFill>
                            <a:srgbClr val="FF0000"/>
                          </a:solidFill>
                          <a:latin typeface="微软雅黑" panose="020B0503020204020204" pitchFamily="34" charset="-122"/>
                          <a:ea typeface="微软雅黑" panose="020B0503020204020204" pitchFamily="34" charset="-122"/>
                        </a:rPr>
                        <a:t>年不少于</a:t>
                      </a:r>
                      <a:r>
                        <a:rPr lang="en-US" altLang="zh-CN" sz="600" b="1" i="0">
                          <a:solidFill>
                            <a:srgbClr val="FF0000"/>
                          </a:solidFill>
                          <a:latin typeface="微软雅黑" panose="020B0503020204020204" pitchFamily="34" charset="-122"/>
                          <a:ea typeface="微软雅黑" panose="020B0503020204020204" pitchFamily="34" charset="-122"/>
                        </a:rPr>
                        <a:t>4</a:t>
                      </a:r>
                      <a:r>
                        <a:rPr lang="zh-CN" altLang="en-US" sz="600" b="1" i="0">
                          <a:solidFill>
                            <a:srgbClr val="FF0000"/>
                          </a:solidFill>
                          <a:latin typeface="微软雅黑" panose="020B0503020204020204" pitchFamily="34" charset="-122"/>
                          <a:ea typeface="微软雅黑" panose="020B0503020204020204" pitchFamily="34" charset="-122"/>
                        </a:rPr>
                        <a:t>万平方米的集中商业</a:t>
                      </a:r>
                      <a:endParaRPr lang="zh-CN" altLang="en-US" sz="6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2024</a:t>
                      </a:r>
                      <a:r>
                        <a:rPr lang="zh-CN" altLang="en-US" sz="600" b="0" i="0">
                          <a:solidFill>
                            <a:srgbClr val="000000"/>
                          </a:solidFill>
                          <a:latin typeface="微软雅黑" panose="020B0503020204020204" pitchFamily="34" charset="-122"/>
                          <a:ea typeface="微软雅黑" panose="020B0503020204020204" pitchFamily="34" charset="-122"/>
                        </a:rPr>
                        <a:t>年（无集中商业开业时间要求）</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6">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2018</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4,000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原计划</a:t>
                      </a:r>
                      <a:r>
                        <a:rPr lang="en-US" altLang="zh-CN" sz="700" b="0" i="0">
                          <a:solidFill>
                            <a:srgbClr val="000000"/>
                          </a:solidFill>
                          <a:latin typeface="微软雅黑" panose="020B0503020204020204" pitchFamily="34" charset="-122"/>
                          <a:ea typeface="微软雅黑" panose="020B0503020204020204" pitchFamily="34" charset="-122"/>
                        </a:rPr>
                        <a:t>2025</a:t>
                      </a:r>
                      <a:r>
                        <a:rPr lang="zh-CN" altLang="en-US" sz="700" b="0" i="0">
                          <a:solidFill>
                            <a:srgbClr val="000000"/>
                          </a:solidFill>
                          <a:latin typeface="微软雅黑" panose="020B0503020204020204" pitchFamily="34" charset="-122"/>
                          <a:ea typeface="微软雅黑" panose="020B0503020204020204" pitchFamily="34" charset="-122"/>
                        </a:rPr>
                        <a:t>年</a:t>
                      </a:r>
                      <a:r>
                        <a:rPr lang="en-US" altLang="zh-CN" sz="700" b="0" i="0">
                          <a:solidFill>
                            <a:srgbClr val="000000"/>
                          </a:solidFill>
                          <a:latin typeface="微软雅黑" panose="020B0503020204020204" pitchFamily="34" charset="-122"/>
                          <a:ea typeface="微软雅黑" panose="020B0503020204020204" pitchFamily="34" charset="-122"/>
                        </a:rPr>
                        <a:t>9</a:t>
                      </a:r>
                      <a:r>
                        <a:rPr lang="zh-CN" altLang="en-US" sz="700" b="0" i="0">
                          <a:solidFill>
                            <a:srgbClr val="000000"/>
                          </a:solidFill>
                          <a:latin typeface="微软雅黑" panose="020B0503020204020204" pitchFamily="34" charset="-122"/>
                          <a:ea typeface="微软雅黑" panose="020B0503020204020204" pitchFamily="34" charset="-122"/>
                        </a:rPr>
                        <a:t>月开业，现调整至</a:t>
                      </a:r>
                      <a:r>
                        <a:rPr lang="en-US" altLang="zh-CN" sz="700" b="0" i="0">
                          <a:solidFill>
                            <a:srgbClr val="000000"/>
                          </a:solidFill>
                          <a:latin typeface="微软雅黑" panose="020B0503020204020204" pitchFamily="34" charset="-122"/>
                          <a:ea typeface="微软雅黑" panose="020B0503020204020204" pitchFamily="34" charset="-122"/>
                        </a:rPr>
                        <a:t>2026</a:t>
                      </a:r>
                      <a:r>
                        <a:rPr lang="zh-CN" altLang="en-US" sz="700" b="0" i="0">
                          <a:solidFill>
                            <a:srgbClr val="000000"/>
                          </a:solidFill>
                          <a:latin typeface="微软雅黑" panose="020B0503020204020204" pitchFamily="34" charset="-122"/>
                          <a:ea typeface="微软雅黑" panose="020B0503020204020204" pitchFamily="34" charset="-122"/>
                        </a:rPr>
                        <a:t>年，与政府沟通“正式开业”的面积要求，争取按酒店开业即作为释放条件</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5530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A</a:t>
                      </a:r>
                      <a:r>
                        <a:rPr lang="zh-CN" altLang="en-US" sz="600" b="0" i="0">
                          <a:solidFill>
                            <a:srgbClr val="000000"/>
                          </a:solidFill>
                          <a:latin typeface="微软雅黑" panose="020B0503020204020204" pitchFamily="34" charset="-122"/>
                          <a:ea typeface="微软雅黑" panose="020B0503020204020204" pitchFamily="34" charset="-122"/>
                        </a:rPr>
                        <a:t>地块集中商业建设进度</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按约定时间取得项目施工许可证且正式开工</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个工作日内返还。</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2019</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已完成退回</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73723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600" b="0" i="0">
                          <a:solidFill>
                            <a:schemeClr val="tx1"/>
                          </a:solidFill>
                          <a:latin typeface="微软雅黑" panose="020B0503020204020204" pitchFamily="34" charset="-122"/>
                          <a:ea typeface="微软雅黑" panose="020B0503020204020204" pitchFamily="34" charset="-122"/>
                        </a:rPr>
                        <a:t>A</a:t>
                      </a:r>
                      <a:r>
                        <a:rPr lang="zh-CN" altLang="en-US" sz="600" b="0" i="0">
                          <a:solidFill>
                            <a:schemeClr val="tx1"/>
                          </a:solidFill>
                          <a:latin typeface="微软雅黑" panose="020B0503020204020204" pitchFamily="34" charset="-122"/>
                          <a:ea typeface="微软雅黑" panose="020B0503020204020204" pitchFamily="34" charset="-122"/>
                        </a:rPr>
                        <a:t>地块集中商业建设进度；</a:t>
                      </a:r>
                      <a:br>
                        <a:rPr lang="zh-CN" altLang="en-US" sz="600" b="0" i="0">
                          <a:solidFill>
                            <a:schemeClr val="tx1"/>
                          </a:solidFill>
                          <a:latin typeface="微软雅黑" panose="020B0503020204020204" pitchFamily="34" charset="-122"/>
                          <a:ea typeface="微软雅黑" panose="020B0503020204020204" pitchFamily="34" charset="-122"/>
                        </a:rPr>
                      </a:br>
                      <a:r>
                        <a:rPr lang="zh-CN" altLang="en-US" sz="600" b="0" i="0">
                          <a:solidFill>
                            <a:schemeClr val="tx1"/>
                          </a:solidFill>
                          <a:latin typeface="微软雅黑" panose="020B0503020204020204" pitchFamily="34" charset="-122"/>
                          <a:ea typeface="微软雅黑" panose="020B0503020204020204" pitchFamily="34" charset="-122"/>
                        </a:rPr>
                        <a:t>取得项目竣工验收备案手续</a:t>
                      </a:r>
                      <a:r>
                        <a:rPr lang="en-US" altLang="zh-CN" sz="600" b="0" i="0">
                          <a:solidFill>
                            <a:schemeClr val="tx1"/>
                          </a:solidFill>
                          <a:latin typeface="微软雅黑" panose="020B0503020204020204" pitchFamily="34" charset="-122"/>
                          <a:ea typeface="微软雅黑" panose="020B0503020204020204" pitchFamily="34" charset="-122"/>
                        </a:rPr>
                        <a:t>5</a:t>
                      </a:r>
                      <a:r>
                        <a:rPr lang="zh-CN" altLang="en-US" sz="600" b="0" i="0">
                          <a:solidFill>
                            <a:schemeClr val="tx1"/>
                          </a:solidFill>
                          <a:latin typeface="微软雅黑" panose="020B0503020204020204" pitchFamily="34" charset="-122"/>
                          <a:ea typeface="微软雅黑" panose="020B0503020204020204" pitchFamily="34" charset="-122"/>
                        </a:rPr>
                        <a:t>个工作日内返还。</a:t>
                      </a:r>
                      <a:endParaRPr lang="zh-CN" altLang="en-US" sz="600" b="0" i="0">
                        <a:solidFill>
                          <a:schemeClr val="tx1"/>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2023</a:t>
                      </a:r>
                      <a:r>
                        <a:rPr lang="zh-CN" altLang="en-US" sz="700" b="0" i="0">
                          <a:solidFill>
                            <a:srgbClr val="000000"/>
                          </a:solidFill>
                          <a:latin typeface="微软雅黑" panose="020B0503020204020204" pitchFamily="34" charset="-122"/>
                          <a:ea typeface="微软雅黑" panose="020B0503020204020204" pitchFamily="34" charset="-122"/>
                        </a:rPr>
                        <a:t>年</a:t>
                      </a:r>
                      <a:br>
                        <a:rPr lang="zh-CN" altLang="en-US" sz="700" b="0" i="0">
                          <a:solidFill>
                            <a:srgbClr val="000000"/>
                          </a:solidFill>
                          <a:latin typeface="微软雅黑" panose="020B0503020204020204" pitchFamily="34" charset="-122"/>
                          <a:ea typeface="微软雅黑" panose="020B0503020204020204" pitchFamily="34" charset="-122"/>
                        </a:rPr>
                      </a:br>
                      <a:r>
                        <a:rPr lang="zh-CN" altLang="en-US" sz="700" b="0" i="0">
                          <a:solidFill>
                            <a:srgbClr val="000000"/>
                          </a:solidFill>
                          <a:latin typeface="微软雅黑" panose="020B0503020204020204" pitchFamily="34" charset="-122"/>
                          <a:ea typeface="微软雅黑" panose="020B0503020204020204" pitchFamily="34" charset="-122"/>
                        </a:rPr>
                        <a:t>（无竣工备案时间要求）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2024</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55118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E</a:t>
                      </a:r>
                      <a:r>
                        <a:rPr lang="zh-CN" altLang="en-US" sz="600" b="0" i="0">
                          <a:solidFill>
                            <a:srgbClr val="000000"/>
                          </a:solidFill>
                          <a:latin typeface="微软雅黑" panose="020B0503020204020204" pitchFamily="34" charset="-122"/>
                          <a:ea typeface="微软雅黑" panose="020B0503020204020204" pitchFamily="34" charset="-122"/>
                        </a:rPr>
                        <a:t>地块科研办公用房建设进度</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按约定时间取得项目施工许可证且正式开工</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个工作日内返还</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2019</a:t>
                      </a:r>
                      <a:r>
                        <a:rPr lang="zh-CN" altLang="en-US" sz="700" b="0" i="0">
                          <a:solidFill>
                            <a:srgbClr val="000000"/>
                          </a:solidFill>
                          <a:latin typeface="微软雅黑" panose="020B0503020204020204" pitchFamily="34" charset="-122"/>
                          <a:ea typeface="微软雅黑" panose="020B0503020204020204" pitchFamily="34" charset="-122"/>
                        </a:rPr>
                        <a:t>年</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已完成退回</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73660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E</a:t>
                      </a:r>
                      <a:r>
                        <a:rPr lang="zh-CN" altLang="en-US" sz="600" b="0" i="0">
                          <a:solidFill>
                            <a:srgbClr val="000000"/>
                          </a:solidFill>
                          <a:latin typeface="微软雅黑" panose="020B0503020204020204" pitchFamily="34" charset="-122"/>
                          <a:ea typeface="微软雅黑" panose="020B0503020204020204" pitchFamily="34" charset="-122"/>
                        </a:rPr>
                        <a:t>地块科研办公用房建设进度</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取得项目竣工验收备案手续</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个工作日内返还</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2021</a:t>
                      </a:r>
                      <a:r>
                        <a:rPr lang="zh-CN" altLang="en-US" sz="700" b="0" i="0">
                          <a:solidFill>
                            <a:srgbClr val="000000"/>
                          </a:solidFill>
                          <a:latin typeface="微软雅黑" panose="020B0503020204020204" pitchFamily="34" charset="-122"/>
                          <a:ea typeface="微软雅黑" panose="020B0503020204020204" pitchFamily="34" charset="-122"/>
                        </a:rPr>
                        <a:t>年</a:t>
                      </a:r>
                      <a:br>
                        <a:rPr lang="zh-CN" altLang="en-US" sz="700" b="0" i="0">
                          <a:solidFill>
                            <a:srgbClr val="000000"/>
                          </a:solidFill>
                          <a:latin typeface="微软雅黑" panose="020B0503020204020204" pitchFamily="34" charset="-122"/>
                          <a:ea typeface="微软雅黑" panose="020B0503020204020204" pitchFamily="34" charset="-122"/>
                        </a:rPr>
                      </a:br>
                      <a:r>
                        <a:rPr lang="zh-CN" altLang="en-US" sz="700" b="0" i="0">
                          <a:solidFill>
                            <a:srgbClr val="000000"/>
                          </a:solidFill>
                          <a:latin typeface="微软雅黑" panose="020B0503020204020204" pitchFamily="34" charset="-122"/>
                          <a:ea typeface="微软雅黑" panose="020B0503020204020204" pitchFamily="34" charset="-122"/>
                        </a:rPr>
                        <a:t>（无竣工备案时间要求）</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5,000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已完成退回</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0" i="0">
                          <a:solidFill>
                            <a:srgbClr val="000000"/>
                          </a:solidFill>
                          <a:latin typeface="微软雅黑" panose="020B0503020204020204" pitchFamily="34" charset="-122"/>
                          <a:ea typeface="微软雅黑" panose="020B0503020204020204" pitchFamily="34" charset="-122"/>
                        </a:rPr>
                        <a:t> - </a:t>
                      </a:r>
                      <a:endParaRPr lang="en-US" altLang="zh-CN"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700" b="0" i="0">
                          <a:solidFill>
                            <a:srgbClr val="000000"/>
                          </a:solidFill>
                          <a:latin typeface="微软雅黑" panose="020B0503020204020204" pitchFamily="34" charset="-122"/>
                          <a:ea typeface="微软雅黑" panose="020B0503020204020204" pitchFamily="34" charset="-122"/>
                        </a:rPr>
                        <a:t>已完成</a:t>
                      </a:r>
                      <a:endParaRPr lang="zh-CN" altLang="en-US" sz="7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21615">
                <a:tc gridSpan="3">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地产商置小计</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hMerge="1">
                  <a:tcP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24,000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20,000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4,000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4,000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700" b="1" i="0">
                          <a:solidFill>
                            <a:srgbClr val="000000"/>
                          </a:solidFill>
                          <a:latin typeface="微软雅黑" panose="020B0503020204020204" pitchFamily="34" charset="-122"/>
                          <a:ea typeface="微软雅黑" panose="020B0503020204020204" pitchFamily="34" charset="-122"/>
                        </a:rPr>
                        <a:t> -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27965">
                <a:tc gridSpan="3">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南京XH</a:t>
                      </a:r>
                      <a:r>
                        <a:rPr lang="en-US" altLang="zh-CN" sz="600" b="1" i="0">
                          <a:solidFill>
                            <a:srgbClr val="000000"/>
                          </a:solidFill>
                          <a:latin typeface="微软雅黑" panose="020B0503020204020204" pitchFamily="34" charset="-122"/>
                          <a:ea typeface="微软雅黑" panose="020B0503020204020204" pitchFamily="34" charset="-122"/>
                        </a:rPr>
                        <a:t>WORLD</a:t>
                      </a:r>
                      <a:r>
                        <a:rPr lang="zh-CN" altLang="en-US" sz="600" b="1" i="0">
                          <a:solidFill>
                            <a:srgbClr val="000000"/>
                          </a:solidFill>
                          <a:latin typeface="微软雅黑" panose="020B0503020204020204" pitchFamily="34" charset="-122"/>
                          <a:ea typeface="微软雅黑" panose="020B0503020204020204" pitchFamily="34" charset="-122"/>
                        </a:rPr>
                        <a:t>合计</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hMerge="1">
                  <a:tcP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40,000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30,000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10,000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10,000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1,129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440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700" b="1" i="0">
                          <a:solidFill>
                            <a:srgbClr val="000000"/>
                          </a:solidFill>
                          <a:latin typeface="微软雅黑" panose="020B0503020204020204" pitchFamily="34" charset="-122"/>
                          <a:ea typeface="微软雅黑" panose="020B0503020204020204" pitchFamily="34" charset="-122"/>
                        </a:rPr>
                        <a:t> 350 </a:t>
                      </a:r>
                      <a:endParaRPr lang="en-US" altLang="zh-CN"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7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bl>
          </a:graphicData>
        </a:graphic>
      </p:graphicFrame>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349250" y="238125"/>
            <a:ext cx="7768590" cy="359410"/>
          </a:xfrm>
        </p:spPr>
        <p:txBody>
          <a:bodyPr/>
          <a:lstStyle/>
          <a:p>
            <a:pPr>
              <a:defRPr/>
            </a:pPr>
            <a:r>
              <a:rPr kumimoji="0" lang="zh-CN" altLang="en-US" sz="1800" b="1" i="0" u="none" strike="noStrike" kern="1200" cap="none" spc="-41" normalizeH="0" baseline="0" noProof="0" dirty="0">
                <a:ln>
                  <a:noFill/>
                </a:ln>
                <a:solidFill>
                  <a:schemeClr val="tx1">
                    <a:lumMod val="75000"/>
                    <a:lumOff val="25000"/>
                  </a:schemeClr>
                </a:solidFill>
                <a:effectLst/>
                <a:uLnTx/>
                <a:uFillTx/>
              </a:rPr>
              <a:t>第三部分</a:t>
            </a:r>
            <a:r>
              <a:rPr kumimoji="0" lang="zh-CN" altLang="en-US" sz="1800" b="1" i="0" u="none" strike="noStrike" kern="1200" cap="none" spc="-41" normalizeH="0" baseline="0" noProof="0" dirty="0" smtClean="0">
                <a:ln>
                  <a:noFill/>
                </a:ln>
                <a:solidFill>
                  <a:schemeClr val="tx1">
                    <a:lumMod val="75000"/>
                    <a:lumOff val="25000"/>
                  </a:schemeClr>
                </a:solidFill>
                <a:effectLst/>
                <a:uLnTx/>
                <a:uFillTx/>
              </a:rPr>
              <a:t>：</a:t>
            </a:r>
            <a:r>
              <a:rPr kumimoji="0" lang="en-US" altLang="zh-CN" sz="1800" b="1" i="0" u="none" strike="noStrike" kern="1200" cap="none" spc="-41" normalizeH="0" baseline="0" noProof="0" dirty="0" smtClean="0">
                <a:ln>
                  <a:noFill/>
                </a:ln>
                <a:solidFill>
                  <a:schemeClr val="tx1">
                    <a:lumMod val="75000"/>
                    <a:lumOff val="25000"/>
                  </a:schemeClr>
                </a:solidFill>
                <a:effectLst/>
                <a:uLnTx/>
                <a:uFillTx/>
              </a:rPr>
              <a:t>2026年预算编制报告</a:t>
            </a:r>
            <a:r>
              <a:rPr lang="en-US" altLang="zh-CN" b="1" dirty="0" smtClean="0"/>
              <a:t>-</a:t>
            </a:r>
            <a:r>
              <a:rPr lang="zh-CN" altLang="en-US" b="1" dirty="0">
                <a:solidFill>
                  <a:srgbClr val="002060"/>
                </a:solidFill>
                <a:sym typeface="+mn-ea"/>
              </a:rPr>
              <a:t>政府考核专项预算情况</a:t>
            </a:r>
            <a:r>
              <a:rPr lang="zh-CN" altLang="en-US" b="1" dirty="0">
                <a:solidFill>
                  <a:srgbClr val="002060"/>
                </a:solidFill>
              </a:rPr>
              <a:t>（成都产业）</a:t>
            </a:r>
            <a:br>
              <a:rPr lang="zh-CN" altLang="en-US" b="1" dirty="0">
                <a:solidFill>
                  <a:srgbClr val="002060"/>
                </a:solidFill>
              </a:rPr>
            </a:br>
            <a:endParaRPr kumimoji="0" lang="zh-CN" altLang="en-US" sz="1800" b="1" i="0" u="none" strike="noStrike" kern="1200" cap="none" spc="-41" normalizeH="0" baseline="0" noProof="0" dirty="0">
              <a:ln>
                <a:noFill/>
              </a:ln>
              <a:solidFill>
                <a:srgbClr val="002060"/>
              </a:solidFill>
              <a:effectLst/>
              <a:uLnTx/>
              <a:uFillTx/>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graphicFrame>
        <p:nvGraphicFramePr>
          <p:cNvPr id="4" name="表格 3"/>
          <p:cNvGraphicFramePr/>
          <p:nvPr>
            <p:custDataLst>
              <p:tags r:id="rId1"/>
            </p:custDataLst>
          </p:nvPr>
        </p:nvGraphicFramePr>
        <p:xfrm>
          <a:off x="276860" y="660400"/>
          <a:ext cx="9681210" cy="4668520"/>
        </p:xfrm>
        <a:graphic>
          <a:graphicData uri="http://schemas.openxmlformats.org/drawingml/2006/table">
            <a:tbl>
              <a:tblPr/>
              <a:tblGrid>
                <a:gridCol w="499110"/>
                <a:gridCol w="1363345"/>
                <a:gridCol w="645795"/>
                <a:gridCol w="492760"/>
                <a:gridCol w="726440"/>
                <a:gridCol w="575310"/>
                <a:gridCol w="494030"/>
                <a:gridCol w="494030"/>
                <a:gridCol w="636270"/>
                <a:gridCol w="494665"/>
                <a:gridCol w="494665"/>
                <a:gridCol w="493395"/>
                <a:gridCol w="499745"/>
                <a:gridCol w="708025"/>
                <a:gridCol w="1063625"/>
              </a:tblGrid>
              <a:tr h="283845">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类型</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考核内容</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实缴保证金</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实缴时间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截止</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年末已退保证金</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未来预计退还保证金</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其中：预计</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年退还保证金</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预计退还时间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为满足考核已付专项资金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未来预计支付专项资金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其中：预计</a:t>
                      </a: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年支付专项资金</a:t>
                      </a:r>
                      <a:endPar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未来支付时间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目前进度</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年工作计划</a:t>
                      </a:r>
                      <a:endParaRPr lang="zh-CN" altLang="en-US" sz="600" b="1"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r>
              <a:tr h="558165">
                <a:tc rowSpan="5">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招商</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引进不少于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150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家独立核算法人公司或企业。首开区一期竣工</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个月内，完成本条企业数量不低于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，首开区全部竣工</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个月内全部完成</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9</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5000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日</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600" b="0" i="0">
                          <a:solidFill>
                            <a:srgbClr val="000000"/>
                          </a:solidFill>
                          <a:latin typeface="微软雅黑" panose="020B0503020204020204" pitchFamily="34" charset="-122"/>
                          <a:ea typeface="微软雅黑" panose="020B0503020204020204" pitchFamily="34" charset="-122"/>
                        </a:rPr>
                        <a:t>1000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3175" cap="flat" cmpd="sng">
                      <a:solidFill>
                        <a:schemeClr val="tx1"/>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9</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已完成保证金退还</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46672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引进至少</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家高能级企业。首开区一期竣工</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个月内，完成本条企业数量不低于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，二期竣工</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个月内完成本条企业数量累计不低于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，首开区全部竣工</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个月内全部完成</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3175" cap="flat" cmpd="sng">
                      <a:solidFill>
                        <a:schemeClr val="tx1"/>
                      </a:solidFill>
                      <a:prstDash val="solid"/>
                      <a:headEnd type="none" w="med" len="med"/>
                      <a:tailEnd type="none" w="med" len="med"/>
                    </a:lnR>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3175" cap="flat" cmpd="sng">
                      <a:solidFill>
                        <a:schemeClr val="tx1"/>
                      </a:solidFill>
                      <a:prstDash val="solid"/>
                      <a:headEnd type="none" w="med" len="med"/>
                      <a:tailEnd type="none" w="med" len="med"/>
                    </a:lnR>
                    <a:lnT w="3175" cmpd="sng">
                      <a:solidFill>
                        <a:schemeClr val="tx1"/>
                      </a:solidFill>
                      <a:prstDash val="solid"/>
                    </a:lnT>
                    <a:lnB w="3175" cmpd="sng">
                      <a:solidFill>
                        <a:schemeClr val="tx1"/>
                      </a:solidFill>
                      <a:prstDash val="solid"/>
                    </a:lnB>
                  </a:tcPr>
                </a:tc>
                <a:tc>
                  <a:txBody>
                    <a:bodyPr/>
                    <a:p>
                      <a:pPr algn="r" fontAlgn="ctr"/>
                      <a:r>
                        <a:rPr lang="en-US" altLang="zh-CN" sz="600" b="0" i="0">
                          <a:solidFill>
                            <a:srgbClr val="000000"/>
                          </a:solidFill>
                          <a:latin typeface="微软雅黑" panose="020B0503020204020204" pitchFamily="34" charset="-122"/>
                          <a:ea typeface="微软雅黑" panose="020B0503020204020204" pitchFamily="34" charset="-122"/>
                        </a:rPr>
                        <a:t>1000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600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C00000"/>
                          </a:solidFill>
                          <a:latin typeface="微软雅黑" panose="020B0503020204020204" pitchFamily="34" charset="-122"/>
                          <a:ea typeface="微软雅黑" panose="020B0503020204020204" pitchFamily="34" charset="-122"/>
                        </a:rPr>
                        <a:t>200</a:t>
                      </a:r>
                      <a:endParaRPr lang="en-US" altLang="zh-CN" sz="6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万，计划完成</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家，累计</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家。</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27</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年每年每年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确认一家（省外贸集团），提拔一家（润城达）</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计划确认三家（中国电力、华山论剑西凤酒、中国铁塔）</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6165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600" b="1"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引入至少</a:t>
                      </a:r>
                      <a:r>
                        <a:rPr lang="en-US" altLang="zh-CN" sz="600" b="1"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600" b="1"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个国家科技部备案的众创空间或孵化器。首开区一期竣工</a:t>
                      </a:r>
                      <a:r>
                        <a:rPr lang="en-US" altLang="zh-CN" sz="600" b="1"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18</a:t>
                      </a:r>
                      <a:r>
                        <a:rPr lang="zh-CN" altLang="en-US" sz="600" b="1"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个月内完成</a:t>
                      </a:r>
                      <a:endParaRPr lang="zh-CN" altLang="en-US" sz="600" b="1"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3175" cap="flat" cmpd="sng">
                      <a:solidFill>
                        <a:schemeClr val="tx1"/>
                      </a:solidFill>
                      <a:prstDash val="solid"/>
                      <a:headEnd type="none" w="med" len="med"/>
                      <a:tailEnd type="none" w="med" len="med"/>
                    </a:lnR>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3175" cap="flat" cmpd="sng">
                      <a:solidFill>
                        <a:schemeClr val="tx1"/>
                      </a:solidFill>
                      <a:prstDash val="solid"/>
                      <a:headEnd type="none" w="med" len="med"/>
                      <a:tailEnd type="none" w="med" len="med"/>
                    </a:lnR>
                    <a:lnT w="3175" cmpd="sng">
                      <a:solidFill>
                        <a:schemeClr val="tx1"/>
                      </a:solidFill>
                      <a:prstDash val="solid"/>
                    </a:lnT>
                    <a:lnB w="3175" cmpd="sng">
                      <a:solidFill>
                        <a:schemeClr val="tx1"/>
                      </a:solidFill>
                      <a:prstDash val="solid"/>
                    </a:lnB>
                  </a:tcPr>
                </a:tc>
                <a:tc>
                  <a:txBody>
                    <a:bodyPr/>
                    <a:p>
                      <a:pPr algn="r" fontAlgn="ctr"/>
                      <a:r>
                        <a:rPr lang="en-US" altLang="zh-CN" sz="600" b="0" i="0">
                          <a:solidFill>
                            <a:srgbClr val="FF0000"/>
                          </a:solidFill>
                          <a:latin typeface="微软雅黑" panose="020B0503020204020204" pitchFamily="34" charset="-122"/>
                          <a:ea typeface="微软雅黑" panose="020B0503020204020204" pitchFamily="34" charset="-122"/>
                        </a:rPr>
                        <a:t>1000</a:t>
                      </a:r>
                      <a:endParaRPr lang="en-US" altLang="zh-CN" sz="6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600" b="0" i="0">
                          <a:solidFill>
                            <a:srgbClr val="FF0000"/>
                          </a:solidFill>
                          <a:latin typeface="微软雅黑" panose="020B0503020204020204" pitchFamily="34" charset="-122"/>
                          <a:ea typeface="微软雅黑" panose="020B0503020204020204" pitchFamily="34" charset="-122"/>
                        </a:rPr>
                        <a:t>1000</a:t>
                      </a:r>
                      <a:endParaRPr lang="en-US" altLang="zh-CN" sz="6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0"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14.57</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50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C00000"/>
                          </a:solidFill>
                          <a:latin typeface="微软雅黑" panose="020B0503020204020204" pitchFamily="34" charset="-122"/>
                          <a:ea typeface="微软雅黑" panose="020B0503020204020204" pitchFamily="34" charset="-122"/>
                        </a:rPr>
                        <a:t>50</a:t>
                      </a:r>
                      <a:endParaRPr lang="en-US" altLang="zh-CN" sz="6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已完成载体装潢，已完成企业引入</a:t>
                      </a:r>
                      <a:r>
                        <a:rPr lang="en-US" altLang="zh-CN" sz="600" b="0" i="0">
                          <a:solidFill>
                            <a:srgbClr val="000000"/>
                          </a:solidFill>
                          <a:latin typeface="微软雅黑" panose="020B0503020204020204" pitchFamily="34" charset="-122"/>
                          <a:ea typeface="微软雅黑" panose="020B0503020204020204" pitchFamily="34" charset="-122"/>
                        </a:rPr>
                        <a:t>68</a:t>
                      </a:r>
                      <a:r>
                        <a:rPr lang="zh-CN" altLang="en-US" sz="600" b="0" i="0">
                          <a:solidFill>
                            <a:srgbClr val="000000"/>
                          </a:solidFill>
                          <a:latin typeface="微软雅黑" panose="020B0503020204020204" pitchFamily="34" charset="-122"/>
                          <a:ea typeface="微软雅黑" panose="020B0503020204020204" pitchFamily="34" charset="-122"/>
                        </a:rPr>
                        <a:t>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rPr>
                        <a:t>年递交引入确认申请，</a:t>
                      </a:r>
                      <a:r>
                        <a:rPr lang="en-US" altLang="zh-CN" sz="600" b="0" i="0">
                          <a:solidFill>
                            <a:srgbClr val="000000"/>
                          </a:solidFill>
                          <a:latin typeface="微软雅黑" panose="020B0503020204020204" pitchFamily="34" charset="-122"/>
                          <a:ea typeface="微软雅黑" panose="020B0503020204020204" pitchFamily="34" charset="-122"/>
                        </a:rPr>
                        <a:t>26</a:t>
                      </a:r>
                      <a:r>
                        <a:rPr lang="zh-CN" altLang="en-US" sz="600" b="0" i="0">
                          <a:solidFill>
                            <a:srgbClr val="000000"/>
                          </a:solidFill>
                          <a:latin typeface="微软雅黑" panose="020B0503020204020204" pitchFamily="34" charset="-122"/>
                          <a:ea typeface="微软雅黑" panose="020B0503020204020204" pitchFamily="34" charset="-122"/>
                        </a:rPr>
                        <a:t>年一季度退还保证金，</a:t>
                      </a:r>
                      <a:r>
                        <a:rPr lang="en-US" altLang="zh-CN" sz="600" b="0" i="0">
                          <a:solidFill>
                            <a:srgbClr val="000000"/>
                          </a:solidFill>
                          <a:latin typeface="微软雅黑" panose="020B0503020204020204" pitchFamily="34" charset="-122"/>
                          <a:ea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rPr>
                        <a:t>万资金主要用于核定过程中入驻企业的包装、运营载体费用（包含月度成本和提成发放），商务接待费用</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752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引入至少</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家“三医</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+AI/</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大数据”生产型服务机构或平台的独立核算法人公司或企业。首开区全部竣工</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个月内全部完成</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3175" cap="flat" cmpd="sng">
                      <a:solidFill>
                        <a:schemeClr val="tx1"/>
                      </a:solidFill>
                      <a:prstDash val="solid"/>
                      <a:headEnd type="none" w="med" len="med"/>
                      <a:tailEnd type="none" w="med" len="med"/>
                    </a:lnR>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3175" cap="flat" cmpd="sng">
                      <a:solidFill>
                        <a:schemeClr val="tx1"/>
                      </a:solidFill>
                      <a:prstDash val="solid"/>
                      <a:headEnd type="none" w="med" len="med"/>
                      <a:tailEnd type="none" w="med" len="med"/>
                    </a:lnR>
                    <a:lnT w="3175" cmpd="sng">
                      <a:solidFill>
                        <a:schemeClr val="tx1"/>
                      </a:solidFill>
                      <a:prstDash val="solid"/>
                    </a:lnT>
                    <a:lnB w="3175" cmpd="sng">
                      <a:solidFill>
                        <a:schemeClr val="tx1"/>
                      </a:solidFill>
                      <a:prstDash val="solid"/>
                    </a:lnB>
                  </a:tcPr>
                </a:tc>
                <a:tc>
                  <a:txBody>
                    <a:bodyPr/>
                    <a:p>
                      <a:pPr algn="r" fontAlgn="ctr"/>
                      <a:r>
                        <a:rPr lang="en-US" altLang="zh-CN" sz="600" b="0" i="0">
                          <a:solidFill>
                            <a:srgbClr val="000000"/>
                          </a:solidFill>
                          <a:latin typeface="微软雅黑" panose="020B0503020204020204" pitchFamily="34" charset="-122"/>
                          <a:ea typeface="微软雅黑" panose="020B0503020204020204" pitchFamily="34" charset="-122"/>
                        </a:rPr>
                        <a:t>1000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150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C00000"/>
                          </a:solidFill>
                          <a:latin typeface="微软雅黑" panose="020B0503020204020204" pitchFamily="34" charset="-122"/>
                          <a:ea typeface="微软雅黑" panose="020B0503020204020204" pitchFamily="34" charset="-122"/>
                        </a:rPr>
                        <a:t>50</a:t>
                      </a:r>
                      <a:endParaRPr lang="en-US" altLang="zh-CN" sz="6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年各</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暂无明显进度</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计划完成</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家确认（焕新生活平台），</a:t>
                      </a:r>
                      <a:r>
                        <a:rPr lang="en-US" altLang="zh-CN" sz="600" b="0" i="0">
                          <a:solidFill>
                            <a:srgbClr val="000000"/>
                          </a:solidFill>
                          <a:latin typeface="微软雅黑" panose="020B0503020204020204" pitchFamily="34" charset="-122"/>
                          <a:ea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rPr>
                        <a:t>万用于另外一家的储备和政府公关使用</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752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打造文化商业旅游街区，引入至少</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家国际国内知名品牌商业</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3175" cap="flat" cmpd="sng">
                      <a:solidFill>
                        <a:schemeClr val="tx1"/>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3175" cap="flat" cmpd="sng">
                      <a:solidFill>
                        <a:schemeClr val="tx1"/>
                      </a:solidFill>
                      <a:prstDash val="solid"/>
                      <a:headEnd type="none" w="med" len="med"/>
                      <a:tailEnd type="none" w="med" len="med"/>
                    </a:lnR>
                    <a:lnT w="3175" cmpd="sng">
                      <a:solidFill>
                        <a:schemeClr val="tx1"/>
                      </a:solidFill>
                      <a:prstDash val="solid"/>
                    </a:lnT>
                    <a:lnB w="3175" cap="flat" cmpd="sng">
                      <a:solidFill>
                        <a:schemeClr val="tx1"/>
                      </a:solidFill>
                      <a:prstDash val="solid"/>
                      <a:headEnd type="none" w="med" len="med"/>
                      <a:tailEnd type="none" w="med" len="med"/>
                    </a:lnB>
                  </a:tcPr>
                </a:tc>
                <a:tc>
                  <a:txBody>
                    <a:bodyPr/>
                    <a:p>
                      <a:pPr algn="r" fontAlgn="ctr"/>
                      <a:r>
                        <a:rPr lang="en-US" altLang="zh-CN" sz="600" b="0" i="0">
                          <a:solidFill>
                            <a:srgbClr val="000000"/>
                          </a:solidFill>
                          <a:latin typeface="微软雅黑" panose="020B0503020204020204" pitchFamily="34" charset="-122"/>
                          <a:ea typeface="微软雅黑" panose="020B0503020204020204" pitchFamily="34" charset="-122"/>
                        </a:rPr>
                        <a:t>1000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3175" cap="flat" cmpd="sng">
                      <a:solidFill>
                        <a:schemeClr val="tx1"/>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2029</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年各</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100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三号地商业地块暂未启动</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计划储备优质商家（餐饮、快时尚、咖啡等）</a:t>
                      </a:r>
                      <a:r>
                        <a:rPr lang="en-US" altLang="zh-CN" sz="600" b="0" i="0">
                          <a:solidFill>
                            <a:srgbClr val="000000"/>
                          </a:solidFill>
                          <a:latin typeface="微软雅黑" panose="020B0503020204020204" pitchFamily="34" charset="-122"/>
                          <a:ea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rPr>
                        <a:t>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83845">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基金</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鼓励成立总规模人民币</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亿元的创投基金</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无明确</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时间要求</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3175" cap="flat" cmpd="sng">
                      <a:solidFill>
                        <a:schemeClr val="tx1"/>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暂无进展</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若无政府强制要求，建议不启动此事项</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192405">
                <a:tc rowSpan="2">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硬件投入</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城市会客厅</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企业服务中心</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路演大厅（后期改造费用）</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2">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无明确</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时间要求</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440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已建成</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2352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健身房</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食堂</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已达成</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1089660">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税收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从考核开始的第一、第二个完整财年年度，所导入注册在温江区域（含项目区域内）的独立核算企业缴纳的主体税种规模两年累计不低于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60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亩（以建成的商业用地占地面积计算）；第三到第五个完整财务年度，乙方所导入注册在温江区域（含项目区域内）的独立核算企业缴纳的主体税种规模每年不低于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亩；第六到第九个完整财务年度，主体税种规模每两年累计不低于</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110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万元</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亩（以建成的商业用地占地面积计算）</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一期</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年开始</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二期</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2028</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年开始</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三期</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年开始</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考核</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9</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个完整财年</a:t>
                      </a:r>
                      <a:b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b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违约金</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700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-2033</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月每年</a:t>
                      </a:r>
                      <a:r>
                        <a:rPr lang="en-US" altLang="zh-CN"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100</a:t>
                      </a:r>
                      <a:r>
                        <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万</a:t>
                      </a:r>
                      <a:endParaRPr lang="zh-CN" altLang="en-US" sz="600" b="0" i="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目前成都XH九联建设期可完成税收考核</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rPr>
                        <a:t>年总租赁面积达到</a:t>
                      </a:r>
                      <a:r>
                        <a:rPr lang="en-US" altLang="zh-CN" sz="600" b="0" i="0">
                          <a:solidFill>
                            <a:srgbClr val="000000"/>
                          </a:solidFill>
                          <a:latin typeface="微软雅黑" panose="020B0503020204020204" pitchFamily="34" charset="-122"/>
                          <a:ea typeface="微软雅黑" panose="020B0503020204020204" pitchFamily="34" charset="-122"/>
                        </a:rPr>
                        <a:t>2.1</a:t>
                      </a:r>
                      <a:r>
                        <a:rPr lang="zh-CN" altLang="en-US" sz="600" b="0" i="0">
                          <a:solidFill>
                            <a:srgbClr val="000000"/>
                          </a:solidFill>
                          <a:latin typeface="微软雅黑" panose="020B0503020204020204" pitchFamily="34" charset="-122"/>
                          <a:ea typeface="微软雅黑" panose="020B0503020204020204" pitchFamily="34" charset="-122"/>
                        </a:rPr>
                        <a:t>万㎡，</a:t>
                      </a:r>
                      <a:r>
                        <a:rPr lang="en-US" altLang="zh-CN" sz="600" b="0" i="0">
                          <a:solidFill>
                            <a:srgbClr val="000000"/>
                          </a:solidFill>
                          <a:latin typeface="微软雅黑" panose="020B0503020204020204" pitchFamily="34" charset="-122"/>
                          <a:ea typeface="微软雅黑" panose="020B0503020204020204" pitchFamily="34" charset="-122"/>
                        </a:rPr>
                        <a:t>IEO</a:t>
                      </a:r>
                      <a:r>
                        <a:rPr lang="zh-CN" altLang="en-US" sz="600" b="0" i="0">
                          <a:solidFill>
                            <a:srgbClr val="000000"/>
                          </a:solidFill>
                          <a:latin typeface="微软雅黑" panose="020B0503020204020204" pitchFamily="34" charset="-122"/>
                          <a:ea typeface="微软雅黑" panose="020B0503020204020204" pitchFamily="34" charset="-122"/>
                        </a:rPr>
                        <a:t>独栋</a:t>
                      </a:r>
                      <a:r>
                        <a:rPr lang="en-US" altLang="zh-CN" sz="600" b="0" i="0">
                          <a:solidFill>
                            <a:srgbClr val="000000"/>
                          </a:solidFill>
                          <a:latin typeface="微软雅黑" panose="020B0503020204020204" pitchFamily="34" charset="-122"/>
                          <a:ea typeface="微软雅黑" panose="020B0503020204020204" pitchFamily="34" charset="-122"/>
                        </a:rPr>
                        <a:t>2.2</a:t>
                      </a:r>
                      <a:r>
                        <a:rPr lang="zh-CN" altLang="en-US" sz="600" b="0" i="0">
                          <a:solidFill>
                            <a:srgbClr val="000000"/>
                          </a:solidFill>
                          <a:latin typeface="微软雅黑" panose="020B0503020204020204" pitchFamily="34" charset="-122"/>
                          <a:ea typeface="微软雅黑" panose="020B0503020204020204" pitchFamily="34" charset="-122"/>
                        </a:rPr>
                        <a:t>万㎡，近</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万运营面积，超</a:t>
                      </a:r>
                      <a:r>
                        <a:rPr lang="en-US" altLang="zh-CN" sz="600" b="0" i="0">
                          <a:solidFill>
                            <a:srgbClr val="000000"/>
                          </a:solidFill>
                          <a:latin typeface="微软雅黑" panose="020B0503020204020204" pitchFamily="34" charset="-122"/>
                          <a:ea typeface="微软雅黑" panose="020B0503020204020204" pitchFamily="34" charset="-122"/>
                        </a:rPr>
                        <a:t>150</a:t>
                      </a:r>
                      <a:r>
                        <a:rPr lang="zh-CN" altLang="en-US" sz="600" b="0" i="0">
                          <a:solidFill>
                            <a:srgbClr val="000000"/>
                          </a:solidFill>
                          <a:latin typeface="微软雅黑" panose="020B0503020204020204" pitchFamily="34" charset="-122"/>
                          <a:ea typeface="微软雅黑" panose="020B0503020204020204" pitchFamily="34" charset="-122"/>
                        </a:rPr>
                        <a:t>家入驻企业，加上XH九联依然处于强开发建设期，预计</a:t>
                      </a:r>
                      <a:r>
                        <a:rPr lang="en-US" altLang="zh-CN" sz="600" b="0" i="0">
                          <a:solidFill>
                            <a:srgbClr val="000000"/>
                          </a:solidFill>
                          <a:latin typeface="微软雅黑" panose="020B0503020204020204" pitchFamily="34" charset="-122"/>
                          <a:ea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rPr>
                        <a:t>年均可完成税收考核</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03200">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5000</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600" b="1" i="0">
                          <a:solidFill>
                            <a:srgbClr val="000000"/>
                          </a:solidFill>
                          <a:latin typeface="微软雅黑" panose="020B0503020204020204" pitchFamily="34" charset="-122"/>
                          <a:ea typeface="微软雅黑" panose="020B0503020204020204" pitchFamily="34" charset="-122"/>
                        </a:rPr>
                        <a:t>1000</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600" b="1" i="0">
                          <a:solidFill>
                            <a:srgbClr val="000000"/>
                          </a:solidFill>
                          <a:latin typeface="微软雅黑" panose="020B0503020204020204" pitchFamily="34" charset="-122"/>
                          <a:ea typeface="微软雅黑" panose="020B0503020204020204" pitchFamily="34" charset="-122"/>
                        </a:rPr>
                        <a:t>4000</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1000</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454.57</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1700</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C00000"/>
                          </a:solidFill>
                          <a:latin typeface="微软雅黑" panose="020B0503020204020204" pitchFamily="34" charset="-122"/>
                          <a:ea typeface="微软雅黑" panose="020B0503020204020204" pitchFamily="34" charset="-122"/>
                        </a:rPr>
                        <a:t>300</a:t>
                      </a:r>
                      <a:endParaRPr lang="en-US" altLang="zh-CN" sz="600" b="1" i="0">
                        <a:solidFill>
                          <a:srgbClr val="C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l"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gridSpan="2">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hMerge="1">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bl>
          </a:graphicData>
        </a:graphic>
      </p:graphicFrame>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12" name="标题 4"/>
          <p:cNvSpPr txBox="1"/>
          <p:nvPr/>
        </p:nvSpPr>
        <p:spPr>
          <a:xfrm>
            <a:off x="163030" y="93415"/>
            <a:ext cx="7912735" cy="359410"/>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algn="l" defTabSz="754380" rtl="0" eaLnBrk="0" fontAlgn="base" latinLnBrk="0" hangingPunct="0">
              <a:lnSpc>
                <a:spcPct val="100000"/>
              </a:lnSpc>
              <a:spcBef>
                <a:spcPct val="0"/>
              </a:spcBef>
              <a:spcAft>
                <a:spcPct val="0"/>
              </a:spcAft>
              <a:buClrTx/>
              <a:buSzTx/>
              <a:buFontTx/>
              <a:buNone/>
              <a:defRPr/>
            </a:pPr>
            <a:r>
              <a:rPr kumimoji="0" lang="zh-CN" altLang="en-US" sz="1800" b="1" i="0" u="none" strike="noStrike" kern="1200" cap="none" spc="-41" normalizeH="0" baseline="0" noProof="0" dirty="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rPr>
              <a:t>第三部分</a:t>
            </a:r>
            <a:r>
              <a:rPr kumimoji="0" lang="zh-CN" altLang="en-US" sz="1800" b="1" i="0" u="none" strike="noStrike" kern="1200" cap="none" spc="-41" normalizeH="0" baseline="0" noProof="0" dirty="0" smtClean="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rPr>
              <a:t>：</a:t>
            </a:r>
            <a:r>
              <a:rPr kumimoji="0" lang="en-US" altLang="zh-CN" sz="1800" b="1" i="0" u="none" strike="noStrike" kern="1200" cap="none" spc="-41" normalizeH="0" baseline="0" noProof="0" dirty="0" smtClean="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rPr>
              <a:t>2026年预算编制报告</a:t>
            </a:r>
            <a:r>
              <a:rPr kumimoji="0" lang="en-US" altLang="zh-CN" sz="1800" b="1" i="0" u="none" strike="noStrike" kern="1200" cap="none" spc="-41" normalizeH="0" baseline="0" noProof="0" dirty="0" smtClean="0">
                <a:ln>
                  <a:noFill/>
                </a:ln>
                <a:solidFill>
                  <a:prstClr val="black">
                    <a:lumMod val="75000"/>
                    <a:lumOff val="25000"/>
                  </a:prstClr>
                </a:solidFill>
                <a:effectLst/>
                <a:uLnTx/>
                <a:uFillTx/>
                <a:latin typeface="微软雅黑" panose="020B0503020204020204" pitchFamily="34" charset="-122"/>
                <a:ea typeface="微软雅黑" panose="020B0503020204020204" pitchFamily="34" charset="-122"/>
                <a:cs typeface="+mj-cs"/>
              </a:rPr>
              <a:t>-</a:t>
            </a:r>
            <a:r>
              <a:rPr kumimoji="0" lang="zh-CN" altLang="en-US" sz="1800" b="1" i="0" u="none" strike="noStrike" kern="1200" cap="none" spc="-41"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j-cs"/>
                <a:sym typeface="+mn-ea"/>
              </a:rPr>
              <a:t>政府考核专项预算情况</a:t>
            </a:r>
            <a:r>
              <a:rPr kumimoji="0" lang="zh-CN" altLang="en-US" sz="1800" b="1" i="0" u="none" strike="noStrike" kern="1200" cap="none" spc="-41"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j-cs"/>
              </a:rPr>
              <a:t>（苏州产业）</a:t>
            </a:r>
            <a:endParaRPr kumimoji="0" lang="zh-CN" altLang="en-US" sz="1800" b="1" i="0" u="none" strike="noStrike" kern="1200" cap="none" spc="-41"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j-cs"/>
            </a:endParaRPr>
          </a:p>
        </p:txBody>
      </p:sp>
      <p:graphicFrame>
        <p:nvGraphicFramePr>
          <p:cNvPr id="5" name="表格 4"/>
          <p:cNvGraphicFramePr/>
          <p:nvPr/>
        </p:nvGraphicFramePr>
        <p:xfrm>
          <a:off x="132715" y="453390"/>
          <a:ext cx="9853930" cy="4930140"/>
        </p:xfrm>
        <a:graphic>
          <a:graphicData uri="http://schemas.openxmlformats.org/drawingml/2006/table">
            <a:tbl>
              <a:tblPr/>
              <a:tblGrid>
                <a:gridCol w="384810"/>
                <a:gridCol w="1466215"/>
                <a:gridCol w="481330"/>
                <a:gridCol w="544830"/>
                <a:gridCol w="507365"/>
                <a:gridCol w="564515"/>
                <a:gridCol w="556260"/>
                <a:gridCol w="517525"/>
                <a:gridCol w="525780"/>
                <a:gridCol w="565150"/>
                <a:gridCol w="479425"/>
                <a:gridCol w="432435"/>
                <a:gridCol w="335280"/>
                <a:gridCol w="1333500"/>
                <a:gridCol w="1159510"/>
              </a:tblGrid>
              <a:tr h="281940">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项目</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考核内容</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6E0B4"/>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实缴保证金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实缴时间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截止</a:t>
                      </a:r>
                      <a:r>
                        <a:rPr lang="en-US" altLang="zh-CN" sz="600" b="1" i="0">
                          <a:solidFill>
                            <a:srgbClr val="000000"/>
                          </a:solidFill>
                          <a:latin typeface="微软雅黑" panose="020B0503020204020204" pitchFamily="34" charset="-122"/>
                          <a:ea typeface="微软雅黑" panose="020B0503020204020204" pitchFamily="34" charset="-122"/>
                        </a:rPr>
                        <a:t>2025</a:t>
                      </a:r>
                      <a:r>
                        <a:rPr lang="zh-CN" altLang="en-US" sz="600" b="1" i="0">
                          <a:solidFill>
                            <a:srgbClr val="000000"/>
                          </a:solidFill>
                          <a:latin typeface="微软雅黑" panose="020B0503020204020204" pitchFamily="34" charset="-122"/>
                          <a:ea typeface="微软雅黑" panose="020B0503020204020204" pitchFamily="34" charset="-122"/>
                        </a:rPr>
                        <a:t>年末已退保证金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未来预计退还保证金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其中：预计</a:t>
                      </a:r>
                      <a:r>
                        <a:rPr lang="en-US" altLang="zh-CN" sz="600" b="1" i="0">
                          <a:solidFill>
                            <a:srgbClr val="000000"/>
                          </a:solidFill>
                          <a:latin typeface="微软雅黑" panose="020B0503020204020204" pitchFamily="34" charset="-122"/>
                          <a:ea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rPr>
                        <a:t>年退还保证金</a:t>
                      </a:r>
                      <a:r>
                        <a:rPr lang="en-US" altLang="zh-CN" sz="600" b="1" i="0">
                          <a:solidFill>
                            <a:srgbClr val="000000"/>
                          </a:solidFill>
                          <a:latin typeface="微软雅黑" panose="020B0503020204020204" pitchFamily="34" charset="-122"/>
                          <a:ea typeface="微软雅黑" panose="020B0503020204020204" pitchFamily="34" charset="-122"/>
                        </a:rPr>
                        <a:t>/</a:t>
                      </a:r>
                      <a:r>
                        <a:rPr lang="zh-CN" altLang="en-US" sz="600" b="1" i="0">
                          <a:solidFill>
                            <a:srgbClr val="000000"/>
                          </a:solidFill>
                          <a:latin typeface="微软雅黑" panose="020B0503020204020204" pitchFamily="34" charset="-122"/>
                          <a:ea typeface="微软雅黑" panose="020B0503020204020204" pitchFamily="34" charset="-122"/>
                        </a:rPr>
                        <a:t>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预计退还时间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F2CC"/>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为满足考核已付专项资金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未来预计支付专项资金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其中：预计</a:t>
                      </a:r>
                      <a:r>
                        <a:rPr lang="en-US" altLang="zh-CN" sz="600" b="1" i="0">
                          <a:solidFill>
                            <a:srgbClr val="000000"/>
                          </a:solidFill>
                          <a:latin typeface="微软雅黑" panose="020B0503020204020204" pitchFamily="34" charset="-122"/>
                          <a:ea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rPr>
                        <a:t>年支付专项资金</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未来支付时间</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4B183"/>
                    </a:solid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目前进度</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2026</a:t>
                      </a:r>
                      <a:r>
                        <a:rPr lang="zh-CN" altLang="en-US" sz="600" b="1" i="0">
                          <a:solidFill>
                            <a:srgbClr val="000000"/>
                          </a:solidFill>
                          <a:latin typeface="微软雅黑" panose="020B0503020204020204" pitchFamily="34" charset="-122"/>
                          <a:ea typeface="微软雅黑" panose="020B0503020204020204" pitchFamily="34" charset="-122"/>
                        </a:rPr>
                        <a:t>年工作计划</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BDD7EE"/>
                    </a:solidFill>
                  </a:tcPr>
                </a:tc>
              </a:tr>
              <a:tr h="281940">
                <a:tc rowSpan="3">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保函释放</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引入</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家科研机构或平台。</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9">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万保函</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已退</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3</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42.91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已引入</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家科研平台，保函原件已从政府取回并交由苏州地产公司财务部接收。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已完成</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55626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引入一家产业运营企业。</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1500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1500</a:t>
                      </a:r>
                      <a:r>
                        <a:rPr lang="zh-CN" altLang="en-US" sz="600" b="0" i="0">
                          <a:solidFill>
                            <a:srgbClr val="000000"/>
                          </a:solidFill>
                          <a:latin typeface="微软雅黑" panose="020B0503020204020204" pitchFamily="34" charset="-122"/>
                          <a:ea typeface="微软雅黑" panose="020B0503020204020204" pitchFamily="34" charset="-122"/>
                        </a:rPr>
                        <a:t>万保函</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已退</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无</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已完成产业运营公司工商注册</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合作协议</a:t>
                      </a: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11</a:t>
                      </a:r>
                      <a:r>
                        <a:rPr lang="zh-CN" altLang="en-US" sz="600" b="0" i="0">
                          <a:solidFill>
                            <a:srgbClr val="000000"/>
                          </a:solidFill>
                          <a:latin typeface="微软雅黑" panose="020B0503020204020204" pitchFamily="34" charset="-122"/>
                          <a:ea typeface="微软雅黑" panose="020B0503020204020204" pitchFamily="34" charset="-122"/>
                        </a:rPr>
                        <a:t>月</a:t>
                      </a:r>
                      <a:r>
                        <a:rPr lang="en-US" altLang="zh-CN" sz="600" b="0" i="0">
                          <a:solidFill>
                            <a:srgbClr val="000000"/>
                          </a:solidFill>
                          <a:latin typeface="微软雅黑" panose="020B0503020204020204" pitchFamily="34" charset="-122"/>
                          <a:ea typeface="微软雅黑" panose="020B0503020204020204" pitchFamily="34" charset="-122"/>
                        </a:rPr>
                        <a:t>4</a:t>
                      </a:r>
                      <a:r>
                        <a:rPr lang="zh-CN" altLang="en-US" sz="600" b="0" i="0">
                          <a:solidFill>
                            <a:srgbClr val="000000"/>
                          </a:solidFill>
                          <a:latin typeface="微软雅黑" panose="020B0503020204020204" pitchFamily="34" charset="-122"/>
                          <a:ea typeface="微软雅黑" panose="020B0503020204020204" pitchFamily="34" charset="-122"/>
                        </a:rPr>
                        <a:t>日完成签订</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保函原件已从政府取回并交由苏州地产公司财务部接收。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已完成</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8194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引入</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家服务于中国高校科技成果转化的机构，并在苏州高新区设立一支不少于人民币</a:t>
                      </a:r>
                      <a:r>
                        <a:rPr lang="en-US" altLang="zh-CN" sz="600" b="0" i="0">
                          <a:solidFill>
                            <a:srgbClr val="000000"/>
                          </a:solidFill>
                          <a:latin typeface="微软雅黑" panose="020B0503020204020204" pitchFamily="34" charset="-122"/>
                          <a:ea typeface="微软雅黑" panose="020B0503020204020204" pitchFamily="34" charset="-122"/>
                        </a:rPr>
                        <a:t>3000</a:t>
                      </a:r>
                      <a:r>
                        <a:rPr lang="zh-CN" altLang="en-US" sz="600" b="0" i="0">
                          <a:solidFill>
                            <a:srgbClr val="000000"/>
                          </a:solidFill>
                          <a:latin typeface="微软雅黑" panose="020B0503020204020204" pitchFamily="34" charset="-122"/>
                          <a:ea typeface="微软雅黑" panose="020B0503020204020204" pitchFamily="34" charset="-122"/>
                        </a:rPr>
                        <a:t>万的基金。</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2000</a:t>
                      </a:r>
                      <a:r>
                        <a:rPr lang="zh-CN" altLang="en-US" sz="600" b="0" i="0">
                          <a:solidFill>
                            <a:srgbClr val="000000"/>
                          </a:solidFill>
                          <a:latin typeface="微软雅黑" panose="020B0503020204020204" pitchFamily="34" charset="-122"/>
                          <a:ea typeface="微软雅黑" panose="020B0503020204020204" pitchFamily="34" charset="-122"/>
                        </a:rPr>
                        <a:t>万保函</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已退</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500.00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无</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已引入科转云股权投资基金，保函原件已从政府取回并交由苏州地产公司财务部接收。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已完成</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81940">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进度</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竣备后</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个月内开园运营。</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2024</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违约金</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宗地土地出让金</a:t>
                      </a:r>
                      <a:r>
                        <a:rPr lang="en-US" altLang="zh-CN" sz="600" b="0" i="0">
                          <a:solidFill>
                            <a:srgbClr val="000000"/>
                          </a:solidFill>
                          <a:latin typeface="微软雅黑" panose="020B0503020204020204" pitchFamily="34" charset="-122"/>
                          <a:ea typeface="微软雅黑" panose="020B0503020204020204" pitchFamily="34" charset="-122"/>
                        </a:rPr>
                        <a:t>20%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1900</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月</a:t>
                      </a:r>
                      <a:r>
                        <a:rPr lang="en-US" altLang="zh-CN" sz="600" b="0" i="0">
                          <a:solidFill>
                            <a:srgbClr val="000000"/>
                          </a:solidFill>
                          <a:latin typeface="微软雅黑" panose="020B0503020204020204" pitchFamily="34" charset="-122"/>
                          <a:ea typeface="微软雅黑" panose="020B0503020204020204" pitchFamily="34" charset="-122"/>
                        </a:rPr>
                        <a:t>0</a:t>
                      </a:r>
                      <a:r>
                        <a:rPr lang="zh-CN" altLang="en-US" sz="600" b="0" i="0">
                          <a:solidFill>
                            <a:srgbClr val="000000"/>
                          </a:solidFill>
                          <a:latin typeface="微软雅黑" panose="020B0503020204020204" pitchFamily="34" charset="-122"/>
                          <a:ea typeface="微软雅黑" panose="020B0503020204020204" pitchFamily="34" charset="-122"/>
                        </a:rPr>
                        <a:t>日</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2024</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无</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2024.6.30</a:t>
                      </a:r>
                      <a:r>
                        <a:rPr lang="zh-CN" altLang="en-US" sz="600" b="0" i="0">
                          <a:solidFill>
                            <a:srgbClr val="000000"/>
                          </a:solidFill>
                          <a:latin typeface="微软雅黑" panose="020B0503020204020204" pitchFamily="34" charset="-122"/>
                          <a:ea typeface="微软雅黑" panose="020B0503020204020204" pitchFamily="34" charset="-122"/>
                        </a:rPr>
                        <a:t>已开园运营</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已完成</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647700">
                <a:tc rowSpan="3">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保函释放</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引入</a:t>
                      </a:r>
                      <a:r>
                        <a:rPr lang="en-US" altLang="zh-CN" sz="600" b="0" i="0">
                          <a:solidFill>
                            <a:srgbClr val="000000"/>
                          </a:solidFill>
                          <a:latin typeface="微软雅黑" panose="020B0503020204020204" pitchFamily="34" charset="-122"/>
                          <a:ea typeface="微软雅黑" panose="020B0503020204020204" pitchFamily="34" charset="-122"/>
                        </a:rPr>
                        <a:t>1</a:t>
                      </a:r>
                      <a:r>
                        <a:rPr lang="zh-CN" altLang="en-US" sz="600" b="0" i="0">
                          <a:solidFill>
                            <a:srgbClr val="000000"/>
                          </a:solidFill>
                          <a:latin typeface="微软雅黑" panose="020B0503020204020204" pitchFamily="34" charset="-122"/>
                          <a:ea typeface="微软雅黑" panose="020B0503020204020204" pitchFamily="34" charset="-122"/>
                        </a:rPr>
                        <a:t>家众创空间运营公司，并在</a:t>
                      </a:r>
                      <a:r>
                        <a:rPr lang="en-US" altLang="zh-CN" sz="600" b="0" i="0">
                          <a:solidFill>
                            <a:srgbClr val="000000"/>
                          </a:solidFill>
                          <a:latin typeface="微软雅黑" panose="020B0503020204020204" pitchFamily="34" charset="-122"/>
                          <a:ea typeface="微软雅黑" panose="020B0503020204020204" pitchFamily="34" charset="-122"/>
                        </a:rPr>
                        <a:t>5</a:t>
                      </a:r>
                      <a:r>
                        <a:rPr lang="zh-CN" altLang="en-US" sz="600" b="0" i="0">
                          <a:solidFill>
                            <a:srgbClr val="000000"/>
                          </a:solidFill>
                          <a:latin typeface="微软雅黑" panose="020B0503020204020204" pitchFamily="34" charset="-122"/>
                          <a:ea typeface="微软雅黑" panose="020B0503020204020204" pitchFamily="34" charset="-122"/>
                        </a:rPr>
                        <a:t>年内完成省级众创空间备案。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2029</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2029</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260.26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512.74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替换为申报科技型企业孵化器（部级）。申报场地、面积等基础条件已确定，企业数量储备中。目前园内已有</a:t>
                      </a:r>
                      <a:r>
                        <a:rPr lang="en-US" altLang="zh-CN" sz="600" b="0" i="0">
                          <a:solidFill>
                            <a:srgbClr val="000000"/>
                          </a:solidFill>
                          <a:latin typeface="微软雅黑" panose="020B0503020204020204" pitchFamily="34" charset="-122"/>
                          <a:ea typeface="微软雅黑" panose="020B0503020204020204" pitchFamily="34" charset="-122"/>
                        </a:rPr>
                        <a:t>17</a:t>
                      </a:r>
                      <a:r>
                        <a:rPr lang="zh-CN" altLang="en-US" sz="600" b="0" i="0">
                          <a:solidFill>
                            <a:srgbClr val="000000"/>
                          </a:solidFill>
                          <a:latin typeface="微软雅黑" panose="020B0503020204020204" pitchFamily="34" charset="-122"/>
                          <a:ea typeface="微软雅黑" panose="020B0503020204020204" pitchFamily="34" charset="-122"/>
                        </a:rPr>
                        <a:t>家符合申报要求的企业，</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纳入江苏省火炬中心系统进行数据填报。</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持续储备企业数量。</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对接第三方机构，就申报服务内容、流程规范等核心要求展开沟通，进行评估比价，明确合作意向。</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7338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600" b="0" i="0">
                          <a:solidFill>
                            <a:srgbClr val="FF0000"/>
                          </a:solidFill>
                          <a:latin typeface="微软雅黑" panose="020B0503020204020204" pitchFamily="34" charset="-122"/>
                          <a:ea typeface="微软雅黑" panose="020B0503020204020204" pitchFamily="34" charset="-122"/>
                        </a:rPr>
                        <a:t>乙方须在竞得土地后</a:t>
                      </a:r>
                      <a:r>
                        <a:rPr lang="en-US" altLang="zh-CN" sz="600" b="0" i="0">
                          <a:solidFill>
                            <a:srgbClr val="FF0000"/>
                          </a:solidFill>
                          <a:latin typeface="微软雅黑" panose="020B0503020204020204" pitchFamily="34" charset="-122"/>
                          <a:ea typeface="微软雅黑" panose="020B0503020204020204" pitchFamily="34" charset="-122"/>
                        </a:rPr>
                        <a:t>6</a:t>
                      </a:r>
                      <a:r>
                        <a:rPr lang="zh-CN" altLang="en-US" sz="600" b="0" i="0">
                          <a:solidFill>
                            <a:srgbClr val="FF0000"/>
                          </a:solidFill>
                          <a:latin typeface="微软雅黑" panose="020B0503020204020204" pitchFamily="34" charset="-122"/>
                          <a:ea typeface="微软雅黑" panose="020B0503020204020204" pitchFamily="34" charset="-122"/>
                        </a:rPr>
                        <a:t>年内，在地块内引入不少于</a:t>
                      </a:r>
                      <a:r>
                        <a:rPr lang="en-US" altLang="zh-CN" sz="600" b="0" i="0">
                          <a:solidFill>
                            <a:srgbClr val="FF0000"/>
                          </a:solidFill>
                          <a:latin typeface="微软雅黑" panose="020B0503020204020204" pitchFamily="34" charset="-122"/>
                          <a:ea typeface="微软雅黑" panose="020B0503020204020204" pitchFamily="34" charset="-122"/>
                        </a:rPr>
                        <a:t>1</a:t>
                      </a:r>
                      <a:r>
                        <a:rPr lang="zh-CN" altLang="en-US" sz="600" b="0" i="0">
                          <a:solidFill>
                            <a:srgbClr val="FF0000"/>
                          </a:solidFill>
                          <a:latin typeface="微软雅黑" panose="020B0503020204020204" pitchFamily="34" charset="-122"/>
                          <a:ea typeface="微软雅黑" panose="020B0503020204020204" pitchFamily="34" charset="-122"/>
                        </a:rPr>
                        <a:t>家“科技创新类、数字创意类”领军企业的区域总部或功能中心。</a:t>
                      </a:r>
                      <a:endParaRPr lang="zh-CN" altLang="en-US" sz="6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1000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51.20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339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339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与XH商置沟通，计划将XH商置作为“上市企业”引入。目前正在与狮山沟通落地后业务的开展路径。</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完成XH商置在狮山落地，确定落地后实际业务开展路径，完成考核，释放保函。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92202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zh-CN" altLang="en-US" sz="600" b="0" i="0">
                          <a:solidFill>
                            <a:srgbClr val="FF0000"/>
                          </a:solidFill>
                          <a:latin typeface="微软雅黑" panose="020B0503020204020204" pitchFamily="34" charset="-122"/>
                          <a:ea typeface="微软雅黑" panose="020B0503020204020204" pitchFamily="34" charset="-122"/>
                        </a:rPr>
                        <a:t>引入</a:t>
                      </a:r>
                      <a:r>
                        <a:rPr lang="en-US" altLang="zh-CN" sz="600" b="0" i="0">
                          <a:solidFill>
                            <a:srgbClr val="FF0000"/>
                          </a:solidFill>
                          <a:latin typeface="微软雅黑" panose="020B0503020204020204" pitchFamily="34" charset="-122"/>
                          <a:ea typeface="微软雅黑" panose="020B0503020204020204" pitchFamily="34" charset="-122"/>
                        </a:rPr>
                        <a:t>1</a:t>
                      </a:r>
                      <a:r>
                        <a:rPr lang="zh-CN" altLang="en-US" sz="600" b="0" i="0">
                          <a:solidFill>
                            <a:srgbClr val="FF0000"/>
                          </a:solidFill>
                          <a:latin typeface="微软雅黑" panose="020B0503020204020204" pitchFamily="34" charset="-122"/>
                          <a:ea typeface="微软雅黑" panose="020B0503020204020204" pitchFamily="34" charset="-122"/>
                        </a:rPr>
                        <a:t>家人工智能视觉创新技术领域的独角兽企业的全资子公司。乙方须在地块竞得之日起</a:t>
                      </a:r>
                      <a:r>
                        <a:rPr lang="en-US" altLang="zh-CN" sz="600" b="0" i="0">
                          <a:solidFill>
                            <a:srgbClr val="FF0000"/>
                          </a:solidFill>
                          <a:latin typeface="微软雅黑" panose="020B0503020204020204" pitchFamily="34" charset="-122"/>
                          <a:ea typeface="微软雅黑" panose="020B0503020204020204" pitchFamily="34" charset="-122"/>
                        </a:rPr>
                        <a:t>50</a:t>
                      </a:r>
                      <a:r>
                        <a:rPr lang="zh-CN" altLang="en-US" sz="600" b="0" i="0">
                          <a:solidFill>
                            <a:srgbClr val="FF0000"/>
                          </a:solidFill>
                          <a:latin typeface="微软雅黑" panose="020B0503020204020204" pitchFamily="34" charset="-122"/>
                          <a:ea typeface="微软雅黑" panose="020B0503020204020204" pitchFamily="34" charset="-122"/>
                        </a:rPr>
                        <a:t>日内与该企业签订子公司入驻本项目的合作协议，由丙方负责核实并监督。同时，该全资子公司须在开园之日起一年内完成区域总部或功能性机构的认定。</a:t>
                      </a:r>
                      <a:endParaRPr lang="zh-CN" altLang="en-US" sz="600" b="0"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2021</a:t>
                      </a:r>
                      <a:r>
                        <a:rPr lang="zh-CN" altLang="en-US" sz="600" b="0" i="0">
                          <a:solidFill>
                            <a:srgbClr val="000000"/>
                          </a:solidFill>
                          <a:latin typeface="微软雅黑" panose="020B0503020204020204" pitchFamily="34" charset="-122"/>
                          <a:ea typeface="微软雅黑" panose="020B0503020204020204" pitchFamily="34" charset="-122"/>
                        </a:rPr>
                        <a:t>年签订合作协议，</a:t>
                      </a:r>
                      <a:r>
                        <a:rPr lang="en-US" altLang="zh-CN" sz="600" b="0" i="0">
                          <a:solidFill>
                            <a:srgbClr val="000000"/>
                          </a:solidFill>
                          <a:latin typeface="微软雅黑" panose="020B0503020204020204" pitchFamily="34" charset="-122"/>
                          <a:ea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rPr>
                        <a:t>年完成区域总部或功能性机构的认定</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1500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1500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1500</a:t>
                      </a:r>
                      <a:r>
                        <a:rPr lang="zh-CN" altLang="en-US" sz="600" b="0" i="0">
                          <a:solidFill>
                            <a:srgbClr val="000000"/>
                          </a:solidFill>
                          <a:latin typeface="微软雅黑" panose="020B0503020204020204" pitchFamily="34" charset="-122"/>
                          <a:ea typeface="微软雅黑" panose="020B0503020204020204" pitchFamily="34" charset="-122"/>
                        </a:rPr>
                        <a:t>万</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履约保函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2026</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12</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2,006.91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300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300 </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无</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已引进思谋科技外资签订子公司入驻本项目的合作协议，并完成</a:t>
                      </a:r>
                      <a:r>
                        <a:rPr lang="en-US" altLang="zh-CN" sz="600" b="0" i="0">
                          <a:solidFill>
                            <a:srgbClr val="000000"/>
                          </a:solidFill>
                          <a:latin typeface="微软雅黑" panose="020B0503020204020204" pitchFamily="34" charset="-122"/>
                          <a:ea typeface="微软雅黑" panose="020B0503020204020204" pitchFamily="34" charset="-122"/>
                        </a:rPr>
                        <a:t>2000</a:t>
                      </a:r>
                      <a:r>
                        <a:rPr lang="zh-CN" altLang="en-US" sz="600" b="0" i="0">
                          <a:solidFill>
                            <a:srgbClr val="000000"/>
                          </a:solidFill>
                          <a:latin typeface="微软雅黑" panose="020B0503020204020204" pitchFamily="34" charset="-122"/>
                          <a:ea typeface="微软雅黑" panose="020B0503020204020204" pitchFamily="34" charset="-122"/>
                        </a:rPr>
                        <a:t>万美元实缴。</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思谋已获评苏州市外资研发机构。因费用投入未达狮山政府上会标准，狮山表示在现有资质基础上，额外导入</a:t>
                      </a:r>
                      <a:r>
                        <a:rPr lang="en-US" altLang="zh-CN" sz="600" b="0" i="0">
                          <a:solidFill>
                            <a:srgbClr val="000000"/>
                          </a:solidFill>
                          <a:latin typeface="微软雅黑" panose="020B0503020204020204" pitchFamily="34" charset="-122"/>
                          <a:ea typeface="微软雅黑" panose="020B0503020204020204" pitchFamily="34" charset="-122"/>
                        </a:rPr>
                        <a:t>300</a:t>
                      </a:r>
                      <a:r>
                        <a:rPr lang="zh-CN" altLang="en-US" sz="600" b="0" i="0">
                          <a:solidFill>
                            <a:srgbClr val="000000"/>
                          </a:solidFill>
                          <a:latin typeface="微软雅黑" panose="020B0503020204020204" pitchFamily="34" charset="-122"/>
                          <a:ea typeface="微软雅黑" panose="020B0503020204020204" pitchFamily="34" charset="-122"/>
                        </a:rPr>
                        <a:t>万美元外资，达到狮山年度</a:t>
                      </a:r>
                      <a:r>
                        <a:rPr lang="en-US" altLang="zh-CN" sz="600" b="0" i="0">
                          <a:solidFill>
                            <a:srgbClr val="000000"/>
                          </a:solidFill>
                          <a:latin typeface="微软雅黑" panose="020B0503020204020204" pitchFamily="34" charset="-122"/>
                          <a:ea typeface="微软雅黑" panose="020B0503020204020204" pitchFamily="34" charset="-122"/>
                        </a:rPr>
                        <a:t>KPI</a:t>
                      </a:r>
                      <a:r>
                        <a:rPr lang="zh-CN" altLang="en-US" sz="600" b="0" i="0">
                          <a:solidFill>
                            <a:srgbClr val="000000"/>
                          </a:solidFill>
                          <a:latin typeface="微软雅黑" panose="020B0503020204020204" pitchFamily="34" charset="-122"/>
                          <a:ea typeface="微软雅黑" panose="020B0503020204020204" pitchFamily="34" charset="-122"/>
                        </a:rPr>
                        <a:t>考核，即可释放保函。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在现有资质基础上，额外导入</a:t>
                      </a:r>
                      <a:r>
                        <a:rPr lang="en-US" altLang="zh-CN" sz="600" b="0" i="0">
                          <a:solidFill>
                            <a:srgbClr val="000000"/>
                          </a:solidFill>
                          <a:latin typeface="微软雅黑" panose="020B0503020204020204" pitchFamily="34" charset="-122"/>
                          <a:ea typeface="微软雅黑" panose="020B0503020204020204" pitchFamily="34" charset="-122"/>
                        </a:rPr>
                        <a:t>300</a:t>
                      </a:r>
                      <a:r>
                        <a:rPr lang="zh-CN" altLang="en-US" sz="600" b="0" i="0">
                          <a:solidFill>
                            <a:srgbClr val="000000"/>
                          </a:solidFill>
                          <a:latin typeface="微软雅黑" panose="020B0503020204020204" pitchFamily="34" charset="-122"/>
                          <a:ea typeface="微软雅黑" panose="020B0503020204020204" pitchFamily="34" charset="-122"/>
                        </a:rPr>
                        <a:t>万美元外资，达到狮山年度</a:t>
                      </a:r>
                      <a:r>
                        <a:rPr lang="en-US" altLang="zh-CN" sz="600" b="0" i="0">
                          <a:solidFill>
                            <a:srgbClr val="000000"/>
                          </a:solidFill>
                          <a:latin typeface="微软雅黑" panose="020B0503020204020204" pitchFamily="34" charset="-122"/>
                          <a:ea typeface="微软雅黑" panose="020B0503020204020204" pitchFamily="34" charset="-122"/>
                        </a:rPr>
                        <a:t>KPI</a:t>
                      </a:r>
                      <a:r>
                        <a:rPr lang="zh-CN" altLang="en-US" sz="600" b="0" i="0">
                          <a:solidFill>
                            <a:srgbClr val="000000"/>
                          </a:solidFill>
                          <a:latin typeface="微软雅黑" panose="020B0503020204020204" pitchFamily="34" charset="-122"/>
                          <a:ea typeface="微软雅黑" panose="020B0503020204020204" pitchFamily="34" charset="-122"/>
                        </a:rPr>
                        <a:t>考核，释放保函。</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464820">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招商</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在竞得土地后</a:t>
                      </a:r>
                      <a:r>
                        <a:rPr lang="en-US" altLang="zh-CN" sz="600" b="0" i="0">
                          <a:solidFill>
                            <a:srgbClr val="000000"/>
                          </a:solidFill>
                          <a:latin typeface="微软雅黑" panose="020B0503020204020204" pitchFamily="34" charset="-122"/>
                          <a:ea typeface="微软雅黑" panose="020B0503020204020204" pitchFamily="34" charset="-122"/>
                        </a:rPr>
                        <a:t>6</a:t>
                      </a:r>
                      <a:r>
                        <a:rPr lang="zh-CN" altLang="en-US" sz="600" b="0" i="0">
                          <a:solidFill>
                            <a:srgbClr val="000000"/>
                          </a:solidFill>
                          <a:latin typeface="微软雅黑" panose="020B0503020204020204" pitchFamily="34" charset="-122"/>
                          <a:ea typeface="微软雅黑" panose="020B0503020204020204" pitchFamily="34" charset="-122"/>
                        </a:rPr>
                        <a:t>年内，在地块内引入不少于</a:t>
                      </a:r>
                      <a:r>
                        <a:rPr lang="en-US" altLang="zh-CN" sz="600" b="0" i="0">
                          <a:solidFill>
                            <a:srgbClr val="000000"/>
                          </a:solidFill>
                          <a:latin typeface="微软雅黑" panose="020B0503020204020204" pitchFamily="34" charset="-122"/>
                          <a:ea typeface="微软雅黑" panose="020B0503020204020204" pitchFamily="34" charset="-122"/>
                        </a:rPr>
                        <a:t>15</a:t>
                      </a:r>
                      <a:r>
                        <a:rPr lang="zh-CN" altLang="en-US" sz="600" b="0" i="0">
                          <a:solidFill>
                            <a:srgbClr val="000000"/>
                          </a:solidFill>
                          <a:latin typeface="微软雅黑" panose="020B0503020204020204" pitchFamily="34" charset="-122"/>
                          <a:ea typeface="微软雅黑" panose="020B0503020204020204" pitchFamily="34" charset="-122"/>
                        </a:rPr>
                        <a:t>家科技创新类（新一代信息技术产业、高端装备制造产业、生物产业）、数字创意类（数字创意产业、相关服务业）领域的独立核算法人公司或企业。</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违约金</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宗地土地出让金</a:t>
                      </a:r>
                      <a:r>
                        <a:rPr lang="en-US" altLang="zh-CN" sz="600" b="0" i="0">
                          <a:solidFill>
                            <a:srgbClr val="000000"/>
                          </a:solidFill>
                          <a:latin typeface="微软雅黑" panose="020B0503020204020204" pitchFamily="34" charset="-122"/>
                          <a:ea typeface="微软雅黑" panose="020B0503020204020204" pitchFamily="34" charset="-122"/>
                        </a:rPr>
                        <a:t>20%</a:t>
                      </a:r>
                      <a:endParaRPr lang="en-US" altLang="zh-CN"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2027</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9</a:t>
                      </a:r>
                      <a:r>
                        <a:rPr lang="zh-CN" altLang="en-US" sz="600" b="0" i="0">
                          <a:solidFill>
                            <a:srgbClr val="000000"/>
                          </a:solidFill>
                          <a:latin typeface="微软雅黑" panose="020B0503020204020204" pitchFamily="34" charset="-122"/>
                          <a:ea typeface="微软雅黑" panose="020B0503020204020204" pitchFamily="34" charset="-122"/>
                        </a:rPr>
                        <a:t>月</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无</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已引入</a:t>
                      </a:r>
                      <a:r>
                        <a:rPr lang="en-US" altLang="zh-CN" sz="600" b="0" i="0">
                          <a:solidFill>
                            <a:srgbClr val="000000"/>
                          </a:solidFill>
                          <a:latin typeface="微软雅黑" panose="020B0503020204020204" pitchFamily="34" charset="-122"/>
                          <a:ea typeface="微软雅黑" panose="020B0503020204020204" pitchFamily="34" charset="-122"/>
                        </a:rPr>
                        <a:t>10</a:t>
                      </a:r>
                      <a:r>
                        <a:rPr lang="zh-CN" altLang="en-US" sz="600" b="0" i="0">
                          <a:solidFill>
                            <a:srgbClr val="000000"/>
                          </a:solidFill>
                          <a:latin typeface="微软雅黑" panose="020B0503020204020204" pitchFamily="34" charset="-122"/>
                          <a:ea typeface="微软雅黑" panose="020B0503020204020204" pitchFamily="34" charset="-122"/>
                        </a:rPr>
                        <a:t>家科技创新类、数字创意类领域的独立核算法人公司或企业。</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持续引入相关企业</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516255">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税收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600" b="0" i="0">
                          <a:solidFill>
                            <a:srgbClr val="000000"/>
                          </a:solidFill>
                          <a:latin typeface="微软雅黑" panose="020B0503020204020204" pitchFamily="34" charset="-122"/>
                          <a:ea typeface="微软雅黑" panose="020B0503020204020204" pitchFamily="34" charset="-122"/>
                        </a:rPr>
                        <a:t>（商业商务混合用地面积和商住混合用地中商办用地面积）</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开园下一个自然年度起六年内，六年期平均每年亩均税收不低于</a:t>
                      </a:r>
                      <a:r>
                        <a:rPr lang="en-US" altLang="zh-CN" sz="600" b="0" i="0">
                          <a:solidFill>
                            <a:srgbClr val="000000"/>
                          </a:solidFill>
                          <a:latin typeface="微软雅黑" panose="020B0503020204020204" pitchFamily="34" charset="-122"/>
                          <a:ea typeface="微软雅黑" panose="020B0503020204020204" pitchFamily="34" charset="-122"/>
                        </a:rPr>
                        <a:t>100</a:t>
                      </a:r>
                      <a:r>
                        <a:rPr lang="zh-CN" altLang="en-US" sz="600" b="0" i="0">
                          <a:solidFill>
                            <a:srgbClr val="000000"/>
                          </a:solidFill>
                          <a:latin typeface="微软雅黑" panose="020B0503020204020204" pitchFamily="34" charset="-122"/>
                          <a:ea typeface="微软雅黑" panose="020B0503020204020204" pitchFamily="34" charset="-122"/>
                        </a:rPr>
                        <a:t>万元，其中前三年每年亩均税收不低于</a:t>
                      </a:r>
                      <a:r>
                        <a:rPr lang="en-US" altLang="zh-CN" sz="600" b="0" i="0">
                          <a:solidFill>
                            <a:srgbClr val="000000"/>
                          </a:solidFill>
                          <a:latin typeface="微软雅黑" panose="020B0503020204020204" pitchFamily="34" charset="-122"/>
                          <a:ea typeface="微软雅黑" panose="020B0503020204020204" pitchFamily="34" charset="-122"/>
                        </a:rPr>
                        <a:t>80</a:t>
                      </a:r>
                      <a:r>
                        <a:rPr lang="zh-CN" altLang="en-US" sz="600" b="0" i="0">
                          <a:solidFill>
                            <a:srgbClr val="000000"/>
                          </a:solidFill>
                          <a:latin typeface="微软雅黑" panose="020B0503020204020204" pitchFamily="34" charset="-122"/>
                          <a:ea typeface="微软雅黑" panose="020B0503020204020204" pitchFamily="34" charset="-122"/>
                        </a:rPr>
                        <a:t>万元，六年期税收总额不低于</a:t>
                      </a:r>
                      <a:r>
                        <a:rPr lang="en-US" altLang="zh-CN" sz="600" b="0" i="0">
                          <a:solidFill>
                            <a:srgbClr val="000000"/>
                          </a:solidFill>
                          <a:latin typeface="微软雅黑" panose="020B0503020204020204" pitchFamily="34" charset="-122"/>
                          <a:ea typeface="微软雅黑" panose="020B0503020204020204" pitchFamily="34" charset="-122"/>
                        </a:rPr>
                        <a:t>2.66</a:t>
                      </a:r>
                      <a:r>
                        <a:rPr lang="zh-CN" altLang="en-US" sz="600" b="0" i="0">
                          <a:solidFill>
                            <a:srgbClr val="000000"/>
                          </a:solidFill>
                          <a:latin typeface="微软雅黑" panose="020B0503020204020204" pitchFamily="34" charset="-122"/>
                          <a:ea typeface="微软雅黑" panose="020B0503020204020204" pitchFamily="34" charset="-122"/>
                        </a:rPr>
                        <a:t>亿。</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不足部分补差额</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0" i="0">
                          <a:solidFill>
                            <a:srgbClr val="000000"/>
                          </a:solidFill>
                          <a:latin typeface="微软雅黑" panose="020B0503020204020204" pitchFamily="34" charset="-122"/>
                          <a:ea typeface="微软雅黑" panose="020B0503020204020204" pitchFamily="34" charset="-122"/>
                        </a:rPr>
                        <a:t>2025</a:t>
                      </a:r>
                      <a:r>
                        <a:rPr lang="zh-CN" altLang="en-US" sz="600" b="0" i="0">
                          <a:solidFill>
                            <a:srgbClr val="000000"/>
                          </a:solidFill>
                          <a:latin typeface="微软雅黑" panose="020B0503020204020204" pitchFamily="34" charset="-122"/>
                          <a:ea typeface="微软雅黑" panose="020B0503020204020204" pitchFamily="34" charset="-122"/>
                        </a:rPr>
                        <a:t>年</a:t>
                      </a:r>
                      <a:r>
                        <a:rPr lang="en-US" altLang="zh-CN" sz="600" b="0" i="0">
                          <a:solidFill>
                            <a:srgbClr val="000000"/>
                          </a:solidFill>
                          <a:latin typeface="微软雅黑" panose="020B0503020204020204" pitchFamily="34" charset="-122"/>
                          <a:ea typeface="微软雅黑" panose="020B0503020204020204" pitchFamily="34" charset="-122"/>
                        </a:rPr>
                        <a:t>-2030</a:t>
                      </a:r>
                      <a:r>
                        <a:rPr lang="zh-CN" altLang="en-US" sz="600" b="0" i="0">
                          <a:solidFill>
                            <a:srgbClr val="000000"/>
                          </a:solidFill>
                          <a:latin typeface="微软雅黑" panose="020B0503020204020204" pitchFamily="34" charset="-122"/>
                          <a:ea typeface="微软雅黑" panose="020B0503020204020204" pitchFamily="34" charset="-122"/>
                        </a:rPr>
                        <a:t>年</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无</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600" b="0" i="0">
                          <a:solidFill>
                            <a:srgbClr val="000000"/>
                          </a:solidFill>
                          <a:latin typeface="微软雅黑" panose="020B0503020204020204" pitchFamily="34" charset="-122"/>
                          <a:ea typeface="微软雅黑" panose="020B0503020204020204" pitchFamily="34" charset="-122"/>
                        </a:rPr>
                        <a:t>47</a:t>
                      </a:r>
                      <a:r>
                        <a:rPr lang="zh-CN" altLang="en-US" sz="600" b="0" i="0">
                          <a:solidFill>
                            <a:srgbClr val="000000"/>
                          </a:solidFill>
                          <a:latin typeface="微软雅黑" panose="020B0503020204020204" pitchFamily="34" charset="-122"/>
                          <a:ea typeface="微软雅黑" panose="020B0503020204020204" pitchFamily="34" charset="-122"/>
                        </a:rPr>
                        <a:t>号地块：</a:t>
                      </a:r>
                      <a:r>
                        <a:rPr lang="en-US" altLang="zh-CN" sz="600" b="0" i="0">
                          <a:solidFill>
                            <a:srgbClr val="000000"/>
                          </a:solidFill>
                          <a:latin typeface="微软雅黑" panose="020B0503020204020204" pitchFamily="34" charset="-122"/>
                          <a:ea typeface="微软雅黑" panose="020B0503020204020204" pitchFamily="34" charset="-122"/>
                        </a:rPr>
                        <a:t>20606.2</a:t>
                      </a:r>
                      <a:r>
                        <a:rPr lang="zh-CN" altLang="en-US" sz="600" b="0" i="0">
                          <a:solidFill>
                            <a:srgbClr val="000000"/>
                          </a:solidFill>
                          <a:latin typeface="微软雅黑" panose="020B0503020204020204" pitchFamily="34" charset="-122"/>
                          <a:ea typeface="微软雅黑" panose="020B0503020204020204" pitchFamily="34" charset="-122"/>
                        </a:rPr>
                        <a:t>㎡，</a:t>
                      </a:r>
                      <a:r>
                        <a:rPr lang="en-US" altLang="zh-CN" sz="600" b="0" i="0">
                          <a:solidFill>
                            <a:srgbClr val="000000"/>
                          </a:solidFill>
                          <a:latin typeface="微软雅黑" panose="020B0503020204020204" pitchFamily="34" charset="-122"/>
                          <a:ea typeface="微软雅黑" panose="020B0503020204020204" pitchFamily="34" charset="-122"/>
                        </a:rPr>
                        <a:t>46</a:t>
                      </a:r>
                      <a:r>
                        <a:rPr lang="zh-CN" altLang="en-US" sz="600" b="0" i="0">
                          <a:solidFill>
                            <a:srgbClr val="000000"/>
                          </a:solidFill>
                          <a:latin typeface="微软雅黑" panose="020B0503020204020204" pitchFamily="34" charset="-122"/>
                          <a:ea typeface="微软雅黑" panose="020B0503020204020204" pitchFamily="34" charset="-122"/>
                        </a:rPr>
                        <a:t>号地块：</a:t>
                      </a:r>
                      <a:r>
                        <a:rPr lang="en-US" altLang="zh-CN" sz="600" b="0" i="0">
                          <a:solidFill>
                            <a:srgbClr val="000000"/>
                          </a:solidFill>
                          <a:latin typeface="微软雅黑" panose="020B0503020204020204" pitchFamily="34" charset="-122"/>
                          <a:ea typeface="微软雅黑" panose="020B0503020204020204" pitchFamily="34" charset="-122"/>
                        </a:rPr>
                        <a:t>5789.1</a:t>
                      </a:r>
                      <a:r>
                        <a:rPr lang="zh-CN" altLang="en-US" sz="600" b="0" i="0">
                          <a:solidFill>
                            <a:srgbClr val="000000"/>
                          </a:solidFill>
                          <a:latin typeface="微软雅黑" panose="020B0503020204020204" pitchFamily="34" charset="-122"/>
                          <a:ea typeface="微软雅黑" panose="020B0503020204020204" pitchFamily="34" charset="-122"/>
                        </a:rPr>
                        <a:t>㎡，合计约</a:t>
                      </a:r>
                      <a:r>
                        <a:rPr lang="en-US" altLang="zh-CN" sz="600" b="0" i="0">
                          <a:solidFill>
                            <a:srgbClr val="000000"/>
                          </a:solidFill>
                          <a:latin typeface="微软雅黑" panose="020B0503020204020204" pitchFamily="34" charset="-122"/>
                          <a:ea typeface="微软雅黑" panose="020B0503020204020204" pitchFamily="34" charset="-122"/>
                        </a:rPr>
                        <a:t>39.593</a:t>
                      </a:r>
                      <a:r>
                        <a:rPr lang="zh-CN" altLang="en-US" sz="600" b="0" i="0">
                          <a:solidFill>
                            <a:srgbClr val="000000"/>
                          </a:solidFill>
                          <a:latin typeface="微软雅黑" panose="020B0503020204020204" pitchFamily="34" charset="-122"/>
                          <a:ea typeface="微软雅黑" panose="020B0503020204020204" pitchFamily="34" charset="-122"/>
                        </a:rPr>
                        <a:t>亩。</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六年期平均每年税收不低于</a:t>
                      </a:r>
                      <a:r>
                        <a:rPr lang="en-US" altLang="zh-CN" sz="600" b="0" i="0">
                          <a:solidFill>
                            <a:srgbClr val="000000"/>
                          </a:solidFill>
                          <a:latin typeface="微软雅黑" panose="020B0503020204020204" pitchFamily="34" charset="-122"/>
                          <a:ea typeface="微软雅黑" panose="020B0503020204020204" pitchFamily="34" charset="-122"/>
                        </a:rPr>
                        <a:t>3959.3</a:t>
                      </a:r>
                      <a:r>
                        <a:rPr lang="zh-CN" altLang="en-US" sz="600" b="0" i="0">
                          <a:solidFill>
                            <a:srgbClr val="000000"/>
                          </a:solidFill>
                          <a:latin typeface="微软雅黑" panose="020B0503020204020204" pitchFamily="34" charset="-122"/>
                          <a:ea typeface="微软雅黑" panose="020B0503020204020204" pitchFamily="34" charset="-122"/>
                        </a:rPr>
                        <a:t>万元，其中前三年每年税收不低于</a:t>
                      </a:r>
                      <a:r>
                        <a:rPr lang="en-US" altLang="zh-CN" sz="600" b="0" i="0">
                          <a:solidFill>
                            <a:srgbClr val="000000"/>
                          </a:solidFill>
                          <a:latin typeface="微软雅黑" panose="020B0503020204020204" pitchFamily="34" charset="-122"/>
                          <a:ea typeface="微软雅黑" panose="020B0503020204020204" pitchFamily="34" charset="-122"/>
                        </a:rPr>
                        <a:t>3167.44</a:t>
                      </a:r>
                      <a:r>
                        <a:rPr lang="zh-CN" altLang="en-US" sz="600" b="0" i="0">
                          <a:solidFill>
                            <a:srgbClr val="000000"/>
                          </a:solidFill>
                          <a:latin typeface="微软雅黑" panose="020B0503020204020204" pitchFamily="34" charset="-122"/>
                          <a:ea typeface="微软雅黑" panose="020B0503020204020204" pitchFamily="34" charset="-122"/>
                        </a:rPr>
                        <a:t>万元。</a:t>
                      </a:r>
                      <a:br>
                        <a:rPr lang="zh-CN" altLang="en-US" sz="600" b="0" i="0">
                          <a:solidFill>
                            <a:srgbClr val="000000"/>
                          </a:solidFill>
                          <a:latin typeface="微软雅黑" panose="020B0503020204020204" pitchFamily="34" charset="-122"/>
                          <a:ea typeface="微软雅黑" panose="020B0503020204020204" pitchFamily="34" charset="-122"/>
                        </a:rPr>
                      </a:br>
                      <a:r>
                        <a:rPr lang="zh-CN" altLang="en-US" sz="600" b="0" i="0">
                          <a:solidFill>
                            <a:srgbClr val="000000"/>
                          </a:solidFill>
                          <a:latin typeface="微软雅黑" panose="020B0503020204020204" pitchFamily="34" charset="-122"/>
                          <a:ea typeface="微软雅黑" panose="020B0503020204020204" pitchFamily="34" charset="-122"/>
                        </a:rPr>
                        <a:t>（六年期平均每年</a:t>
                      </a:r>
                      <a:r>
                        <a:rPr lang="en-US" altLang="zh-CN" sz="600" b="0" i="0">
                          <a:solidFill>
                            <a:srgbClr val="000000"/>
                          </a:solidFill>
                          <a:latin typeface="微软雅黑" panose="020B0503020204020204" pitchFamily="34" charset="-122"/>
                          <a:ea typeface="微软雅黑" panose="020B0503020204020204" pitchFamily="34" charset="-122"/>
                        </a:rPr>
                        <a:t>3959.3</a:t>
                      </a:r>
                      <a:r>
                        <a:rPr lang="zh-CN" altLang="en-US" sz="600" b="0" i="0">
                          <a:solidFill>
                            <a:srgbClr val="000000"/>
                          </a:solidFill>
                          <a:latin typeface="微软雅黑" panose="020B0503020204020204" pitchFamily="34" charset="-122"/>
                          <a:ea typeface="微软雅黑" panose="020B0503020204020204" pitchFamily="34" charset="-122"/>
                        </a:rPr>
                        <a:t>万元，六年总税收达</a:t>
                      </a:r>
                      <a:r>
                        <a:rPr lang="en-US" altLang="zh-CN" sz="600" b="0" i="0">
                          <a:solidFill>
                            <a:srgbClr val="000000"/>
                          </a:solidFill>
                          <a:latin typeface="微软雅黑" panose="020B0503020204020204" pitchFamily="34" charset="-122"/>
                          <a:ea typeface="微软雅黑" panose="020B0503020204020204" pitchFamily="34" charset="-122"/>
                        </a:rPr>
                        <a:t>23755.8</a:t>
                      </a:r>
                      <a:r>
                        <a:rPr lang="zh-CN" altLang="en-US" sz="600" b="0" i="0">
                          <a:solidFill>
                            <a:srgbClr val="000000"/>
                          </a:solidFill>
                          <a:latin typeface="微软雅黑" panose="020B0503020204020204" pitchFamily="34" charset="-122"/>
                          <a:ea typeface="微软雅黑" panose="020B0503020204020204" pitchFamily="34" charset="-122"/>
                        </a:rPr>
                        <a:t>万元。）</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0" i="0">
                          <a:solidFill>
                            <a:srgbClr val="000000"/>
                          </a:solidFill>
                          <a:latin typeface="微软雅黑" panose="020B0503020204020204" pitchFamily="34" charset="-122"/>
                          <a:ea typeface="微软雅黑" panose="020B0503020204020204" pitchFamily="34" charset="-122"/>
                        </a:rPr>
                        <a:t>统计税收</a:t>
                      </a:r>
                      <a:endParaRPr lang="zh-CN" altLang="en-US" sz="6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190500">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600" b="1" i="0">
                          <a:solidFill>
                            <a:srgbClr val="000000"/>
                          </a:solidFill>
                          <a:latin typeface="微软雅黑" panose="020B0503020204020204" pitchFamily="34" charset="-122"/>
                          <a:ea typeface="微软雅黑" panose="020B0503020204020204" pitchFamily="34" charset="-122"/>
                        </a:rPr>
                        <a:t>合计</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8000</a:t>
                      </a:r>
                      <a:r>
                        <a:rPr lang="zh-CN" altLang="en-US" sz="600" b="1" i="0">
                          <a:solidFill>
                            <a:srgbClr val="000000"/>
                          </a:solidFill>
                          <a:latin typeface="微软雅黑" panose="020B0503020204020204" pitchFamily="34" charset="-122"/>
                          <a:ea typeface="微软雅黑" panose="020B0503020204020204" pitchFamily="34" charset="-122"/>
                        </a:rPr>
                        <a:t>万</a:t>
                      </a:r>
                      <a:br>
                        <a:rPr lang="zh-CN" altLang="en-US" sz="600" b="1" i="0">
                          <a:solidFill>
                            <a:srgbClr val="000000"/>
                          </a:solidFill>
                          <a:latin typeface="微软雅黑" panose="020B0503020204020204" pitchFamily="34" charset="-122"/>
                          <a:ea typeface="微软雅黑" panose="020B0503020204020204" pitchFamily="34" charset="-122"/>
                        </a:rPr>
                      </a:br>
                      <a:r>
                        <a:rPr lang="zh-CN" altLang="en-US" sz="600" b="1" i="0">
                          <a:solidFill>
                            <a:srgbClr val="000000"/>
                          </a:solidFill>
                          <a:latin typeface="微软雅黑" panose="020B0503020204020204" pitchFamily="34" charset="-122"/>
                          <a:ea typeface="微软雅黑" panose="020B0503020204020204" pitchFamily="34" charset="-122"/>
                        </a:rPr>
                        <a:t>履约保函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4500</a:t>
                      </a:r>
                      <a:r>
                        <a:rPr lang="zh-CN" altLang="en-US" sz="600" b="1" i="0">
                          <a:solidFill>
                            <a:srgbClr val="000000"/>
                          </a:solidFill>
                          <a:latin typeface="微软雅黑" panose="020B0503020204020204" pitchFamily="34" charset="-122"/>
                          <a:ea typeface="微软雅黑" panose="020B0503020204020204" pitchFamily="34" charset="-122"/>
                        </a:rPr>
                        <a:t>万</a:t>
                      </a:r>
                      <a:br>
                        <a:rPr lang="zh-CN" altLang="en-US" sz="600" b="1" i="0">
                          <a:solidFill>
                            <a:srgbClr val="000000"/>
                          </a:solidFill>
                          <a:latin typeface="微软雅黑" panose="020B0503020204020204" pitchFamily="34" charset="-122"/>
                          <a:ea typeface="微软雅黑" panose="020B0503020204020204" pitchFamily="34" charset="-122"/>
                        </a:rPr>
                      </a:br>
                      <a:r>
                        <a:rPr lang="zh-CN" altLang="en-US" sz="600" b="1" i="0">
                          <a:solidFill>
                            <a:srgbClr val="000000"/>
                          </a:solidFill>
                          <a:latin typeface="微软雅黑" panose="020B0503020204020204" pitchFamily="34" charset="-122"/>
                          <a:ea typeface="微软雅黑" panose="020B0503020204020204" pitchFamily="34" charset="-122"/>
                        </a:rPr>
                        <a:t>履约保函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3500</a:t>
                      </a:r>
                      <a:r>
                        <a:rPr lang="zh-CN" altLang="en-US" sz="600" b="1" i="0">
                          <a:solidFill>
                            <a:srgbClr val="000000"/>
                          </a:solidFill>
                          <a:latin typeface="微软雅黑" panose="020B0503020204020204" pitchFamily="34" charset="-122"/>
                          <a:ea typeface="微软雅黑" panose="020B0503020204020204" pitchFamily="34" charset="-122"/>
                        </a:rPr>
                        <a:t>万</a:t>
                      </a:r>
                      <a:br>
                        <a:rPr lang="zh-CN" altLang="en-US" sz="600" b="1" i="0">
                          <a:solidFill>
                            <a:srgbClr val="000000"/>
                          </a:solidFill>
                          <a:latin typeface="微软雅黑" panose="020B0503020204020204" pitchFamily="34" charset="-122"/>
                          <a:ea typeface="微软雅黑" panose="020B0503020204020204" pitchFamily="34" charset="-122"/>
                        </a:rPr>
                      </a:br>
                      <a:r>
                        <a:rPr lang="zh-CN" altLang="en-US" sz="600" b="1" i="0">
                          <a:solidFill>
                            <a:srgbClr val="000000"/>
                          </a:solidFill>
                          <a:latin typeface="微软雅黑" panose="020B0503020204020204" pitchFamily="34" charset="-122"/>
                          <a:ea typeface="微软雅黑" panose="020B0503020204020204" pitchFamily="34" charset="-122"/>
                        </a:rPr>
                        <a:t>履约保函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2500</a:t>
                      </a:r>
                      <a:r>
                        <a:rPr lang="zh-CN" altLang="en-US" sz="600" b="1" i="0">
                          <a:solidFill>
                            <a:srgbClr val="000000"/>
                          </a:solidFill>
                          <a:latin typeface="微软雅黑" panose="020B0503020204020204" pitchFamily="34" charset="-122"/>
                          <a:ea typeface="微软雅黑" panose="020B0503020204020204" pitchFamily="34" charset="-122"/>
                        </a:rPr>
                        <a:t>万</a:t>
                      </a:r>
                      <a:br>
                        <a:rPr lang="zh-CN" altLang="en-US" sz="600" b="1" i="0">
                          <a:solidFill>
                            <a:srgbClr val="000000"/>
                          </a:solidFill>
                          <a:latin typeface="微软雅黑" panose="020B0503020204020204" pitchFamily="34" charset="-122"/>
                          <a:ea typeface="微软雅黑" panose="020B0503020204020204" pitchFamily="34" charset="-122"/>
                        </a:rPr>
                      </a:br>
                      <a:r>
                        <a:rPr lang="zh-CN" altLang="en-US" sz="600" b="1" i="0">
                          <a:solidFill>
                            <a:srgbClr val="000000"/>
                          </a:solidFill>
                          <a:latin typeface="微软雅黑" panose="020B0503020204020204" pitchFamily="34" charset="-122"/>
                          <a:ea typeface="微软雅黑" panose="020B0503020204020204" pitchFamily="34" charset="-122"/>
                        </a:rPr>
                        <a:t>履约保函</a:t>
                      </a:r>
                      <a:endParaRPr lang="zh-CN" altLang="en-US"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l"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2,861 </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1,151.54 </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600" b="1" i="0">
                          <a:solidFill>
                            <a:srgbClr val="000000"/>
                          </a:solidFill>
                          <a:latin typeface="微软雅黑" panose="020B0503020204020204" pitchFamily="34" charset="-122"/>
                          <a:ea typeface="微软雅黑" panose="020B0503020204020204" pitchFamily="34" charset="-122"/>
                        </a:rPr>
                        <a:t>738.80 </a:t>
                      </a:r>
                      <a:endParaRPr lang="en-US" altLang="zh-CN"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6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bl>
          </a:graphicData>
        </a:graphic>
      </p:graphicFrame>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60649" y="3519"/>
            <a:ext cx="7559675" cy="359346"/>
          </a:xfrm>
        </p:spPr>
        <p:txBody>
          <a:bodyPr/>
          <a:lstStyle/>
          <a:p>
            <a:pPr lvl="0">
              <a:defRPr/>
            </a:pPr>
            <a:r>
              <a:rPr lang="zh-CN" altLang="en-US" b="1" dirty="0">
                <a:highlight>
                  <a:srgbClr val="000000">
                    <a:alpha val="0"/>
                  </a:srgbClr>
                </a:highlight>
                <a:sym typeface="+mn-ea"/>
              </a:rPr>
              <a:t>第三部分</a:t>
            </a:r>
            <a:r>
              <a:rPr lang="zh-CN" altLang="en-US" b="1" dirty="0" smtClean="0">
                <a:highlight>
                  <a:srgbClr val="000000">
                    <a:alpha val="0"/>
                  </a:srgbClr>
                </a:highlight>
                <a:sym typeface="+mn-ea"/>
              </a:rPr>
              <a:t>：</a:t>
            </a:r>
            <a:r>
              <a:rPr lang="en-US" altLang="zh-CN" b="1" dirty="0" smtClean="0">
                <a:highlight>
                  <a:srgbClr val="000000">
                    <a:alpha val="0"/>
                  </a:srgbClr>
                </a:highlight>
                <a:sym typeface="+mn-ea"/>
              </a:rPr>
              <a:t>2026年预算编制报告</a:t>
            </a:r>
            <a:r>
              <a:rPr lang="en-US" altLang="zh-CN" b="1" dirty="0" smtClean="0">
                <a:solidFill>
                  <a:srgbClr val="002060"/>
                </a:solidFill>
                <a:sym typeface="+mn-ea"/>
              </a:rPr>
              <a:t>-</a:t>
            </a:r>
            <a:r>
              <a:rPr lang="zh-CN" altLang="en-US" b="1" dirty="0" smtClean="0">
                <a:solidFill>
                  <a:srgbClr val="002060"/>
                </a:solidFill>
                <a:sym typeface="+mn-ea"/>
              </a:rPr>
              <a:t>产业集团现金流汇总</a:t>
            </a:r>
            <a:endParaRPr kumimoji="0" lang="zh-CN" altLang="en-US" sz="1800" b="1" i="0" u="none" strike="noStrike" kern="1200" cap="none" spc="-41" normalizeH="0" baseline="0" noProof="0" dirty="0" smtClean="0">
              <a:ln>
                <a:noFill/>
              </a:ln>
              <a:solidFill>
                <a:srgbClr val="002060"/>
              </a:solidFill>
              <a:effectLs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37" name="标题 4"/>
          <p:cNvSpPr>
            <a:spLocks noGrp="1"/>
          </p:cNvSpPr>
          <p:nvPr/>
        </p:nvSpPr>
        <p:spPr>
          <a:xfrm>
            <a:off x="3229000" y="597472"/>
            <a:ext cx="5616624" cy="288032"/>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algn="l" defTabSz="754380" rtl="0" eaLnBrk="0" fontAlgn="base" latinLnBrk="0" hangingPunct="0">
              <a:lnSpc>
                <a:spcPct val="100000"/>
              </a:lnSpc>
              <a:spcBef>
                <a:spcPct val="0"/>
              </a:spcBef>
              <a:spcAft>
                <a:spcPct val="0"/>
              </a:spcAft>
              <a:buClrTx/>
              <a:buSzTx/>
              <a:buFontTx/>
              <a:buNone/>
              <a:defRPr/>
            </a:pPr>
            <a:endParaRPr kumimoji="0" lang="zh-CN" altLang="en-US" sz="1800" b="1" i="0" u="none" strike="noStrike" kern="1200" cap="none" spc="-41"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j-cs"/>
            </a:endParaRPr>
          </a:p>
        </p:txBody>
      </p:sp>
      <p:sp>
        <p:nvSpPr>
          <p:cNvPr id="6" name="文本框 5"/>
          <p:cNvSpPr txBox="1"/>
          <p:nvPr/>
        </p:nvSpPr>
        <p:spPr>
          <a:xfrm>
            <a:off x="0" y="309880"/>
            <a:ext cx="9601835" cy="219710"/>
          </a:xfrm>
          <a:prstGeom prst="rect">
            <a:avLst/>
          </a:prstGeom>
          <a:noFill/>
        </p:spPr>
        <p:txBody>
          <a:bodyPr wrap="square" rtlCol="0">
            <a:noAutofit/>
          </a:bodyPr>
          <a:lstStyle/>
          <a:p>
            <a:pPr marL="171450" indent="-171450">
              <a:buFont typeface="Wingdings" panose="05000000000000000000" charset="0"/>
              <a:buChar char="u"/>
            </a:pPr>
            <a:r>
              <a:rPr lang="zh-CN" altLang="en-US" sz="1200" b="1" dirty="0" smtClean="0">
                <a:solidFill>
                  <a:schemeClr val="tx1"/>
                </a:solidFill>
                <a:latin typeface="微软雅黑" panose="020B0503020204020204" pitchFamily="34" charset="-122"/>
                <a:ea typeface="微软雅黑" panose="020B0503020204020204" pitchFamily="34" charset="-122"/>
              </a:rPr>
              <a:t>运营业务</a:t>
            </a:r>
            <a:r>
              <a:rPr lang="en-US" altLang="zh-CN" sz="1200" b="1" dirty="0" smtClean="0">
                <a:solidFill>
                  <a:schemeClr val="tx1"/>
                </a:solidFill>
                <a:latin typeface="微软雅黑" panose="020B0503020204020204" pitchFamily="34" charset="-122"/>
                <a:ea typeface="微软雅黑" panose="020B0503020204020204" pitchFamily="34" charset="-122"/>
              </a:rPr>
              <a:t>2026年</a:t>
            </a:r>
            <a:r>
              <a:rPr lang="zh-CN" altLang="en-US" sz="1200" b="1" dirty="0" smtClean="0">
                <a:solidFill>
                  <a:schemeClr val="tx1"/>
                </a:solidFill>
                <a:latin typeface="微软雅黑" panose="020B0503020204020204" pitchFamily="34" charset="-122"/>
                <a:ea typeface="微软雅黑" panose="020B0503020204020204" pitchFamily="34" charset="-122"/>
              </a:rPr>
              <a:t>经营性现金流</a:t>
            </a:r>
            <a:r>
              <a:rPr lang="en-US" altLang="zh-CN" sz="1200" b="1" dirty="0" smtClean="0">
                <a:solidFill>
                  <a:schemeClr val="tx1"/>
                </a:solidFill>
                <a:latin typeface="微软雅黑" panose="020B0503020204020204" pitchFamily="34" charset="-122"/>
                <a:ea typeface="微软雅黑" panose="020B0503020204020204" pitchFamily="34" charset="-122"/>
              </a:rPr>
              <a:t>77,785</a:t>
            </a:r>
            <a:r>
              <a:rPr lang="zh-CN" altLang="en-US" sz="1200" b="1" dirty="0" smtClean="0">
                <a:solidFill>
                  <a:schemeClr val="tx1"/>
                </a:solidFill>
                <a:latin typeface="微软雅黑" panose="020B0503020204020204" pitchFamily="34" charset="-122"/>
                <a:ea typeface="微软雅黑" panose="020B0503020204020204" pitchFamily="34" charset="-122"/>
              </a:rPr>
              <a:t>万</a:t>
            </a:r>
            <a:r>
              <a:rPr lang="en-US" altLang="zh-CN" sz="1200" dirty="0" smtClean="0">
                <a:solidFill>
                  <a:schemeClr val="tx1"/>
                </a:solidFill>
                <a:latin typeface="微软雅黑" panose="020B0503020204020204" pitchFamily="34" charset="-122"/>
                <a:ea typeface="微软雅黑" panose="020B0503020204020204" pitchFamily="34" charset="-122"/>
              </a:rPr>
              <a:t>(</a:t>
            </a:r>
            <a:r>
              <a:rPr lang="zh-CN" altLang="en-US" sz="1200" dirty="0" smtClean="0">
                <a:solidFill>
                  <a:schemeClr val="tx1"/>
                </a:solidFill>
                <a:latin typeface="微软雅黑" panose="020B0503020204020204" pitchFamily="34" charset="-122"/>
                <a:ea typeface="微软雅黑" panose="020B0503020204020204" pitchFamily="34" charset="-122"/>
              </a:rPr>
              <a:t>不含丽思</a:t>
            </a:r>
            <a:r>
              <a:rPr lang="en-US" altLang="zh-CN" sz="1200" dirty="0" smtClean="0">
                <a:solidFill>
                  <a:schemeClr val="tx1"/>
                </a:solidFill>
                <a:latin typeface="微软雅黑" panose="020B0503020204020204" pitchFamily="34" charset="-122"/>
                <a:ea typeface="微软雅黑" panose="020B0503020204020204" pitchFamily="34" charset="-122"/>
              </a:rPr>
              <a:t>79,601</a:t>
            </a:r>
            <a:r>
              <a:rPr lang="zh-CN" altLang="en-US" sz="1200" dirty="0" smtClean="0">
                <a:solidFill>
                  <a:schemeClr val="tx1"/>
                </a:solidFill>
                <a:latin typeface="微软雅黑" panose="020B0503020204020204" pitchFamily="34" charset="-122"/>
                <a:ea typeface="微软雅黑" panose="020B0503020204020204" pitchFamily="34" charset="-122"/>
              </a:rPr>
              <a:t>万</a:t>
            </a:r>
            <a:r>
              <a:rPr lang="en-US" altLang="zh-CN" sz="1200" dirty="0" smtClean="0">
                <a:solidFill>
                  <a:schemeClr val="tx1"/>
                </a:solidFill>
                <a:latin typeface="微软雅黑" panose="020B0503020204020204" pitchFamily="34" charset="-122"/>
                <a:ea typeface="微软雅黑" panose="020B0503020204020204" pitchFamily="34" charset="-122"/>
              </a:rPr>
              <a:t>)</a:t>
            </a:r>
            <a:r>
              <a:rPr lang="zh-CN" altLang="en-US" sz="1200" b="1" dirty="0" smtClean="0">
                <a:solidFill>
                  <a:schemeClr val="tx1"/>
                </a:solidFill>
                <a:latin typeface="微软雅黑" panose="020B0503020204020204" pitchFamily="34" charset="-122"/>
                <a:ea typeface="微软雅黑" panose="020B0503020204020204" pitchFamily="34" charset="-122"/>
              </a:rPr>
              <a:t>，</a:t>
            </a:r>
            <a:r>
              <a:rPr lang="zh-CN" altLang="en-US" sz="1200" dirty="0" smtClean="0">
                <a:solidFill>
                  <a:schemeClr val="tx1"/>
                </a:solidFill>
                <a:latin typeface="微软雅黑" panose="020B0503020204020204" pitchFamily="34" charset="-122"/>
                <a:ea typeface="微软雅黑" panose="020B0503020204020204" pitchFamily="34" charset="-122"/>
              </a:rPr>
              <a:t>其中：租赁</a:t>
            </a:r>
            <a:r>
              <a:rPr lang="en-US" altLang="zh-CN" sz="1200" dirty="0" smtClean="0">
                <a:solidFill>
                  <a:schemeClr val="tx1"/>
                </a:solidFill>
                <a:latin typeface="微软雅黑" panose="020B0503020204020204" pitchFamily="34" charset="-122"/>
                <a:ea typeface="微软雅黑" panose="020B0503020204020204" pitchFamily="34" charset="-122"/>
              </a:rPr>
              <a:t>61,348</a:t>
            </a:r>
            <a:r>
              <a:rPr lang="zh-CN" altLang="en-US" sz="1200" dirty="0" smtClean="0">
                <a:solidFill>
                  <a:schemeClr val="tx1"/>
                </a:solidFill>
                <a:latin typeface="微软雅黑" panose="020B0503020204020204" pitchFamily="34" charset="-122"/>
                <a:ea typeface="微软雅黑" panose="020B0503020204020204" pitchFamily="34" charset="-122"/>
              </a:rPr>
              <a:t>万，酒店</a:t>
            </a:r>
            <a:r>
              <a:rPr lang="en-US" altLang="zh-CN" sz="1200" dirty="0" smtClean="0">
                <a:solidFill>
                  <a:schemeClr val="tx1"/>
                </a:solidFill>
                <a:latin typeface="微软雅黑" panose="020B0503020204020204" pitchFamily="34" charset="-122"/>
                <a:ea typeface="微软雅黑" panose="020B0503020204020204" pitchFamily="34" charset="-122"/>
              </a:rPr>
              <a:t>1,131</a:t>
            </a:r>
            <a:r>
              <a:rPr lang="zh-CN" altLang="en-US" sz="1200" dirty="0" smtClean="0">
                <a:solidFill>
                  <a:schemeClr val="tx1"/>
                </a:solidFill>
                <a:latin typeface="微软雅黑" panose="020B0503020204020204" pitchFamily="34" charset="-122"/>
                <a:ea typeface="微软雅黑" panose="020B0503020204020204" pitchFamily="34" charset="-122"/>
              </a:rPr>
              <a:t>万，公寓</a:t>
            </a:r>
            <a:r>
              <a:rPr lang="en-US" altLang="zh-CN" sz="1200" dirty="0" smtClean="0">
                <a:solidFill>
                  <a:schemeClr val="tx1"/>
                </a:solidFill>
                <a:latin typeface="微软雅黑" panose="020B0503020204020204" pitchFamily="34" charset="-122"/>
                <a:ea typeface="微软雅黑" panose="020B0503020204020204" pitchFamily="34" charset="-122"/>
              </a:rPr>
              <a:t>15,306</a:t>
            </a:r>
            <a:r>
              <a:rPr lang="zh-CN" altLang="en-US" sz="1200" dirty="0" smtClean="0">
                <a:solidFill>
                  <a:schemeClr val="tx1"/>
                </a:solidFill>
                <a:latin typeface="微软雅黑" panose="020B0503020204020204" pitchFamily="34" charset="-122"/>
                <a:ea typeface="微软雅黑" panose="020B0503020204020204" pitchFamily="34" charset="-122"/>
              </a:rPr>
              <a:t>万。</a:t>
            </a:r>
            <a:endParaRPr lang="zh-CN" altLang="en-US" sz="1200" dirty="0" smtClean="0">
              <a:solidFill>
                <a:schemeClr val="tx1"/>
              </a:solidFill>
              <a:latin typeface="微软雅黑" panose="020B0503020204020204" pitchFamily="34" charset="-122"/>
              <a:ea typeface="微软雅黑" panose="020B0503020204020204" pitchFamily="34" charset="-122"/>
            </a:endParaRPr>
          </a:p>
        </p:txBody>
      </p:sp>
      <p:graphicFrame>
        <p:nvGraphicFramePr>
          <p:cNvPr id="3" name="表格 2"/>
          <p:cNvGraphicFramePr/>
          <p:nvPr>
            <p:custDataLst>
              <p:tags r:id="rId1"/>
            </p:custDataLst>
          </p:nvPr>
        </p:nvGraphicFramePr>
        <p:xfrm>
          <a:off x="164465" y="597535"/>
          <a:ext cx="9231630" cy="4929505"/>
        </p:xfrm>
        <a:graphic>
          <a:graphicData uri="http://schemas.openxmlformats.org/drawingml/2006/table">
            <a:tbl>
              <a:tblPr/>
              <a:tblGrid>
                <a:gridCol w="737870"/>
                <a:gridCol w="1473835"/>
                <a:gridCol w="635635"/>
                <a:gridCol w="512445"/>
                <a:gridCol w="578485"/>
                <a:gridCol w="529590"/>
                <a:gridCol w="522605"/>
                <a:gridCol w="535940"/>
                <a:gridCol w="497205"/>
                <a:gridCol w="533400"/>
                <a:gridCol w="535940"/>
                <a:gridCol w="534670"/>
                <a:gridCol w="534035"/>
                <a:gridCol w="535305"/>
                <a:gridCol w="534670"/>
              </a:tblGrid>
              <a:tr h="288925">
                <a:tc grid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项目</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hMerge="1">
                  <a:tcPr>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年预算合计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1</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3</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4</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5</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6</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7</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8</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9</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10</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11</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12</a:t>
                      </a:r>
                      <a:r>
                        <a:rPr lang="zh-CN" altLang="en-US" sz="900" b="1" i="0">
                          <a:solidFill>
                            <a:srgbClr val="FFFFFF"/>
                          </a:solidFill>
                          <a:latin typeface="微软雅黑" panose="020B0503020204020204" pitchFamily="34" charset="-122"/>
                          <a:ea typeface="微软雅黑" panose="020B0503020204020204" pitchFamily="34" charset="-122"/>
                        </a:rPr>
                        <a:t>月</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C00000"/>
                    </a:solidFill>
                  </a:tcPr>
                </a:tc>
              </a:tr>
              <a:tr h="150495">
                <a:tc rowSpan="7">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租赁</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105,241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7,232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7,437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8,026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8,905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9,473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9,165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9,521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9,538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9,601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9,497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8,503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8,342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43,893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3,279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4,356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4,984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2,846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2,658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3,721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2,899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2,669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4,756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3,052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2,616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6,056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经营活动现金流量净额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61,348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3,953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3,081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3,042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6,059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5,444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6,622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6,869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4,846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6,445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5,887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2,286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筹资流入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筹资流出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8,170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1,524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246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254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254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筹资活动现金流量净额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-5,170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-524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-2,010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1,990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净额小计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56,178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2,942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1,351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6,569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5,069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4,611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6,615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4,471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8,435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5,634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1,913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9225">
                <a:tc rowSpan="5">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酒店</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22,030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2,109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1,818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1,750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1,730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1,736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1,731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1,833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2,048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1,861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1,931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委管酒店上交利润</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853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-244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428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452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21,753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1,901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2,040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2,034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1,440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1,457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1,922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1,955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1,899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2,083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1,704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经营活动现金流量净额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-236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584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净额小计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-255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-236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584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867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9860">
                <a:tc rowSpan="4">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公寓</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20,888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1,407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1,399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1,242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1,394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2,908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1,457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1,495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2,829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1,420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1,499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2,641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5,583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592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516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475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337</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423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381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544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388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406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经营活动现金流量净额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892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924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1,093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净额小计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603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892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924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905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971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1,077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951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2,160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1,032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1,093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50495">
                <a:tc>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产业运营</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经营活动净额小计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77,785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FC000"/>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4,772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3,733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3,506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7,340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8,057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7,800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7,443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7,599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6,769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7,837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7,564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5,365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877B"/>
                    </a:solidFill>
                  </a:tcPr>
                </a:tc>
              </a:tr>
              <a:tr h="146685">
                <a:tc>
                  <a:txBody>
                    <a:bodyPr/>
                    <a:p>
                      <a:pPr algn="ctr" fontAlgn="ctr">
                        <a:buNone/>
                      </a:pP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l" fontAlgn="ctr">
                        <a:buNone/>
                      </a:pPr>
                      <a:r>
                        <a:rPr lang="zh-CN" altLang="en-US" sz="900" b="1" i="1">
                          <a:solidFill>
                            <a:srgbClr val="000000"/>
                          </a:solidFill>
                          <a:latin typeface="微软雅黑" panose="020B0503020204020204" pitchFamily="34" charset="-122"/>
                          <a:ea typeface="微软雅黑" panose="020B0503020204020204" pitchFamily="34" charset="-122"/>
                        </a:rPr>
                        <a:t>产业运营不含丽思口径</a:t>
                      </a:r>
                      <a:endParaRPr lang="zh-CN" altLang="en-US" sz="900" b="1"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79,601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4,803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3,689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3,685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7,312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8,106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8,273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8,070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8,163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6,927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7,960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7,583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5,031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E26B0A"/>
                    </a:solidFill>
                  </a:tcPr>
                </a:tc>
              </a:tr>
              <a:tr h="149860">
                <a:tc rowSpan="7">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产业销售</a:t>
                      </a:r>
                      <a:endParaRPr lang="zh-CN" altLang="en-US" sz="900" b="1" i="0">
                        <a:solidFill>
                          <a:srgbClr val="000000"/>
                        </a:solidFill>
                        <a:latin typeface="微软雅黑" panose="020B0503020204020204" pitchFamily="34" charset="-122"/>
                        <a:ea typeface="微软雅黑" panose="020B0503020204020204" pitchFamily="34" charset="-122"/>
                      </a:endParaRPr>
                    </a:p>
                    <a:p>
                      <a:pPr algn="ctr" fontAlgn="ctr"/>
                      <a:r>
                        <a:rPr lang="zh-CN" altLang="en-US" sz="900" b="1" i="0">
                          <a:solidFill>
                            <a:srgbClr val="000000"/>
                          </a:solidFill>
                          <a:latin typeface="微软雅黑" panose="020B0503020204020204" pitchFamily="34" charset="-122"/>
                          <a:ea typeface="微软雅黑" panose="020B0503020204020204" pitchFamily="34" charset="-122"/>
                        </a:rPr>
                        <a:t>（不含黄江）</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19,951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210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3,591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496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835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6,028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545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992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3,229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1,224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1,486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9,182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1,574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641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534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2,729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508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791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260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370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573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315</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606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280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经营活动现金流量净额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10,770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-1,364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-526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3,057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-2,233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327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5,237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2,656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884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617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筹资流入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筹资流出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3,482</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2,013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1,438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筹资活动现金流量净额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-3,482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-2,013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-1,438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净额小计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7,288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-1,375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-540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1,044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-2,239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5,237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285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2,656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884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617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1,206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149225">
                <a:tc rowSpan="4">
                  <a:txBody>
                    <a:bodyPr/>
                    <a:p>
                      <a:pPr algn="ctr" fontAlgn="ctr"/>
                      <a:r>
                        <a:rPr lang="zh-CN" altLang="en-US" sz="900" b="1" i="0">
                          <a:solidFill>
                            <a:srgbClr val="000000"/>
                          </a:solidFill>
                          <a:latin typeface="微软雅黑" panose="020B0503020204020204" pitchFamily="34" charset="-122"/>
                          <a:ea typeface="微软雅黑" panose="020B0503020204020204" pitchFamily="34" charset="-122"/>
                        </a:rPr>
                        <a:t>政府考核</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经营流入</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5,300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1,200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4,100</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0" i="0">
                          <a:solidFill>
                            <a:srgbClr val="000000"/>
                          </a:solidFill>
                          <a:latin typeface="微软雅黑" panose="020B0503020204020204" pitchFamily="34" charset="-122"/>
                          <a:ea typeface="微软雅黑" panose="020B0503020204020204" pitchFamily="34" charset="-122"/>
                        </a:rPr>
                        <a:t>经营流出</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1,589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153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178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148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243</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78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118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68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18</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39</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0" i="0">
                          <a:solidFill>
                            <a:srgbClr val="000000"/>
                          </a:solidFill>
                          <a:latin typeface="微软雅黑" panose="020B0503020204020204" pitchFamily="34" charset="-122"/>
                          <a:ea typeface="微软雅黑" panose="020B0503020204020204" pitchFamily="34" charset="-122"/>
                        </a:rPr>
                        <a:t> </a:t>
                      </a:r>
                      <a:r>
                        <a:rPr lang="en-US" altLang="zh-CN" sz="800" b="0" i="0">
                          <a:solidFill>
                            <a:srgbClr val="000000"/>
                          </a:solidFill>
                          <a:latin typeface="微软雅黑" panose="020B0503020204020204" pitchFamily="34" charset="-122"/>
                          <a:ea typeface="微软雅黑" panose="020B0503020204020204" pitchFamily="34" charset="-122"/>
                        </a:rPr>
                        <a:t>396</a:t>
                      </a:r>
                      <a:r>
                        <a:rPr lang="en-US" altLang="zh-CN" sz="800" b="0" i="0">
                          <a:solidFill>
                            <a:srgbClr val="000000"/>
                          </a:solidFill>
                          <a:latin typeface="微软雅黑" panose="020B0503020204020204" pitchFamily="34" charset="-122"/>
                          <a:ea typeface="微软雅黑" panose="020B0503020204020204" pitchFamily="34" charset="-122"/>
                        </a:rPr>
                        <a:t> </a:t>
                      </a:r>
                      <a:endParaRPr lang="en-US" altLang="zh-CN" sz="8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225">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经营活动现金流量净额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3,704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noFill/>
                  </a:tcPr>
                </a:tc>
              </a:tr>
              <a:tr h="149860">
                <a:tc vMerge="1">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tcPr>
                </a:tc>
                <a:tc>
                  <a:txBody>
                    <a:bodyPr/>
                    <a:p>
                      <a:pPr algn="l" fontAlgn="ctr"/>
                      <a:r>
                        <a:rPr lang="zh-CN" altLang="en-US" sz="900" b="1" i="0">
                          <a:solidFill>
                            <a:srgbClr val="000000"/>
                          </a:solidFill>
                          <a:latin typeface="微软雅黑" panose="020B0503020204020204" pitchFamily="34" charset="-122"/>
                          <a:ea typeface="微软雅黑" panose="020B0503020204020204" pitchFamily="34" charset="-122"/>
                        </a:rPr>
                        <a:t>净额小计</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3,711</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1,122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-153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-148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-243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3,704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r h="304800">
                <a:tc>
                  <a:txBody>
                    <a:bodyPr/>
                    <a:p>
                      <a:pPr algn="l" fontAlgn="ctr">
                        <a:buNone/>
                      </a:pPr>
                      <a:r>
                        <a:rPr lang="zh-CN" altLang="en-US" sz="700" b="1" i="0">
                          <a:solidFill>
                            <a:srgbClr val="000000"/>
                          </a:solidFill>
                          <a:latin typeface="微软雅黑" panose="020B0503020204020204" pitchFamily="34" charset="-122"/>
                          <a:ea typeface="微软雅黑" panose="020B0503020204020204" pitchFamily="34" charset="-122"/>
                        </a:rPr>
                        <a:t>大合并含政府考核</a:t>
                      </a:r>
                      <a:endParaRPr lang="zh-CN" altLang="en-US" sz="700" b="1" i="0">
                        <a:solidFill>
                          <a:srgbClr val="000000"/>
                        </a:solidFill>
                        <a:latin typeface="微软雅黑" panose="020B0503020204020204" pitchFamily="34" charset="-122"/>
                        <a:ea typeface="微软雅黑" panose="020B0503020204020204" pitchFamily="34" charset="-122"/>
                      </a:endParaRPr>
                    </a:p>
                  </a:txBody>
                  <a:tcPr>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B w="6350" cap="flat" cmpd="sng">
                      <a:solidFill>
                        <a:srgbClr val="C5D9F1"/>
                      </a:solidFill>
                      <a:prstDash val="solid"/>
                      <a:headEnd type="none" w="med" len="med"/>
                      <a:tailEnd type="none" w="med" len="med"/>
                    </a:lnB>
                    <a:noFill/>
                  </a:tcPr>
                </a:tc>
                <a:tc>
                  <a:txBody>
                    <a:bodyPr/>
                    <a:p>
                      <a:pPr algn="l" fontAlgn="ctr">
                        <a:buNone/>
                      </a:pPr>
                      <a:r>
                        <a:rPr lang="zh-CN" altLang="en-US" sz="900" b="1" i="0">
                          <a:solidFill>
                            <a:srgbClr val="000000"/>
                          </a:solidFill>
                          <a:latin typeface="微软雅黑" panose="020B0503020204020204" pitchFamily="34" charset="-122"/>
                          <a:ea typeface="微软雅黑" panose="020B0503020204020204" pitchFamily="34" charset="-122"/>
                        </a:rPr>
                        <a:t>经营活动现金流净额</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92,266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4,530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3,138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6,409</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4,928</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8,236</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12,794</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7,650</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8,103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9,357</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8,703</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8,142</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c>
                  <a:txBody>
                    <a:bodyPr/>
                    <a:p>
                      <a:pPr algn="r" fontAlgn="ctr"/>
                      <a:r>
                        <a:rPr lang="en-US" altLang="zh-CN" sz="800" b="1" i="0">
                          <a:solidFill>
                            <a:srgbClr val="000000"/>
                          </a:solidFill>
                          <a:latin typeface="微软雅黑" panose="020B0503020204020204" pitchFamily="34" charset="-122"/>
                          <a:ea typeface="微软雅黑" panose="020B0503020204020204" pitchFamily="34" charset="-122"/>
                        </a:rPr>
                        <a:t> </a:t>
                      </a:r>
                      <a:r>
                        <a:rPr lang="en-US" altLang="zh-CN" sz="800" b="1" i="0">
                          <a:solidFill>
                            <a:srgbClr val="000000"/>
                          </a:solidFill>
                          <a:latin typeface="微软雅黑" panose="020B0503020204020204" pitchFamily="34" charset="-122"/>
                          <a:ea typeface="微软雅黑" panose="020B0503020204020204" pitchFamily="34" charset="-122"/>
                        </a:rPr>
                        <a:t>10,275</a:t>
                      </a:r>
                      <a:r>
                        <a:rPr lang="en-US" altLang="zh-CN" sz="800" b="1" i="0">
                          <a:solidFill>
                            <a:srgbClr val="000000"/>
                          </a:solidFill>
                          <a:latin typeface="微软雅黑" panose="020B0503020204020204" pitchFamily="34" charset="-122"/>
                          <a:ea typeface="微软雅黑" panose="020B0503020204020204" pitchFamily="34" charset="-122"/>
                        </a:rPr>
                        <a:t> </a:t>
                      </a:r>
                      <a:endParaRPr lang="en-US" altLang="zh-CN" sz="8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C5D9F1"/>
                      </a:solidFill>
                      <a:prstDash val="solid"/>
                      <a:headEnd type="none" w="med" len="med"/>
                      <a:tailEnd type="none" w="med" len="med"/>
                    </a:lnL>
                    <a:lnR w="6350" cap="flat" cmpd="sng">
                      <a:solidFill>
                        <a:srgbClr val="C5D9F1"/>
                      </a:solidFill>
                      <a:prstDash val="solid"/>
                      <a:headEnd type="none" w="med" len="med"/>
                      <a:tailEnd type="none" w="med" len="med"/>
                    </a:lnR>
                    <a:lnT w="6350" cap="flat" cmpd="sng">
                      <a:solidFill>
                        <a:srgbClr val="C5D9F1"/>
                      </a:solidFill>
                      <a:prstDash val="solid"/>
                      <a:headEnd type="none" w="med" len="med"/>
                      <a:tailEnd type="none" w="med" len="med"/>
                    </a:lnT>
                    <a:lnB w="6350" cap="flat" cmpd="sng">
                      <a:solidFill>
                        <a:srgbClr val="C5D9F1"/>
                      </a:solidFill>
                      <a:prstDash val="solid"/>
                      <a:headEnd type="none" w="med" len="med"/>
                      <a:tailEnd type="none" w="med" len="med"/>
                    </a:lnB>
                    <a:solidFill>
                      <a:srgbClr val="FDE9D9"/>
                    </a:solidFill>
                  </a:tcPr>
                </a:tc>
              </a:tr>
            </a:tbl>
          </a:graphicData>
        </a:graphic>
      </p:graphicFrame>
      <p:sp>
        <p:nvSpPr>
          <p:cNvPr id="2" name="矩形 1"/>
          <p:cNvSpPr/>
          <p:nvPr/>
        </p:nvSpPr>
        <p:spPr>
          <a:xfrm>
            <a:off x="164465" y="612140"/>
            <a:ext cx="9231630" cy="4915535"/>
          </a:xfrm>
          <a:prstGeom prst="rect">
            <a:avLst/>
          </a:prstGeom>
          <a:ln>
            <a:solidFill>
              <a:schemeClr val="tx1"/>
            </a:solidFill>
          </a:ln>
          <a:extLst>
            <a:ext uri="{909E8E84-426E-40DD-AFC4-6F175D3DCCD1}">
              <a14:hiddenFill xmlns:a14="http://schemas.microsoft.com/office/drawing/2010/main">
                <a:solidFill>
                  <a:schemeClr val="accent1"/>
                </a:solidFill>
              </a14:hiddenFill>
            </a:ext>
          </a:extLst>
        </p:spPr>
        <p:style>
          <a:lnRef idx="2">
            <a:schemeClr val="accent1"/>
          </a:lnRef>
          <a:fillRef idx="0">
            <a:srgbClr val="FFFFFF"/>
          </a:fillRef>
          <a:effectRef idx="0">
            <a:srgbClr val="FFFFFF"/>
          </a:effectRef>
          <a:fontRef idx="minor">
            <a:schemeClr val="tx1"/>
          </a:fontRef>
        </p:style>
        <p:txBody>
          <a:bodyPr rtlCol="0" anchor="ctr"/>
          <a:p>
            <a:pPr algn="ctr"/>
            <a:endParaRPr lang="zh-CN" altLang="en-US"/>
          </a:p>
        </p:txBody>
      </p:sp>
      <p:sp>
        <p:nvSpPr>
          <p:cNvPr id="8" name="文本框 7"/>
          <p:cNvSpPr txBox="1"/>
          <p:nvPr/>
        </p:nvSpPr>
        <p:spPr>
          <a:xfrm>
            <a:off x="9352280" y="4342130"/>
            <a:ext cx="662940" cy="1104265"/>
          </a:xfrm>
          <a:prstGeom prst="rect">
            <a:avLst/>
          </a:prstGeom>
          <a:noFill/>
        </p:spPr>
        <p:txBody>
          <a:bodyPr wrap="square" rtlCol="0">
            <a:noAutofit/>
          </a:bodyPr>
          <a:p>
            <a:r>
              <a:rPr lang="zh-CN" altLang="en-US" sz="900" dirty="0" smtClean="0">
                <a:solidFill>
                  <a:srgbClr val="FF0000"/>
                </a:solidFill>
                <a:latin typeface="微软雅黑" panose="020B0503020204020204" pitchFamily="34" charset="-122"/>
                <a:ea typeface="微软雅黑" panose="020B0503020204020204" pitchFamily="34" charset="-122"/>
              </a:rPr>
              <a:t>南京产业保函流入</a:t>
            </a:r>
            <a:r>
              <a:rPr lang="en-US" altLang="zh-CN" sz="900" dirty="0" smtClean="0">
                <a:solidFill>
                  <a:srgbClr val="FF0000"/>
                </a:solidFill>
                <a:latin typeface="微软雅黑" panose="020B0503020204020204" pitchFamily="34" charset="-122"/>
                <a:ea typeface="微软雅黑" panose="020B0503020204020204" pitchFamily="34" charset="-122"/>
              </a:rPr>
              <a:t>6000</a:t>
            </a:r>
            <a:r>
              <a:rPr lang="zh-CN" altLang="en-US" sz="900" dirty="0" smtClean="0">
                <a:solidFill>
                  <a:srgbClr val="FF0000"/>
                </a:solidFill>
                <a:latin typeface="微软雅黑" panose="020B0503020204020204" pitchFamily="34" charset="-122"/>
                <a:ea typeface="微软雅黑" panose="020B0503020204020204" pitchFamily="34" charset="-122"/>
              </a:rPr>
              <a:t>万，现金流按照</a:t>
            </a:r>
            <a:r>
              <a:rPr lang="en-US" altLang="zh-CN" sz="900" dirty="0" smtClean="0">
                <a:solidFill>
                  <a:srgbClr val="FF0000"/>
                </a:solidFill>
                <a:latin typeface="微软雅黑" panose="020B0503020204020204" pitchFamily="34" charset="-122"/>
                <a:ea typeface="微软雅黑" panose="020B0503020204020204" pitchFamily="34" charset="-122"/>
              </a:rPr>
              <a:t>30%</a:t>
            </a:r>
            <a:r>
              <a:rPr lang="zh-CN" altLang="en-US" sz="900" dirty="0" smtClean="0">
                <a:solidFill>
                  <a:srgbClr val="FF0000"/>
                </a:solidFill>
                <a:latin typeface="微软雅黑" panose="020B0503020204020204" pitchFamily="34" charset="-122"/>
                <a:ea typeface="微软雅黑" panose="020B0503020204020204" pitchFamily="34" charset="-122"/>
              </a:rPr>
              <a:t>，为</a:t>
            </a:r>
            <a:r>
              <a:rPr lang="en-US" altLang="zh-CN" sz="900" dirty="0" smtClean="0">
                <a:solidFill>
                  <a:srgbClr val="FF0000"/>
                </a:solidFill>
                <a:latin typeface="微软雅黑" panose="020B0503020204020204" pitchFamily="34" charset="-122"/>
                <a:ea typeface="微软雅黑" panose="020B0503020204020204" pitchFamily="34" charset="-122"/>
              </a:rPr>
              <a:t>1800</a:t>
            </a:r>
            <a:r>
              <a:rPr lang="zh-CN" altLang="en-US" sz="900" dirty="0" smtClean="0">
                <a:solidFill>
                  <a:srgbClr val="FF0000"/>
                </a:solidFill>
                <a:latin typeface="微软雅黑" panose="020B0503020204020204" pitchFamily="34" charset="-122"/>
                <a:ea typeface="微软雅黑" panose="020B0503020204020204" pitchFamily="34" charset="-122"/>
              </a:rPr>
              <a:t>万</a:t>
            </a:r>
            <a:endParaRPr lang="zh-CN" altLang="en-US" sz="900" dirty="0" smtClean="0">
              <a:solidFill>
                <a:srgbClr val="FF0000"/>
              </a:solidFill>
              <a:latin typeface="微软雅黑" panose="020B0503020204020204" pitchFamily="34" charset="-122"/>
              <a:ea typeface="微软雅黑" panose="020B0503020204020204" pitchFamily="34" charset="-122"/>
            </a:endParaRPr>
          </a:p>
        </p:txBody>
      </p:sp>
      <p:sp>
        <p:nvSpPr>
          <p:cNvPr id="7" name="文本框 6"/>
          <p:cNvSpPr txBox="1"/>
          <p:nvPr/>
        </p:nvSpPr>
        <p:spPr>
          <a:xfrm>
            <a:off x="9352280" y="669290"/>
            <a:ext cx="619125" cy="2759075"/>
          </a:xfrm>
          <a:prstGeom prst="rect">
            <a:avLst/>
          </a:prstGeom>
          <a:noFill/>
        </p:spPr>
        <p:txBody>
          <a:bodyPr wrap="square" rtlCol="0">
            <a:noAutofit/>
          </a:bodyPr>
          <a:p>
            <a:r>
              <a:rPr lang="zh-CN" altLang="en-US" sz="800" dirty="0" smtClean="0">
                <a:solidFill>
                  <a:srgbClr val="FF0000"/>
                </a:solidFill>
                <a:latin typeface="微软雅黑" panose="020B0503020204020204" pitchFamily="34" charset="-122"/>
                <a:ea typeface="微软雅黑" panose="020B0503020204020204" pitchFamily="34" charset="-122"/>
              </a:rPr>
              <a:t>上交利润：万丽酒店</a:t>
            </a:r>
            <a:r>
              <a:rPr lang="en-US" altLang="zh-CN" sz="800" dirty="0" smtClean="0">
                <a:solidFill>
                  <a:srgbClr val="FF0000"/>
                </a:solidFill>
                <a:latin typeface="微软雅黑" panose="020B0503020204020204" pitchFamily="34" charset="-122"/>
                <a:ea typeface="微软雅黑" panose="020B0503020204020204" pitchFamily="34" charset="-122"/>
              </a:rPr>
              <a:t>513</a:t>
            </a:r>
            <a:r>
              <a:rPr lang="zh-CN" altLang="en-US" sz="800" dirty="0" smtClean="0">
                <a:solidFill>
                  <a:srgbClr val="FF0000"/>
                </a:solidFill>
                <a:latin typeface="微软雅黑" panose="020B0503020204020204" pitchFamily="34" charset="-122"/>
                <a:ea typeface="微软雅黑" panose="020B0503020204020204" pitchFamily="34" charset="-122"/>
              </a:rPr>
              <a:t>万，</a:t>
            </a:r>
            <a:endParaRPr lang="zh-CN" altLang="en-US" sz="800" dirty="0" smtClean="0">
              <a:solidFill>
                <a:srgbClr val="FF0000"/>
              </a:solidFill>
              <a:latin typeface="微软雅黑" panose="020B0503020204020204" pitchFamily="34" charset="-122"/>
              <a:ea typeface="微软雅黑" panose="020B0503020204020204" pitchFamily="34" charset="-122"/>
            </a:endParaRPr>
          </a:p>
          <a:p>
            <a:r>
              <a:rPr lang="zh-CN" altLang="en-US" sz="800" dirty="0" smtClean="0">
                <a:solidFill>
                  <a:srgbClr val="FF0000"/>
                </a:solidFill>
                <a:latin typeface="微软雅黑" panose="020B0503020204020204" pitchFamily="34" charset="-122"/>
                <a:ea typeface="微软雅黑" panose="020B0503020204020204" pitchFamily="34" charset="-122"/>
              </a:rPr>
              <a:t>丽思酒店</a:t>
            </a:r>
            <a:r>
              <a:rPr lang="en-US" altLang="zh-CN" sz="800" dirty="0" smtClean="0">
                <a:solidFill>
                  <a:srgbClr val="FF0000"/>
                </a:solidFill>
                <a:latin typeface="微软雅黑" panose="020B0503020204020204" pitchFamily="34" charset="-122"/>
                <a:ea typeface="微软雅黑" panose="020B0503020204020204" pitchFamily="34" charset="-122"/>
              </a:rPr>
              <a:t>341</a:t>
            </a:r>
            <a:r>
              <a:rPr lang="zh-CN" altLang="en-US" sz="800" dirty="0" smtClean="0">
                <a:solidFill>
                  <a:srgbClr val="FF0000"/>
                </a:solidFill>
                <a:latin typeface="微软雅黑" panose="020B0503020204020204" pitchFamily="34" charset="-122"/>
                <a:ea typeface="微软雅黑" panose="020B0503020204020204" pitchFamily="34" charset="-122"/>
              </a:rPr>
              <a:t>万，支付丽思工程款</a:t>
            </a:r>
            <a:r>
              <a:rPr lang="en-US" altLang="zh-CN" sz="800" dirty="0" smtClean="0">
                <a:solidFill>
                  <a:srgbClr val="FF0000"/>
                </a:solidFill>
                <a:latin typeface="微软雅黑" panose="020B0503020204020204" pitchFamily="34" charset="-122"/>
                <a:ea typeface="微软雅黑" panose="020B0503020204020204" pitchFamily="34" charset="-122"/>
              </a:rPr>
              <a:t>2,157</a:t>
            </a:r>
            <a:r>
              <a:rPr lang="zh-CN" altLang="en-US" sz="800" dirty="0" smtClean="0">
                <a:solidFill>
                  <a:srgbClr val="FF0000"/>
                </a:solidFill>
                <a:latin typeface="微软雅黑" panose="020B0503020204020204" pitchFamily="34" charset="-122"/>
                <a:ea typeface="微软雅黑" panose="020B0503020204020204" pitchFamily="34" charset="-122"/>
              </a:rPr>
              <a:t>万。</a:t>
            </a:r>
            <a:endParaRPr lang="zh-CN" altLang="en-US" sz="800" dirty="0" smtClean="0">
              <a:solidFill>
                <a:srgbClr val="FF0000"/>
              </a:solidFill>
              <a:latin typeface="微软雅黑" panose="020B0503020204020204" pitchFamily="34" charset="-122"/>
              <a:ea typeface="微软雅黑" panose="020B0503020204020204" pitchFamily="34" charset="-122"/>
            </a:endParaRPr>
          </a:p>
        </p:txBody>
      </p:sp>
      <p:sp>
        <p:nvSpPr>
          <p:cNvPr id="4" name="文本框 3"/>
          <p:cNvSpPr txBox="1"/>
          <p:nvPr/>
        </p:nvSpPr>
        <p:spPr>
          <a:xfrm>
            <a:off x="9396095" y="2973070"/>
            <a:ext cx="619125" cy="695960"/>
          </a:xfrm>
          <a:prstGeom prst="rect">
            <a:avLst/>
          </a:prstGeom>
          <a:noFill/>
        </p:spPr>
        <p:txBody>
          <a:bodyPr wrap="square" rtlCol="0">
            <a:noAutofit/>
          </a:bodyPr>
          <a:p>
            <a:r>
              <a:rPr lang="zh-CN" altLang="en-US" sz="800" dirty="0" smtClean="0">
                <a:solidFill>
                  <a:srgbClr val="FF0000"/>
                </a:solidFill>
                <a:latin typeface="微软雅黑" panose="020B0503020204020204" pitchFamily="34" charset="-122"/>
                <a:ea typeface="微软雅黑" panose="020B0503020204020204" pitchFamily="34" charset="-122"/>
              </a:rPr>
              <a:t>现金流暂未考虑物业盈余及双塔补亏额</a:t>
            </a:r>
            <a:endParaRPr lang="zh-CN" altLang="en-US" sz="800" dirty="0" smtClean="0">
              <a:solidFill>
                <a:srgbClr val="FF0000"/>
              </a:solidFill>
              <a:latin typeface="微软雅黑" panose="020B0503020204020204" pitchFamily="34" charset="-122"/>
              <a:ea typeface="微软雅黑" panose="020B0503020204020204" pitchFamily="34" charset="-122"/>
            </a:endParaRPr>
          </a:p>
        </p:txBody>
      </p:sp>
    </p:spTree>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60649" y="220689"/>
            <a:ext cx="7559675" cy="359346"/>
          </a:xfrm>
        </p:spPr>
        <p:txBody>
          <a:bodyPr/>
          <a:lstStyle/>
          <a:p>
            <a:pPr lvl="0">
              <a:defRPr/>
            </a:pPr>
            <a:r>
              <a:rPr lang="zh-CN" altLang="en-US" b="1" dirty="0">
                <a:solidFill>
                  <a:schemeClr val="tx1"/>
                </a:solidFill>
                <a:sym typeface="+mn-ea"/>
              </a:rPr>
              <a:t>附表：现金流分析</a:t>
            </a:r>
            <a:r>
              <a:rPr lang="en-US" altLang="zh-CN" b="1" dirty="0" smtClean="0">
                <a:solidFill>
                  <a:schemeClr val="tx1"/>
                </a:solidFill>
                <a:sym typeface="+mn-ea"/>
              </a:rPr>
              <a:t>-</a:t>
            </a:r>
            <a:r>
              <a:rPr lang="zh-CN" altLang="en-US" b="1" dirty="0" smtClean="0">
                <a:solidFill>
                  <a:schemeClr val="tx1"/>
                </a:solidFill>
                <a:sym typeface="+mn-ea"/>
              </a:rPr>
              <a:t>产业租赁</a:t>
            </a:r>
            <a:endParaRPr kumimoji="0" lang="zh-CN" altLang="en-US" sz="1800" b="1" i="0" u="none" strike="noStrike" kern="1200" cap="none" spc="-41" normalizeH="0" baseline="0" noProof="0" dirty="0" smtClean="0">
              <a:ln>
                <a:noFill/>
              </a:ln>
              <a:solidFill>
                <a:schemeClr val="tx1"/>
              </a:solidFill>
              <a:effectLs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37" name="标题 4"/>
          <p:cNvSpPr>
            <a:spLocks noGrp="1"/>
          </p:cNvSpPr>
          <p:nvPr/>
        </p:nvSpPr>
        <p:spPr>
          <a:xfrm>
            <a:off x="3229000" y="597472"/>
            <a:ext cx="5616624" cy="288032"/>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algn="l" defTabSz="754380" rtl="0" eaLnBrk="0" fontAlgn="base" latinLnBrk="0" hangingPunct="0">
              <a:lnSpc>
                <a:spcPct val="100000"/>
              </a:lnSpc>
              <a:spcBef>
                <a:spcPct val="0"/>
              </a:spcBef>
              <a:spcAft>
                <a:spcPct val="0"/>
              </a:spcAft>
              <a:buClrTx/>
              <a:buSzTx/>
              <a:buFontTx/>
              <a:buNone/>
              <a:defRPr/>
            </a:pPr>
            <a:endParaRPr kumimoji="0" lang="zh-CN" altLang="en-US" sz="1800" b="1" i="0" u="none" strike="noStrike" kern="1200" cap="none" spc="-41"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j-cs"/>
            </a:endParaRPr>
          </a:p>
        </p:txBody>
      </p:sp>
      <p:sp>
        <p:nvSpPr>
          <p:cNvPr id="4" name="文本框 3"/>
          <p:cNvSpPr txBox="1"/>
          <p:nvPr/>
        </p:nvSpPr>
        <p:spPr>
          <a:xfrm>
            <a:off x="282575" y="4546600"/>
            <a:ext cx="9317355" cy="1112520"/>
          </a:xfrm>
          <a:prstGeom prst="rect">
            <a:avLst/>
          </a:prstGeom>
          <a:noFill/>
        </p:spPr>
        <p:txBody>
          <a:bodyPr wrap="square" rtlCol="0">
            <a:noAutofit/>
          </a:bodyPr>
          <a:lstStyle/>
          <a:p>
            <a:pPr>
              <a:defRPr/>
            </a:pPr>
            <a:r>
              <a:rPr lang="en-US" altLang="zh-CN" sz="1100" dirty="0" smtClean="0">
                <a:solidFill>
                  <a:prstClr val="black"/>
                </a:solidFill>
                <a:latin typeface="微软雅黑" panose="020B0503020204020204" pitchFamily="34" charset="-122"/>
                <a:ea typeface="微软雅黑" panose="020B0503020204020204" pitchFamily="34" charset="-122"/>
              </a:rPr>
              <a:t>1</a:t>
            </a:r>
            <a:r>
              <a:rPr lang="zh-CN" altLang="en-US" sz="1100" dirty="0" smtClean="0">
                <a:solidFill>
                  <a:prstClr val="black"/>
                </a:solidFill>
                <a:latin typeface="微软雅黑" panose="020B0503020204020204" pitchFamily="34" charset="-122"/>
                <a:ea typeface="微软雅黑" panose="020B0503020204020204" pitchFamily="34" charset="-122"/>
              </a:rPr>
              <a:t>、上表已考虑押金及保证金回款；</a:t>
            </a:r>
            <a:endParaRPr lang="en-US" altLang="zh-CN" sz="1100" dirty="0" smtClean="0">
              <a:solidFill>
                <a:prstClr val="black"/>
              </a:solidFill>
              <a:latin typeface="微软雅黑" panose="020B0503020204020204" pitchFamily="34" charset="-122"/>
              <a:ea typeface="微软雅黑" panose="020B0503020204020204" pitchFamily="34" charset="-122"/>
            </a:endParaRPr>
          </a:p>
          <a:p>
            <a:pPr>
              <a:defRPr/>
            </a:pPr>
            <a:r>
              <a:rPr lang="en-US" altLang="zh-CN" sz="1100" dirty="0" smtClean="0">
                <a:solidFill>
                  <a:prstClr val="black"/>
                </a:solidFill>
                <a:latin typeface="微软雅黑" panose="020B0503020204020204" pitchFamily="34" charset="-122"/>
                <a:ea typeface="微软雅黑" panose="020B0503020204020204" pitchFamily="34" charset="-122"/>
              </a:rPr>
              <a:t>2</a:t>
            </a:r>
            <a:r>
              <a:rPr lang="zh-CN" altLang="en-US" sz="1100" dirty="0">
                <a:solidFill>
                  <a:prstClr val="black"/>
                </a:solidFill>
                <a:latin typeface="微软雅黑" panose="020B0503020204020204" pitchFamily="34" charset="-122"/>
                <a:ea typeface="微软雅黑" panose="020B0503020204020204" pitchFamily="34" charset="-122"/>
              </a:rPr>
              <a:t>、</a:t>
            </a:r>
            <a:r>
              <a:rPr lang="zh-CN" altLang="en-US" sz="1100" dirty="0" smtClean="0">
                <a:solidFill>
                  <a:prstClr val="black"/>
                </a:solidFill>
                <a:latin typeface="微软雅黑" panose="020B0503020204020204" pitchFamily="34" charset="-122"/>
                <a:ea typeface="微软雅黑" panose="020B0503020204020204" pitchFamily="34" charset="-122"/>
              </a:rPr>
              <a:t>华南产业按照</a:t>
            </a:r>
            <a:r>
              <a:rPr lang="zh-CN" altLang="en-US" sz="1100" dirty="0">
                <a:solidFill>
                  <a:prstClr val="black"/>
                </a:solidFill>
                <a:latin typeface="微软雅黑" panose="020B0503020204020204" pitchFamily="34" charset="-122"/>
                <a:ea typeface="微软雅黑" panose="020B0503020204020204" pitchFamily="34" charset="-122"/>
              </a:rPr>
              <a:t>实际</a:t>
            </a:r>
            <a:r>
              <a:rPr lang="zh-CN" altLang="en-US" sz="1100" dirty="0" smtClean="0">
                <a:solidFill>
                  <a:prstClr val="black"/>
                </a:solidFill>
                <a:latin typeface="微软雅黑" panose="020B0503020204020204" pitchFamily="34" charset="-122"/>
                <a:ea typeface="微软雅黑" panose="020B0503020204020204" pitchFamily="34" charset="-122"/>
              </a:rPr>
              <a:t>支付九</a:t>
            </a:r>
            <a:r>
              <a:rPr lang="zh-CN" altLang="en-US" sz="1100" dirty="0">
                <a:solidFill>
                  <a:prstClr val="black"/>
                </a:solidFill>
                <a:latin typeface="微软雅黑" panose="020B0503020204020204" pitchFamily="34" charset="-122"/>
                <a:ea typeface="微软雅黑" panose="020B0503020204020204" pitchFamily="34" charset="-122"/>
              </a:rPr>
              <a:t>联返租租金（</a:t>
            </a:r>
            <a:r>
              <a:rPr lang="en-US" altLang="zh-CN" sz="1100" dirty="0">
                <a:solidFill>
                  <a:prstClr val="black"/>
                </a:solidFill>
                <a:latin typeface="微软雅黑" panose="020B0503020204020204" pitchFamily="34" charset="-122"/>
                <a:ea typeface="微软雅黑" panose="020B0503020204020204" pitchFamily="34" charset="-122"/>
              </a:rPr>
              <a:t>11-22</a:t>
            </a:r>
            <a:r>
              <a:rPr lang="zh-CN" altLang="en-US" sz="1100" dirty="0">
                <a:solidFill>
                  <a:prstClr val="black"/>
                </a:solidFill>
                <a:latin typeface="微软雅黑" panose="020B0503020204020204" pitchFamily="34" charset="-122"/>
                <a:ea typeface="微软雅黑" panose="020B0503020204020204" pitchFamily="34" charset="-122"/>
              </a:rPr>
              <a:t>层</a:t>
            </a:r>
            <a:r>
              <a:rPr lang="zh-CN" altLang="en-US" sz="1100" dirty="0" smtClean="0">
                <a:solidFill>
                  <a:prstClr val="black"/>
                </a:solidFill>
                <a:latin typeface="微软雅黑" panose="020B0503020204020204" pitchFamily="34" charset="-122"/>
                <a:ea typeface="微软雅黑" panose="020B0503020204020204" pitchFamily="34" charset="-122"/>
              </a:rPr>
              <a:t>）以及东湾村租金（写字楼</a:t>
            </a:r>
            <a:r>
              <a:rPr lang="en-US" altLang="zh-CN" sz="1100" dirty="0" smtClean="0">
                <a:solidFill>
                  <a:prstClr val="black"/>
                </a:solidFill>
                <a:latin typeface="微软雅黑" panose="020B0503020204020204" pitchFamily="34" charset="-122"/>
                <a:ea typeface="微软雅黑" panose="020B0503020204020204" pitchFamily="34" charset="-122"/>
              </a:rPr>
              <a:t>ABC</a:t>
            </a:r>
            <a:r>
              <a:rPr lang="zh-CN" altLang="en-US" sz="1100" dirty="0" smtClean="0">
                <a:solidFill>
                  <a:prstClr val="black"/>
                </a:solidFill>
                <a:latin typeface="微软雅黑" panose="020B0503020204020204" pitchFamily="34" charset="-122"/>
                <a:ea typeface="微软雅黑" panose="020B0503020204020204" pitchFamily="34" charset="-122"/>
              </a:rPr>
              <a:t>三栋）；</a:t>
            </a:r>
            <a:endParaRPr lang="en-US" altLang="zh-CN" sz="1100" dirty="0" smtClean="0">
              <a:solidFill>
                <a:prstClr val="black"/>
              </a:solidFill>
              <a:latin typeface="微软雅黑" panose="020B0503020204020204" pitchFamily="34" charset="-122"/>
              <a:ea typeface="微软雅黑" panose="020B0503020204020204" pitchFamily="34" charset="-122"/>
            </a:endParaRPr>
          </a:p>
          <a:p>
            <a:pPr>
              <a:defRPr/>
            </a:pPr>
            <a:r>
              <a:rPr lang="en-US" altLang="zh-CN" sz="1100" dirty="0" smtClean="0">
                <a:solidFill>
                  <a:prstClr val="black"/>
                </a:solidFill>
                <a:latin typeface="微软雅黑" panose="020B0503020204020204" pitchFamily="34" charset="-122"/>
                <a:ea typeface="微软雅黑" panose="020B0503020204020204" pitchFamily="34" charset="-122"/>
              </a:rPr>
              <a:t>3</a:t>
            </a:r>
            <a:r>
              <a:rPr lang="zh-CN" altLang="en-US" sz="1100" dirty="0">
                <a:solidFill>
                  <a:prstClr val="black"/>
                </a:solidFill>
                <a:latin typeface="微软雅黑" panose="020B0503020204020204" pitchFamily="34" charset="-122"/>
                <a:ea typeface="微软雅黑" panose="020B0503020204020204" pitchFamily="34" charset="-122"/>
              </a:rPr>
              <a:t>、惠州物业、银</a:t>
            </a:r>
            <a:r>
              <a:rPr lang="zh-CN" altLang="en-US" sz="1100" dirty="0" smtClean="0">
                <a:solidFill>
                  <a:prstClr val="black"/>
                </a:solidFill>
                <a:latin typeface="微软雅黑" panose="020B0503020204020204" pitchFamily="34" charset="-122"/>
                <a:ea typeface="微软雅黑" panose="020B0503020204020204" pitchFamily="34" charset="-122"/>
              </a:rPr>
              <a:t>海项目预算</a:t>
            </a:r>
            <a:r>
              <a:rPr lang="zh-CN" altLang="en-US" sz="1100" dirty="0">
                <a:solidFill>
                  <a:prstClr val="black"/>
                </a:solidFill>
                <a:latin typeface="微软雅黑" panose="020B0503020204020204" pitchFamily="34" charset="-122"/>
                <a:ea typeface="微软雅黑" panose="020B0503020204020204" pitchFamily="34" charset="-122"/>
              </a:rPr>
              <a:t>水电费</a:t>
            </a:r>
            <a:r>
              <a:rPr lang="zh-CN" altLang="en-US" sz="1100" dirty="0" smtClean="0">
                <a:solidFill>
                  <a:prstClr val="black"/>
                </a:solidFill>
                <a:latin typeface="微软雅黑" panose="020B0503020204020204" pitchFamily="34" charset="-122"/>
                <a:ea typeface="微软雅黑" panose="020B0503020204020204" pitchFamily="34" charset="-122"/>
              </a:rPr>
              <a:t>按照净额，</a:t>
            </a:r>
            <a:r>
              <a:rPr lang="zh-CN" altLang="en-US" sz="1100" dirty="0">
                <a:solidFill>
                  <a:prstClr val="black"/>
                </a:solidFill>
                <a:latin typeface="微软雅黑" panose="020B0503020204020204" pitchFamily="34" charset="-122"/>
                <a:ea typeface="微软雅黑" panose="020B0503020204020204" pitchFamily="34" charset="-122"/>
              </a:rPr>
              <a:t>实际资金计划按照</a:t>
            </a:r>
            <a:r>
              <a:rPr lang="zh-CN" altLang="en-US" sz="1100" dirty="0" smtClean="0">
                <a:solidFill>
                  <a:prstClr val="black"/>
                </a:solidFill>
                <a:latin typeface="微软雅黑" panose="020B0503020204020204" pitchFamily="34" charset="-122"/>
                <a:ea typeface="微软雅黑" panose="020B0503020204020204" pitchFamily="34" charset="-122"/>
              </a:rPr>
              <a:t>全额，</a:t>
            </a:r>
            <a:r>
              <a:rPr lang="zh-CN" altLang="en-US" sz="1100" dirty="0">
                <a:solidFill>
                  <a:prstClr val="black"/>
                </a:solidFill>
                <a:latin typeface="微软雅黑" panose="020B0503020204020204" pitchFamily="34" charset="-122"/>
                <a:ea typeface="微软雅黑" panose="020B0503020204020204" pitchFamily="34" charset="-122"/>
              </a:rPr>
              <a:t>口径调整</a:t>
            </a:r>
            <a:r>
              <a:rPr lang="zh-CN" altLang="en-US" sz="1100" dirty="0" smtClean="0">
                <a:solidFill>
                  <a:prstClr val="black"/>
                </a:solidFill>
                <a:latin typeface="微软雅黑" panose="020B0503020204020204" pitchFamily="34" charset="-122"/>
                <a:ea typeface="微软雅黑" panose="020B0503020204020204" pitchFamily="34" charset="-122"/>
              </a:rPr>
              <a:t>；</a:t>
            </a:r>
            <a:endParaRPr lang="zh-CN" altLang="en-US" sz="1100" dirty="0" smtClean="0">
              <a:solidFill>
                <a:prstClr val="black"/>
              </a:solidFill>
              <a:latin typeface="微软雅黑" panose="020B0503020204020204" pitchFamily="34" charset="-122"/>
              <a:ea typeface="微软雅黑" panose="020B0503020204020204" pitchFamily="34" charset="-122"/>
            </a:endParaRPr>
          </a:p>
          <a:p>
            <a:pPr>
              <a:defRPr/>
            </a:pPr>
            <a:r>
              <a:rPr lang="en-US" altLang="zh-CN" sz="1100" dirty="0" smtClean="0">
                <a:solidFill>
                  <a:prstClr val="black"/>
                </a:solidFill>
                <a:latin typeface="微软雅黑" panose="020B0503020204020204" pitchFamily="34" charset="-122"/>
                <a:ea typeface="微软雅黑" panose="020B0503020204020204" pitchFamily="34" charset="-122"/>
              </a:rPr>
              <a:t>4</a:t>
            </a:r>
            <a:r>
              <a:rPr lang="zh-CN" altLang="en-US" sz="1100" dirty="0" smtClean="0">
                <a:solidFill>
                  <a:prstClr val="black"/>
                </a:solidFill>
                <a:latin typeface="微软雅黑" panose="020B0503020204020204" pitchFamily="34" charset="-122"/>
                <a:ea typeface="微软雅黑" panose="020B0503020204020204" pitchFamily="34" charset="-122"/>
              </a:rPr>
              <a:t>、物业盈余和双塔补亏额暂未考虑。</a:t>
            </a:r>
            <a:endParaRPr lang="en-US" altLang="zh-CN" sz="1100" dirty="0" smtClean="0">
              <a:solidFill>
                <a:prstClr val="black"/>
              </a:solidFill>
              <a:latin typeface="微软雅黑" panose="020B0503020204020204" pitchFamily="34" charset="-122"/>
              <a:ea typeface="微软雅黑" panose="020B0503020204020204" pitchFamily="34" charset="-122"/>
            </a:endParaRPr>
          </a:p>
          <a:p>
            <a:pPr>
              <a:defRPr/>
            </a:pPr>
            <a:r>
              <a:rPr kumimoji="0" lang="en-US" altLang="zh-CN" sz="1100" kern="1200" cap="none" spc="0" normalizeH="0" baseline="0" noProof="0" dirty="0" smtClean="0">
                <a:solidFill>
                  <a:prstClr val="black"/>
                </a:solidFill>
                <a:latin typeface="微软雅黑" panose="020B0503020204020204" pitchFamily="34" charset="-122"/>
                <a:ea typeface="微软雅黑" panose="020B0503020204020204" pitchFamily="34" charset="-122"/>
                <a:cs typeface="+mn-cs"/>
              </a:rPr>
              <a:t>5</a:t>
            </a:r>
            <a:r>
              <a:rPr kumimoji="0" lang="zh-CN" altLang="en-US" sz="1100" kern="1200" cap="none" spc="0" normalizeH="0" baseline="0" noProof="0" dirty="0" smtClean="0">
                <a:solidFill>
                  <a:prstClr val="black"/>
                </a:solidFill>
                <a:latin typeface="微软雅黑" panose="020B0503020204020204" pitchFamily="34" charset="-122"/>
                <a:ea typeface="微软雅黑" panose="020B0503020204020204" pitchFamily="34" charset="-122"/>
                <a:cs typeface="+mn-cs"/>
              </a:rPr>
              <a:t>、筹资活动：归还银行贷款</a:t>
            </a:r>
            <a:r>
              <a:rPr kumimoji="0" lang="en-US" altLang="zh-CN" sz="1100" kern="1200" cap="none" spc="0" normalizeH="0" baseline="0" noProof="0" dirty="0" smtClean="0">
                <a:solidFill>
                  <a:prstClr val="black"/>
                </a:solidFill>
                <a:latin typeface="微软雅黑" panose="020B0503020204020204" pitchFamily="34" charset="-122"/>
                <a:ea typeface="微软雅黑" panose="020B0503020204020204" pitchFamily="34" charset="-122"/>
                <a:cs typeface="+mn-cs"/>
              </a:rPr>
              <a:t>3,000</a:t>
            </a:r>
            <a:r>
              <a:rPr lang="zh-CN" altLang="en-US" sz="1100" dirty="0" smtClean="0">
                <a:solidFill>
                  <a:prstClr val="black"/>
                </a:solidFill>
                <a:latin typeface="微软雅黑" panose="020B0503020204020204" pitchFamily="34" charset="-122"/>
                <a:ea typeface="微软雅黑" panose="020B0503020204020204" pitchFamily="34" charset="-122"/>
              </a:rPr>
              <a:t>万</a:t>
            </a:r>
            <a:r>
              <a:rPr lang="en-US" altLang="zh-CN" sz="1100" dirty="0" smtClean="0">
                <a:solidFill>
                  <a:prstClr val="black"/>
                </a:solidFill>
                <a:latin typeface="微软雅黑" panose="020B0503020204020204" pitchFamily="34" charset="-122"/>
                <a:ea typeface="微软雅黑" panose="020B0503020204020204" pitchFamily="34" charset="-122"/>
              </a:rPr>
              <a:t>(</a:t>
            </a:r>
            <a:r>
              <a:rPr lang="zh-CN" altLang="en-US" sz="1100" dirty="0" smtClean="0">
                <a:solidFill>
                  <a:prstClr val="black"/>
                </a:solidFill>
                <a:latin typeface="微软雅黑" panose="020B0503020204020204" pitchFamily="34" charset="-122"/>
                <a:ea typeface="微软雅黑" panose="020B0503020204020204" pitchFamily="34" charset="-122"/>
              </a:rPr>
              <a:t>产业投资浦发贷款</a:t>
            </a:r>
            <a:r>
              <a:rPr lang="en-US" altLang="zh-CN" sz="1100" dirty="0" smtClean="0">
                <a:solidFill>
                  <a:prstClr val="black"/>
                </a:solidFill>
                <a:latin typeface="微软雅黑" panose="020B0503020204020204" pitchFamily="34" charset="-122"/>
                <a:ea typeface="微软雅黑" panose="020B0503020204020204" pitchFamily="34" charset="-122"/>
              </a:rPr>
              <a:t>2,000</a:t>
            </a:r>
            <a:r>
              <a:rPr lang="zh-CN" altLang="en-US" sz="1100" dirty="0" smtClean="0">
                <a:solidFill>
                  <a:prstClr val="black"/>
                </a:solidFill>
                <a:latin typeface="微软雅黑" panose="020B0503020204020204" pitchFamily="34" charset="-122"/>
                <a:ea typeface="微软雅黑" panose="020B0503020204020204" pitchFamily="34" charset="-122"/>
              </a:rPr>
              <a:t>万，智慧园交行贷款</a:t>
            </a:r>
            <a:r>
              <a:rPr lang="en-US" altLang="zh-CN" sz="1100" dirty="0" smtClean="0">
                <a:solidFill>
                  <a:prstClr val="black"/>
                </a:solidFill>
                <a:latin typeface="微软雅黑" panose="020B0503020204020204" pitchFamily="34" charset="-122"/>
                <a:ea typeface="微软雅黑" panose="020B0503020204020204" pitchFamily="34" charset="-122"/>
              </a:rPr>
              <a:t>1,000</a:t>
            </a:r>
            <a:r>
              <a:rPr lang="zh-CN" altLang="en-US" sz="1100" dirty="0" smtClean="0">
                <a:solidFill>
                  <a:prstClr val="black"/>
                </a:solidFill>
                <a:latin typeface="微软雅黑" panose="020B0503020204020204" pitchFamily="34" charset="-122"/>
                <a:ea typeface="微软雅黑" panose="020B0503020204020204" pitchFamily="34" charset="-122"/>
              </a:rPr>
              <a:t>万</a:t>
            </a:r>
            <a:r>
              <a:rPr lang="en-US" altLang="zh-CN" sz="1100" dirty="0" smtClean="0">
                <a:solidFill>
                  <a:prstClr val="black"/>
                </a:solidFill>
                <a:latin typeface="微软雅黑" panose="020B0503020204020204" pitchFamily="34" charset="-122"/>
                <a:ea typeface="微软雅黑" panose="020B0503020204020204" pitchFamily="34" charset="-122"/>
              </a:rPr>
              <a:t>)</a:t>
            </a:r>
            <a:r>
              <a:rPr lang="zh-CN" altLang="en-US" sz="1100" dirty="0" smtClean="0">
                <a:solidFill>
                  <a:prstClr val="black"/>
                </a:solidFill>
                <a:latin typeface="微软雅黑" panose="020B0503020204020204" pitchFamily="34" charset="-122"/>
                <a:ea typeface="微软雅黑" panose="020B0503020204020204" pitchFamily="34" charset="-122"/>
              </a:rPr>
              <a:t>，放款</a:t>
            </a:r>
            <a:r>
              <a:rPr lang="en-US" altLang="zh-CN" sz="1100" dirty="0" smtClean="0">
                <a:solidFill>
                  <a:prstClr val="black"/>
                </a:solidFill>
                <a:latin typeface="微软雅黑" panose="020B0503020204020204" pitchFamily="34" charset="-122"/>
                <a:ea typeface="微软雅黑" panose="020B0503020204020204" pitchFamily="34" charset="-122"/>
              </a:rPr>
              <a:t>3,000</a:t>
            </a:r>
            <a:r>
              <a:rPr lang="zh-CN" altLang="en-US" sz="1100" dirty="0" smtClean="0">
                <a:solidFill>
                  <a:prstClr val="black"/>
                </a:solidFill>
                <a:latin typeface="微软雅黑" panose="020B0503020204020204" pitchFamily="34" charset="-122"/>
                <a:ea typeface="微软雅黑" panose="020B0503020204020204" pitchFamily="34" charset="-122"/>
              </a:rPr>
              <a:t>万（浦发</a:t>
            </a:r>
            <a:r>
              <a:rPr lang="en-US" altLang="zh-CN" sz="1100" dirty="0" smtClean="0">
                <a:solidFill>
                  <a:prstClr val="black"/>
                </a:solidFill>
                <a:latin typeface="微软雅黑" panose="020B0503020204020204" pitchFamily="34" charset="-122"/>
                <a:ea typeface="微软雅黑" panose="020B0503020204020204" pitchFamily="34" charset="-122"/>
              </a:rPr>
              <a:t>2,000</a:t>
            </a:r>
            <a:r>
              <a:rPr lang="zh-CN" altLang="en-US" sz="1100" dirty="0" smtClean="0">
                <a:solidFill>
                  <a:prstClr val="black"/>
                </a:solidFill>
                <a:latin typeface="微软雅黑" panose="020B0503020204020204" pitchFamily="34" charset="-122"/>
                <a:ea typeface="微软雅黑" panose="020B0503020204020204" pitchFamily="34" charset="-122"/>
              </a:rPr>
              <a:t>万</a:t>
            </a:r>
            <a:r>
              <a:rPr lang="en-US" altLang="zh-CN" sz="1100" dirty="0" smtClean="0">
                <a:solidFill>
                  <a:prstClr val="black"/>
                </a:solidFill>
                <a:latin typeface="微软雅黑" panose="020B0503020204020204" pitchFamily="34" charset="-122"/>
                <a:ea typeface="微软雅黑" panose="020B0503020204020204" pitchFamily="34" charset="-122"/>
              </a:rPr>
              <a:t>,</a:t>
            </a:r>
            <a:r>
              <a:rPr lang="zh-CN" altLang="en-US" sz="1100" dirty="0" smtClean="0">
                <a:solidFill>
                  <a:prstClr val="black"/>
                </a:solidFill>
                <a:latin typeface="微软雅黑" panose="020B0503020204020204" pitchFamily="34" charset="-122"/>
                <a:ea typeface="微软雅黑" panose="020B0503020204020204" pitchFamily="34" charset="-122"/>
              </a:rPr>
              <a:t>交行</a:t>
            </a:r>
            <a:r>
              <a:rPr lang="en-US" altLang="zh-CN" sz="1100" dirty="0" smtClean="0">
                <a:solidFill>
                  <a:prstClr val="black"/>
                </a:solidFill>
                <a:latin typeface="微软雅黑" panose="020B0503020204020204" pitchFamily="34" charset="-122"/>
                <a:ea typeface="微软雅黑" panose="020B0503020204020204" pitchFamily="34" charset="-122"/>
              </a:rPr>
              <a:t>1,000</a:t>
            </a:r>
            <a:r>
              <a:rPr lang="zh-CN" altLang="en-US" sz="1100" dirty="0" smtClean="0">
                <a:solidFill>
                  <a:prstClr val="black"/>
                </a:solidFill>
                <a:latin typeface="微软雅黑" panose="020B0503020204020204" pitchFamily="34" charset="-122"/>
                <a:ea typeface="微软雅黑" panose="020B0503020204020204" pitchFamily="34" charset="-122"/>
              </a:rPr>
              <a:t>万）</a:t>
            </a:r>
            <a:r>
              <a:rPr lang="en-US" altLang="zh-CN" sz="1100" dirty="0" smtClean="0">
                <a:solidFill>
                  <a:prstClr val="black"/>
                </a:solidFill>
                <a:latin typeface="微软雅黑" panose="020B0503020204020204" pitchFamily="34" charset="-122"/>
                <a:ea typeface="微软雅黑" panose="020B0503020204020204" pitchFamily="34" charset="-122"/>
              </a:rPr>
              <a:t>,</a:t>
            </a:r>
            <a:r>
              <a:rPr lang="zh-CN" altLang="en-US" sz="1100" dirty="0" smtClean="0">
                <a:solidFill>
                  <a:prstClr val="black"/>
                </a:solidFill>
                <a:latin typeface="微软雅黑" panose="020B0503020204020204" pitchFamily="34" charset="-122"/>
                <a:ea typeface="微软雅黑" panose="020B0503020204020204" pitchFamily="34" charset="-122"/>
              </a:rPr>
              <a:t>还利息</a:t>
            </a:r>
            <a:r>
              <a:rPr lang="en-US" sz="1100" dirty="0" smtClean="0">
                <a:solidFill>
                  <a:prstClr val="black"/>
                </a:solidFill>
                <a:latin typeface="微软雅黑" panose="020B0503020204020204" pitchFamily="34" charset="-122"/>
                <a:ea typeface="微软雅黑" panose="020B0503020204020204" pitchFamily="34" charset="-122"/>
              </a:rPr>
              <a:t>5,170</a:t>
            </a:r>
            <a:r>
              <a:rPr lang="zh-CN" altLang="en-US" sz="1100" dirty="0" smtClean="0">
                <a:solidFill>
                  <a:prstClr val="black"/>
                </a:solidFill>
                <a:latin typeface="微软雅黑" panose="020B0503020204020204" pitchFamily="34" charset="-122"/>
                <a:ea typeface="微软雅黑" panose="020B0503020204020204" pitchFamily="34" charset="-122"/>
              </a:rPr>
              <a:t>万（本部</a:t>
            </a:r>
            <a:r>
              <a:rPr lang="en-US" altLang="zh-CN" sz="1100" dirty="0" smtClean="0">
                <a:solidFill>
                  <a:prstClr val="black"/>
                </a:solidFill>
                <a:latin typeface="微软雅黑" panose="020B0503020204020204" pitchFamily="34" charset="-122"/>
                <a:ea typeface="微软雅黑" panose="020B0503020204020204" pitchFamily="34" charset="-122"/>
              </a:rPr>
              <a:t>125</a:t>
            </a:r>
            <a:r>
              <a:rPr lang="zh-CN" altLang="en-US" sz="1100" dirty="0" smtClean="0">
                <a:solidFill>
                  <a:prstClr val="black"/>
                </a:solidFill>
                <a:latin typeface="微软雅黑" panose="020B0503020204020204" pitchFamily="34" charset="-122"/>
                <a:ea typeface="微软雅黑" panose="020B0503020204020204" pitchFamily="34" charset="-122"/>
              </a:rPr>
              <a:t>万，银海</a:t>
            </a:r>
            <a:r>
              <a:rPr lang="en-US" altLang="zh-CN" sz="1100" dirty="0" smtClean="0">
                <a:solidFill>
                  <a:prstClr val="black"/>
                </a:solidFill>
                <a:latin typeface="微软雅黑" panose="020B0503020204020204" pitchFamily="34" charset="-122"/>
                <a:ea typeface="微软雅黑" panose="020B0503020204020204" pitchFamily="34" charset="-122"/>
              </a:rPr>
              <a:t>4,178</a:t>
            </a:r>
            <a:r>
              <a:rPr lang="zh-CN" altLang="en-US" sz="1100" dirty="0" smtClean="0">
                <a:solidFill>
                  <a:prstClr val="black"/>
                </a:solidFill>
                <a:latin typeface="微软雅黑" panose="020B0503020204020204" pitchFamily="34" charset="-122"/>
                <a:ea typeface="微软雅黑" panose="020B0503020204020204" pitchFamily="34" charset="-122"/>
              </a:rPr>
              <a:t>万，亚金</a:t>
            </a:r>
            <a:r>
              <a:rPr lang="en-US" altLang="zh-CN" sz="1100" dirty="0" smtClean="0">
                <a:solidFill>
                  <a:prstClr val="black"/>
                </a:solidFill>
                <a:latin typeface="微软雅黑" panose="020B0503020204020204" pitchFamily="34" charset="-122"/>
                <a:ea typeface="微软雅黑" panose="020B0503020204020204" pitchFamily="34" charset="-122"/>
              </a:rPr>
              <a:t>867</a:t>
            </a:r>
            <a:r>
              <a:rPr lang="zh-CN" altLang="en-US" sz="1100" dirty="0" smtClean="0">
                <a:solidFill>
                  <a:prstClr val="black"/>
                </a:solidFill>
                <a:latin typeface="微软雅黑" panose="020B0503020204020204" pitchFamily="34" charset="-122"/>
                <a:ea typeface="微软雅黑" panose="020B0503020204020204" pitchFamily="34" charset="-122"/>
              </a:rPr>
              <a:t>万）</a:t>
            </a:r>
            <a:endParaRPr kumimoji="0" lang="zh-CN" altLang="en-US" sz="1100" kern="1200" cap="none" spc="0" normalizeH="0" baseline="0" noProof="0" dirty="0" smtClean="0">
              <a:solidFill>
                <a:prstClr val="black"/>
              </a:solidFill>
              <a:latin typeface="微软雅黑" panose="020B0503020204020204" pitchFamily="34" charset="-122"/>
              <a:ea typeface="微软雅黑" panose="020B0503020204020204" pitchFamily="34" charset="-122"/>
              <a:cs typeface="+mn-cs"/>
            </a:endParaRPr>
          </a:p>
        </p:txBody>
      </p:sp>
      <p:graphicFrame>
        <p:nvGraphicFramePr>
          <p:cNvPr id="6" name="表格 5"/>
          <p:cNvGraphicFramePr/>
          <p:nvPr>
            <p:custDataLst>
              <p:tags r:id="rId1"/>
            </p:custDataLst>
          </p:nvPr>
        </p:nvGraphicFramePr>
        <p:xfrm>
          <a:off x="282575" y="741045"/>
          <a:ext cx="9311640" cy="3750945"/>
        </p:xfrm>
        <a:graphic>
          <a:graphicData uri="http://schemas.openxmlformats.org/drawingml/2006/table">
            <a:tbl>
              <a:tblPr/>
              <a:tblGrid>
                <a:gridCol w="1687195"/>
                <a:gridCol w="586740"/>
                <a:gridCol w="586740"/>
                <a:gridCol w="586105"/>
                <a:gridCol w="586740"/>
                <a:gridCol w="586105"/>
                <a:gridCol w="586740"/>
                <a:gridCol w="586105"/>
                <a:gridCol w="586740"/>
                <a:gridCol w="586740"/>
                <a:gridCol w="586740"/>
                <a:gridCol w="585470"/>
                <a:gridCol w="586740"/>
                <a:gridCol w="586740"/>
              </a:tblGrid>
              <a:tr h="307340">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a:t>
                      </a:r>
                      <a:r>
                        <a:rPr lang="zh-CN" altLang="en-US" sz="900" b="1" i="0">
                          <a:solidFill>
                            <a:srgbClr val="FFFFFF"/>
                          </a:solidFill>
                          <a:latin typeface="微软雅黑" panose="020B0503020204020204" pitchFamily="34" charset="-122"/>
                          <a:ea typeface="微软雅黑" panose="020B0503020204020204" pitchFamily="34" charset="-122"/>
                        </a:rPr>
                        <a:t>项目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2026</a:t>
                      </a:r>
                      <a:r>
                        <a:rPr lang="zh-CN" altLang="en-US" sz="900" b="1" i="0">
                          <a:solidFill>
                            <a:srgbClr val="FFFFFF"/>
                          </a:solidFill>
                          <a:latin typeface="微软雅黑" panose="020B0503020204020204" pitchFamily="34" charset="-122"/>
                          <a:ea typeface="微软雅黑" panose="020B0503020204020204" pitchFamily="34" charset="-122"/>
                        </a:rPr>
                        <a:t>年预算合计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1</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2</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3</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4</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5</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6</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7</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8</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9</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10</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11</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 12</a:t>
                      </a:r>
                      <a:r>
                        <a:rPr lang="zh-CN" altLang="en-US" sz="900" b="1" i="0">
                          <a:solidFill>
                            <a:srgbClr val="FFFFFF"/>
                          </a:solidFill>
                          <a:latin typeface="微软雅黑" panose="020B0503020204020204" pitchFamily="34" charset="-122"/>
                          <a:ea typeface="微软雅黑" panose="020B0503020204020204" pitchFamily="34" charset="-122"/>
                        </a:rPr>
                        <a:t>月 </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6350" cap="flat" cmpd="sng">
                      <a:solidFill>
                        <a:srgbClr val="B8CCE4"/>
                      </a:solidFill>
                      <a:prstDash val="solid"/>
                      <a:headEnd type="none" w="med" len="med"/>
                      <a:tailEnd type="none" w="med" len="med"/>
                    </a:lnB>
                    <a:solidFill>
                      <a:srgbClr val="C00000"/>
                    </a:solidFill>
                  </a:tcPr>
                </a:tc>
              </a:tr>
              <a:tr h="18542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租金回款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89,529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6,140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6,251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6,907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7,750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7,964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7,983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8,274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8,130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8,198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8,190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6,761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6,981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69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其他收入回款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10,925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817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542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押金保证金、利息等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4,787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055">
                <a:tc>
                  <a:txBody>
                    <a:bodyPr/>
                    <a:p>
                      <a:pPr algn="l" fontAlgn="ctr"/>
                      <a:r>
                        <a:rPr lang="en-US" altLang="zh-CN" sz="900" b="1" i="0">
                          <a:solidFill>
                            <a:srgbClr val="000000"/>
                          </a:solidFill>
                          <a:latin typeface="微软雅黑" panose="020B0503020204020204" pitchFamily="34" charset="-122"/>
                          <a:ea typeface="微软雅黑" panose="020B0503020204020204" pitchFamily="34" charset="-122"/>
                        </a:rPr>
                        <a:t> </a:t>
                      </a:r>
                      <a:r>
                        <a:rPr lang="zh-CN" altLang="en-US" sz="900" b="1" i="0">
                          <a:solidFill>
                            <a:srgbClr val="000000"/>
                          </a:solidFill>
                          <a:latin typeface="微软雅黑" panose="020B0503020204020204" pitchFamily="34" charset="-122"/>
                          <a:ea typeface="微软雅黑" panose="020B0503020204020204" pitchFamily="34" charset="-122"/>
                        </a:rPr>
                        <a:t>经营流入小计 </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105,241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7,232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7,437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8,026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8,905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9,473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9,165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9,521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9,538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9,601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9,497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8,503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8,342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r>
              <a:tr h="18542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工程款流出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69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成本支出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9,829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921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405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1,804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5420">
                <a:tc>
                  <a:txBody>
                    <a:bodyPr/>
                    <a:p>
                      <a:pPr algn="l" fontAlgn="ctr"/>
                      <a:r>
                        <a:rPr lang="en-US" altLang="zh-CN" sz="900" b="0" i="1">
                          <a:solidFill>
                            <a:srgbClr val="000000"/>
                          </a:solidFill>
                          <a:latin typeface="微软雅黑" panose="020B0503020204020204" pitchFamily="34" charset="-122"/>
                          <a:ea typeface="微软雅黑" panose="020B0503020204020204" pitchFamily="34" charset="-122"/>
                        </a:rPr>
                        <a:t> </a:t>
                      </a:r>
                      <a:r>
                        <a:rPr lang="zh-CN" altLang="en-US" sz="900" b="0" i="1">
                          <a:solidFill>
                            <a:srgbClr val="000000"/>
                          </a:solidFill>
                          <a:latin typeface="微软雅黑" panose="020B0503020204020204" pitchFamily="34" charset="-122"/>
                          <a:ea typeface="微软雅黑" panose="020B0503020204020204" pitchFamily="34" charset="-122"/>
                        </a:rPr>
                        <a:t>其中：包租成本 </a:t>
                      </a:r>
                      <a:endParaRPr lang="zh-CN" altLang="en-US" sz="9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05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管理费用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542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物业费用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403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469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383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69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营销费用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5,571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449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478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支付税金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8,652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28384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其他（固定资产、无形资产支出、手续费等）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690">
                <a:tc>
                  <a:txBody>
                    <a:bodyPr/>
                    <a:p>
                      <a:pPr algn="l" fontAlgn="ctr"/>
                      <a:r>
                        <a:rPr lang="en-US" altLang="zh-CN" sz="900" b="1" i="0">
                          <a:solidFill>
                            <a:srgbClr val="000000"/>
                          </a:solidFill>
                          <a:latin typeface="微软雅黑" panose="020B0503020204020204" pitchFamily="34" charset="-122"/>
                          <a:ea typeface="微软雅黑" panose="020B0503020204020204" pitchFamily="34" charset="-122"/>
                        </a:rPr>
                        <a:t> </a:t>
                      </a:r>
                      <a:r>
                        <a:rPr lang="zh-CN" altLang="en-US" sz="900" b="1" i="0">
                          <a:solidFill>
                            <a:srgbClr val="000000"/>
                          </a:solidFill>
                          <a:latin typeface="微软雅黑" panose="020B0503020204020204" pitchFamily="34" charset="-122"/>
                          <a:ea typeface="微软雅黑" panose="020B0503020204020204" pitchFamily="34" charset="-122"/>
                        </a:rPr>
                        <a:t>经营流出小计 </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43,893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3,279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4,356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4,984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2,846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2,658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3,721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2,899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2,669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4,756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3,052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2,616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6,056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E9D9"/>
                    </a:solidFill>
                  </a:tcPr>
                </a:tc>
              </a:tr>
              <a:tr h="185420">
                <a:tc>
                  <a:txBody>
                    <a:bodyPr/>
                    <a:p>
                      <a:pPr algn="l" fontAlgn="ctr"/>
                      <a:r>
                        <a:rPr lang="en-US" altLang="zh-CN" sz="900" b="1" i="0">
                          <a:solidFill>
                            <a:srgbClr val="000000"/>
                          </a:solidFill>
                          <a:latin typeface="微软雅黑" panose="020B0503020204020204" pitchFamily="34" charset="-122"/>
                          <a:ea typeface="微软雅黑" panose="020B0503020204020204" pitchFamily="34" charset="-122"/>
                        </a:rPr>
                        <a:t> </a:t>
                      </a:r>
                      <a:r>
                        <a:rPr lang="zh-CN" altLang="en-US" sz="900" b="1" i="0">
                          <a:solidFill>
                            <a:srgbClr val="000000"/>
                          </a:solidFill>
                          <a:latin typeface="微软雅黑" panose="020B0503020204020204" pitchFamily="34" charset="-122"/>
                          <a:ea typeface="微软雅黑" panose="020B0503020204020204" pitchFamily="34" charset="-122"/>
                        </a:rPr>
                        <a:t>经营活动现金流量净额 </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61,348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3,953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3,081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3,042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6,059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6,815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5,444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6,622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6,869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4,846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6,445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5,887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2,286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solidFill>
                      <a:srgbClr val="FD877B"/>
                    </a:solidFill>
                  </a:tcPr>
                </a:tc>
              </a:tr>
              <a:tr h="186055">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借款流入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542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归还银行贷款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6690">
                <a:tc>
                  <a:txBody>
                    <a:bodyPr/>
                    <a:p>
                      <a:pPr algn="l" fontAlgn="ctr"/>
                      <a:r>
                        <a:rPr lang="en-US" altLang="zh-CN" sz="900" b="0" i="0">
                          <a:solidFill>
                            <a:srgbClr val="000000"/>
                          </a:solidFill>
                          <a:latin typeface="微软雅黑" panose="020B0503020204020204" pitchFamily="34" charset="-122"/>
                          <a:ea typeface="微软雅黑" panose="020B0503020204020204" pitchFamily="34" charset="-122"/>
                        </a:rPr>
                        <a:t> </a:t>
                      </a:r>
                      <a:r>
                        <a:rPr lang="zh-CN" altLang="en-US" sz="900" b="0" i="0">
                          <a:solidFill>
                            <a:srgbClr val="000000"/>
                          </a:solidFill>
                          <a:latin typeface="微软雅黑" panose="020B0503020204020204" pitchFamily="34" charset="-122"/>
                          <a:ea typeface="微软雅黑" panose="020B0503020204020204" pitchFamily="34" charset="-122"/>
                        </a:rPr>
                        <a:t>利息流出 </a:t>
                      </a:r>
                      <a:endParaRPr lang="zh-CN" altLang="en-US" sz="900" b="0"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1,730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6350" cap="flat" cmpd="sng">
                      <a:solidFill>
                        <a:srgbClr val="B8CCE4"/>
                      </a:solidFill>
                      <a:prstDash val="solid"/>
                      <a:headEnd type="none" w="med" len="med"/>
                      <a:tailEnd type="none" w="med" len="med"/>
                    </a:lnB>
                    <a:noFill/>
                  </a:tcPr>
                </a:tc>
              </a:tr>
              <a:tr h="185420">
                <a:tc>
                  <a:txBody>
                    <a:bodyPr/>
                    <a:p>
                      <a:pPr algn="l" fontAlgn="ctr"/>
                      <a:r>
                        <a:rPr lang="en-US" altLang="zh-CN" sz="900" b="1" i="0">
                          <a:solidFill>
                            <a:srgbClr val="000000"/>
                          </a:solidFill>
                          <a:latin typeface="微软雅黑" panose="020B0503020204020204" pitchFamily="34" charset="-122"/>
                          <a:ea typeface="微软雅黑" panose="020B0503020204020204" pitchFamily="34" charset="-122"/>
                        </a:rPr>
                        <a:t> </a:t>
                      </a:r>
                      <a:r>
                        <a:rPr lang="zh-CN" altLang="en-US" sz="900" b="1" i="0">
                          <a:solidFill>
                            <a:srgbClr val="000000"/>
                          </a:solidFill>
                          <a:latin typeface="微软雅黑" panose="020B0503020204020204" pitchFamily="34" charset="-122"/>
                          <a:ea typeface="微软雅黑" panose="020B0503020204020204" pitchFamily="34" charset="-122"/>
                        </a:rPr>
                        <a:t>筹资活动现金流量净额 </a:t>
                      </a:r>
                      <a:endParaRPr lang="zh-CN" altLang="en-US" sz="900" b="1" i="0">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12700" cap="flat" cmpd="sng">
                      <a:solidFill>
                        <a:srgbClr val="000000"/>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-5,170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-1,730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-374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-254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-374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1,990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-254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6350" cap="flat" cmpd="sng">
                      <a:solidFill>
                        <a:srgbClr val="B8CCE4"/>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-372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B8CCE4"/>
                      </a:solidFill>
                      <a:prstDash val="solid"/>
                      <a:headEnd type="none" w="med" len="med"/>
                      <a:tailEnd type="none" w="med" len="med"/>
                    </a:lnL>
                    <a:lnR w="12700" cap="flat" cmpd="sng">
                      <a:solidFill>
                        <a:srgbClr val="000000"/>
                      </a:solidFill>
                      <a:prstDash val="solid"/>
                      <a:headEnd type="none" w="med" len="med"/>
                      <a:tailEnd type="none" w="med" len="med"/>
                    </a:lnR>
                    <a:lnT w="6350" cap="flat" cmpd="sng">
                      <a:solidFill>
                        <a:srgbClr val="B8CCE4"/>
                      </a:solidFill>
                      <a:prstDash val="solid"/>
                      <a:headEnd type="none" w="med" len="med"/>
                      <a:tailEnd type="none" w="med" len="med"/>
                    </a:lnT>
                    <a:lnB w="12700" cap="flat" cmpd="sng">
                      <a:solidFill>
                        <a:srgbClr val="000000"/>
                      </a:solidFill>
                      <a:prstDash val="solid"/>
                      <a:headEnd type="none" w="med" len="med"/>
                      <a:tailEnd type="none" w="med" len="med"/>
                    </a:lnB>
                    <a:solidFill>
                      <a:srgbClr val="FD877B"/>
                    </a:solidFill>
                  </a:tcPr>
                </a:tc>
              </a:tr>
            </a:tbl>
          </a:graphicData>
        </a:graphic>
      </p:graphicFrame>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123640" y="306105"/>
            <a:ext cx="7559675" cy="359346"/>
          </a:xfrm>
        </p:spPr>
        <p:txBody>
          <a:bodyPr/>
          <a:lstStyle/>
          <a:p>
            <a:pPr lvl="0">
              <a:defRPr/>
            </a:pPr>
            <a:r>
              <a:rPr lang="zh-CN" altLang="en-US" b="1" dirty="0">
                <a:solidFill>
                  <a:schemeClr val="tx1"/>
                </a:solidFill>
                <a:highlight>
                  <a:srgbClr val="000000">
                    <a:alpha val="0"/>
                  </a:srgbClr>
                </a:highlight>
                <a:sym typeface="+mn-ea"/>
              </a:rPr>
              <a:t>附表：现金流分析</a:t>
            </a:r>
            <a:r>
              <a:rPr lang="en-US" altLang="zh-CN" b="1" dirty="0" smtClean="0">
                <a:solidFill>
                  <a:schemeClr val="tx1"/>
                </a:solidFill>
                <a:highlight>
                  <a:srgbClr val="000000">
                    <a:alpha val="0"/>
                  </a:srgbClr>
                </a:highlight>
                <a:sym typeface="+mn-ea"/>
              </a:rPr>
              <a:t>-</a:t>
            </a:r>
            <a:r>
              <a:rPr lang="zh-CN" altLang="en-US" b="1" dirty="0" smtClean="0">
                <a:solidFill>
                  <a:schemeClr val="tx1"/>
                </a:solidFill>
                <a:highlight>
                  <a:srgbClr val="000000">
                    <a:alpha val="0"/>
                  </a:srgbClr>
                </a:highlight>
                <a:sym typeface="+mn-ea"/>
              </a:rPr>
              <a:t>产业销售</a:t>
            </a:r>
            <a:endParaRPr kumimoji="0" lang="zh-CN" altLang="en-US" sz="1800" b="1" i="0" u="none" strike="noStrike" kern="1200" cap="none" spc="-41" normalizeH="0" baseline="0" noProof="0" dirty="0" smtClean="0">
              <a:ln>
                <a:noFill/>
              </a:ln>
              <a:solidFill>
                <a:schemeClr val="tx1"/>
              </a:solidFill>
              <a:effectLst/>
              <a:highlight>
                <a:srgbClr val="000000">
                  <a:alpha val="0"/>
                </a:srgbClr>
              </a:highligh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37" name="标题 4"/>
          <p:cNvSpPr>
            <a:spLocks noGrp="1"/>
          </p:cNvSpPr>
          <p:nvPr/>
        </p:nvSpPr>
        <p:spPr>
          <a:xfrm>
            <a:off x="3229000" y="597472"/>
            <a:ext cx="5616624" cy="288032"/>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algn="l" defTabSz="754380" rtl="0" eaLnBrk="0" fontAlgn="base" latinLnBrk="0" hangingPunct="0">
              <a:lnSpc>
                <a:spcPct val="100000"/>
              </a:lnSpc>
              <a:spcBef>
                <a:spcPct val="0"/>
              </a:spcBef>
              <a:spcAft>
                <a:spcPct val="0"/>
              </a:spcAft>
              <a:buClrTx/>
              <a:buSzTx/>
              <a:buFontTx/>
              <a:buNone/>
              <a:defRPr/>
            </a:pPr>
            <a:endParaRPr kumimoji="0" lang="zh-CN" altLang="en-US" sz="1800" b="1" i="0" u="none" strike="noStrike" kern="1200" cap="none" spc="-41"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j-cs"/>
            </a:endParaRPr>
          </a:p>
        </p:txBody>
      </p:sp>
      <p:graphicFrame>
        <p:nvGraphicFramePr>
          <p:cNvPr id="2" name="表格 1"/>
          <p:cNvGraphicFramePr>
            <a:graphicFrameLocks noGrp="1"/>
          </p:cNvGraphicFramePr>
          <p:nvPr/>
        </p:nvGraphicFramePr>
        <p:xfrm>
          <a:off x="171524" y="723610"/>
          <a:ext cx="9590405" cy="3441700"/>
        </p:xfrm>
        <a:graphic>
          <a:graphicData uri="http://schemas.openxmlformats.org/drawingml/2006/table">
            <a:tbl>
              <a:tblPr/>
              <a:tblGrid>
                <a:gridCol w="1284477"/>
                <a:gridCol w="638910"/>
                <a:gridCol w="638910"/>
                <a:gridCol w="638910"/>
                <a:gridCol w="638910"/>
                <a:gridCol w="638910"/>
                <a:gridCol w="638910"/>
                <a:gridCol w="638910"/>
                <a:gridCol w="638910"/>
                <a:gridCol w="638910"/>
                <a:gridCol w="638910"/>
                <a:gridCol w="638910"/>
                <a:gridCol w="638910"/>
                <a:gridCol w="638910"/>
              </a:tblGrid>
              <a:tr h="336550">
                <a:tc>
                  <a:txBody>
                    <a:bodyPr/>
                    <a:lstStyle/>
                    <a:p>
                      <a:pPr algn="ctr" fontAlgn="ct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 项目 </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2026年</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预算合计</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1</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3</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4</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5</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6</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7</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8</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9</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10</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11</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12</a:t>
                      </a:r>
                      <a:r>
                        <a:rPr lang="zh-CN" altLang="en-US" sz="900" b="1" i="0" u="none" strike="noStrike">
                          <a:solidFill>
                            <a:srgbClr val="FFFFFF"/>
                          </a:solidFill>
                          <a:effectLst/>
                          <a:latin typeface="微软雅黑" panose="020B0503020204020204" pitchFamily="34" charset="-122"/>
                          <a:ea typeface="微软雅黑" panose="020B0503020204020204" pitchFamily="34" charset="-122"/>
                        </a:rPr>
                        <a:t>月</a:t>
                      </a:r>
                      <a:endParaRPr lang="zh-CN" altLang="en-US" sz="900" b="1" i="0" u="none" strike="noStrike">
                        <a:solidFill>
                          <a:srgbClr val="FFFFFF"/>
                        </a:solidFill>
                        <a:effectLst/>
                        <a:latin typeface="微软雅黑" panose="020B0503020204020204" pitchFamily="34" charset="-122"/>
                        <a:ea typeface="微软雅黑" panose="020B0503020204020204" pitchFamily="34" charset="-122"/>
                      </a:endParaRPr>
                    </a:p>
                  </a:txBody>
                  <a:tcPr marL="6019" marR="6019" marT="6019" marB="0" anchor="ctr">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C00000"/>
                    </a:solidFill>
                  </a:tcPr>
                </a:tc>
              </a:tr>
              <a:tr h="17272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销售收入回款</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19,951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496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6,028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3,229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1,486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1" i="0" u="none" strike="noStrike">
                          <a:solidFill>
                            <a:srgbClr val="000000"/>
                          </a:solidFill>
                          <a:effectLst/>
                          <a:latin typeface="微软雅黑" panose="020B0503020204020204" pitchFamily="34" charset="-122"/>
                          <a:ea typeface="微软雅黑" panose="020B0503020204020204" pitchFamily="34" charset="-122"/>
                        </a:rPr>
                        <a:t>经营流入小计</a:t>
                      </a:r>
                      <a:endParaRPr lang="zh-CN" altLang="en-US" sz="900" b="1"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19,951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3,591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496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835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6,028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545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992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3,229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1,200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1,486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工程款流出</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6,352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1,444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2,565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287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管理费用</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518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营销费用</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1,066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92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物业等其他费用</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支付税金</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438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75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土地使用税</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企业所得税</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土地增值税及附加</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581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198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84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35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其他资产支出</a:t>
                      </a: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1" i="0" u="none" strike="noStrike">
                          <a:solidFill>
                            <a:srgbClr val="000000"/>
                          </a:solidFill>
                          <a:effectLst/>
                          <a:latin typeface="微软雅黑" panose="020B0503020204020204" pitchFamily="34" charset="-122"/>
                          <a:ea typeface="微软雅黑" panose="020B0503020204020204" pitchFamily="34" charset="-122"/>
                        </a:rPr>
                        <a:t>经营流出小计</a:t>
                      </a:r>
                      <a:endParaRPr lang="zh-CN" altLang="en-US" sz="900" b="1" i="0" u="none" strike="noStrike">
                        <a:solidFill>
                          <a:srgbClr val="000000"/>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9,182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1,574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641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534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2,729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791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370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573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315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280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72480">
                <a:tc>
                  <a:txBody>
                    <a:bodyPr/>
                    <a:lstStyle/>
                    <a:p>
                      <a:pPr algn="l" fontAlgn="ctr"/>
                      <a:r>
                        <a:rPr lang="zh-CN" altLang="en-US" sz="900" b="1" i="0" u="none" strike="noStrike">
                          <a:solidFill>
                            <a:schemeClr val="tx1"/>
                          </a:solidFill>
                          <a:effectLst/>
                          <a:latin typeface="微软雅黑" panose="020B0503020204020204" pitchFamily="34" charset="-122"/>
                          <a:ea typeface="微软雅黑" panose="020B0503020204020204" pitchFamily="34" charset="-122"/>
                        </a:rPr>
                        <a:t>经营活动现金流量净额</a:t>
                      </a:r>
                      <a:endParaRPr lang="zh-CN" altLang="en-US" sz="900" b="1" i="0" u="none" strike="noStrike">
                        <a:solidFill>
                          <a:schemeClr val="tx1"/>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10,770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-1,364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-526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3,057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-2,233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5,237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285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622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2,656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884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617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1,206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877B"/>
                    </a:solidFill>
                  </a:tcPr>
                </a:tc>
              </a:tr>
              <a:tr h="172480">
                <a:tc>
                  <a:txBody>
                    <a:bodyPr/>
                    <a:lstStyle/>
                    <a:p>
                      <a:pPr algn="l" fontAlgn="ctr"/>
                      <a:r>
                        <a:rPr lang="zh-CN" altLang="en-US" sz="900" b="1" i="0" u="none" strike="noStrike">
                          <a:solidFill>
                            <a:schemeClr val="tx1"/>
                          </a:solidFill>
                          <a:effectLst/>
                          <a:latin typeface="微软雅黑" panose="020B0503020204020204" pitchFamily="34" charset="-122"/>
                          <a:ea typeface="微软雅黑" panose="020B0503020204020204" pitchFamily="34" charset="-122"/>
                        </a:rPr>
                        <a:t>筹资流入小计</a:t>
                      </a:r>
                      <a:endParaRPr lang="zh-CN" altLang="en-US" sz="900" b="1" i="0" u="none" strike="noStrike">
                        <a:solidFill>
                          <a:schemeClr val="tx1"/>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72480">
                <a:tc>
                  <a:txBody>
                    <a:bodyPr/>
                    <a:lstStyle/>
                    <a:p>
                      <a:pPr algn="l" fontAlgn="ctr"/>
                      <a:r>
                        <a:rPr lang="zh-CN" altLang="en-US" sz="900" b="1" i="0" u="none" strike="noStrike">
                          <a:solidFill>
                            <a:schemeClr val="tx1"/>
                          </a:solidFill>
                          <a:effectLst/>
                          <a:latin typeface="微软雅黑" panose="020B0503020204020204" pitchFamily="34" charset="-122"/>
                          <a:ea typeface="微软雅黑" panose="020B0503020204020204" pitchFamily="34" charset="-122"/>
                        </a:rPr>
                        <a:t>筹资流出小计</a:t>
                      </a:r>
                      <a:endParaRPr lang="zh-CN" altLang="en-US" sz="900" b="1" i="0" u="none" strike="noStrike">
                        <a:solidFill>
                          <a:schemeClr val="tx1"/>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3,482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2,013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1,438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solidFill>
                      <a:srgbClr val="FDE9D9"/>
                    </a:solidFill>
                  </a:tcPr>
                </a:tc>
              </a:tr>
              <a:tr h="172480">
                <a:tc>
                  <a:txBody>
                    <a:bodyPr/>
                    <a:lstStyle/>
                    <a:p>
                      <a:pPr algn="l" fontAlgn="ctr"/>
                      <a:r>
                        <a:rPr lang="zh-CN" altLang="en-US" sz="900" b="0" i="0" u="none" strike="noStrike">
                          <a:solidFill>
                            <a:schemeClr val="tx1"/>
                          </a:solidFill>
                          <a:effectLst/>
                          <a:latin typeface="微软雅黑" panose="020B0503020204020204" pitchFamily="34" charset="-122"/>
                          <a:ea typeface="微软雅黑" panose="020B0503020204020204" pitchFamily="34" charset="-122"/>
                        </a:rPr>
                        <a:t>其中：还本金</a:t>
                      </a:r>
                      <a:endParaRPr lang="zh-CN" altLang="en-US" sz="900" b="0" i="0" u="none" strike="noStrike">
                        <a:solidFill>
                          <a:schemeClr val="tx1"/>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3,432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2,000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1,432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0" i="0" u="none" strike="noStrike">
                          <a:solidFill>
                            <a:schemeClr val="tx1"/>
                          </a:solidFill>
                          <a:effectLst/>
                          <a:latin typeface="微软雅黑" panose="020B0503020204020204" pitchFamily="34" charset="-122"/>
                          <a:ea typeface="微软雅黑" panose="020B0503020204020204" pitchFamily="34" charset="-122"/>
                        </a:rPr>
                        <a:t>          还利息</a:t>
                      </a:r>
                      <a:endParaRPr lang="zh-CN" altLang="en-US" sz="900" b="0" i="0" u="none" strike="noStrike">
                        <a:solidFill>
                          <a:schemeClr val="tx1"/>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50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13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c>
                  <a:txBody>
                    <a:bodyPr/>
                    <a:lstStyle/>
                    <a:p>
                      <a:pPr algn="r" fontAlgn="ctr"/>
                      <a:r>
                        <a:rPr lang="en-US" altLang="zh-CN" sz="900" b="0" i="0">
                          <a:solidFill>
                            <a:srgbClr val="000000"/>
                          </a:solidFill>
                          <a:latin typeface="微软雅黑" panose="020B0503020204020204" pitchFamily="34" charset="-122"/>
                          <a:ea typeface="微软雅黑" panose="020B0503020204020204" pitchFamily="34" charset="-122"/>
                        </a:rPr>
                        <a:t> </a:t>
                      </a:r>
                      <a:r>
                        <a:rPr lang="en-US" altLang="zh-CN" sz="900" b="0" i="0">
                          <a:solidFill>
                            <a:srgbClr val="000000"/>
                          </a:solidFill>
                          <a:latin typeface="微软雅黑" panose="020B0503020204020204" pitchFamily="34" charset="-122"/>
                          <a:ea typeface="微软雅黑" panose="020B0503020204020204" pitchFamily="34" charset="-122"/>
                        </a:rPr>
                        <a:t>-</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6350" cap="flat" cmpd="sng" algn="ctr">
                      <a:solidFill>
                        <a:srgbClr val="B8CCE4"/>
                      </a:solidFill>
                      <a:prstDash val="solid"/>
                      <a:round/>
                      <a:headEnd type="none" w="med" len="med"/>
                      <a:tailEnd type="none" w="med" len="med"/>
                    </a:lnB>
                  </a:tcPr>
                </a:tc>
              </a:tr>
              <a:tr h="172480">
                <a:tc>
                  <a:txBody>
                    <a:bodyPr/>
                    <a:lstStyle/>
                    <a:p>
                      <a:pPr algn="l" fontAlgn="ctr"/>
                      <a:r>
                        <a:rPr lang="zh-CN" altLang="en-US" sz="900" b="1" i="0" u="none" strike="noStrike">
                          <a:solidFill>
                            <a:schemeClr val="tx1"/>
                          </a:solidFill>
                          <a:effectLst/>
                          <a:latin typeface="微软雅黑" panose="020B0503020204020204" pitchFamily="34" charset="-122"/>
                          <a:ea typeface="微软雅黑" panose="020B0503020204020204" pitchFamily="34" charset="-122"/>
                        </a:rPr>
                        <a:t>筹资现金流量净额</a:t>
                      </a:r>
                      <a:endParaRPr lang="zh-CN" altLang="en-US" sz="900" b="1" i="0" u="none" strike="noStrike">
                        <a:solidFill>
                          <a:schemeClr val="tx1"/>
                        </a:solidFill>
                        <a:effectLst/>
                        <a:latin typeface="微软雅黑" panose="020B0503020204020204" pitchFamily="34" charset="-122"/>
                        <a:ea typeface="微软雅黑" panose="020B0503020204020204" pitchFamily="34" charset="-122"/>
                      </a:endParaRPr>
                    </a:p>
                  </a:txBody>
                  <a:tcPr marL="6019" marR="6019" marT="6019" marB="0" anchor="ctr">
                    <a:lnL w="12700" cap="flat" cmpd="sng" algn="ctr">
                      <a:solidFill>
                        <a:srgbClr val="000000"/>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-3,482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-2,013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-1,438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6350" cap="flat" cmpd="sng" algn="ctr">
                      <a:solidFill>
                        <a:srgbClr val="B8CCE4"/>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c>
                  <a:txBody>
                    <a:bodyPr/>
                    <a:lstStyle/>
                    <a:p>
                      <a:pPr algn="r" fontAlgn="ctr"/>
                      <a:r>
                        <a:rPr lang="en-US" altLang="zh-CN" sz="900" b="1" i="0">
                          <a:solidFill>
                            <a:srgbClr val="000000"/>
                          </a:solidFill>
                          <a:latin typeface="微软雅黑" panose="020B0503020204020204" pitchFamily="34" charset="-122"/>
                          <a:ea typeface="微软雅黑" panose="020B0503020204020204" pitchFamily="34" charset="-122"/>
                        </a:rPr>
                        <a:t> </a:t>
                      </a:r>
                      <a:r>
                        <a:rPr lang="en-US" altLang="zh-CN" sz="900" b="1" i="0">
                          <a:solidFill>
                            <a:srgbClr val="000000"/>
                          </a:solidFill>
                          <a:latin typeface="微软雅黑" panose="020B0503020204020204" pitchFamily="34" charset="-122"/>
                          <a:ea typeface="微软雅黑" panose="020B0503020204020204" pitchFamily="34" charset="-122"/>
                        </a:rPr>
                        <a:t>-</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lgn="ctr">
                      <a:solidFill>
                        <a:srgbClr val="B8CCE4"/>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B8CCE4"/>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877B"/>
                    </a:solidFill>
                  </a:tcPr>
                </a:tc>
              </a:tr>
            </a:tbl>
          </a:graphicData>
        </a:graphic>
      </p:graphicFrame>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123640" y="306105"/>
            <a:ext cx="7559675" cy="359346"/>
          </a:xfrm>
        </p:spPr>
        <p:txBody>
          <a:bodyPr/>
          <a:lstStyle/>
          <a:p>
            <a:pPr lvl="0">
              <a:defRPr/>
            </a:pPr>
            <a:r>
              <a:rPr lang="zh-CN" altLang="en-US" b="1" dirty="0">
                <a:solidFill>
                  <a:schemeClr val="tx1"/>
                </a:solidFill>
                <a:highlight>
                  <a:srgbClr val="000000">
                    <a:alpha val="0"/>
                  </a:srgbClr>
                </a:highlight>
                <a:sym typeface="+mn-ea"/>
              </a:rPr>
              <a:t>附表：雅宝大项目合并</a:t>
            </a:r>
            <a:endParaRPr kumimoji="0" lang="zh-CN" altLang="en-US" sz="1800" b="1" i="0" u="none" strike="noStrike" kern="1200" cap="none" spc="-41" normalizeH="0" baseline="0" noProof="0" dirty="0" smtClean="0">
              <a:ln>
                <a:noFill/>
              </a:ln>
              <a:solidFill>
                <a:schemeClr val="tx1"/>
              </a:solidFill>
              <a:effectLst/>
              <a:highlight>
                <a:srgbClr val="000000">
                  <a:alpha val="0"/>
                </a:srgbClr>
              </a:highlight>
              <a:uLnTx/>
              <a:uFillTx/>
              <a:sym typeface="+mn-ea"/>
            </a:endParaRPr>
          </a:p>
        </p:txBody>
      </p:sp>
      <p:sp>
        <p:nvSpPr>
          <p:cNvPr id="24579" name="灯片编号占位符 3"/>
          <p:cNvSpPr txBox="1">
            <a:spLocks noGrp="1"/>
          </p:cNvSpPr>
          <p:nvPr>
            <p:ph type="sldNum" sz="quarter" idx="4"/>
          </p:nvPr>
        </p:nvSpPr>
        <p:spPr>
          <a:xfrm>
            <a:off x="8774113" y="5276850"/>
            <a:ext cx="820737" cy="242888"/>
          </a:xfrm>
          <a:noFill/>
          <a:ln>
            <a:noFill/>
          </a:ln>
        </p:spPr>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marL="0" marR="0" lvl="0" indent="0" algn="r" defTabSz="914400" rtl="0" eaLnBrk="0" fontAlgn="base" latinLnBrk="0" hangingPunct="0">
              <a:lnSpc>
                <a:spcPct val="100000"/>
              </a:lnSpc>
              <a:spcBef>
                <a:spcPct val="0"/>
              </a:spcBef>
              <a:spcAft>
                <a:spcPct val="0"/>
              </a:spcAft>
              <a:buClrTx/>
              <a:buSzTx/>
              <a:buFontTx/>
              <a:buNone/>
              <a:defRPr/>
            </a:pPr>
            <a:fld id="{9A0DB2DC-4C9A-4742-B13C-FB6460FD3503}" type="slidenum">
              <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rPr>
            </a:fld>
            <a:endParaRPr kumimoji="0" lang="zh-CN" altLang="en-US" sz="1000" b="0" i="0" u="none" strike="noStrike" kern="1200" cap="none" spc="0" normalizeH="0" baseline="0" noProof="0" dirty="0">
              <a:ln>
                <a:noFill/>
              </a:ln>
              <a:solidFill>
                <a:srgbClr val="595959"/>
              </a:solidFill>
              <a:effectLst/>
              <a:uLnTx/>
              <a:uFillTx/>
              <a:latin typeface="Arial" panose="020B0604020202020204" pitchFamily="34" charset="0"/>
              <a:ea typeface="微软雅黑" panose="020B0503020204020204" pitchFamily="34" charset="-122"/>
              <a:cs typeface="+mn-cs"/>
            </a:endParaRPr>
          </a:p>
        </p:txBody>
      </p:sp>
      <p:sp>
        <p:nvSpPr>
          <p:cNvPr id="37" name="标题 4"/>
          <p:cNvSpPr>
            <a:spLocks noGrp="1"/>
          </p:cNvSpPr>
          <p:nvPr/>
        </p:nvSpPr>
        <p:spPr>
          <a:xfrm>
            <a:off x="3229000" y="597472"/>
            <a:ext cx="5616624" cy="288032"/>
          </a:xfrm>
          <a:prstGeom prst="rect">
            <a:avLst/>
          </a:prstGeom>
        </p:spPr>
        <p:txBody>
          <a:bodyPr/>
          <a:lstStyle>
            <a:lvl1pPr algn="l" defTabSz="754380" rtl="0" eaLnBrk="0" fontAlgn="base" hangingPunct="0">
              <a:lnSpc>
                <a:spcPct val="100000"/>
              </a:lnSpc>
              <a:spcBef>
                <a:spcPct val="0"/>
              </a:spcBef>
              <a:spcAft>
                <a:spcPct val="0"/>
              </a:spcAft>
              <a:defRPr sz="1800" kern="1200" spc="-41">
                <a:solidFill>
                  <a:schemeClr val="tx1">
                    <a:lumMod val="75000"/>
                    <a:lumOff val="25000"/>
                  </a:schemeClr>
                </a:solidFill>
                <a:latin typeface="微软雅黑" panose="020B0503020204020204" pitchFamily="34" charset="-122"/>
                <a:ea typeface="微软雅黑" panose="020B0503020204020204" pitchFamily="34" charset="-122"/>
                <a:cs typeface="+mj-cs"/>
              </a:defRPr>
            </a:lvl1pPr>
            <a:lvl2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2pPr>
            <a:lvl3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3pPr>
            <a:lvl4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4pPr>
            <a:lvl5pPr algn="l" defTabSz="754380" rtl="0" eaLnBrk="0" fontAlgn="base" hangingPunct="0">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5pPr>
            <a:lvl6pPr marL="4572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6pPr>
            <a:lvl7pPr marL="9144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7pPr>
            <a:lvl8pPr marL="13716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8pPr>
            <a:lvl9pPr marL="1828800" algn="l" defTabSz="753745" rtl="0" fontAlgn="base">
              <a:lnSpc>
                <a:spcPct val="85000"/>
              </a:lnSpc>
              <a:spcBef>
                <a:spcPct val="0"/>
              </a:spcBef>
              <a:spcAft>
                <a:spcPct val="0"/>
              </a:spcAft>
              <a:defRPr sz="3900">
                <a:solidFill>
                  <a:srgbClr val="404040"/>
                </a:solidFill>
                <a:latin typeface="Calibri Light" panose="020F0302020204030204" pitchFamily="34" charset="0"/>
                <a:ea typeface="宋体" panose="02010600030101010101" pitchFamily="2" charset="-122"/>
              </a:defRPr>
            </a:lvl9pPr>
          </a:lstStyle>
          <a:p>
            <a:pPr marL="0" marR="0" lvl="0" indent="0" algn="l" defTabSz="754380" rtl="0" eaLnBrk="0" fontAlgn="base" latinLnBrk="0" hangingPunct="0">
              <a:lnSpc>
                <a:spcPct val="100000"/>
              </a:lnSpc>
              <a:spcBef>
                <a:spcPct val="0"/>
              </a:spcBef>
              <a:spcAft>
                <a:spcPct val="0"/>
              </a:spcAft>
              <a:buClrTx/>
              <a:buSzTx/>
              <a:buFontTx/>
              <a:buNone/>
              <a:defRPr/>
            </a:pPr>
            <a:endParaRPr kumimoji="0" lang="zh-CN" altLang="en-US" sz="1800" b="1" i="0" u="none" strike="noStrike" kern="1200" cap="none" spc="-41"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j-cs"/>
            </a:endParaRPr>
          </a:p>
        </p:txBody>
      </p:sp>
      <p:graphicFrame>
        <p:nvGraphicFramePr>
          <p:cNvPr id="4" name="表格 3"/>
          <p:cNvGraphicFramePr/>
          <p:nvPr/>
        </p:nvGraphicFramePr>
        <p:xfrm>
          <a:off x="195580" y="1101090"/>
          <a:ext cx="9464675" cy="3013710"/>
        </p:xfrm>
        <a:graphic>
          <a:graphicData uri="http://schemas.openxmlformats.org/drawingml/2006/table">
            <a:tbl>
              <a:tblPr/>
              <a:tblGrid>
                <a:gridCol w="1249045"/>
                <a:gridCol w="510540"/>
                <a:gridCol w="511175"/>
                <a:gridCol w="509905"/>
                <a:gridCol w="511810"/>
                <a:gridCol w="602615"/>
                <a:gridCol w="602615"/>
                <a:gridCol w="483235"/>
                <a:gridCol w="482600"/>
                <a:gridCol w="524510"/>
                <a:gridCol w="524510"/>
                <a:gridCol w="454660"/>
                <a:gridCol w="454025"/>
                <a:gridCol w="511175"/>
                <a:gridCol w="510540"/>
                <a:gridCol w="511175"/>
                <a:gridCol w="510540"/>
              </a:tblGrid>
              <a:tr h="334010">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项目</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00000"/>
                    </a:solidFill>
                  </a:tcPr>
                </a:tc>
                <a:tc grid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收入含税</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00000"/>
                    </a:solidFill>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00000"/>
                    </a:solidFill>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增幅</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00000"/>
                    </a:solidFill>
                  </a:tcPr>
                </a:tc>
                <a:tc grid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成本费用</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E26B0A"/>
                    </a:solidFill>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E26B0A"/>
                    </a:solidFill>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增幅</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E26B0A"/>
                    </a:solidFill>
                  </a:tcPr>
                </a:tc>
                <a:tc gridSpan="2">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GOP</a:t>
                      </a:r>
                      <a:endParaRPr lang="en-US" altLang="zh-CN"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增幅</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gridSpan="2">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NOI</a:t>
                      </a:r>
                      <a:endParaRPr lang="en-US" altLang="zh-CN"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差异</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rowSpan="2">
                  <a:txBody>
                    <a:bodyPr/>
                    <a:p>
                      <a:pPr algn="ctr" fontAlgn="ctr"/>
                      <a:r>
                        <a:rPr lang="zh-CN" altLang="en-US" sz="900" b="1" i="0">
                          <a:solidFill>
                            <a:srgbClr val="FFFFFF"/>
                          </a:solidFill>
                          <a:latin typeface="微软雅黑" panose="020B0503020204020204" pitchFamily="34" charset="-122"/>
                          <a:ea typeface="微软雅黑" panose="020B0503020204020204" pitchFamily="34" charset="-122"/>
                        </a:rPr>
                        <a:t>增幅</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r>
              <a:tr h="4133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00000"/>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C00000"/>
                    </a:solid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E26B0A"/>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a:t>
                      </a:r>
                      <a:endParaRPr lang="zh-CN" altLang="en-US" sz="900" b="1" i="0">
                        <a:solidFill>
                          <a:srgbClr val="FFFFFF"/>
                        </a:solidFill>
                        <a:latin typeface="微软雅黑" panose="020B0503020204020204" pitchFamily="34" charset="-122"/>
                        <a:ea typeface="微软雅黑" panose="020B0503020204020204" pitchFamily="34" charset="-122"/>
                      </a:endParaRPr>
                    </a:p>
                    <a:p>
                      <a:pPr algn="ctr" fontAlgn="ctr"/>
                      <a:r>
                        <a:rPr lang="zh-CN" altLang="en-US" sz="900" b="1" i="0">
                          <a:solidFill>
                            <a:srgbClr val="FFFFFF"/>
                          </a:solidFill>
                          <a:latin typeface="微软雅黑" panose="020B0503020204020204" pitchFamily="34" charset="-122"/>
                          <a:ea typeface="微软雅黑" panose="020B0503020204020204" pitchFamily="34" charset="-122"/>
                        </a:rPr>
                        <a:t>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E26B0A"/>
                    </a:solid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2025</a:t>
                      </a:r>
                      <a:r>
                        <a:rPr lang="zh-CN" altLang="en-US" sz="900" b="1" i="0">
                          <a:solidFill>
                            <a:srgbClr val="FFFFFF"/>
                          </a:solidFill>
                          <a:latin typeface="微软雅黑" panose="020B0503020204020204" pitchFamily="34" charset="-122"/>
                          <a:ea typeface="微软雅黑" panose="020B0503020204020204" pitchFamily="34" charset="-122"/>
                        </a:rPr>
                        <a:t>年预计</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a:txBody>
                    <a:bodyPr/>
                    <a:p>
                      <a:pPr algn="ctr" fontAlgn="ctr"/>
                      <a:r>
                        <a:rPr lang="en-US" altLang="zh-CN" sz="900" b="1" i="0">
                          <a:solidFill>
                            <a:srgbClr val="FFFFFF"/>
                          </a:solidFill>
                          <a:latin typeface="微软雅黑" panose="020B0503020204020204" pitchFamily="34" charset="-122"/>
                          <a:ea typeface="微软雅黑" panose="020B0503020204020204" pitchFamily="34" charset="-122"/>
                        </a:rPr>
                        <a:t>2026</a:t>
                      </a:r>
                      <a:r>
                        <a:rPr lang="zh-CN" altLang="en-US" sz="900" b="1" i="0">
                          <a:solidFill>
                            <a:srgbClr val="FFFFFF"/>
                          </a:solidFill>
                          <a:latin typeface="微软雅黑" panose="020B0503020204020204" pitchFamily="34" charset="-122"/>
                          <a:ea typeface="微软雅黑" panose="020B0503020204020204" pitchFamily="34" charset="-122"/>
                        </a:rPr>
                        <a:t>年预算</a:t>
                      </a:r>
                      <a:endParaRPr lang="zh-CN" altLang="en-US" sz="900" b="1" i="0">
                        <a:solidFill>
                          <a:srgbClr val="FFFFFF"/>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60497A"/>
                    </a:solid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r h="259715">
                <a:tc>
                  <a:txBody>
                    <a:bodyPr/>
                    <a:p>
                      <a:pPr algn="l" fontAlgn="ctr"/>
                      <a:r>
                        <a:rPr lang="en-US" altLang="zh-CN" sz="900" b="0" i="1">
                          <a:solidFill>
                            <a:srgbClr val="000000"/>
                          </a:solidFill>
                          <a:latin typeface="微软雅黑" panose="020B0503020204020204" pitchFamily="34" charset="-122"/>
                          <a:ea typeface="微软雅黑" panose="020B0503020204020204" pitchFamily="34" charset="-122"/>
                        </a:rPr>
                        <a:t>WORLD123</a:t>
                      </a:r>
                      <a:r>
                        <a:rPr lang="zh-CN" altLang="en-US" sz="900" b="0" i="1">
                          <a:solidFill>
                            <a:srgbClr val="000000"/>
                          </a:solidFill>
                          <a:latin typeface="微软雅黑" panose="020B0503020204020204" pitchFamily="34" charset="-122"/>
                          <a:ea typeface="微软雅黑" panose="020B0503020204020204" pitchFamily="34" charset="-122"/>
                        </a:rPr>
                        <a:t>期租赁</a:t>
                      </a:r>
                      <a:endParaRPr lang="zh-CN" altLang="en-US" sz="9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44,652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40,328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-4,324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-9.7%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3,948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3,931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37,080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33,125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-3,955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-10.7%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35,070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31,115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-3,955</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-11.3%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34645">
                <a:tc>
                  <a:txBody>
                    <a:bodyPr/>
                    <a:p>
                      <a:pPr algn="l" fontAlgn="ctr"/>
                      <a:r>
                        <a:rPr lang="en-US" altLang="zh-CN" sz="900" b="0" i="1">
                          <a:solidFill>
                            <a:srgbClr val="000000"/>
                          </a:solidFill>
                          <a:latin typeface="微软雅黑" panose="020B0503020204020204" pitchFamily="34" charset="-122"/>
                          <a:ea typeface="微软雅黑" panose="020B0503020204020204" pitchFamily="34" charset="-122"/>
                        </a:rPr>
                        <a:t>123</a:t>
                      </a:r>
                      <a:r>
                        <a:rPr lang="zh-CN" altLang="en-US" sz="900" b="0" i="1">
                          <a:solidFill>
                            <a:srgbClr val="000000"/>
                          </a:solidFill>
                          <a:latin typeface="微软雅黑" panose="020B0503020204020204" pitchFamily="34" charset="-122"/>
                          <a:ea typeface="微软雅黑" panose="020B0503020204020204" pitchFamily="34" charset="-122"/>
                        </a:rPr>
                        <a:t>期物业</a:t>
                      </a:r>
                      <a:endParaRPr lang="zh-CN" altLang="en-US" sz="9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7,757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7,782</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0.3%</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6,046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6,406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360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6.0%</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1,211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904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-25.4%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34010">
                <a:tc>
                  <a:txBody>
                    <a:bodyPr/>
                    <a:p>
                      <a:pPr algn="l" fontAlgn="ctr"/>
                      <a:r>
                        <a:rPr lang="en-US" altLang="zh-CN" sz="900" b="1" i="1">
                          <a:solidFill>
                            <a:srgbClr val="000000"/>
                          </a:solidFill>
                          <a:latin typeface="微软雅黑" panose="020B0503020204020204" pitchFamily="34" charset="-122"/>
                          <a:ea typeface="微软雅黑" panose="020B0503020204020204" pitchFamily="34" charset="-122"/>
                        </a:rPr>
                        <a:t>123</a:t>
                      </a:r>
                      <a:r>
                        <a:rPr lang="zh-CN" altLang="en-US" sz="900" b="1" i="1">
                          <a:solidFill>
                            <a:srgbClr val="000000"/>
                          </a:solidFill>
                          <a:latin typeface="微软雅黑" panose="020B0503020204020204" pitchFamily="34" charset="-122"/>
                          <a:ea typeface="微软雅黑" panose="020B0503020204020204" pitchFamily="34" charset="-122"/>
                        </a:rPr>
                        <a:t>期小计</a:t>
                      </a:r>
                      <a:endParaRPr lang="zh-CN" altLang="en-US" sz="900" b="1"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52,409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48,111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-4,298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-8.2%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9,994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10,337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343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3.4%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38,291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34,028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-4,262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-11.1%</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36,281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32,019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-4,262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-11.7%</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r>
              <a:tr h="335915">
                <a:tc>
                  <a:txBody>
                    <a:bodyPr/>
                    <a:p>
                      <a:pPr algn="l" fontAlgn="ctr"/>
                      <a:r>
                        <a:rPr lang="zh-CN" altLang="en-US" sz="900" b="0" i="1">
                          <a:solidFill>
                            <a:srgbClr val="000000"/>
                          </a:solidFill>
                          <a:latin typeface="微软雅黑" panose="020B0503020204020204" pitchFamily="34" charset="-122"/>
                          <a:ea typeface="微软雅黑" panose="020B0503020204020204" pitchFamily="34" charset="-122"/>
                        </a:rPr>
                        <a:t>双塔组团租赁</a:t>
                      </a:r>
                      <a:endParaRPr lang="zh-CN" altLang="en-US" sz="9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25,470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30,579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5,108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20.1%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4,251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4,008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-5.7%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24,051</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4,928</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25.8%</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19,123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21,499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2,376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12.4%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34010">
                <a:tc>
                  <a:txBody>
                    <a:bodyPr/>
                    <a:p>
                      <a:pPr algn="l" fontAlgn="ctr"/>
                      <a:r>
                        <a:rPr lang="zh-CN" altLang="en-US" sz="900" b="0" i="1">
                          <a:solidFill>
                            <a:srgbClr val="000000"/>
                          </a:solidFill>
                          <a:latin typeface="微软雅黑" panose="020B0503020204020204" pitchFamily="34" charset="-122"/>
                          <a:ea typeface="微软雅黑" panose="020B0503020204020204" pitchFamily="34" charset="-122"/>
                        </a:rPr>
                        <a:t>双塔组团物业</a:t>
                      </a:r>
                      <a:endParaRPr lang="zh-CN" altLang="en-US" sz="900" b="0"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5,757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8,257</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2,500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43.4%</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6,673</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7,919</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1,246</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18.7%</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88.1%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-1,264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-150</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 1,114</a:t>
                      </a:r>
                      <a:r>
                        <a:rPr lang="en-US" altLang="zh-CN" sz="900" b="0" i="0">
                          <a:solidFill>
                            <a:srgbClr val="000000"/>
                          </a:solidFill>
                          <a:latin typeface="微软雅黑" panose="020B0503020204020204" pitchFamily="34" charset="-122"/>
                          <a:ea typeface="微软雅黑" panose="020B0503020204020204" pitchFamily="34" charset="-122"/>
                        </a:rPr>
                        <a:t> </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r" fontAlgn="ctr"/>
                      <a:r>
                        <a:rPr lang="en-US" altLang="zh-CN" sz="900" b="0" i="0">
                          <a:solidFill>
                            <a:srgbClr val="000000"/>
                          </a:solidFill>
                          <a:latin typeface="微软雅黑" panose="020B0503020204020204" pitchFamily="34" charset="-122"/>
                          <a:ea typeface="微软雅黑" panose="020B0503020204020204" pitchFamily="34" charset="-122"/>
                        </a:rPr>
                        <a:t>88.1%</a:t>
                      </a:r>
                      <a:endParaRPr lang="en-US" altLang="zh-CN" sz="900" b="0"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34010">
                <a:tc>
                  <a:txBody>
                    <a:bodyPr/>
                    <a:p>
                      <a:pPr algn="l" fontAlgn="ctr"/>
                      <a:r>
                        <a:rPr lang="zh-CN" altLang="en-US" sz="900" b="1" i="1">
                          <a:solidFill>
                            <a:srgbClr val="000000"/>
                          </a:solidFill>
                          <a:latin typeface="微软雅黑" panose="020B0503020204020204" pitchFamily="34" charset="-122"/>
                          <a:ea typeface="微软雅黑" panose="020B0503020204020204" pitchFamily="34" charset="-122"/>
                        </a:rPr>
                        <a:t>双塔小计</a:t>
                      </a:r>
                      <a:endParaRPr lang="zh-CN" altLang="en-US" sz="900" b="1"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31,227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38,835</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7,608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24.4%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10,924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11,927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1,003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9.2%</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17,859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23,901</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6,042</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33.8%</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17,859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21,349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3,490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19.5%</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r>
              <a:tr h="334010">
                <a:tc>
                  <a:txBody>
                    <a:bodyPr/>
                    <a:p>
                      <a:pPr algn="l" fontAlgn="ctr"/>
                      <a:r>
                        <a:rPr lang="zh-CN" altLang="en-US" sz="900" b="1" i="1">
                          <a:solidFill>
                            <a:srgbClr val="000000"/>
                          </a:solidFill>
                          <a:latin typeface="微软雅黑" panose="020B0503020204020204" pitchFamily="34" charset="-122"/>
                          <a:ea typeface="微软雅黑" panose="020B0503020204020204" pitchFamily="34" charset="-122"/>
                        </a:rPr>
                        <a:t>大项目合计</a:t>
                      </a:r>
                      <a:endParaRPr lang="zh-CN" altLang="en-US" sz="900" b="1" i="1">
                        <a:solidFill>
                          <a:srgbClr val="000000"/>
                        </a:solidFill>
                        <a:latin typeface="微软雅黑" panose="020B0503020204020204" pitchFamily="34" charset="-122"/>
                        <a:ea typeface="微软雅黑" panose="020B0503020204020204" pitchFamily="34" charset="-122"/>
                      </a:endParaRPr>
                    </a:p>
                  </a:txBody>
                  <a:tcPr marL="9842" marR="9842" marT="9842"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83,636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86,946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3,310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4.0%</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20,918</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22,264</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1,346</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6.4%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56,149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57,929</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1,780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r" fontAlgn="ctr"/>
                      <a:r>
                        <a:rPr lang="en-US" altLang="zh-CN" sz="900" b="1" i="0">
                          <a:solidFill>
                            <a:srgbClr val="FF0000"/>
                          </a:solidFill>
                          <a:latin typeface="微软雅黑" panose="020B0503020204020204" pitchFamily="34" charset="-122"/>
                          <a:ea typeface="微软雅黑" panose="020B0503020204020204" pitchFamily="34" charset="-122"/>
                        </a:rPr>
                        <a:t>3.2%</a:t>
                      </a:r>
                      <a:endParaRPr lang="en-US" altLang="zh-CN" sz="900" b="1" i="0">
                        <a:solidFill>
                          <a:srgbClr val="FF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FC000"/>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54,140</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53,367</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 -773</a:t>
                      </a:r>
                      <a:r>
                        <a:rPr lang="en-US" altLang="zh-CN" sz="900" b="1" i="0">
                          <a:solidFill>
                            <a:srgbClr val="000000"/>
                          </a:solidFill>
                          <a:latin typeface="微软雅黑" panose="020B0503020204020204" pitchFamily="34" charset="-122"/>
                          <a:ea typeface="微软雅黑" panose="020B0503020204020204" pitchFamily="34" charset="-122"/>
                        </a:rPr>
                        <a:t> </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c>
                  <a:txBody>
                    <a:bodyPr/>
                    <a:p>
                      <a:pPr algn="r" fontAlgn="ctr"/>
                      <a:r>
                        <a:rPr lang="en-US" altLang="zh-CN" sz="900" b="1" i="0">
                          <a:solidFill>
                            <a:srgbClr val="000000"/>
                          </a:solidFill>
                          <a:latin typeface="微软雅黑" panose="020B0503020204020204" pitchFamily="34" charset="-122"/>
                          <a:ea typeface="微软雅黑" panose="020B0503020204020204" pitchFamily="34" charset="-122"/>
                        </a:rPr>
                        <a:t>-1.4%</a:t>
                      </a:r>
                      <a:endParaRPr lang="en-US" altLang="zh-CN" sz="900" b="1" i="0">
                        <a:solidFill>
                          <a:srgbClr val="000000"/>
                        </a:solidFill>
                        <a:latin typeface="微软雅黑" panose="020B0503020204020204" pitchFamily="34" charset="-122"/>
                        <a:ea typeface="微软雅黑" panose="020B0503020204020204" pitchFamily="34" charset="-122"/>
                      </a:endParaRPr>
                    </a:p>
                  </a:txBody>
                  <a:tcPr marL="7937" marR="7937" marT="793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FDE9D9"/>
                    </a:solidFill>
                  </a:tcPr>
                </a:tc>
              </a:tr>
            </a:tbl>
          </a:graphicData>
        </a:graphic>
      </p:graphicFrame>
    </p:spTree>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0" y="79129"/>
            <a:ext cx="3108874" cy="700405"/>
            <a:chOff x="0" y="142769"/>
            <a:chExt cx="3768332" cy="848976"/>
          </a:xfrm>
        </p:grpSpPr>
        <p:sp>
          <p:nvSpPr>
            <p:cNvPr id="4" name="文本框 3"/>
            <p:cNvSpPr txBox="1"/>
            <p:nvPr/>
          </p:nvSpPr>
          <p:spPr>
            <a:xfrm>
              <a:off x="0" y="381610"/>
              <a:ext cx="597285" cy="479521"/>
            </a:xfrm>
            <a:prstGeom prst="rect">
              <a:avLst/>
            </a:prstGeom>
            <a:solidFill>
              <a:srgbClr val="CB1D23"/>
            </a:solidFill>
            <a:ln>
              <a:solidFill>
                <a:srgbClr val="CB1D23"/>
              </a:solidFill>
            </a:ln>
          </p:spPr>
          <p:txBody>
            <a:bodyPr wrap="none" rtlCol="0">
              <a:spAutoFit/>
            </a:bodyPr>
            <a:lstStyle/>
            <a:p>
              <a:r>
                <a:rPr kumimoji="1" lang="en-US" altLang="zh-CN" sz="1980" b="1" dirty="0">
                  <a:solidFill>
                    <a:schemeClr val="bg1"/>
                  </a:solidFill>
                  <a:latin typeface="+mj-lt"/>
                </a:rPr>
                <a:t>01</a:t>
              </a:r>
              <a:endParaRPr kumimoji="1" lang="zh-CN" altLang="en-US" sz="1980" b="1" dirty="0">
                <a:solidFill>
                  <a:schemeClr val="bg1"/>
                </a:solidFill>
                <a:latin typeface="+mj-lt"/>
              </a:endParaRPr>
            </a:p>
          </p:txBody>
        </p:sp>
        <p:cxnSp>
          <p:nvCxnSpPr>
            <p:cNvPr id="5" name="直接连接符 4"/>
            <p:cNvCxnSpPr/>
            <p:nvPr/>
          </p:nvCxnSpPr>
          <p:spPr>
            <a:xfrm>
              <a:off x="688423" y="391135"/>
              <a:ext cx="0" cy="452140"/>
            </a:xfrm>
            <a:prstGeom prst="line">
              <a:avLst/>
            </a:prstGeom>
            <a:ln w="38100">
              <a:solidFill>
                <a:srgbClr val="CB1D23"/>
              </a:solidFill>
            </a:ln>
          </p:spPr>
          <p:style>
            <a:lnRef idx="1">
              <a:schemeClr val="accent1"/>
            </a:lnRef>
            <a:fillRef idx="0">
              <a:schemeClr val="accent1"/>
            </a:fillRef>
            <a:effectRef idx="0">
              <a:schemeClr val="accent1"/>
            </a:effectRef>
            <a:fontRef idx="minor">
              <a:schemeClr val="tx1"/>
            </a:fontRef>
          </p:style>
        </p:cxnSp>
        <p:sp>
          <p:nvSpPr>
            <p:cNvPr id="6" name="矩形 5"/>
            <p:cNvSpPr/>
            <p:nvPr/>
          </p:nvSpPr>
          <p:spPr>
            <a:xfrm>
              <a:off x="803459" y="142769"/>
              <a:ext cx="2964873" cy="848976"/>
            </a:xfrm>
            <a:prstGeom prst="rect">
              <a:avLst/>
            </a:prstGeom>
          </p:spPr>
          <p:txBody>
            <a:bodyPr wrap="none">
              <a:spAutoFit/>
            </a:bodyPr>
            <a:lstStyle/>
            <a:p>
              <a:pPr algn="l">
                <a:lnSpc>
                  <a:spcPct val="200000"/>
                </a:lnSpc>
              </a:pPr>
              <a:r>
                <a:rPr lang="zh-CN" altLang="en-US" sz="1980" b="1" dirty="0">
                  <a:solidFill>
                    <a:srgbClr val="CB1D23"/>
                  </a:solidFill>
                  <a:latin typeface="+mj-ea"/>
                  <a:ea typeface="+mj-ea"/>
                  <a:sym typeface="+mn-ea"/>
                </a:rPr>
                <a:t>领创现有功能及面积</a:t>
              </a:r>
              <a:endParaRPr lang="zh-CN" altLang="en-US" sz="1980" b="1" dirty="0">
                <a:solidFill>
                  <a:srgbClr val="CB1D23"/>
                </a:solidFill>
                <a:latin typeface="+mj-ea"/>
                <a:ea typeface="+mj-ea"/>
              </a:endParaRPr>
            </a:p>
          </p:txBody>
        </p:sp>
      </p:grpSp>
      <p:sp>
        <p:nvSpPr>
          <p:cNvPr id="2" name="灯片编号占位符 1"/>
          <p:cNvSpPr>
            <a:spLocks noGrp="1"/>
          </p:cNvSpPr>
          <p:nvPr>
            <p:ph type="sldNum" sz="quarter" idx="10"/>
          </p:nvPr>
        </p:nvSpPr>
        <p:spPr/>
        <p:txBody>
          <a:bodyPr/>
          <a:lstStyle/>
          <a:p>
            <a:fld id="{99173E90-95F0-E34D-B0FF-F9193FBE2D36}" type="slidenum">
              <a:rPr kumimoji="1" lang="zh-CN" altLang="en-US" sz="955" smtClean="0"/>
            </a:fld>
            <a:endParaRPr kumimoji="1" lang="zh-CN" altLang="en-US" sz="955" dirty="0"/>
          </a:p>
        </p:txBody>
      </p:sp>
      <p:graphicFrame>
        <p:nvGraphicFramePr>
          <p:cNvPr id="7" name="表格 6"/>
          <p:cNvGraphicFramePr/>
          <p:nvPr>
            <p:custDataLst>
              <p:tags r:id="rId1"/>
            </p:custDataLst>
          </p:nvPr>
        </p:nvGraphicFramePr>
        <p:xfrm>
          <a:off x="123855" y="1480690"/>
          <a:ext cx="9761855" cy="4068445"/>
        </p:xfrm>
        <a:graphic>
          <a:graphicData uri="http://schemas.openxmlformats.org/drawingml/2006/table">
            <a:tbl>
              <a:tblPr firstRow="1" bandRow="1">
                <a:tableStyleId>{69012ECD-51FC-41F1-AA8D-1B2483CD663E}</a:tableStyleId>
              </a:tblPr>
              <a:tblGrid>
                <a:gridCol w="970915"/>
                <a:gridCol w="1774190"/>
                <a:gridCol w="1285875"/>
                <a:gridCol w="966470"/>
                <a:gridCol w="4764405"/>
              </a:tblGrid>
              <a:tr h="427990">
                <a:tc>
                  <a:txBody>
                    <a:bodyPr/>
                    <a:lstStyle/>
                    <a:p>
                      <a:pPr algn="ctr">
                        <a:buNone/>
                      </a:pPr>
                      <a:r>
                        <a:rPr lang="zh-CN" altLang="en-US" sz="1155" dirty="0">
                          <a:solidFill>
                            <a:schemeClr val="bg1"/>
                          </a:solidFill>
                          <a:latin typeface="+mn-ea"/>
                          <a:ea typeface="+mn-ea"/>
                          <a:cs typeface="微软雅黑" panose="020B0503020204020204" pitchFamily="34" charset="-122"/>
                        </a:rPr>
                        <a:t>物业功能</a:t>
                      </a:r>
                      <a:endParaRPr lang="zh-CN" altLang="en-US" sz="1155" dirty="0">
                        <a:solidFill>
                          <a:schemeClr val="bg1"/>
                        </a:solidFill>
                        <a:latin typeface="+mn-ea"/>
                        <a:ea typeface="+mn-ea"/>
                        <a:cs typeface="微软雅黑" panose="020B0503020204020204" pitchFamily="34" charset="-122"/>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buNone/>
                      </a:pPr>
                      <a:r>
                        <a:rPr lang="zh-CN" altLang="en-US" sz="1155" dirty="0" smtClean="0">
                          <a:solidFill>
                            <a:schemeClr val="bg1"/>
                          </a:solidFill>
                          <a:latin typeface="+mn-ea"/>
                          <a:ea typeface="+mn-ea"/>
                          <a:cs typeface="微软雅黑" panose="020B0503020204020204" pitchFamily="34" charset="-122"/>
                        </a:rPr>
                        <a:t>使用单位及套内面积</a:t>
                      </a:r>
                      <a:r>
                        <a:rPr lang="zh-CN" altLang="en-US" sz="1155" dirty="0">
                          <a:solidFill>
                            <a:schemeClr val="bg1"/>
                          </a:solidFill>
                          <a:latin typeface="+mn-ea"/>
                          <a:ea typeface="+mn-ea"/>
                          <a:cs typeface="微软雅黑" panose="020B0503020204020204" pitchFamily="34" charset="-122"/>
                        </a:rPr>
                        <a:t>（㎡）</a:t>
                      </a:r>
                      <a:endParaRPr lang="zh-CN" altLang="en-US" sz="1155" dirty="0">
                        <a:solidFill>
                          <a:schemeClr val="bg1"/>
                        </a:solidFill>
                        <a:latin typeface="+mn-ea"/>
                        <a:ea typeface="+mn-ea"/>
                        <a:cs typeface="微软雅黑" panose="020B0503020204020204" pitchFamily="34" charset="-122"/>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buNone/>
                      </a:pPr>
                      <a:r>
                        <a:rPr lang="zh-CN" altLang="en-US" sz="1155" dirty="0">
                          <a:latin typeface="+mn-ea"/>
                          <a:ea typeface="+mn-ea"/>
                        </a:rPr>
                        <a:t>具体单位或位置</a:t>
                      </a:r>
                      <a:endParaRPr lang="zh-CN" altLang="en-US" sz="1155" dirty="0">
                        <a:solidFill>
                          <a:schemeClr val="tx1"/>
                        </a:solidFill>
                        <a:latin typeface="+mn-ea"/>
                        <a:ea typeface="+mn-ea"/>
                        <a:cs typeface="微软雅黑" panose="020B0503020204020204" pitchFamily="34" charset="-122"/>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buNone/>
                      </a:pPr>
                      <a:r>
                        <a:rPr lang="zh-CN" sz="1155" dirty="0">
                          <a:latin typeface="+mn-ea"/>
                          <a:ea typeface="+mn-ea"/>
                          <a:sym typeface="+mn-ea"/>
                        </a:rPr>
                        <a:t>面积（㎡）</a:t>
                      </a:r>
                      <a:endParaRPr lang="zh-CN" altLang="en-US" sz="1155" dirty="0">
                        <a:solidFill>
                          <a:schemeClr val="tx1"/>
                        </a:solidFill>
                        <a:latin typeface="+mn-ea"/>
                        <a:ea typeface="+mn-ea"/>
                        <a:sym typeface="+mn-ea"/>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buNone/>
                      </a:pPr>
                      <a:r>
                        <a:rPr lang="zh-CN" altLang="en-US" sz="1155" dirty="0">
                          <a:solidFill>
                            <a:schemeClr val="bg1"/>
                          </a:solidFill>
                          <a:latin typeface="+mn-ea"/>
                          <a:ea typeface="+mn-ea"/>
                        </a:rPr>
                        <a:t>备注</a:t>
                      </a:r>
                      <a:endParaRPr lang="zh-CN" altLang="en-US" sz="1155" dirty="0">
                        <a:solidFill>
                          <a:schemeClr val="tx1"/>
                        </a:solidFill>
                        <a:latin typeface="+mn-ea"/>
                        <a:ea typeface="+mn-ea"/>
                      </a:endParaRPr>
                    </a:p>
                  </a:txBody>
                  <a:tcPr marL="75437" marR="75437" marT="37718"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1D23"/>
                    </a:solidFill>
                  </a:tcPr>
                </a:tc>
              </a:tr>
              <a:tr h="278130">
                <a:tc rowSpan="4">
                  <a:txBody>
                    <a:bodyPr/>
                    <a:lstStyle/>
                    <a:p>
                      <a:pPr indent="0" algn="ctr">
                        <a:buNone/>
                      </a:pPr>
                      <a:r>
                        <a:rPr lang="zh-CN" altLang="en-US" sz="1155" b="0" dirty="0">
                          <a:solidFill>
                            <a:srgbClr val="000000"/>
                          </a:solidFill>
                          <a:latin typeface="+mn-ea"/>
                          <a:ea typeface="+mn-ea"/>
                        </a:rPr>
                        <a:t>控股</a:t>
                      </a:r>
                      <a:r>
                        <a:rPr lang="zh-CN" altLang="en-US" sz="1155" b="0" dirty="0" smtClean="0">
                          <a:solidFill>
                            <a:srgbClr val="000000"/>
                          </a:solidFill>
                          <a:latin typeface="+mn-ea"/>
                          <a:ea typeface="+mn-ea"/>
                        </a:rPr>
                        <a:t>配套</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4">
                  <a:txBody>
                    <a:bodyPr/>
                    <a:lstStyle/>
                    <a:p>
                      <a:pPr indent="0" algn="ctr">
                        <a:buNone/>
                      </a:pPr>
                      <a:r>
                        <a:rPr lang="zh-CN" altLang="en-US" sz="1155" b="0" dirty="0">
                          <a:solidFill>
                            <a:srgbClr val="000000"/>
                          </a:solidFill>
                          <a:latin typeface="+mn-ea"/>
                          <a:ea typeface="+mn-ea"/>
                        </a:rPr>
                        <a:t>控股集团</a:t>
                      </a:r>
                      <a:endParaRPr lang="en-US" altLang="zh-CN" sz="1155" b="0" dirty="0">
                        <a:solidFill>
                          <a:srgbClr val="000000"/>
                        </a:solidFill>
                        <a:latin typeface="+mn-ea"/>
                        <a:ea typeface="+mn-ea"/>
                      </a:endParaRPr>
                    </a:p>
                    <a:p>
                      <a:pPr marL="0" marR="0" indent="0" algn="ctr" defTabSz="914400" rtl="0" eaLnBrk="1" fontAlgn="auto" latinLnBrk="0" hangingPunct="1">
                        <a:lnSpc>
                          <a:spcPct val="100000"/>
                        </a:lnSpc>
                        <a:spcBef>
                          <a:spcPts val="0"/>
                        </a:spcBef>
                        <a:spcAft>
                          <a:spcPts val="0"/>
                        </a:spcAft>
                        <a:buClrTx/>
                        <a:buSzTx/>
                        <a:buFontTx/>
                        <a:buNone/>
                        <a:defRPr/>
                      </a:pPr>
                      <a:r>
                        <a:rPr lang="zh-CN" altLang="en-US" sz="1155" b="0" dirty="0">
                          <a:solidFill>
                            <a:srgbClr val="000000"/>
                          </a:solidFill>
                          <a:latin typeface="+mn-ea"/>
                          <a:ea typeface="+mn-ea"/>
                        </a:rPr>
                        <a:t>（套</a:t>
                      </a:r>
                      <a:r>
                        <a:rPr lang="zh-CN" altLang="en-US" sz="1155" b="0" dirty="0" smtClean="0">
                          <a:solidFill>
                            <a:srgbClr val="000000"/>
                          </a:solidFill>
                          <a:latin typeface="+mn-ea"/>
                          <a:ea typeface="+mn-ea"/>
                        </a:rPr>
                        <a:t>内</a:t>
                      </a:r>
                      <a:r>
                        <a:rPr lang="en-US" altLang="zh-CN" sz="1155" b="1" dirty="0" smtClean="0">
                          <a:solidFill>
                            <a:srgbClr val="000000"/>
                          </a:solidFill>
                          <a:latin typeface="+mn-ea"/>
                          <a:ea typeface="+mn-ea"/>
                        </a:rPr>
                        <a:t>2204.25</a:t>
                      </a:r>
                      <a:r>
                        <a:rPr lang="zh-CN" altLang="en-US" sz="1155" b="0" dirty="0" smtClean="0">
                          <a:solidFill>
                            <a:srgbClr val="000000"/>
                          </a:solidFill>
                          <a:latin typeface="+mn-ea"/>
                          <a:ea typeface="+mn-ea"/>
                        </a:rPr>
                        <a:t>）</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dirty="0">
                          <a:latin typeface="+mn-ea"/>
                          <a:ea typeface="+mn-ea"/>
                        </a:rPr>
                        <a:t>展厅</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smtClean="0">
                          <a:latin typeface="+mn-ea"/>
                          <a:ea typeface="+mn-ea"/>
                        </a:rPr>
                        <a:t>512.25</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b="0" dirty="0" smtClean="0">
                          <a:solidFill>
                            <a:schemeClr val="tx1"/>
                          </a:solidFill>
                          <a:latin typeface="+mn-ea"/>
                          <a:ea typeface="+mn-ea"/>
                          <a:cs typeface="微软雅黑" panose="020B0503020204020204" pitchFamily="34" charset="-122"/>
                        </a:rPr>
                        <a:t>控股</a:t>
                      </a:r>
                      <a:r>
                        <a:rPr lang="zh-CN" altLang="en-US" sz="1155" b="0" dirty="0">
                          <a:solidFill>
                            <a:schemeClr val="tx1"/>
                          </a:solidFill>
                          <a:latin typeface="+mn-ea"/>
                          <a:ea typeface="+mn-ea"/>
                          <a:cs typeface="微软雅黑" panose="020B0503020204020204" pitchFamily="34" charset="-122"/>
                        </a:rPr>
                        <a:t>及</a:t>
                      </a:r>
                      <a:r>
                        <a:rPr lang="zh-CN" altLang="en-US" sz="1155" b="0" dirty="0" smtClean="0">
                          <a:solidFill>
                            <a:schemeClr val="tx1"/>
                          </a:solidFill>
                          <a:latin typeface="+mn-ea"/>
                          <a:ea typeface="+mn-ea"/>
                          <a:cs typeface="微软雅黑" panose="020B0503020204020204" pitchFamily="34" charset="-122"/>
                        </a:rPr>
                        <a:t>各集团</a:t>
                      </a:r>
                      <a:r>
                        <a:rPr lang="zh-CN" altLang="en-US" sz="1155" b="0" dirty="0">
                          <a:solidFill>
                            <a:schemeClr val="tx1"/>
                          </a:solidFill>
                          <a:latin typeface="+mn-ea"/>
                          <a:ea typeface="+mn-ea"/>
                          <a:cs typeface="微软雅黑" panose="020B0503020204020204" pitchFamily="34" charset="-122"/>
                        </a:rPr>
                        <a:t>接待、品牌、展示</a:t>
                      </a:r>
                      <a:r>
                        <a:rPr lang="zh-CN" altLang="en-US" sz="1155" b="0" dirty="0" smtClean="0">
                          <a:solidFill>
                            <a:schemeClr val="tx1"/>
                          </a:solidFill>
                          <a:latin typeface="+mn-ea"/>
                          <a:ea typeface="+mn-ea"/>
                          <a:cs typeface="微软雅黑" panose="020B0503020204020204" pitchFamily="34" charset="-122"/>
                        </a:rPr>
                        <a:t>功能（建议控股和产业各承担一半面积）</a:t>
                      </a:r>
                      <a:endParaRPr lang="zh-CN" altLang="en-US" sz="1155" b="0" dirty="0">
                        <a:solidFill>
                          <a:schemeClr val="tx1"/>
                        </a:solidFill>
                        <a:latin typeface="+mn-ea"/>
                        <a:ea typeface="+mn-ea"/>
                        <a:cs typeface="微软雅黑" panose="020B0503020204020204" pitchFamily="34" charset="-122"/>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dirty="0">
                          <a:solidFill>
                            <a:srgbClr val="000000"/>
                          </a:solidFill>
                          <a:latin typeface="+mn-ea"/>
                          <a:ea typeface="+mn-ea"/>
                        </a:rPr>
                        <a:t>XH学院</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altLang="zh-CN" sz="1155" b="0" dirty="0" smtClean="0">
                          <a:solidFill>
                            <a:srgbClr val="000000"/>
                          </a:solidFill>
                          <a:latin typeface="+mn-ea"/>
                          <a:ea typeface="+mn-ea"/>
                        </a:rPr>
                        <a:t>282</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b="0" dirty="0" smtClean="0">
                          <a:solidFill>
                            <a:schemeClr val="tx1"/>
                          </a:solidFill>
                          <a:latin typeface="+mn-ea"/>
                          <a:ea typeface="+mn-ea"/>
                        </a:rPr>
                        <a:t>控股</a:t>
                      </a:r>
                      <a:r>
                        <a:rPr lang="zh-CN" altLang="en-US" sz="1155" b="0" dirty="0">
                          <a:solidFill>
                            <a:schemeClr val="tx1"/>
                          </a:solidFill>
                          <a:latin typeface="+mn-ea"/>
                          <a:ea typeface="+mn-ea"/>
                        </a:rPr>
                        <a:t>及各个集团企业文化、培训功能</a:t>
                      </a:r>
                      <a:endParaRPr lang="en-US"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dirty="0">
                          <a:solidFill>
                            <a:srgbClr val="000000"/>
                          </a:solidFill>
                          <a:latin typeface="+mn-ea"/>
                          <a:ea typeface="+mn-ea"/>
                        </a:rPr>
                        <a:t>贵宾接待室</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altLang="zh-CN" sz="1155" b="0" dirty="0" smtClean="0">
                          <a:solidFill>
                            <a:srgbClr val="000000"/>
                          </a:solidFill>
                          <a:latin typeface="+mn-ea"/>
                          <a:ea typeface="+mn-ea"/>
                        </a:rPr>
                        <a:t>420</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b="0" dirty="0" smtClean="0">
                          <a:solidFill>
                            <a:schemeClr val="tx1"/>
                          </a:solidFill>
                          <a:latin typeface="+mn-ea"/>
                          <a:ea typeface="+mn-ea"/>
                          <a:cs typeface="微软雅黑" panose="020B0503020204020204" pitchFamily="34" charset="-122"/>
                        </a:rPr>
                        <a:t>控股</a:t>
                      </a:r>
                      <a:r>
                        <a:rPr lang="zh-CN" altLang="en-US" sz="1155" b="0" dirty="0">
                          <a:solidFill>
                            <a:schemeClr val="tx1"/>
                          </a:solidFill>
                          <a:latin typeface="+mn-ea"/>
                          <a:ea typeface="+mn-ea"/>
                          <a:cs typeface="微软雅黑" panose="020B0503020204020204" pitchFamily="34" charset="-122"/>
                        </a:rPr>
                        <a:t>贵宾接待功能</a:t>
                      </a:r>
                      <a:endParaRPr lang="zh-CN" altLang="en-US" sz="1155" b="0" dirty="0">
                        <a:solidFill>
                          <a:schemeClr val="tx1"/>
                        </a:solidFill>
                        <a:latin typeface="+mn-ea"/>
                        <a:ea typeface="+mn-ea"/>
                        <a:cs typeface="微软雅黑" panose="020B0503020204020204" pitchFamily="34" charset="-122"/>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dirty="0">
                          <a:solidFill>
                            <a:srgbClr val="000000"/>
                          </a:solidFill>
                          <a:latin typeface="+mn-ea"/>
                          <a:ea typeface="+mn-ea"/>
                        </a:rPr>
                        <a:t>禅寺佛堂</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altLang="en-US" sz="1155" b="0" dirty="0">
                          <a:solidFill>
                            <a:srgbClr val="000000"/>
                          </a:solidFill>
                          <a:latin typeface="+mn-ea"/>
                          <a:ea typeface="+mn-ea"/>
                        </a:rPr>
                        <a:t>990</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b="0" dirty="0" smtClean="0">
                          <a:solidFill>
                            <a:schemeClr val="tx1"/>
                          </a:solidFill>
                          <a:latin typeface="+mn-ea"/>
                          <a:ea typeface="+mn-ea"/>
                          <a:cs typeface="微软雅黑" panose="020B0503020204020204" pitchFamily="34" charset="-122"/>
                        </a:rPr>
                        <a:t>控股</a:t>
                      </a:r>
                      <a:r>
                        <a:rPr lang="zh-CN" altLang="en-US" sz="1155" b="0" dirty="0">
                          <a:solidFill>
                            <a:schemeClr val="tx1"/>
                          </a:solidFill>
                          <a:latin typeface="+mn-ea"/>
                          <a:ea typeface="+mn-ea"/>
                          <a:cs typeface="微软雅黑" panose="020B0503020204020204" pitchFamily="34" charset="-122"/>
                        </a:rPr>
                        <a:t>佛文化功能</a:t>
                      </a:r>
                      <a:endParaRPr lang="zh-CN" altLang="en-US" sz="1155" b="0" dirty="0">
                        <a:solidFill>
                          <a:schemeClr val="tx1"/>
                        </a:solidFill>
                        <a:latin typeface="+mn-ea"/>
                        <a:ea typeface="+mn-ea"/>
                        <a:cs typeface="微软雅黑" panose="020B0503020204020204" pitchFamily="34" charset="-122"/>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rowSpan="4">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sz="1155" b="0" kern="1200" dirty="0" smtClean="0">
                          <a:solidFill>
                            <a:srgbClr val="000000"/>
                          </a:solidFill>
                          <a:latin typeface="+mn-ea"/>
                          <a:ea typeface="+mn-ea"/>
                          <a:cs typeface="+mn-cs"/>
                        </a:rPr>
                        <a:t>规划配套</a:t>
                      </a:r>
                      <a:endParaRPr lang="zh-CN" altLang="en-US" sz="1155" b="0" kern="1200" dirty="0" smtClean="0">
                        <a:solidFill>
                          <a:srgbClr val="000000"/>
                        </a:solidFill>
                        <a:latin typeface="+mn-ea"/>
                        <a:ea typeface="+mn-ea"/>
                        <a:cs typeface="+mn-cs"/>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4">
                  <a:txBody>
                    <a:bodyPr/>
                    <a:lstStyle/>
                    <a:p>
                      <a:pPr indent="0" algn="ctr">
                        <a:buNone/>
                      </a:pPr>
                      <a:r>
                        <a:rPr lang="zh-CN" altLang="en-US" sz="1155" b="0" dirty="0" smtClean="0">
                          <a:solidFill>
                            <a:srgbClr val="000000"/>
                          </a:solidFill>
                          <a:latin typeface="+mn-ea"/>
                          <a:ea typeface="+mn-ea"/>
                        </a:rPr>
                        <a:t>产业集团</a:t>
                      </a:r>
                      <a:endParaRPr lang="en-US" altLang="zh-CN" sz="1155" b="0" dirty="0" smtClean="0">
                        <a:solidFill>
                          <a:srgbClr val="000000"/>
                        </a:solidFill>
                        <a:latin typeface="+mn-ea"/>
                        <a:ea typeface="+mn-ea"/>
                      </a:endParaRPr>
                    </a:p>
                    <a:p>
                      <a:pPr indent="0" algn="ctr">
                        <a:buNone/>
                      </a:pPr>
                      <a:r>
                        <a:rPr lang="zh-CN" altLang="en-US" sz="1155" b="0" dirty="0" smtClean="0">
                          <a:solidFill>
                            <a:srgbClr val="000000"/>
                          </a:solidFill>
                          <a:latin typeface="+mn-ea"/>
                          <a:ea typeface="+mn-ea"/>
                        </a:rPr>
                        <a:t>（天台花园</a:t>
                      </a:r>
                      <a:r>
                        <a:rPr lang="en-US" altLang="zh-CN" sz="1155" b="0" dirty="0" smtClean="0">
                          <a:solidFill>
                            <a:srgbClr val="000000"/>
                          </a:solidFill>
                          <a:latin typeface="+mn-ea"/>
                          <a:ea typeface="+mn-ea"/>
                        </a:rPr>
                        <a:t>9834+</a:t>
                      </a:r>
                      <a:r>
                        <a:rPr lang="zh-CN" altLang="en-US" sz="1155" b="0" dirty="0" smtClean="0">
                          <a:solidFill>
                            <a:srgbClr val="000000"/>
                          </a:solidFill>
                          <a:latin typeface="+mn-ea"/>
                          <a:ea typeface="+mn-ea"/>
                        </a:rPr>
                        <a:t>室内</a:t>
                      </a:r>
                      <a:r>
                        <a:rPr lang="en-US" altLang="zh-CN" sz="1155" b="0" dirty="0" smtClean="0">
                          <a:solidFill>
                            <a:srgbClr val="000000"/>
                          </a:solidFill>
                          <a:latin typeface="+mn-ea"/>
                          <a:ea typeface="+mn-ea"/>
                        </a:rPr>
                        <a:t>1233.25</a:t>
                      </a:r>
                      <a:r>
                        <a:rPr lang="zh-CN" altLang="en-US" sz="1155" b="0" dirty="0" smtClean="0">
                          <a:solidFill>
                            <a:srgbClr val="000000"/>
                          </a:solidFill>
                          <a:latin typeface="+mn-ea"/>
                          <a:ea typeface="+mn-ea"/>
                        </a:rPr>
                        <a:t>）</a:t>
                      </a:r>
                      <a:endParaRPr lang="en-US" altLang="zh-CN"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kern="1200" dirty="0">
                          <a:solidFill>
                            <a:srgbClr val="000000"/>
                          </a:solidFill>
                          <a:latin typeface="+mn-ea"/>
                          <a:ea typeface="+mn-ea"/>
                          <a:cs typeface="+mn-cs"/>
                        </a:rPr>
                        <a:t>天台花园</a:t>
                      </a:r>
                      <a:endParaRPr lang="zh-CN" altLang="en-US" sz="1155" b="0" kern="1200" dirty="0">
                        <a:solidFill>
                          <a:srgbClr val="000000"/>
                        </a:solidFill>
                        <a:latin typeface="+mn-ea"/>
                        <a:ea typeface="+mn-ea"/>
                        <a:cs typeface="+mn-cs"/>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indent="0" algn="ctr">
                        <a:buNone/>
                      </a:pPr>
                      <a:r>
                        <a:rPr lang="en-US" altLang="en-US" sz="1155" b="0" kern="1200" dirty="0">
                          <a:solidFill>
                            <a:srgbClr val="000000"/>
                          </a:solidFill>
                          <a:latin typeface="+mn-ea"/>
                          <a:ea typeface="+mn-ea"/>
                          <a:cs typeface="+mn-cs"/>
                        </a:rPr>
                        <a:t>9834</a:t>
                      </a:r>
                      <a:endParaRPr lang="en-US" altLang="en-US" sz="1155" b="0" kern="1200" dirty="0">
                        <a:solidFill>
                          <a:srgbClr val="000000"/>
                        </a:solidFill>
                        <a:latin typeface="+mn-ea"/>
                        <a:ea typeface="+mn-ea"/>
                        <a:cs typeface="+mn-cs"/>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indent="0" algn="l">
                        <a:buNone/>
                      </a:pPr>
                      <a:r>
                        <a:rPr lang="zh-CN" altLang="en-US" sz="1155" b="0" kern="1200" dirty="0" smtClean="0">
                          <a:solidFill>
                            <a:srgbClr val="000000"/>
                          </a:solidFill>
                          <a:latin typeface="+mn-ea"/>
                          <a:ea typeface="+mn-ea"/>
                          <a:cs typeface="+mn-cs"/>
                        </a:rPr>
                        <a:t>建筑</a:t>
                      </a:r>
                      <a:r>
                        <a:rPr lang="zh-CN" altLang="en-US" sz="1155" b="0" kern="1200" dirty="0">
                          <a:solidFill>
                            <a:srgbClr val="000000"/>
                          </a:solidFill>
                          <a:latin typeface="+mn-ea"/>
                          <a:ea typeface="+mn-ea"/>
                          <a:cs typeface="+mn-cs"/>
                        </a:rPr>
                        <a:t>规划覆绿</a:t>
                      </a:r>
                      <a:r>
                        <a:rPr lang="zh-CN" altLang="en-US" sz="1155" b="0" kern="1200" dirty="0" smtClean="0">
                          <a:solidFill>
                            <a:srgbClr val="000000"/>
                          </a:solidFill>
                          <a:latin typeface="+mn-ea"/>
                          <a:ea typeface="+mn-ea"/>
                          <a:cs typeface="+mn-cs"/>
                        </a:rPr>
                        <a:t>功能</a:t>
                      </a:r>
                      <a:endParaRPr lang="zh-CN" altLang="en-US" sz="1155" b="0" kern="1200" dirty="0">
                        <a:solidFill>
                          <a:srgbClr val="000000"/>
                        </a:solidFill>
                        <a:latin typeface="+mn-ea"/>
                        <a:ea typeface="+mn-ea"/>
                        <a:cs typeface="+mn-cs"/>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r>
              <a:tr h="224155">
                <a:tc vMerge="1">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dirty="0">
                          <a:latin typeface="+mn-ea"/>
                          <a:ea typeface="+mn-ea"/>
                        </a:rPr>
                        <a:t>展厅</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smtClean="0">
                          <a:latin typeface="+mn-ea"/>
                          <a:ea typeface="+mn-ea"/>
                        </a:rPr>
                        <a:t>512.25</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1155" b="0" kern="1200" dirty="0" smtClean="0">
                          <a:solidFill>
                            <a:schemeClr val="tx1"/>
                          </a:solidFill>
                          <a:latin typeface="+mn-ea"/>
                          <a:ea typeface="+mn-ea"/>
                          <a:cs typeface="微软雅黑" panose="020B0503020204020204" pitchFamily="34" charset="-122"/>
                        </a:rPr>
                        <a:t>控股及各集团接待、品牌、展示功能（建议控股和产业各承担一半面积）</a:t>
                      </a:r>
                      <a:endParaRPr lang="zh-CN" altLang="en-US" sz="1155" b="0" kern="1200" dirty="0" smtClean="0">
                        <a:solidFill>
                          <a:schemeClr val="tx1"/>
                        </a:solidFill>
                        <a:latin typeface="+mn-ea"/>
                        <a:ea typeface="+mn-ea"/>
                        <a:cs typeface="微软雅黑" panose="020B0503020204020204" pitchFamily="34" charset="-122"/>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90000"/>
                      </a:schemeClr>
                    </a:solidFill>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dirty="0">
                          <a:solidFill>
                            <a:srgbClr val="000000"/>
                          </a:solidFill>
                          <a:latin typeface="+mn-ea"/>
                          <a:ea typeface="+mn-ea"/>
                        </a:rPr>
                        <a:t>党群办公室</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altLang="en-US" sz="1155" b="0" dirty="0">
                          <a:solidFill>
                            <a:srgbClr val="000000"/>
                          </a:solidFill>
                          <a:latin typeface="+mn-ea"/>
                          <a:ea typeface="+mn-ea"/>
                        </a:rPr>
                        <a:t>554</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b="0" dirty="0" smtClean="0">
                          <a:solidFill>
                            <a:schemeClr val="tx1"/>
                          </a:solidFill>
                          <a:latin typeface="+mn-ea"/>
                          <a:ea typeface="+mn-ea"/>
                        </a:rPr>
                        <a:t>建筑</a:t>
                      </a:r>
                      <a:r>
                        <a:rPr lang="zh-CN" altLang="en-US" sz="1155" b="0" dirty="0">
                          <a:solidFill>
                            <a:schemeClr val="tx1"/>
                          </a:solidFill>
                          <a:latin typeface="+mn-ea"/>
                          <a:ea typeface="+mn-ea"/>
                        </a:rPr>
                        <a:t>规划政府支持功能</a:t>
                      </a: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dirty="0">
                          <a:solidFill>
                            <a:srgbClr val="000000"/>
                          </a:solidFill>
                          <a:latin typeface="+mn-ea"/>
                          <a:ea typeface="+mn-ea"/>
                        </a:rPr>
                        <a:t>阳光书吧</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altLang="en-US" sz="1155" b="0" dirty="0">
                          <a:solidFill>
                            <a:srgbClr val="000000"/>
                          </a:solidFill>
                          <a:latin typeface="+mn-ea"/>
                          <a:ea typeface="+mn-ea"/>
                        </a:rPr>
                        <a:t>167</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b="0" dirty="0" smtClean="0">
                          <a:solidFill>
                            <a:schemeClr val="tx1"/>
                          </a:solidFill>
                          <a:latin typeface="+mn-ea"/>
                          <a:ea typeface="+mn-ea"/>
                        </a:rPr>
                        <a:t>建筑</a:t>
                      </a:r>
                      <a:r>
                        <a:rPr lang="zh-CN" altLang="en-US" sz="1155" b="0" dirty="0">
                          <a:solidFill>
                            <a:schemeClr val="tx1"/>
                          </a:solidFill>
                          <a:latin typeface="+mn-ea"/>
                          <a:ea typeface="+mn-ea"/>
                        </a:rPr>
                        <a:t>规划政府支持功能</a:t>
                      </a: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rowSpan="5">
                  <a:txBody>
                    <a:bodyPr/>
                    <a:lstStyle/>
                    <a:p>
                      <a:pPr indent="0" algn="ctr">
                        <a:buNone/>
                      </a:pPr>
                      <a:r>
                        <a:rPr lang="zh-CN" altLang="en-US" sz="1155" b="0" dirty="0">
                          <a:solidFill>
                            <a:srgbClr val="000000"/>
                          </a:solidFill>
                          <a:latin typeface="+mn-ea"/>
                          <a:ea typeface="+mn-ea"/>
                        </a:rPr>
                        <a:t>产业</a:t>
                      </a:r>
                      <a:r>
                        <a:rPr lang="zh-CN" altLang="en-US" sz="1155" b="0" dirty="0" smtClean="0">
                          <a:solidFill>
                            <a:srgbClr val="000000"/>
                          </a:solidFill>
                          <a:latin typeface="+mn-ea"/>
                          <a:ea typeface="+mn-ea"/>
                        </a:rPr>
                        <a:t>配套</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5">
                  <a:txBody>
                    <a:bodyPr/>
                    <a:lstStyle/>
                    <a:p>
                      <a:pPr indent="0" algn="ctr">
                        <a:buNone/>
                      </a:pPr>
                      <a:r>
                        <a:rPr lang="zh-CN" altLang="en-US" sz="1155" b="0" dirty="0">
                          <a:solidFill>
                            <a:srgbClr val="000000"/>
                          </a:solidFill>
                          <a:latin typeface="+mn-ea"/>
                          <a:ea typeface="+mn-ea"/>
                        </a:rPr>
                        <a:t>产业集团</a:t>
                      </a:r>
                      <a:endParaRPr lang="en-US" altLang="zh-CN" sz="1155" b="0" dirty="0">
                        <a:solidFill>
                          <a:srgbClr val="000000"/>
                        </a:solidFill>
                        <a:latin typeface="+mn-ea"/>
                        <a:ea typeface="+mn-ea"/>
                      </a:endParaRPr>
                    </a:p>
                    <a:p>
                      <a:pPr indent="0" algn="ctr">
                        <a:buNone/>
                      </a:pPr>
                      <a:r>
                        <a:rPr lang="zh-CN" altLang="en-US" sz="1155" b="0" dirty="0">
                          <a:solidFill>
                            <a:srgbClr val="000000"/>
                          </a:solidFill>
                          <a:latin typeface="+mn-ea"/>
                          <a:ea typeface="+mn-ea"/>
                        </a:rPr>
                        <a:t>（室外球场</a:t>
                      </a:r>
                      <a:r>
                        <a:rPr lang="en-US" altLang="zh-CN" sz="1155" b="0" dirty="0">
                          <a:solidFill>
                            <a:schemeClr val="accent6">
                              <a:lumMod val="75000"/>
                            </a:schemeClr>
                          </a:solidFill>
                          <a:latin typeface="+mn-ea"/>
                          <a:ea typeface="+mn-ea"/>
                        </a:rPr>
                        <a:t>12280</a:t>
                      </a:r>
                      <a:r>
                        <a:rPr lang="en-US" altLang="zh-CN" sz="1155" b="0" dirty="0">
                          <a:solidFill>
                            <a:srgbClr val="000000"/>
                          </a:solidFill>
                          <a:latin typeface="+mn-ea"/>
                          <a:ea typeface="+mn-ea"/>
                        </a:rPr>
                        <a:t>+</a:t>
                      </a:r>
                      <a:r>
                        <a:rPr lang="zh-CN" altLang="en-US" sz="1155" b="0" dirty="0">
                          <a:solidFill>
                            <a:srgbClr val="000000"/>
                          </a:solidFill>
                          <a:latin typeface="+mn-ea"/>
                          <a:ea typeface="+mn-ea"/>
                        </a:rPr>
                        <a:t>停车场</a:t>
                      </a:r>
                      <a:r>
                        <a:rPr lang="en-US" altLang="zh-CN" sz="1155" b="0" dirty="0">
                          <a:solidFill>
                            <a:srgbClr val="00B050"/>
                          </a:solidFill>
                          <a:latin typeface="+mn-ea"/>
                          <a:ea typeface="+mn-ea"/>
                        </a:rPr>
                        <a:t>6828.4</a:t>
                      </a:r>
                      <a:r>
                        <a:rPr lang="en-US" altLang="zh-CN" sz="1155" b="0" dirty="0">
                          <a:solidFill>
                            <a:srgbClr val="000000"/>
                          </a:solidFill>
                          <a:latin typeface="+mn-ea"/>
                          <a:ea typeface="+mn-ea"/>
                        </a:rPr>
                        <a:t>+</a:t>
                      </a:r>
                      <a:r>
                        <a:rPr lang="zh-CN" altLang="en-US" sz="1155" b="0" dirty="0">
                          <a:solidFill>
                            <a:srgbClr val="000000"/>
                          </a:solidFill>
                          <a:latin typeface="+mn-ea"/>
                          <a:ea typeface="+mn-ea"/>
                        </a:rPr>
                        <a:t>套</a:t>
                      </a:r>
                      <a:r>
                        <a:rPr lang="zh-CN" altLang="en-US" sz="1155" b="0" dirty="0" smtClean="0">
                          <a:solidFill>
                            <a:srgbClr val="000000"/>
                          </a:solidFill>
                          <a:latin typeface="+mn-ea"/>
                          <a:ea typeface="+mn-ea"/>
                        </a:rPr>
                        <a:t>内</a:t>
                      </a:r>
                      <a:r>
                        <a:rPr lang="en-US" altLang="zh-CN" sz="1155" b="0" dirty="0" smtClean="0">
                          <a:solidFill>
                            <a:srgbClr val="000000"/>
                          </a:solidFill>
                          <a:latin typeface="+mn-ea"/>
                          <a:ea typeface="+mn-ea"/>
                        </a:rPr>
                        <a:t>22746.1</a:t>
                      </a:r>
                      <a:r>
                        <a:rPr lang="zh-CN" altLang="en-US" sz="1155" b="0" dirty="0" smtClean="0">
                          <a:solidFill>
                            <a:srgbClr val="000000"/>
                          </a:solidFill>
                          <a:latin typeface="+mn-ea"/>
                          <a:ea typeface="+mn-ea"/>
                        </a:rPr>
                        <a:t>）</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sz="1155" dirty="0">
                          <a:latin typeface="+mn-ea"/>
                          <a:ea typeface="+mn-ea"/>
                        </a:rPr>
                        <a:t>深圳产业公司</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smtClean="0">
                          <a:latin typeface="+mn-ea"/>
                          <a:ea typeface="+mn-ea"/>
                        </a:rPr>
                        <a:t>4860.1</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1155" dirty="0">
                          <a:solidFill>
                            <a:schemeClr val="tx1"/>
                          </a:solidFill>
                          <a:latin typeface="+mn-ea"/>
                          <a:ea typeface="+mn-ea"/>
                        </a:rPr>
                        <a:t>领创宿舍及地产项目部、多功能厅；</a:t>
                      </a:r>
                      <a:r>
                        <a:rPr lang="zh-CN" altLang="en-US" sz="1155" b="0" kern="1200" dirty="0">
                          <a:solidFill>
                            <a:srgbClr val="000000"/>
                          </a:solidFill>
                          <a:latin typeface="+mn-ea"/>
                          <a:ea typeface="+mn-ea"/>
                          <a:cs typeface="+mn-cs"/>
                        </a:rPr>
                        <a:t>星滋味</a:t>
                      </a:r>
                      <a:r>
                        <a:rPr lang="en-US" altLang="zh-CN" sz="1155" b="0" kern="1200" dirty="0">
                          <a:solidFill>
                            <a:schemeClr val="tx1"/>
                          </a:solidFill>
                          <a:latin typeface="+mn-ea"/>
                          <a:ea typeface="+mn-ea"/>
                          <a:cs typeface="+mn-cs"/>
                        </a:rPr>
                        <a:t>693</a:t>
                      </a:r>
                      <a:r>
                        <a:rPr lang="zh-CN" altLang="en-US" sz="1155" b="0" kern="1200" dirty="0">
                          <a:solidFill>
                            <a:schemeClr val="tx1"/>
                          </a:solidFill>
                          <a:latin typeface="+mn-ea"/>
                          <a:ea typeface="+mn-ea"/>
                          <a:cs typeface="+mn-cs"/>
                        </a:rPr>
                        <a:t>㎡</a:t>
                      </a:r>
                      <a:endParaRPr lang="zh-CN" altLang="en-US" sz="1155" b="0" kern="1200" dirty="0">
                        <a:solidFill>
                          <a:srgbClr val="000000"/>
                        </a:solidFill>
                        <a:latin typeface="+mn-ea"/>
                        <a:ea typeface="+mn-ea"/>
                        <a:cs typeface="+mn-cs"/>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a:tc>
                <a:tc vMerge="1">
                  <a:tcPr/>
                </a:tc>
                <a:tc>
                  <a:txBody>
                    <a:bodyPr/>
                    <a:lstStyle/>
                    <a:p>
                      <a:pPr indent="0" algn="ctr">
                        <a:buNone/>
                      </a:pPr>
                      <a:r>
                        <a:rPr lang="zh-CN" sz="1155" dirty="0">
                          <a:latin typeface="+mn-ea"/>
                          <a:ea typeface="+mn-ea"/>
                        </a:rPr>
                        <a:t>博文研究院</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smtClean="0">
                          <a:latin typeface="+mn-ea"/>
                          <a:ea typeface="+mn-ea"/>
                        </a:rPr>
                        <a:t>12</a:t>
                      </a:r>
                      <a:r>
                        <a:rPr lang="en-US" altLang="zh-CN" sz="1155" dirty="0" smtClean="0">
                          <a:latin typeface="+mn-ea"/>
                          <a:ea typeface="+mn-ea"/>
                        </a:rPr>
                        <a:t>661</a:t>
                      </a:r>
                      <a:r>
                        <a:rPr lang="en-US" sz="1155" dirty="0" smtClean="0">
                          <a:latin typeface="+mn-ea"/>
                          <a:ea typeface="+mn-ea"/>
                        </a:rPr>
                        <a:t>.1</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a:r>
                        <a:rPr lang="zh-CN" altLang="en-US" sz="1155" dirty="0" smtClean="0">
                          <a:solidFill>
                            <a:schemeClr val="tx1"/>
                          </a:solidFill>
                          <a:latin typeface="+mn-ea"/>
                          <a:ea typeface="+mn-ea"/>
                        </a:rPr>
                        <a:t>孵化器</a:t>
                      </a:r>
                      <a:r>
                        <a:rPr lang="zh-CN" altLang="en-US" sz="1155" dirty="0">
                          <a:solidFill>
                            <a:schemeClr val="tx1"/>
                          </a:solidFill>
                          <a:latin typeface="+mn-ea"/>
                          <a:ea typeface="+mn-ea"/>
                        </a:rPr>
                        <a:t>产业配套功能</a:t>
                      </a:r>
                      <a:endParaRPr lang="zh-CN" altLang="en-US" sz="1155"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sz="1155" dirty="0">
                          <a:latin typeface="+mn-ea"/>
                          <a:ea typeface="+mn-ea"/>
                        </a:rPr>
                        <a:t>体育公司</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smtClean="0">
                          <a:latin typeface="+mn-ea"/>
                          <a:ea typeface="+mn-ea"/>
                        </a:rPr>
                        <a:t>5224.9</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1155" b="0" dirty="0">
                          <a:solidFill>
                            <a:schemeClr val="tx1"/>
                          </a:solidFill>
                          <a:latin typeface="+mn-ea"/>
                          <a:ea typeface="+mn-ea"/>
                          <a:cs typeface="微软雅黑" panose="020B0503020204020204" pitchFamily="34" charset="-122"/>
                        </a:rPr>
                        <a:t>含室内羽毛球馆</a:t>
                      </a:r>
                      <a:r>
                        <a:rPr lang="en-US" altLang="zh-CN" sz="1155" b="0" dirty="0">
                          <a:solidFill>
                            <a:schemeClr val="tx1"/>
                          </a:solidFill>
                          <a:latin typeface="+mn-ea"/>
                          <a:ea typeface="+mn-ea"/>
                          <a:cs typeface="微软雅黑" panose="020B0503020204020204" pitchFamily="34" charset="-122"/>
                        </a:rPr>
                        <a:t>803.8</a:t>
                      </a:r>
                      <a:r>
                        <a:rPr lang="zh-CN" altLang="en-US" sz="1155" b="0" dirty="0">
                          <a:solidFill>
                            <a:schemeClr val="tx1"/>
                          </a:solidFill>
                          <a:latin typeface="+mn-ea"/>
                          <a:ea typeface="+mn-ea"/>
                          <a:cs typeface="微软雅黑" panose="020B0503020204020204" pitchFamily="34" charset="-122"/>
                        </a:rPr>
                        <a:t>㎡</a:t>
                      </a:r>
                      <a:endParaRPr lang="zh-CN" altLang="en-US" sz="1155" b="0" kern="1200" dirty="0">
                        <a:solidFill>
                          <a:srgbClr val="000000"/>
                        </a:solidFill>
                        <a:latin typeface="+mn-ea"/>
                        <a:ea typeface="+mn-ea"/>
                        <a:cs typeface="+mn-cs"/>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altLang="en-US" sz="1155" b="0" dirty="0">
                          <a:solidFill>
                            <a:schemeClr val="tx1"/>
                          </a:solidFill>
                          <a:latin typeface="+mn-ea"/>
                          <a:ea typeface="+mn-ea"/>
                        </a:rPr>
                        <a:t>室外球场</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indent="0" algn="ctr">
                        <a:buNone/>
                      </a:pPr>
                      <a:r>
                        <a:rPr lang="en-US" sz="1155" dirty="0">
                          <a:latin typeface="+mn-ea"/>
                          <a:ea typeface="+mn-ea"/>
                        </a:rPr>
                        <a:t>12280 </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indent="0" algn="l">
                        <a:buNone/>
                      </a:pPr>
                      <a:r>
                        <a:rPr lang="zh-CN" altLang="en-US" sz="1155" b="0" dirty="0">
                          <a:solidFill>
                            <a:schemeClr val="tx1"/>
                          </a:solidFill>
                          <a:latin typeface="+mn-ea"/>
                          <a:ea typeface="+mn-ea"/>
                        </a:rPr>
                        <a:t>室外足球场、网球场、周边附带</a:t>
                      </a:r>
                      <a:r>
                        <a:rPr lang="zh-CN" altLang="en-US" sz="1155" b="0" dirty="0" smtClean="0">
                          <a:solidFill>
                            <a:schemeClr val="tx1"/>
                          </a:solidFill>
                          <a:latin typeface="+mn-ea"/>
                          <a:ea typeface="+mn-ea"/>
                        </a:rPr>
                        <a:t>面积</a:t>
                      </a: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24155">
                <a:tc vMerge="1">
                  <a:tcPr/>
                </a:tc>
                <a:tc vMerge="1">
                  <a:tcPr/>
                </a:tc>
                <a:tc>
                  <a:txBody>
                    <a:bodyPr/>
                    <a:lstStyle/>
                    <a:p>
                      <a:pPr indent="0" algn="ctr">
                        <a:buNone/>
                      </a:pPr>
                      <a:r>
                        <a:rPr lang="zh-CN" sz="1155" dirty="0">
                          <a:latin typeface="+mn-ea"/>
                          <a:ea typeface="+mn-ea"/>
                        </a:rPr>
                        <a:t>停车场</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indent="0" algn="ctr">
                        <a:buNone/>
                      </a:pPr>
                      <a:r>
                        <a:rPr lang="en-US" sz="1155" dirty="0">
                          <a:latin typeface="+mn-ea"/>
                          <a:ea typeface="+mn-ea"/>
                        </a:rPr>
                        <a:t>6828.40 </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indent="0" algn="l">
                        <a:buNone/>
                      </a:pPr>
                      <a:r>
                        <a:rPr lang="zh-CN" altLang="en-US" sz="1155" dirty="0">
                          <a:solidFill>
                            <a:schemeClr val="tx1"/>
                          </a:solidFill>
                          <a:latin typeface="+mn-ea"/>
                          <a:ea typeface="+mn-ea"/>
                        </a:rPr>
                        <a:t>一期车库</a:t>
                      </a: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24155">
                <a:tc rowSpan="2">
                  <a:txBody>
                    <a:bodyPr/>
                    <a:lstStyle/>
                    <a:p>
                      <a:pPr algn="ctr" fontAlgn="base">
                        <a:buClrTx/>
                        <a:buSzTx/>
                        <a:buFontTx/>
                        <a:buNone/>
                      </a:pPr>
                      <a:r>
                        <a:rPr lang="zh-CN" altLang="en-US" sz="1155" b="0" dirty="0">
                          <a:solidFill>
                            <a:srgbClr val="000000"/>
                          </a:solidFill>
                          <a:latin typeface="+mn-ea"/>
                          <a:ea typeface="+mn-ea"/>
                        </a:rPr>
                        <a:t>公共配套</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gn="ctr" fontAlgn="base">
                        <a:buClrTx/>
                        <a:buSzTx/>
                        <a:buFontTx/>
                        <a:buNone/>
                      </a:pPr>
                      <a:r>
                        <a:rPr lang="zh-CN" altLang="en-US" sz="1155" b="0" dirty="0">
                          <a:solidFill>
                            <a:srgbClr val="000000"/>
                          </a:solidFill>
                          <a:latin typeface="+mn-ea"/>
                          <a:ea typeface="+mn-ea"/>
                        </a:rPr>
                        <a:t>物业</a:t>
                      </a:r>
                      <a:r>
                        <a:rPr lang="en-US" altLang="zh-CN" sz="1155" b="0" dirty="0">
                          <a:solidFill>
                            <a:srgbClr val="000000"/>
                          </a:solidFill>
                          <a:latin typeface="+mn-ea"/>
                          <a:ea typeface="+mn-ea"/>
                        </a:rPr>
                        <a:t>/</a:t>
                      </a:r>
                      <a:r>
                        <a:rPr lang="zh-CN" altLang="en-US" sz="1155" b="0" dirty="0">
                          <a:solidFill>
                            <a:srgbClr val="000000"/>
                          </a:solidFill>
                          <a:latin typeface="+mn-ea"/>
                          <a:ea typeface="+mn-ea"/>
                        </a:rPr>
                        <a:t>产业</a:t>
                      </a:r>
                      <a:endParaRPr lang="en-US" altLang="zh-CN" sz="1155" b="0" dirty="0">
                        <a:solidFill>
                          <a:srgbClr val="000000"/>
                        </a:solidFill>
                        <a:latin typeface="+mn-ea"/>
                        <a:ea typeface="+mn-ea"/>
                      </a:endParaRPr>
                    </a:p>
                    <a:p>
                      <a:pPr algn="ctr" fontAlgn="base">
                        <a:buClrTx/>
                        <a:buSzTx/>
                        <a:buFontTx/>
                        <a:buNone/>
                      </a:pPr>
                      <a:r>
                        <a:rPr lang="zh-CN" altLang="en-US" sz="1155" b="0" dirty="0">
                          <a:solidFill>
                            <a:srgbClr val="000000"/>
                          </a:solidFill>
                          <a:latin typeface="+mn-ea"/>
                          <a:ea typeface="+mn-ea"/>
                        </a:rPr>
                        <a:t>（</a:t>
                      </a:r>
                      <a:r>
                        <a:rPr lang="en-US" altLang="zh-CN" sz="1155" b="1" dirty="0">
                          <a:solidFill>
                            <a:srgbClr val="000000"/>
                          </a:solidFill>
                          <a:latin typeface="+mn-ea"/>
                          <a:ea typeface="+mn-ea"/>
                        </a:rPr>
                        <a:t>8459.5</a:t>
                      </a:r>
                      <a:r>
                        <a:rPr lang="zh-CN" altLang="en-US" sz="1155" b="0" dirty="0">
                          <a:solidFill>
                            <a:srgbClr val="000000"/>
                          </a:solidFill>
                          <a:latin typeface="+mn-ea"/>
                          <a:ea typeface="+mn-ea"/>
                        </a:rPr>
                        <a:t>）</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sz="1155" dirty="0">
                          <a:latin typeface="+mn-ea"/>
                          <a:ea typeface="+mn-ea"/>
                        </a:rPr>
                        <a:t>公共区域</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a:latin typeface="+mn-ea"/>
                          <a:ea typeface="+mn-ea"/>
                        </a:rPr>
                        <a:t>8324.5</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dirty="0">
                          <a:solidFill>
                            <a:schemeClr val="tx1"/>
                          </a:solidFill>
                          <a:latin typeface="+mn-ea"/>
                          <a:ea typeface="+mn-ea"/>
                        </a:rPr>
                        <a:t>走道、楼梯、物业用房等公共区域</a:t>
                      </a: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zh-CN" sz="1155" dirty="0">
                          <a:latin typeface="+mn-ea"/>
                          <a:ea typeface="+mn-ea"/>
                        </a:rPr>
                        <a:t>物业办公室</a:t>
                      </a: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sz="1155" dirty="0">
                          <a:latin typeface="+mn-ea"/>
                          <a:ea typeface="+mn-ea"/>
                        </a:rPr>
                        <a:t>135.00 </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r>
                        <a:rPr lang="zh-CN" altLang="en-US" sz="1155" dirty="0">
                          <a:solidFill>
                            <a:schemeClr val="tx1"/>
                          </a:solidFill>
                          <a:latin typeface="+mn-ea"/>
                          <a:ea typeface="+mn-ea"/>
                        </a:rPr>
                        <a:t>二期二楼夹层物业服务中心</a:t>
                      </a: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24155">
                <a:tc gridSpan="2">
                  <a:txBody>
                    <a:bodyPr/>
                    <a:lstStyle/>
                    <a:p>
                      <a:pPr algn="ctr" fontAlgn="base">
                        <a:buClrTx/>
                        <a:buSzTx/>
                        <a:buFontTx/>
                        <a:buNone/>
                      </a:pPr>
                      <a:r>
                        <a:rPr lang="zh-CN" altLang="en-US" sz="1155" b="0" dirty="0" smtClean="0">
                          <a:solidFill>
                            <a:srgbClr val="000000"/>
                          </a:solidFill>
                          <a:latin typeface="+mn-ea"/>
                          <a:ea typeface="+mn-ea"/>
                        </a:rPr>
                        <a:t>合计</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cPr marL="12700" marR="12700" marT="127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endParaRPr lang="zh-CN"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ctr">
                        <a:buNone/>
                      </a:pPr>
                      <a:r>
                        <a:rPr lang="en-US" altLang="en-US" sz="1155" b="0" dirty="0">
                          <a:solidFill>
                            <a:srgbClr val="000000"/>
                          </a:solidFill>
                          <a:latin typeface="+mn-ea"/>
                          <a:ea typeface="+mn-ea"/>
                        </a:rPr>
                        <a:t>63586</a:t>
                      </a:r>
                      <a:endParaRPr lang="en-US" altLang="en-US" sz="1155" b="0" dirty="0">
                        <a:solidFill>
                          <a:srgbClr val="000000"/>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indent="0" algn="l">
                        <a:buNone/>
                      </a:pPr>
                      <a:endParaRPr lang="zh-CN" altLang="en-US" sz="1155" b="0" dirty="0">
                        <a:solidFill>
                          <a:schemeClr val="tx1"/>
                        </a:solidFill>
                        <a:latin typeface="+mn-ea"/>
                        <a:ea typeface="+mn-ea"/>
                      </a:endParaRPr>
                    </a:p>
                  </a:txBody>
                  <a:tcPr marL="10477" marR="10477" marT="10477" marB="37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9" name="矩形 8"/>
          <p:cNvSpPr/>
          <p:nvPr/>
        </p:nvSpPr>
        <p:spPr>
          <a:xfrm>
            <a:off x="464454" y="847483"/>
            <a:ext cx="9189323" cy="496570"/>
          </a:xfrm>
          <a:prstGeom prst="rect">
            <a:avLst/>
          </a:prstGeom>
        </p:spPr>
        <p:txBody>
          <a:bodyPr wrap="square">
            <a:spAutoFit/>
          </a:bodyPr>
          <a:lstStyle/>
          <a:p>
            <a:pPr>
              <a:spcBef>
                <a:spcPts val="600"/>
              </a:spcBef>
            </a:pPr>
            <a:r>
              <a:rPr lang="zh-CN" altLang="en-US" sz="1320" dirty="0" smtClean="0">
                <a:latin typeface="+mj-ea"/>
                <a:ea typeface="+mj-ea"/>
              </a:rPr>
              <a:t>控股、研究院、深圳产业、星美体育套内面积</a:t>
            </a:r>
            <a:r>
              <a:rPr lang="en-US" altLang="zh-CN" sz="1320" dirty="0" smtClean="0">
                <a:latin typeface="+mj-ea"/>
                <a:ea typeface="+mj-ea"/>
              </a:rPr>
              <a:t>26184.1㎡</a:t>
            </a:r>
            <a:r>
              <a:rPr lang="zh-CN" altLang="en-US" sz="1320" dirty="0" smtClean="0">
                <a:latin typeface="+mj-ea"/>
                <a:ea typeface="+mj-ea"/>
              </a:rPr>
              <a:t>，建筑面积</a:t>
            </a:r>
            <a:r>
              <a:rPr lang="en-US" altLang="zh-CN" sz="1320" dirty="0" smtClean="0">
                <a:latin typeface="+mj-ea"/>
                <a:ea typeface="+mj-ea"/>
              </a:rPr>
              <a:t>34643.6㎡</a:t>
            </a:r>
            <a:r>
              <a:rPr lang="zh-CN" altLang="en-US" sz="1320" dirty="0" smtClean="0">
                <a:latin typeface="+mj-ea"/>
                <a:ea typeface="+mj-ea"/>
              </a:rPr>
              <a:t>（含公区。不含停车场</a:t>
            </a:r>
            <a:r>
              <a:rPr lang="zh-CN" altLang="en-US" sz="1320" dirty="0">
                <a:latin typeface="+mj-ea"/>
                <a:ea typeface="+mj-ea"/>
              </a:rPr>
              <a:t>、天面花园、户外球场</a:t>
            </a:r>
            <a:r>
              <a:rPr lang="zh-CN" altLang="en-US" sz="1320" dirty="0" smtClean="0">
                <a:latin typeface="+mj-ea"/>
                <a:ea typeface="+mj-ea"/>
              </a:rPr>
              <a:t>）。停车场</a:t>
            </a:r>
            <a:r>
              <a:rPr lang="en-US" altLang="zh-CN" sz="1320" dirty="0">
                <a:latin typeface="+mj-ea"/>
                <a:ea typeface="+mj-ea"/>
              </a:rPr>
              <a:t>6828.4</a:t>
            </a:r>
            <a:r>
              <a:rPr lang="en-US" altLang="zh-CN" sz="1320" dirty="0" smtClean="0">
                <a:latin typeface="+mj-ea"/>
                <a:ea typeface="+mj-ea"/>
              </a:rPr>
              <a:t>㎡</a:t>
            </a:r>
            <a:r>
              <a:rPr lang="zh-CN" altLang="en-US" sz="1320" dirty="0" smtClean="0">
                <a:latin typeface="+mj-ea"/>
                <a:ea typeface="+mj-ea"/>
              </a:rPr>
              <a:t>；天台花园、室外</a:t>
            </a:r>
            <a:r>
              <a:rPr lang="zh-CN" altLang="en-US" sz="1320" dirty="0">
                <a:latin typeface="+mj-ea"/>
                <a:ea typeface="+mj-ea"/>
              </a:rPr>
              <a:t>球场等户外面积</a:t>
            </a:r>
            <a:r>
              <a:rPr lang="en-US" altLang="zh-CN" sz="1320" dirty="0">
                <a:latin typeface="+mj-ea"/>
                <a:ea typeface="+mj-ea"/>
              </a:rPr>
              <a:t>22114</a:t>
            </a:r>
            <a:r>
              <a:rPr lang="en-US" altLang="zh-CN" sz="1320" dirty="0" smtClean="0">
                <a:latin typeface="+mj-ea"/>
                <a:ea typeface="+mj-ea"/>
              </a:rPr>
              <a:t>㎡</a:t>
            </a:r>
            <a:r>
              <a:rPr lang="zh-CN" altLang="en-US" sz="1320" dirty="0" smtClean="0">
                <a:latin typeface="+mj-ea"/>
                <a:ea typeface="+mj-ea"/>
              </a:rPr>
              <a:t>。</a:t>
            </a:r>
            <a:endParaRPr lang="en-US" altLang="zh-CN" sz="1320" dirty="0" smtClean="0">
              <a:latin typeface="+mj-ea"/>
              <a:ea typeface="+mj-ea"/>
            </a:endParaRPr>
          </a:p>
        </p:txBody>
      </p:sp>
    </p:spTree>
  </p:cSld>
  <p:clrMapOvr>
    <a:masterClrMapping/>
  </p:clrMapOvr>
  <p:timing>
    <p:tnLst>
      <p:par>
        <p:cTn id="1" dur="indefinite" restart="never" nodeType="tmRoot"/>
      </p:par>
    </p:tnLst>
  </p:timing>
</p:sld>
</file>

<file path=ppt/tags/tag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7**"/>
  <p:tag name="KSO_WM_UNIT_LAYERLEVEL" val="1"/>
  <p:tag name="KSO_WM_TAG_VERSION" val="1.0"/>
  <p:tag name="KSO_WM_BEAUTIFY_FLAG" val="#wm#"/>
</p:tagLst>
</file>

<file path=ppt/tags/tag2.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7**"/>
  <p:tag name="KSO_WM_UNIT_LAYERLEVEL" val="1"/>
  <p:tag name="KSO_WM_TAG_VERSION" val="1.0"/>
  <p:tag name="KSO_WM_BEAUTIFY_FLAG" val="#wm#"/>
</p:tagLst>
</file>

<file path=ppt/tags/tag3.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7**"/>
  <p:tag name="KSO_WM_UNIT_LAYERLEVEL" val="1"/>
  <p:tag name="KSO_WM_TAG_VERSION" val="1.0"/>
  <p:tag name="KSO_WM_BEAUTIFY_FLAG" val="#wm#"/>
</p:tagLst>
</file>

<file path=ppt/tags/tag4.xml><?xml version="1.0" encoding="utf-8"?>
<p:tagLst xmlns:p="http://schemas.openxmlformats.org/presentationml/2006/main">
  <p:tag name="KSO_WM_TEMPLATE_TOPIC_ID" val="2869567"/>
  <p:tag name="KSO_WM_TEMPLATE_OUTLINE_ID" val="3"/>
  <p:tag name="KSO_WM_TEMPLATE_SCENE_ID" val="1"/>
  <p:tag name="KSO_WM_TEMPLATE_JOB_ID" val="3"/>
  <p:tag name="KSO_WM_TEMPLATE_TOPIC_DEFAULT" val="0"/>
</p:tagLst>
</file>

<file path=ppt/tags/tag5.xml><?xml version="1.0" encoding="utf-8"?>
<p:tagLst xmlns:p="http://schemas.openxmlformats.org/presentationml/2006/main">
  <p:tag name="KSO_WM_BEAUTIFY_FLAG" val=""/>
</p:tagLst>
</file>

<file path=ppt/tags/tag6.xml><?xml version="1.0" encoding="utf-8"?>
<p:tagLst xmlns:p="http://schemas.openxmlformats.org/presentationml/2006/main">
  <p:tag name="KSO_WM_UNIT_TABLE_BEAUTIFY" val="smartTable{b02dde9b-d6e2-4239-a454-ac2a78b0a8ae}"/>
  <p:tag name="TABLE_ENDDRAG_ORIGIN_RECT" val="926*189"/>
  <p:tag name="TABLE_ENDDRAG_RECT" val="18*302*926*189"/>
  <p:tag name="KSO_WM_BEAUTIFY_FLAG" val=""/>
</p:tagLst>
</file>

<file path=ppt/tags/tag7.xml><?xml version="1.0" encoding="utf-8"?>
<p:tagLst xmlns:p="http://schemas.openxmlformats.org/presentationml/2006/main">
  <p:tag name="TABLE_ENDDRAG_ORIGIN_RECT" val="767*294"/>
  <p:tag name="TABLE_ENDDRAG_RECT" val="10*42*767*294"/>
</p:tagLst>
</file>

<file path=ppt/tags/tag8.xml><?xml version="1.0" encoding="utf-8"?>
<p:tagLst xmlns:p="http://schemas.openxmlformats.org/presentationml/2006/main">
  <p:tag name="KSO_WM_BEAUTIFY_FLAG" val=""/>
</p:tagLst>
</file>

<file path=ppt/tags/tag9.xml><?xml version="1.0" encoding="utf-8"?>
<p:tagLst xmlns:p="http://schemas.openxmlformats.org/presentationml/2006/main">
  <p:tag name="TABLE_ENDDRAG_ORIGIN_RECT" val="737*209"/>
  <p:tag name="TABLE_ENDDRAG_RECT" val="17*98*737*209"/>
</p:tagLst>
</file>

<file path=ppt/tags/tag10.xml><?xml version="1.0" encoding="utf-8"?>
<p:tagLst xmlns:p="http://schemas.openxmlformats.org/presentationml/2006/main">
  <p:tag name="KSO_WM_BEAUTIFY_FLAG" val=""/>
</p:tagLst>
</file>

<file path=ppt/tags/tag11.xml><?xml version="1.0" encoding="utf-8"?>
<p:tagLst xmlns:p="http://schemas.openxmlformats.org/presentationml/2006/main">
  <p:tag name="TABLE_ENDDRAG_ORIGIN_RECT" val="734*220"/>
  <p:tag name="TABLE_ENDDRAG_RECT" val="25*149*734*220"/>
</p:tagLst>
</file>

<file path=ppt/tags/tag12.xml><?xml version="1.0" encoding="utf-8"?>
<p:tagLst xmlns:p="http://schemas.openxmlformats.org/presentationml/2006/main">
  <p:tag name="KSO_WM_BEAUTIFY_FLAG" val=""/>
</p:tagLst>
</file>

<file path=ppt/tags/tag13.xml><?xml version="1.0" encoding="utf-8"?>
<p:tagLst xmlns:p="http://schemas.openxmlformats.org/presentationml/2006/main">
  <p:tag name="KSO_WM_UNIT_TABLE_BEAUTIFY" val="smartTable{02ebab19-9e13-4ecd-b342-e6ca7a3c2d2b}"/>
  <p:tag name="TABLE_ENDDRAG_ORIGIN_RECT" val="349*119"/>
  <p:tag name="TABLE_ENDDRAG_RECT" val="390*132*349*119"/>
</p:tagLst>
</file>

<file path=ppt/tags/tag14.xml><?xml version="1.0" encoding="utf-8"?>
<p:tagLst xmlns:p="http://schemas.openxmlformats.org/presentationml/2006/main">
  <p:tag name="KSO_WM_BEAUTIFY_FLAG" val=""/>
</p:tagLst>
</file>

<file path=ppt/tags/tag15.xml><?xml version="1.0" encoding="utf-8"?>
<p:tagLst xmlns:p="http://schemas.openxmlformats.org/presentationml/2006/main">
  <p:tag name="TABLE_ENDDRAG_ORIGIN_RECT" val="758*306"/>
  <p:tag name="TABLE_ENDDRAG_RECT" val="6*52*758*306"/>
</p:tagLst>
</file>

<file path=ppt/tags/tag16.xml><?xml version="1.0" encoding="utf-8"?>
<p:tagLst xmlns:p="http://schemas.openxmlformats.org/presentationml/2006/main">
  <p:tag name="TABLE_ENDDRAG_ORIGIN_RECT" val="758*296"/>
  <p:tag name="TABLE_ENDDRAG_RECT" val="10*58*758*296"/>
</p:tagLst>
</file>

<file path=ppt/tags/tag17.xml><?xml version="1.0" encoding="utf-8"?>
<p:tagLst xmlns:p="http://schemas.openxmlformats.org/presentationml/2006/main">
  <p:tag name="TABLE_ENDDRAG_ORIGIN_RECT" val="763*256"/>
  <p:tag name="TABLE_ENDDRAG_RECT" val="10*58*763*256"/>
</p:tagLst>
</file>

<file path=ppt/tags/tag18.xml><?xml version="1.0" encoding="utf-8"?>
<p:tagLst xmlns:p="http://schemas.openxmlformats.org/presentationml/2006/main">
  <p:tag name="TABLE_ENDDRAG_ORIGIN_RECT" val="770*240"/>
  <p:tag name="TABLE_ENDDRAG_RECT" val="10*63*770*240"/>
</p:tagLst>
</file>

<file path=ppt/tags/tag19.xml><?xml version="1.0" encoding="utf-8"?>
<p:tagLst xmlns:p="http://schemas.openxmlformats.org/presentationml/2006/main">
  <p:tag name="TABLE_ENDDRAG_ORIGIN_RECT" val="748*209"/>
  <p:tag name="TABLE_ENDDRAG_RECT" val="16*64*748*209"/>
</p:tagLst>
</file>

<file path=ppt/tags/tag20.xml><?xml version="1.0" encoding="utf-8"?>
<p:tagLst xmlns:p="http://schemas.openxmlformats.org/presentationml/2006/main">
  <p:tag name="TABLE_ENDDRAG_ORIGIN_RECT" val="770*254"/>
  <p:tag name="TABLE_ENDDRAG_RECT" val="10*53*770*254"/>
</p:tagLst>
</file>

<file path=ppt/tags/tag21.xml><?xml version="1.0" encoding="utf-8"?>
<p:tagLst xmlns:p="http://schemas.openxmlformats.org/presentationml/2006/main">
  <p:tag name="TABLE_ENDDRAG_ORIGIN_RECT" val="742*248"/>
  <p:tag name="TABLE_ENDDRAG_RECT" val="14*73*742*248"/>
</p:tagLst>
</file>

<file path=ppt/tags/tag22.xml><?xml version="1.0" encoding="utf-8"?>
<p:tagLst xmlns:p="http://schemas.openxmlformats.org/presentationml/2006/main">
  <p:tag name="KSO_WM_BEAUTIFY_FLAG" val=""/>
</p:tagLst>
</file>

<file path=ppt/tags/tag23.xml><?xml version="1.0" encoding="utf-8"?>
<p:tagLst xmlns:p="http://schemas.openxmlformats.org/presentationml/2006/main">
  <p:tag name="KSO_WM_BEAUTIFY_FLAG" val=""/>
</p:tagLst>
</file>

<file path=ppt/tags/tag24.xml><?xml version="1.0" encoding="utf-8"?>
<p:tagLst xmlns:p="http://schemas.openxmlformats.org/presentationml/2006/main">
  <p:tag name="TABLE_ENDDRAG_ORIGIN_RECT" val="652*299"/>
  <p:tag name="TABLE_ENDDRAG_RECT" val="38*48*652*299"/>
</p:tagLst>
</file>

<file path=ppt/tags/tag25.xml><?xml version="1.0" encoding="utf-8"?>
<p:tagLst xmlns:p="http://schemas.openxmlformats.org/presentationml/2006/main">
  <p:tag name="TABLE_ENDDRAG_ORIGIN_RECT" val="782*322"/>
  <p:tag name="TABLE_ENDDRAG_RECT" val="6*76*782*322"/>
</p:tagLst>
</file>

<file path=ppt/tags/tag26.xml><?xml version="1.0" encoding="utf-8"?>
<p:tagLst xmlns:p="http://schemas.openxmlformats.org/presentationml/2006/main">
  <p:tag name="TABLE_ENDDRAG_ORIGIN_RECT" val="637*311"/>
  <p:tag name="TABLE_ENDDRAG_RECT" val="38*76*637*311"/>
</p:tagLst>
</file>

<file path=ppt/tags/tag27.xml><?xml version="1.0" encoding="utf-8"?>
<p:tagLst xmlns:p="http://schemas.openxmlformats.org/presentationml/2006/main">
  <p:tag name="KSO_WM_BEAUTIFY_FLAG" val=""/>
</p:tagLst>
</file>

<file path=ppt/tags/tag28.xml><?xml version="1.0" encoding="utf-8"?>
<p:tagLst xmlns:p="http://schemas.openxmlformats.org/presentationml/2006/main">
  <p:tag name="TABLE_ENDDRAG_ORIGIN_RECT" val="703*311"/>
  <p:tag name="TABLE_ENDDRAG_RECT" val="37*36*703*311"/>
</p:tagLst>
</file>

<file path=ppt/tags/tag29.xml><?xml version="1.0" encoding="utf-8"?>
<p:tagLst xmlns:p="http://schemas.openxmlformats.org/presentationml/2006/main">
  <p:tag name="TABLE_ENDDRAG_ORIGIN_RECT" val="757*311"/>
  <p:tag name="TABLE_ENDDRAG_RECT" val="17*30*757*311"/>
</p:tagLst>
</file>

<file path=ppt/tags/tag30.xml><?xml version="1.0" encoding="utf-8"?>
<p:tagLst xmlns:p="http://schemas.openxmlformats.org/presentationml/2006/main">
  <p:tag name="TABLE_ENDDRAG_ORIGIN_RECT" val="679*350"/>
  <p:tag name="TABLE_ENDDRAG_RECT" val="27*47*679*350"/>
</p:tagLst>
</file>

<file path=ppt/tags/tag31.xml><?xml version="1.0" encoding="utf-8"?>
<p:tagLst xmlns:p="http://schemas.openxmlformats.org/presentationml/2006/main">
  <p:tag name="TABLE_ENDDRAG_ORIGIN_RECT" val="719*322"/>
  <p:tag name="TABLE_ENDDRAG_RECT" val="16*41*719*322"/>
</p:tagLst>
</file>

<file path=ppt/tags/tag32.xml><?xml version="1.0" encoding="utf-8"?>
<p:tagLst xmlns:p="http://schemas.openxmlformats.org/presentationml/2006/main">
  <p:tag name="TABLE_ENDDRAG_ORIGIN_RECT" val="721*334"/>
  <p:tag name="TABLE_ENDDRAG_RECT" val="10*47*721*334"/>
</p:tagLst>
</file>

<file path=ppt/tags/tag33.xml><?xml version="1.0" encoding="utf-8"?>
<p:tagLst xmlns:p="http://schemas.openxmlformats.org/presentationml/2006/main">
  <p:tag name="TABLE_ENDDRAG_ORIGIN_RECT" val="718*350"/>
  <p:tag name="TABLE_ENDDRAG_RECT" val="33*47*719*350"/>
</p:tagLst>
</file>

<file path=ppt/tags/tag34.xml><?xml version="1.0" encoding="utf-8"?>
<p:tagLst xmlns:p="http://schemas.openxmlformats.org/presentationml/2006/main">
  <p:tag name="TABLE_ENDDRAG_ORIGIN_RECT" val="765*306"/>
  <p:tag name="TABLE_ENDDRAG_RECT" val="10*35*765*306"/>
</p:tagLst>
</file>

<file path=ppt/tags/tag35.xml><?xml version="1.0" encoding="utf-8"?>
<p:tagLst xmlns:p="http://schemas.openxmlformats.org/presentationml/2006/main">
  <p:tag name="TABLE_ENDDRAG_ORIGIN_RECT" val="773*252"/>
  <p:tag name="TABLE_ENDDRAG_RECT" val="2*56*773*252"/>
</p:tagLst>
</file>

<file path=ppt/tags/tag36.xml><?xml version="1.0" encoding="utf-8"?>
<p:tagLst xmlns:p="http://schemas.openxmlformats.org/presentationml/2006/main">
  <p:tag name="TABLE_ENDDRAG_ORIGIN_RECT" val="731*249"/>
  <p:tag name="TABLE_ENDDRAG_RECT" val="5*56*731*249"/>
</p:tagLst>
</file>

<file path=ppt/tags/tag37.xml><?xml version="1.0" encoding="utf-8"?>
<p:tagLst xmlns:p="http://schemas.openxmlformats.org/presentationml/2006/main">
  <p:tag name="TABLE_ENDDRAG_ORIGIN_RECT" val="715*255"/>
  <p:tag name="TABLE_ENDDRAG_RECT" val="16*52*715*255"/>
</p:tagLst>
</file>

<file path=ppt/tags/tag38.xml><?xml version="1.0" encoding="utf-8"?>
<p:tagLst xmlns:p="http://schemas.openxmlformats.org/presentationml/2006/main">
  <p:tag name="TABLE_ENDDRAG_ORIGIN_RECT" val="697*253"/>
  <p:tag name="TABLE_ENDDRAG_RECT" val="38*64*697*253"/>
</p:tagLst>
</file>

<file path=ppt/tags/tag39.xml><?xml version="1.0" encoding="utf-8"?>
<p:tagLst xmlns:p="http://schemas.openxmlformats.org/presentationml/2006/main">
  <p:tag name="TABLE_ENDDRAG_ORIGIN_RECT" val="743*283"/>
  <p:tag name="TABLE_ENDDRAG_RECT" val="12*52*743*283"/>
</p:tagLst>
</file>

<file path=ppt/tags/tag40.xml><?xml version="1.0" encoding="utf-8"?>
<p:tagLst xmlns:p="http://schemas.openxmlformats.org/presentationml/2006/main">
  <p:tag name="TABLE_ENDDRAG_ORIGIN_RECT" val="713*349"/>
  <p:tag name="TABLE_ENDDRAG_RECT" val="22*57*713*349"/>
</p:tagLst>
</file>

<file path=ppt/tags/tag41.xml><?xml version="1.0" encoding="utf-8"?>
<p:tagLst xmlns:p="http://schemas.openxmlformats.org/presentationml/2006/main">
  <p:tag name="TABLE_ENDDRAG_ORIGIN_RECT" val="716*386"/>
  <p:tag name="TABLE_ENDDRAG_RECT" val="33*47*716*386"/>
</p:tagLst>
</file>

<file path=ppt/tags/tag42.xml><?xml version="1.0" encoding="utf-8"?>
<p:tagLst xmlns:p="http://schemas.openxmlformats.org/presentationml/2006/main">
  <p:tag name="KSO_WM_BEAUTIFY_FLAG" val=""/>
</p:tagLst>
</file>

<file path=ppt/tags/tag43.xml><?xml version="1.0" encoding="utf-8"?>
<p:tagLst xmlns:p="http://schemas.openxmlformats.org/presentationml/2006/main">
  <p:tag name="TABLE_ENDDRAG_ORIGIN_RECT" val="506*397"/>
  <p:tag name="TABLE_ENDDRAG_RECT" val="36*41*506*397"/>
</p:tagLst>
</file>

<file path=ppt/tags/tag44.xml><?xml version="1.0" encoding="utf-8"?>
<p:tagLst xmlns:p="http://schemas.openxmlformats.org/presentationml/2006/main">
  <p:tag name="KSO_WM_DIAGRAM_VIRTUALLY_FRAME" val="{&quot;height&quot;:397.07,&quot;left&quot;:543.5,&quot;top&quot;:37.6,&quot;width&quot;:247.95}"/>
</p:tagLst>
</file>

<file path=ppt/tags/tag45.xml><?xml version="1.0" encoding="utf-8"?>
<p:tagLst xmlns:p="http://schemas.openxmlformats.org/presentationml/2006/main">
  <p:tag name="KSO_WM_DIAGRAM_VIRTUALLY_FRAME" val="{&quot;height&quot;:397.07,&quot;left&quot;:543.5,&quot;top&quot;:37.59999999999998,&quot;width&quot;:248.50001621191905}"/>
</p:tagLst>
</file>

<file path=ppt/tags/tag46.xml><?xml version="1.0" encoding="utf-8"?>
<p:tagLst xmlns:p="http://schemas.openxmlformats.org/presentationml/2006/main">
  <p:tag name="KSO_WM_DIAGRAM_VIRTUALLY_FRAME" val="{&quot;height&quot;:397.07,&quot;left&quot;:543.5,&quot;top&quot;:37.59999999999998,&quot;width&quot;:248.50001621191905}"/>
</p:tagLst>
</file>

<file path=ppt/tags/tag47.xml><?xml version="1.0" encoding="utf-8"?>
<p:tagLst xmlns:p="http://schemas.openxmlformats.org/presentationml/2006/main">
  <p:tag name="KSO_WM_DIAGRAM_VIRTUALLY_FRAME" val="{&quot;height&quot;:397.07,&quot;left&quot;:543.5,&quot;top&quot;:37.59999999999998,&quot;width&quot;:248.50001621191905}"/>
</p:tagLst>
</file>

<file path=ppt/tags/tag48.xml><?xml version="1.0" encoding="utf-8"?>
<p:tagLst xmlns:p="http://schemas.openxmlformats.org/presentationml/2006/main">
  <p:tag name="KSO_WM_DIAGRAM_VIRTUALLY_FRAME" val="{&quot;height&quot;:397.07,&quot;left&quot;:543.5,&quot;top&quot;:37.59999999999998,&quot;width&quot;:248.50001621191905}"/>
</p:tagLst>
</file>

<file path=ppt/tags/tag49.xml><?xml version="1.0" encoding="utf-8"?>
<p:tagLst xmlns:p="http://schemas.openxmlformats.org/presentationml/2006/main">
  <p:tag name="TABLE_ENDDRAG_ORIGIN_RECT" val="759*327"/>
  <p:tag name="TABLE_ENDDRAG_RECT" val="21*109*759*327"/>
</p:tagLst>
</file>

<file path=ppt/tags/tag50.xml><?xml version="1.0" encoding="utf-8"?>
<p:tagLst xmlns:p="http://schemas.openxmlformats.org/presentationml/2006/main">
  <p:tag name="KSO_WM_UNIT_TABLE_BEAUTIFY" val="smartTable{0c9fcb02-26ab-4f22-b905-fc445fa3e9ca}"/>
  <p:tag name="TABLE_ENDDRAG_ORIGIN_RECT" val="919*383"/>
  <p:tag name="TABLE_ENDDRAG_RECT" val="20*99*919*383"/>
</p:tagLst>
</file>

<file path=ppt/tags/tag51.xml><?xml version="1.0" encoding="utf-8"?>
<p:tagLst xmlns:p="http://schemas.openxmlformats.org/presentationml/2006/main">
  <p:tag name="TABLE_ENDDRAG_ORIGIN_RECT" val="709*360"/>
  <p:tag name="TABLE_ENDDRAG_RECT" val="33*28*709*360"/>
</p:tagLst>
</file>

<file path=ppt/tags/tag52.xml><?xml version="1.0" encoding="utf-8"?>
<p:tagLst xmlns:p="http://schemas.openxmlformats.org/presentationml/2006/main">
  <p:tag name="TABLE_ENDDRAG_ORIGIN_RECT" val="751*402"/>
  <p:tag name="TABLE_ENDDRAG_RECT" val="10*30*751*402"/>
</p:tagLst>
</file>

<file path=ppt/tags/tag53.xml><?xml version="1.0" encoding="utf-8"?>
<p:tagLst xmlns:p="http://schemas.openxmlformats.org/presentationml/2006/main">
  <p:tag name="TABLE_ENDDRAG_ORIGIN_RECT" val="719*338"/>
  <p:tag name="TABLE_ENDDRAG_RECT" val="27*58*719*338"/>
</p:tagLst>
</file>

<file path=ppt/tags/tag54.xml><?xml version="1.0" encoding="utf-8"?>
<p:tagLst xmlns:p="http://schemas.openxmlformats.org/presentationml/2006/main">
  <p:tag name="TABLE_ENDDRAG_ORIGIN_RECT" val="701*350"/>
  <p:tag name="TABLE_ENDDRAG_RECT" val="44*52*701*350"/>
</p:tagLst>
</file>

<file path=ppt/tags/tag55.xml><?xml version="1.0" encoding="utf-8"?>
<p:tagLst xmlns:p="http://schemas.openxmlformats.org/presentationml/2006/main">
  <p:tag name="TABLE_ENDDRAG_ORIGIN_RECT" val="726*387"/>
  <p:tag name="TABLE_ENDDRAG_RECT" val="12*47*726*387"/>
</p:tagLst>
</file>

<file path=ppt/tags/tag56.xml><?xml version="1.0" encoding="utf-8"?>
<p:tagLst xmlns:p="http://schemas.openxmlformats.org/presentationml/2006/main">
  <p:tag name="TABLE_ENDDRAG_ORIGIN_RECT" val="733*294"/>
  <p:tag name="TABLE_ENDDRAG_RECT" val="22*58*733*294"/>
</p:tagLst>
</file>

<file path=ppt/tags/tag57.xml><?xml version="1.0" encoding="utf-8"?>
<p:tagLst xmlns:p="http://schemas.openxmlformats.org/presentationml/2006/main">
  <p:tag name="KSO_WM_UNIT_TABLE_BEAUTIFY" val="smartTable{548894e6-ad4d-48fc-82d6-099ba97f6561}"/>
  <p:tag name="TABLE_ENDDRAG_ORIGIN_RECT" val="919*383"/>
  <p:tag name="TABLE_ENDDRAG_RECT" val="20*99*919*383"/>
</p:tagLst>
</file>

<file path=ppt/tags/tag58.xml><?xml version="1.0" encoding="utf-8"?>
<p:tagLst xmlns:p="http://schemas.openxmlformats.org/presentationml/2006/main">
  <p:tag name="KSO_WPP_MARK_KEY" val="6cea3236-4df8-4c96-b1f2-bd43cda33d30"/>
  <p:tag name="COMMONDATA" val="eyJoZGlkIjoiZjUzMWYzYTMyYTQ1NzA4ZWFlMjcwNmMwNTIyNzRjMGYifQ=="/>
</p:tagLst>
</file>

<file path=ppt/theme/theme1.xml><?xml version="1.0" encoding="utf-8"?>
<a:theme xmlns:a="http://schemas.openxmlformats.org/drawingml/2006/main" name="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WPS">
  <a:themeElements>
    <a:clrScheme name="WPS">
      <a:dk1>
        <a:srgbClr val="000000"/>
      </a:dk1>
      <a:lt1>
        <a:srgbClr val="FFFFFF"/>
      </a:lt1>
      <a:dk2>
        <a:srgbClr val="0F1423"/>
      </a:dk2>
      <a:lt2>
        <a:srgbClr val="FFFFFF"/>
      </a:lt2>
      <a:accent1>
        <a:srgbClr val="4874CB"/>
      </a:accent1>
      <a:accent2>
        <a:srgbClr val="E6724B"/>
      </a:accent2>
      <a:accent3>
        <a:srgbClr val="EFBB1F"/>
      </a:accent3>
      <a:accent4>
        <a:srgbClr val="75BD42"/>
      </a:accent4>
      <a:accent5>
        <a:srgbClr val="30C0B4"/>
      </a:accent5>
      <a:accent6>
        <a:srgbClr val="E05269"/>
      </a:accent6>
      <a:hlink>
        <a:srgbClr val="0026E5"/>
      </a:hlink>
      <a:folHlink>
        <a:srgbClr val="7E1FAD"/>
      </a:folHlink>
    </a:clrScheme>
    <a:fontScheme name="WPS">
      <a:majorFont>
        <a:latin typeface="Calibri"/>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WPS">
      <a:fillStyleLst>
        <a:solidFill>
          <a:schemeClr val="phClr"/>
        </a:solidFill>
        <a:gradFill>
          <a:gsLst>
            <a:gs pos="0">
              <a:schemeClr val="phClr">
                <a:lumOff val="17500"/>
              </a:schemeClr>
            </a:gs>
            <a:gs pos="100000">
              <a:schemeClr val="phClr"/>
            </a:gs>
          </a:gsLst>
          <a:lin ang="2700000" scaled="0"/>
        </a:gradFill>
        <a:gradFill>
          <a:gsLst>
            <a:gs pos="0">
              <a:schemeClr val="phClr">
                <a:hueOff val="-2520000"/>
              </a:schemeClr>
            </a:gs>
            <a:gs pos="100000">
              <a:schemeClr val="phClr"/>
            </a:gs>
          </a:gsLst>
          <a:lin ang="2700000" scaled="0"/>
        </a:gradFill>
      </a:fillStyleLst>
      <a:lnStyleLst>
        <a:ln w="12700" cap="flat" cmpd="sng" algn="ctr">
          <a:solidFill>
            <a:schemeClr val="phClr"/>
          </a:solidFill>
          <a:prstDash val="solid"/>
          <a:miter lim="800000"/>
        </a:ln>
        <a:ln w="12700" cap="flat" cmpd="sng" algn="ctr">
          <a:solidFill>
            <a:schemeClr val="phClr"/>
          </a:solidFill>
          <a:prstDash val="solid"/>
          <a:miter lim="800000"/>
        </a:ln>
        <a:ln w="12700" cap="flat" cmpd="sng" algn="ctr">
          <a:gradFill>
            <a:gsLst>
              <a:gs pos="0">
                <a:schemeClr val="phClr">
                  <a:hueOff val="-4200000"/>
                </a:schemeClr>
              </a:gs>
              <a:gs pos="100000">
                <a:schemeClr val="phClr"/>
              </a:gs>
            </a:gsLst>
            <a:lin ang="2700000" scaled="1"/>
          </a:gradFill>
          <a:prstDash val="solid"/>
          <a:miter lim="800000"/>
        </a:ln>
      </a:lnStyleLst>
      <a:effectStyleLst>
        <a:effectStyle>
          <a:effectLst>
            <a:outerShdw blurRad="101600" dist="50800" dir="5400000" algn="ctr" rotWithShape="0">
              <a:schemeClr val="phClr">
                <a:alpha val="60000"/>
              </a:schemeClr>
            </a:outerShdw>
          </a:effectLst>
        </a:effectStyle>
        <a:effectStyle>
          <a:effectLst>
            <a:reflection stA="50000" endA="300" endPos="40000" dist="25400" dir="5400000" sy="-100000" algn="bl" rotWithShape="0"/>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7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Office 主题">
  <a:themeElements>
    <a:clrScheme name="工业时代">
      <a:dk1>
        <a:srgbClr val="242331"/>
      </a:dk1>
      <a:lt1>
        <a:sysClr val="window" lastClr="FFFFFF"/>
      </a:lt1>
      <a:dk2>
        <a:srgbClr val="44546A"/>
      </a:dk2>
      <a:lt2>
        <a:srgbClr val="E7E6E6"/>
      </a:lt2>
      <a:accent1>
        <a:srgbClr val="CB1D23"/>
      </a:accent1>
      <a:accent2>
        <a:srgbClr val="1A1B2F"/>
      </a:accent2>
      <a:accent3>
        <a:srgbClr val="D6D3C4"/>
      </a:accent3>
      <a:accent4>
        <a:srgbClr val="FFC000"/>
      </a:accent4>
      <a:accent5>
        <a:srgbClr val="D1D2D4"/>
      </a:accent5>
      <a:accent6>
        <a:srgbClr val="38BCB9"/>
      </a:accent6>
      <a:hlink>
        <a:srgbClr val="0563C1"/>
      </a:hlink>
      <a:folHlink>
        <a:srgbClr val="954F72"/>
      </a:folHlink>
    </a:clrScheme>
    <a:fontScheme name="自定义 3">
      <a:majorFont>
        <a:latin typeface="微软雅黑"/>
        <a:ea typeface="微软雅黑"/>
        <a:cs typeface=""/>
      </a:majorFont>
      <a:minorFont>
        <a:latin typeface="微软雅黑 Light"/>
        <a:ea typeface="微软雅黑 Light"/>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5">
              <a:lumMod val="75000"/>
            </a:schemeClr>
          </a:solidFill>
        </a:ln>
      </a:spPr>
      <a:bodyPr/>
      <a:lstStyle/>
      <a:style>
        <a:lnRef idx="1">
          <a:schemeClr val="accent1"/>
        </a:lnRef>
        <a:fillRef idx="0">
          <a:schemeClr val="accent1"/>
        </a:fillRef>
        <a:effectRef idx="0">
          <a:schemeClr val="accent1"/>
        </a:effectRef>
        <a:fontRef idx="minor">
          <a:schemeClr val="tx1"/>
        </a:fontRef>
      </a:style>
    </a:lnDef>
  </a:objectDefaults>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0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1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2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5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4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5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4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txDef>
      <a:spPr>
        <a:noFill/>
      </a:spPr>
      <a:bodyPr wrap="square" rtlCol="0">
        <a:noAutofit/>
      </a:bodyPr>
      <a:lstStyle>
        <a:defPPr>
          <a:defRPr sz="1400" dirty="0" smtClean="0">
            <a:latin typeface="微软雅黑" panose="020B0503020204020204" pitchFamily="34" charset="-122"/>
            <a:ea typeface="微软雅黑" panose="020B0503020204020204" pitchFamily="34" charset="-122"/>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8_回顾">
  <a:themeElements>
    <a:clrScheme name="红色">
      <a:dk1>
        <a:sysClr val="windowText" lastClr="000000"/>
      </a:dk1>
      <a:lt1>
        <a:sysClr val="window" lastClr="FFFFFF"/>
      </a:lt1>
      <a:dk2>
        <a:srgbClr val="323232"/>
      </a:dk2>
      <a:lt2>
        <a:srgbClr val="E5C243"/>
      </a:lt2>
      <a:accent1>
        <a:srgbClr val="A5300F"/>
      </a:accent1>
      <a:accent2>
        <a:srgbClr val="D55816"/>
      </a:accent2>
      <a:accent3>
        <a:srgbClr val="E19825"/>
      </a:accent3>
      <a:accent4>
        <a:srgbClr val="B19C7D"/>
      </a:accent4>
      <a:accent5>
        <a:srgbClr val="7F5F52"/>
      </a:accent5>
      <a:accent6>
        <a:srgbClr val="B27D49"/>
      </a:accent6>
      <a:hlink>
        <a:srgbClr val="6B9F25"/>
      </a:hlink>
      <a:folHlink>
        <a:srgbClr val="B26B02"/>
      </a:folHlink>
    </a:clrScheme>
    <a:fontScheme name="回顾">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回顾">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93634</Words>
  <Application>WPS 演示</Application>
  <PresentationFormat>自定义</PresentationFormat>
  <Paragraphs>26776</Paragraphs>
  <Slides>59</Slides>
  <Notes>37</Notes>
  <HiddenSlides>0</HiddenSlides>
  <MMClips>0</MMClips>
  <ScaleCrop>false</ScaleCrop>
  <HeadingPairs>
    <vt:vector size="8" baseType="variant">
      <vt:variant>
        <vt:lpstr>已用的字体</vt:lpstr>
      </vt:variant>
      <vt:variant>
        <vt:i4>27</vt:i4>
      </vt:variant>
      <vt:variant>
        <vt:lpstr>主题</vt:lpstr>
      </vt:variant>
      <vt:variant>
        <vt:i4>14</vt:i4>
      </vt:variant>
      <vt:variant>
        <vt:lpstr>嵌入 OLE 服务器</vt:lpstr>
      </vt:variant>
      <vt:variant>
        <vt:i4>1</vt:i4>
      </vt:variant>
      <vt:variant>
        <vt:lpstr>幻灯片标题</vt:lpstr>
      </vt:variant>
      <vt:variant>
        <vt:i4>59</vt:i4>
      </vt:variant>
    </vt:vector>
  </HeadingPairs>
  <TitlesOfParts>
    <vt:vector size="101" baseType="lpstr">
      <vt:lpstr>Arial</vt:lpstr>
      <vt:lpstr>宋体</vt:lpstr>
      <vt:lpstr>Wingdings</vt:lpstr>
      <vt:lpstr>微软雅黑</vt:lpstr>
      <vt:lpstr>Calibri Light</vt:lpstr>
      <vt:lpstr>Calibri</vt:lpstr>
      <vt:lpstr>Arial</vt:lpstr>
      <vt:lpstr>Franklin Gothic Book</vt:lpstr>
      <vt:lpstr>Tahoma</vt:lpstr>
      <vt:lpstr>Source Sans Pro</vt:lpstr>
      <vt:lpstr>华文中宋</vt:lpstr>
      <vt:lpstr>Calibri</vt:lpstr>
      <vt:lpstr>黑体</vt:lpstr>
      <vt:lpstr>Wingdings</vt:lpstr>
      <vt:lpstr>OPPOSans</vt:lpstr>
      <vt:lpstr>Arial Unicode MS</vt:lpstr>
      <vt:lpstr>Helvetica</vt:lpstr>
      <vt:lpstr>Open Sans</vt:lpstr>
      <vt:lpstr>Segoe Print</vt:lpstr>
      <vt:lpstr>等线</vt:lpstr>
      <vt:lpstr>Arial Black</vt:lpstr>
      <vt:lpstr>PingFang SC</vt:lpstr>
      <vt:lpstr>Avenir Next</vt:lpstr>
      <vt:lpstr>微软雅黑 Light</vt:lpstr>
      <vt:lpstr>Trebuchet MS</vt:lpstr>
      <vt:lpstr>Times New Roman</vt:lpstr>
      <vt:lpstr>Yu Gothic UI Semibold</vt:lpstr>
      <vt:lpstr>回顾</vt:lpstr>
      <vt:lpstr>1_回顾</vt:lpstr>
      <vt:lpstr>3_回顾</vt:lpstr>
      <vt:lpstr>2_WPS</vt:lpstr>
      <vt:lpstr>7_回顾</vt:lpstr>
      <vt:lpstr>2_Office 主题</vt:lpstr>
      <vt:lpstr>10_回顾</vt:lpstr>
      <vt:lpstr>11_回顾</vt:lpstr>
      <vt:lpstr>12_回顾</vt:lpstr>
      <vt:lpstr>5_回顾</vt:lpstr>
      <vt:lpstr>4_回顾</vt:lpstr>
      <vt:lpstr>15_回顾</vt:lpstr>
      <vt:lpstr>14_回顾</vt:lpstr>
      <vt:lpstr>8_回顾</vt:lpstr>
      <vt:lpstr>Excel.Sheet.12</vt:lpstr>
      <vt:lpstr>产业集团2026年度 经营计划和预算报告</vt:lpstr>
      <vt:lpstr>2026年经营目标-财务指标计算口径</vt:lpstr>
      <vt:lpstr>第一部分：2026年经营目标（深圳产业公司）</vt:lpstr>
      <vt:lpstr>第一部分：2026年经营目标（深圳产业公司）</vt:lpstr>
      <vt:lpstr>第一部分：2026年经营目标（深圳产业公司）</vt:lpstr>
      <vt:lpstr>第一部分：2026年经营目标（华南产业公司）</vt:lpstr>
      <vt:lpstr>第一部分：2026年经营目标（南京产业公司）</vt:lpstr>
      <vt:lpstr>第一部分：2026年经营目标（苏州产业事业部）</vt:lpstr>
      <vt:lpstr>第一部分：2026年经营目标（昆山项目）</vt:lpstr>
      <vt:lpstr>第一部分：2026年经营目标（成都产业公司）</vt:lpstr>
      <vt:lpstr>第一部分：2026年经营目标（成都产业公司）</vt:lpstr>
      <vt:lpstr>第一部分：2026年经营目标（惠州产业公司）</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第一部分：2026年经营目标（公寓业务）</vt:lpstr>
      <vt:lpstr>第一部分：2026年经营目标（南京产业公司）</vt:lpstr>
      <vt:lpstr>第一部分：2026年经营目标（成都产业公司）</vt:lpstr>
      <vt:lpstr>第一部分：2026年经营目标（黄江）</vt:lpstr>
      <vt:lpstr>第一部分： 2026年经营目标 –产业销售板块汇总</vt:lpstr>
      <vt:lpstr>第一部分： 2026年经营目标 –产业销售板块预算情况（现金流）</vt:lpstr>
      <vt:lpstr>PowerPoint 演示文稿</vt:lpstr>
      <vt:lpstr>PowerPoint 演示文稿</vt:lpstr>
      <vt:lpstr>PowerPoint 演示文稿</vt:lpstr>
      <vt:lpstr>第三部分：2026年预算编制报告--总体情况</vt:lpstr>
      <vt:lpstr>第三部分：2026年预算编制报告--总体情况</vt:lpstr>
      <vt:lpstr>第三部分：2026年预算编制报告-运营板块费用预算情况</vt:lpstr>
      <vt:lpstr>第三部分：2026年预算编制报告 –租赁预算情况</vt:lpstr>
      <vt:lpstr>第三部分：2026年预算编制报告 –租赁预算情况</vt:lpstr>
      <vt:lpstr>第三部分：2026年预算编制报告告 –租赁预算情况（深圳公司）</vt:lpstr>
      <vt:lpstr>第三部分：2026年预算编制报告告 –租赁预算情况（深圳公司）</vt:lpstr>
      <vt:lpstr>第三部分：2026年预算编制报告告 –租赁预算情况（双塔分期数据）</vt:lpstr>
      <vt:lpstr>第三部分：2026年预算编制报告告 –租赁预算情况（123期分期数据）</vt:lpstr>
      <vt:lpstr>第三部分：2026年预算编制报告 –租赁预算情况（华南产业）</vt:lpstr>
      <vt:lpstr>第三部分：2026年预算编制报告 –酒店预算情况</vt:lpstr>
      <vt:lpstr>第三部分：2026年预算编制报告 –酒店预算情况</vt:lpstr>
      <vt:lpstr>第三部分：2026年预算编制报告 –公寓预算情况</vt:lpstr>
      <vt:lpstr>第三部分：2026年预算编制报告 –公寓预算情况</vt:lpstr>
      <vt:lpstr>第三部分：2026年预算编制报告 –销售预算情况</vt:lpstr>
      <vt:lpstr>第三部分：2026年预算编制报告-专项成本费用分析（租赁+销售长期资产支出） </vt:lpstr>
      <vt:lpstr>第三部分：2026年预算编制报告-专项成本费用分析（酒店公寓资本性支出） </vt:lpstr>
      <vt:lpstr>第三部分：2026年预算编制报告-专项成本费用分析（物业费用） </vt:lpstr>
      <vt:lpstr>PowerPoint 演示文稿</vt:lpstr>
      <vt:lpstr>PowerPoint 演示文稿</vt:lpstr>
      <vt:lpstr>PowerPoint 演示文稿</vt:lpstr>
      <vt:lpstr>第三部分：2026年经营目标 –政府考核专项预算情况</vt:lpstr>
      <vt:lpstr>第三部分：2026年预算编制报告-政府考核专项预算情况（南京公司1）</vt:lpstr>
      <vt:lpstr>第三部分：2026年预算编制报告-政府考核专项预算情况（南京公司2）</vt:lpstr>
      <vt:lpstr>第三部分：2026年预算编制报告-政府考核专项预算情况（成都产业） </vt:lpstr>
      <vt:lpstr>PowerPoint 演示文稿</vt:lpstr>
      <vt:lpstr>第三部分：2026年预算编制报告-产业集团现金流汇总</vt:lpstr>
      <vt:lpstr>附表：现金流分析-产业租赁</vt:lpstr>
      <vt:lpstr>附表：现金流分析-产业销售</vt:lpstr>
      <vt:lpstr>附表：雅宝大项目合并</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产业集团2026年度 经营计划和预算报告</dc:title>
  <dc:creator>G'TEAM际唐广告</dc:creator>
  <cp:lastModifiedBy>陈宏志 Elliot</cp:lastModifiedBy>
  <cp:revision>480</cp:revision>
  <cp:lastPrinted>2025-11-11T11:07:00Z</cp:lastPrinted>
  <dcterms:created xsi:type="dcterms:W3CDTF">2025-11-11T11:29:00Z</dcterms:created>
  <dcterms:modified xsi:type="dcterms:W3CDTF">2026-03-17T08:55:27Z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2052-12.1.0.25225</vt:lpwstr>
  </property>
  <property fmtid="{D5CDD505-2E9C-101B-9397-08002B2CF9AE}" pid="3" name="KSORubyTemplateID">
    <vt:lpwstr>2</vt:lpwstr>
  </property>
  <property fmtid="{D5CDD505-2E9C-101B-9397-08002B2CF9AE}" pid="4" name="ICV">
    <vt:lpwstr>07758E2172B74D0D9D473D7C34BA2949_13</vt:lpwstr>
  </property>
</Properties>
</file>